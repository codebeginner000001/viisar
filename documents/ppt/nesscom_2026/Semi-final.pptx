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10287000" cx="18288000"/>
  <p:notesSz cx="6858000" cy="9144000"/>
  <p:embeddedFontLst>
    <p:embeddedFont>
      <p:font typeface="Catamaran"/>
      <p:bold r:id="rId34"/>
    </p:embeddedFont>
    <p:embeddedFont>
      <p:font typeface="Roboto"/>
      <p:bold r:id="rId35"/>
      <p:boldItalic r:id="rId36"/>
    </p:embeddedFont>
    <p:embeddedFont>
      <p:font typeface="Tahoma"/>
      <p:regular r:id="rId37"/>
      <p:bold r:id="rId38"/>
    </p:embeddedFont>
    <p:embeddedFont>
      <p:font typeface="Helvetica Neu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3" roundtripDataSignature="AMtx7mi2BhWHTpvB9WabPwx4Uz+WXlQ0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AC30FA-DB69-4B79-8D97-D8E9DD037B90}">
  <a:tblStyle styleId="{53AC30FA-DB69-4B79-8D97-D8E9DD037B9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20" Type="http://schemas.openxmlformats.org/officeDocument/2006/relationships/slide" Target="slides/slide13.xml"/><Relationship Id="rId42" Type="http://schemas.openxmlformats.org/officeDocument/2006/relationships/font" Target="fonts/HelveticaNeue-boldItalic.fntdata"/><Relationship Id="rId41" Type="http://schemas.openxmlformats.org/officeDocument/2006/relationships/font" Target="fonts/HelveticaNeue-italic.fntdata"/><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bold.fntdata"/><Relationship Id="rId12" Type="http://schemas.openxmlformats.org/officeDocument/2006/relationships/slide" Target="slides/slide5.xml"/><Relationship Id="rId34" Type="http://schemas.openxmlformats.org/officeDocument/2006/relationships/font" Target="fonts/Catamaran-bold.fntdata"/><Relationship Id="rId15" Type="http://schemas.openxmlformats.org/officeDocument/2006/relationships/slide" Target="slides/slide8.xml"/><Relationship Id="rId37" Type="http://schemas.openxmlformats.org/officeDocument/2006/relationships/font" Target="fonts/Tahoma-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39" Type="http://schemas.openxmlformats.org/officeDocument/2006/relationships/font" Target="fonts/HelveticaNeue-regular.fntdata"/><Relationship Id="rId16" Type="http://schemas.openxmlformats.org/officeDocument/2006/relationships/slide" Target="slides/slide9.xml"/><Relationship Id="rId38" Type="http://schemas.openxmlformats.org/officeDocument/2006/relationships/font" Target="fonts/Tahoma-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2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ef042cd5e0_1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g3ef042cd5e0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70" name="Google Shape;870;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71" name="Google Shape;871;p2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73" name="Google Shape;873;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74" name="Google Shape;874;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2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2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2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g3ef042cd5e0_1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g3ef042cd5e0_1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g3ef042cd5e0_1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g3ef042cd5e0_1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g3ef042cd5e0_1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7" name="Google Shape;97;g3ef042cd5e0_1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g3ef042cd5e0_1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g3ef042cd5e0_1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g3ef042cd5e0_1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g3ef042cd5e0_1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g3ef042cd5e0_1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g3ef042cd5e0_1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ef042cd5e0_1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g3ef042cd5e0_1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g3ef042cd5e0_1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9" name="Google Shape;109;g3ef042cd5e0_1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g3ef042cd5e0_1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ef042cd5e0_1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g3ef042cd5e0_1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g3ef042cd5e0_1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5" name="Google Shape;115;g3ef042cd5e0_1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6" name="Google Shape;116;g3ef042cd5e0_1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ef042cd5e0_1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g3ef042cd5e0_1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g3ef042cd5e0_1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g3ef042cd5e0_1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2" name="Google Shape;122;g3ef042cd5e0_1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3" name="Google Shape;123;g3ef042cd5e0_1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4" name="Google Shape;124;g3ef042cd5e0_1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5" name="Google Shape;125;g3ef042cd5e0_1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g3ef042cd5e0_1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ef042cd5e0_1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g3ef042cd5e0_1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g3ef042cd5e0_1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ef042cd5e0_1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ef042cd5e0_1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g3ef042cd5e0_1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ef042cd5e0_1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6" name="Google Shape;136;g3ef042cd5e0_1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7" name="Google Shape;137;g3ef042cd5e0_1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ef042cd5e0_1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g3ef042cd5e0_1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g3ef042cd5e0_1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g3ef042cd5e0_1_56"/>
          <p:cNvSpPr/>
          <p:nvPr>
            <p:ph idx="2" type="pic"/>
          </p:nvPr>
        </p:nvSpPr>
        <p:spPr>
          <a:xfrm>
            <a:off x="1792288" y="612775"/>
            <a:ext cx="5486400" cy="4114800"/>
          </a:xfrm>
          <a:prstGeom prst="rect">
            <a:avLst/>
          </a:prstGeom>
          <a:noFill/>
          <a:ln>
            <a:noFill/>
          </a:ln>
        </p:spPr>
      </p:sp>
      <p:sp>
        <p:nvSpPr>
          <p:cNvPr id="143" name="Google Shape;143;g3ef042cd5e0_1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4" name="Google Shape;144;g3ef042cd5e0_1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ef042cd5e0_1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ef042cd5e0_1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g3ef042cd5e0_1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g3ef042cd5e0_1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g3ef042cd5e0_1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g3ef042cd5e0_1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g3ef042cd5e0_1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g3ef042cd5e0_1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g3ef042cd5e0_1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6" name="Google Shape;156;g3ef042cd5e0_1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g3ef042cd5e0_1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g3ef042cd5e0_1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3ef042cd5e0_1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g3ef042cd5e0_1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g3ef042cd5e0_1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g3ef042cd5e0_1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g3ef042cd5e0_1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jpg"/><Relationship Id="rId10" Type="http://schemas.openxmlformats.org/officeDocument/2006/relationships/image" Target="../media/image12.jpg"/><Relationship Id="rId13" Type="http://schemas.openxmlformats.org/officeDocument/2006/relationships/image" Target="../media/image17.png"/><Relationship Id="rId12" Type="http://schemas.openxmlformats.org/officeDocument/2006/relationships/image" Target="../media/image5.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3.jpg"/><Relationship Id="rId9" Type="http://schemas.openxmlformats.org/officeDocument/2006/relationships/image" Target="../media/image4.jpg"/><Relationship Id="rId15" Type="http://schemas.openxmlformats.org/officeDocument/2006/relationships/image" Target="../media/image9.png"/><Relationship Id="rId14" Type="http://schemas.openxmlformats.org/officeDocument/2006/relationships/image" Target="../media/image1.png"/><Relationship Id="rId5" Type="http://schemas.openxmlformats.org/officeDocument/2006/relationships/image" Target="../media/image16.jpg"/><Relationship Id="rId6" Type="http://schemas.openxmlformats.org/officeDocument/2006/relationships/image" Target="../media/image11.jpg"/><Relationship Id="rId7" Type="http://schemas.openxmlformats.org/officeDocument/2006/relationships/image" Target="../media/image6.jpg"/><Relationship Id="rId8"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14.jp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22.png"/><Relationship Id="rId8" Type="http://schemas.openxmlformats.org/officeDocument/2006/relationships/image" Target="../media/image2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21.jpg"/><Relationship Id="rId9" Type="http://schemas.openxmlformats.org/officeDocument/2006/relationships/image" Target="../media/image32.png"/><Relationship Id="rId5" Type="http://schemas.openxmlformats.org/officeDocument/2006/relationships/image" Target="../media/image13.png"/><Relationship Id="rId6" Type="http://schemas.openxmlformats.org/officeDocument/2006/relationships/image" Target="../media/image27.png"/><Relationship Id="rId7" Type="http://schemas.openxmlformats.org/officeDocument/2006/relationships/image" Target="../media/image34.png"/><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33.png"/><Relationship Id="rId8"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80.png"/></Relationships>
</file>

<file path=ppt/slides/_rels/slide7.xml.rels><?xml version="1.0" encoding="UTF-8" standalone="yes"?><Relationships xmlns="http://schemas.openxmlformats.org/package/2006/relationships"><Relationship Id="rId11" Type="http://schemas.openxmlformats.org/officeDocument/2006/relationships/image" Target="../media/image31.jpg"/><Relationship Id="rId10" Type="http://schemas.openxmlformats.org/officeDocument/2006/relationships/image" Target="../media/image30.jpg"/><Relationship Id="rId12" Type="http://schemas.openxmlformats.org/officeDocument/2006/relationships/hyperlink" Target="https://drive.google.com/file/d/1zsACfnkSJyJsVbM4Qug5LhhbyN9oYr2L/view?usp=drive_link" TargetMode="External"/><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35.png"/><Relationship Id="rId9" Type="http://schemas.openxmlformats.org/officeDocument/2006/relationships/image" Target="../media/image37.png"/><Relationship Id="rId5" Type="http://schemas.openxmlformats.org/officeDocument/2006/relationships/image" Target="../media/image40.png"/><Relationship Id="rId6" Type="http://schemas.openxmlformats.org/officeDocument/2006/relationships/image" Target="../media/image36.jpg"/><Relationship Id="rId7" Type="http://schemas.openxmlformats.org/officeDocument/2006/relationships/image" Target="../media/image38.jpg"/><Relationship Id="rId8"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https://www.youtube.com/watch?v=n0uoWhI43o8" TargetMode="External"/><Relationship Id="rId6" Type="http://schemas.openxmlformats.org/officeDocument/2006/relationships/image" Target="../media/image55.png"/><Relationship Id="rId7" Type="http://schemas.openxmlformats.org/officeDocument/2006/relationships/hyperlink" Target="https://drive.google.com/file/d/1sYiPy2Pwl5_pwCKzTsHxUTmgRifDgGrT/view?usp=sharing" TargetMode="External"/><Relationship Id="rId8" Type="http://schemas.openxmlformats.org/officeDocument/2006/relationships/hyperlink" Target="https://drive.google.com/file/d/1sYiPy2Pwl5_pwCKzTsHxUTmgRifDgGrT/view?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0" Type="http://schemas.openxmlformats.org/officeDocument/2006/relationships/image" Target="../media/image51.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g"/><Relationship Id="rId4" Type="http://schemas.openxmlformats.org/officeDocument/2006/relationships/image" Target="../media/image23.png"/><Relationship Id="rId9" Type="http://schemas.openxmlformats.org/officeDocument/2006/relationships/image" Target="../media/image44.png"/><Relationship Id="rId5" Type="http://schemas.openxmlformats.org/officeDocument/2006/relationships/image" Target="../media/image13.png"/><Relationship Id="rId6" Type="http://schemas.openxmlformats.org/officeDocument/2006/relationships/image" Target="../media/image45.jpg"/><Relationship Id="rId7" Type="http://schemas.openxmlformats.org/officeDocument/2006/relationships/image" Target="../media/image43.png"/><Relationship Id="rId8"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48.png"/><Relationship Id="rId6" Type="http://schemas.openxmlformats.org/officeDocument/2006/relationships/image" Target="../media/image39.png"/><Relationship Id="rId7" Type="http://schemas.openxmlformats.org/officeDocument/2006/relationships/image" Target="../media/image25.png"/><Relationship Id="rId8" Type="http://schemas.openxmlformats.org/officeDocument/2006/relationships/hyperlink" Target="https://viisar.vercel.ap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35.png"/><Relationship Id="rId9" Type="http://schemas.openxmlformats.org/officeDocument/2006/relationships/image" Target="../media/image53.png"/><Relationship Id="rId5" Type="http://schemas.openxmlformats.org/officeDocument/2006/relationships/image" Target="../media/image52.png"/><Relationship Id="rId6" Type="http://schemas.openxmlformats.org/officeDocument/2006/relationships/image" Target="../media/image57.png"/><Relationship Id="rId7" Type="http://schemas.openxmlformats.org/officeDocument/2006/relationships/image" Target="../media/image61.jpg"/><Relationship Id="rId8" Type="http://schemas.openxmlformats.org/officeDocument/2006/relationships/image" Target="../media/image5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49.jpg"/><Relationship Id="rId6" Type="http://schemas.openxmlformats.org/officeDocument/2006/relationships/image" Target="../media/image50.png"/><Relationship Id="rId7" Type="http://schemas.openxmlformats.org/officeDocument/2006/relationships/image" Target="../media/image5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47.png"/><Relationship Id="rId6" Type="http://schemas.openxmlformats.org/officeDocument/2006/relationships/image" Target="../media/image77.png"/><Relationship Id="rId7" Type="http://schemas.openxmlformats.org/officeDocument/2006/relationships/image" Target="../media/image66.png"/><Relationship Id="rId8" Type="http://schemas.openxmlformats.org/officeDocument/2006/relationships/image" Target="../media/image56.png"/></Relationships>
</file>

<file path=ppt/slides/_rels/slide16.xml.rels><?xml version="1.0" encoding="UTF-8" standalone="yes"?><Relationships xmlns="http://schemas.openxmlformats.org/package/2006/relationships"><Relationship Id="rId10" Type="http://schemas.openxmlformats.org/officeDocument/2006/relationships/image" Target="../media/image62.jp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67.png"/><Relationship Id="rId9" Type="http://schemas.openxmlformats.org/officeDocument/2006/relationships/image" Target="../media/image60.jpg"/><Relationship Id="rId5" Type="http://schemas.openxmlformats.org/officeDocument/2006/relationships/image" Target="../media/image52.png"/><Relationship Id="rId6" Type="http://schemas.openxmlformats.org/officeDocument/2006/relationships/image" Target="../media/image73.jpg"/><Relationship Id="rId7" Type="http://schemas.openxmlformats.org/officeDocument/2006/relationships/image" Target="../media/image79.jpg"/><Relationship Id="rId8" Type="http://schemas.openxmlformats.org/officeDocument/2006/relationships/image" Target="../media/image6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67.png"/><Relationship Id="rId9" Type="http://schemas.openxmlformats.org/officeDocument/2006/relationships/image" Target="../media/image84.png"/><Relationship Id="rId5" Type="http://schemas.openxmlformats.org/officeDocument/2006/relationships/image" Target="../media/image52.png"/><Relationship Id="rId6" Type="http://schemas.openxmlformats.org/officeDocument/2006/relationships/image" Target="../media/image70.jpg"/><Relationship Id="rId7" Type="http://schemas.openxmlformats.org/officeDocument/2006/relationships/image" Target="../media/image65.jpg"/><Relationship Id="rId8"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67.png"/><Relationship Id="rId9" Type="http://schemas.openxmlformats.org/officeDocument/2006/relationships/image" Target="../media/image74.png"/><Relationship Id="rId5" Type="http://schemas.openxmlformats.org/officeDocument/2006/relationships/image" Target="../media/image52.png"/><Relationship Id="rId6" Type="http://schemas.openxmlformats.org/officeDocument/2006/relationships/image" Target="../media/image64.jpg"/><Relationship Id="rId7" Type="http://schemas.openxmlformats.org/officeDocument/2006/relationships/image" Target="../media/image68.jpg"/><Relationship Id="rId8" Type="http://schemas.openxmlformats.org/officeDocument/2006/relationships/image" Target="../media/image63.png"/></Relationships>
</file>

<file path=ppt/slides/_rels/slide19.xml.rels><?xml version="1.0" encoding="UTF-8" standalone="yes"?><Relationships xmlns="http://schemas.openxmlformats.org/package/2006/relationships"><Relationship Id="rId11" Type="http://schemas.openxmlformats.org/officeDocument/2006/relationships/image" Target="../media/image71.png"/><Relationship Id="rId10" Type="http://schemas.openxmlformats.org/officeDocument/2006/relationships/image" Target="../media/image72.png"/><Relationship Id="rId13" Type="http://schemas.openxmlformats.org/officeDocument/2006/relationships/image" Target="../media/image75.png"/><Relationship Id="rId12" Type="http://schemas.openxmlformats.org/officeDocument/2006/relationships/image" Target="../media/image69.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90.png"/><Relationship Id="rId15" Type="http://schemas.openxmlformats.org/officeDocument/2006/relationships/image" Target="../media/image91.png"/><Relationship Id="rId14" Type="http://schemas.openxmlformats.org/officeDocument/2006/relationships/image" Target="../media/image83.png"/><Relationship Id="rId17" Type="http://schemas.openxmlformats.org/officeDocument/2006/relationships/image" Target="../media/image82.png"/><Relationship Id="rId16" Type="http://schemas.openxmlformats.org/officeDocument/2006/relationships/image" Target="../media/image81.png"/><Relationship Id="rId5" Type="http://schemas.openxmlformats.org/officeDocument/2006/relationships/image" Target="../media/image76.jpg"/><Relationship Id="rId6" Type="http://schemas.openxmlformats.org/officeDocument/2006/relationships/image" Target="../media/image78.png"/><Relationship Id="rId7" Type="http://schemas.openxmlformats.org/officeDocument/2006/relationships/image" Target="../media/image86.png"/><Relationship Id="rId8" Type="http://schemas.openxmlformats.org/officeDocument/2006/relationships/image" Target="../media/image8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89.png"/><Relationship Id="rId5" Type="http://schemas.openxmlformats.org/officeDocument/2006/relationships/image" Target="../media/image98.jpg"/><Relationship Id="rId6" Type="http://schemas.openxmlformats.org/officeDocument/2006/relationships/image" Target="../media/image87.jpg"/><Relationship Id="rId7" Type="http://schemas.openxmlformats.org/officeDocument/2006/relationships/image" Target="../media/image92.jpg"/><Relationship Id="rId8" Type="http://schemas.openxmlformats.org/officeDocument/2006/relationships/image" Target="../media/image9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22.png"/><Relationship Id="rId4" Type="http://schemas.openxmlformats.org/officeDocument/2006/relationships/image" Target="../media/image18.png"/><Relationship Id="rId5" Type="http://schemas.openxmlformats.org/officeDocument/2006/relationships/image" Target="../media/image99.png"/></Relationships>
</file>

<file path=ppt/slides/_rels/slide22.xml.rels><?xml version="1.0" encoding="UTF-8" standalone="yes"?><Relationships xmlns="http://schemas.openxmlformats.org/package/2006/relationships"><Relationship Id="rId11" Type="http://schemas.openxmlformats.org/officeDocument/2006/relationships/image" Target="../media/image105.png"/><Relationship Id="rId10" Type="http://schemas.openxmlformats.org/officeDocument/2006/relationships/image" Target="../media/image21.jpg"/><Relationship Id="rId13" Type="http://schemas.openxmlformats.org/officeDocument/2006/relationships/image" Target="../media/image103.png"/><Relationship Id="rId12" Type="http://schemas.openxmlformats.org/officeDocument/2006/relationships/image" Target="../media/image95.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7.png"/><Relationship Id="rId4" Type="http://schemas.openxmlformats.org/officeDocument/2006/relationships/image" Target="../media/image107.png"/><Relationship Id="rId9" Type="http://schemas.openxmlformats.org/officeDocument/2006/relationships/image" Target="../media/image106.png"/><Relationship Id="rId15" Type="http://schemas.openxmlformats.org/officeDocument/2006/relationships/image" Target="../media/image13.png"/><Relationship Id="rId14" Type="http://schemas.openxmlformats.org/officeDocument/2006/relationships/image" Target="../media/image23.png"/><Relationship Id="rId16" Type="http://schemas.openxmlformats.org/officeDocument/2006/relationships/image" Target="../media/image25.png"/><Relationship Id="rId5" Type="http://schemas.openxmlformats.org/officeDocument/2006/relationships/image" Target="../media/image96.png"/><Relationship Id="rId6" Type="http://schemas.openxmlformats.org/officeDocument/2006/relationships/image" Target="../media/image100.png"/><Relationship Id="rId7" Type="http://schemas.openxmlformats.org/officeDocument/2006/relationships/image" Target="../media/image93.png"/><Relationship Id="rId8" Type="http://schemas.openxmlformats.org/officeDocument/2006/relationships/image" Target="../media/image110.png"/></Relationships>
</file>

<file path=ppt/slides/_rels/slide23.xml.rels><?xml version="1.0" encoding="UTF-8" standalone="yes"?><Relationships xmlns="http://schemas.openxmlformats.org/package/2006/relationships"><Relationship Id="rId10" Type="http://schemas.openxmlformats.org/officeDocument/2006/relationships/image" Target="../media/image118.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2.png"/><Relationship Id="rId4" Type="http://schemas.openxmlformats.org/officeDocument/2006/relationships/image" Target="../media/image104.png"/><Relationship Id="rId9" Type="http://schemas.openxmlformats.org/officeDocument/2006/relationships/image" Target="../media/image113.jpg"/><Relationship Id="rId5" Type="http://schemas.openxmlformats.org/officeDocument/2006/relationships/image" Target="../media/image101.png"/><Relationship Id="rId6" Type="http://schemas.openxmlformats.org/officeDocument/2006/relationships/image" Target="../media/image123.png"/><Relationship Id="rId7" Type="http://schemas.openxmlformats.org/officeDocument/2006/relationships/image" Target="../media/image121.png"/><Relationship Id="rId8" Type="http://schemas.openxmlformats.org/officeDocument/2006/relationships/image" Target="../media/image102.png"/></Relationships>
</file>

<file path=ppt/slides/_rels/slide24.xml.rels><?xml version="1.0" encoding="UTF-8" standalone="yes"?><Relationships xmlns="http://schemas.openxmlformats.org/package/2006/relationships"><Relationship Id="rId10" Type="http://schemas.openxmlformats.org/officeDocument/2006/relationships/image" Target="../media/image128.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2.png"/><Relationship Id="rId4" Type="http://schemas.openxmlformats.org/officeDocument/2006/relationships/image" Target="../media/image104.png"/><Relationship Id="rId9" Type="http://schemas.openxmlformats.org/officeDocument/2006/relationships/image" Target="../media/image125.png"/><Relationship Id="rId5" Type="http://schemas.openxmlformats.org/officeDocument/2006/relationships/image" Target="../media/image109.jpg"/><Relationship Id="rId6" Type="http://schemas.openxmlformats.org/officeDocument/2006/relationships/image" Target="../media/image111.jpg"/><Relationship Id="rId7" Type="http://schemas.openxmlformats.org/officeDocument/2006/relationships/image" Target="../media/image108.jpg"/><Relationship Id="rId8" Type="http://schemas.openxmlformats.org/officeDocument/2006/relationships/image" Target="../media/image1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2.png"/><Relationship Id="rId4" Type="http://schemas.openxmlformats.org/officeDocument/2006/relationships/image" Target="../media/image117.png"/><Relationship Id="rId5" Type="http://schemas.openxmlformats.org/officeDocument/2006/relationships/image" Target="../media/image116.png"/></Relationships>
</file>

<file path=ppt/slides/_rels/slide26.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7.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image" Target="../media/image115.jpg"/><Relationship Id="rId9" Type="http://schemas.openxmlformats.org/officeDocument/2006/relationships/image" Target="../media/image120.jpg"/><Relationship Id="rId5" Type="http://schemas.openxmlformats.org/officeDocument/2006/relationships/image" Target="../media/image114.jpg"/><Relationship Id="rId6" Type="http://schemas.openxmlformats.org/officeDocument/2006/relationships/image" Target="../media/image127.jpg"/><Relationship Id="rId7" Type="http://schemas.openxmlformats.org/officeDocument/2006/relationships/image" Target="../media/image119.jpg"/><Relationship Id="rId8" Type="http://schemas.openxmlformats.org/officeDocument/2006/relationships/image" Target="../media/image12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p:nvPr/>
        </p:nvSpPr>
        <p:spPr>
          <a:xfrm>
            <a:off x="5666175" y="3807"/>
            <a:ext cx="18279332" cy="10279379"/>
          </a:xfrm>
          <a:custGeom>
            <a:rect b="b" l="l" r="r" t="t"/>
            <a:pathLst>
              <a:path extrusionOk="0" h="13705839" w="24372443">
                <a:moveTo>
                  <a:pt x="0" y="0"/>
                </a:moveTo>
                <a:lnTo>
                  <a:pt x="24372443" y="0"/>
                </a:lnTo>
                <a:lnTo>
                  <a:pt x="24372443" y="13705839"/>
                </a:lnTo>
                <a:lnTo>
                  <a:pt x="0" y="13705839"/>
                </a:lnTo>
                <a:lnTo>
                  <a:pt x="0" y="0"/>
                </a:lnTo>
                <a:close/>
              </a:path>
            </a:pathLst>
          </a:custGeom>
          <a:blipFill rotWithShape="1">
            <a:blip r:embed="rId3">
              <a:alphaModFix/>
            </a:blip>
            <a:stretch>
              <a:fillRect b="-74" l="-6380" r="-6329" t="0"/>
            </a:stretch>
          </a:blipFill>
          <a:ln>
            <a:noFill/>
          </a:ln>
        </p:spPr>
      </p:sp>
      <p:sp>
        <p:nvSpPr>
          <p:cNvPr id="164" name="Google Shape;164;p1"/>
          <p:cNvSpPr/>
          <p:nvPr/>
        </p:nvSpPr>
        <p:spPr>
          <a:xfrm>
            <a:off x="5175742" y="3612280"/>
            <a:ext cx="1735264" cy="1735264"/>
          </a:xfrm>
          <a:custGeom>
            <a:rect b="b" l="l" r="r" t="t"/>
            <a:pathLst>
              <a:path extrusionOk="0" h="2313686" w="2313686">
                <a:moveTo>
                  <a:pt x="0" y="0"/>
                </a:moveTo>
                <a:lnTo>
                  <a:pt x="2313686" y="0"/>
                </a:lnTo>
                <a:lnTo>
                  <a:pt x="2313686" y="2313686"/>
                </a:lnTo>
                <a:lnTo>
                  <a:pt x="0" y="2313686"/>
                </a:lnTo>
                <a:lnTo>
                  <a:pt x="0" y="0"/>
                </a:lnTo>
                <a:close/>
              </a:path>
            </a:pathLst>
          </a:custGeom>
          <a:blipFill rotWithShape="1">
            <a:blip r:embed="rId4">
              <a:alphaModFix/>
            </a:blip>
            <a:stretch>
              <a:fillRect b="2" l="-14945" r="-15127" t="0"/>
            </a:stretch>
          </a:blipFill>
          <a:ln>
            <a:noFill/>
          </a:ln>
        </p:spPr>
      </p:sp>
      <p:sp>
        <p:nvSpPr>
          <p:cNvPr id="165" name="Google Shape;165;p1"/>
          <p:cNvSpPr/>
          <p:nvPr/>
        </p:nvSpPr>
        <p:spPr>
          <a:xfrm>
            <a:off x="5175742" y="5449738"/>
            <a:ext cx="1735264" cy="1735264"/>
          </a:xfrm>
          <a:custGeom>
            <a:rect b="b" l="l" r="r" t="t"/>
            <a:pathLst>
              <a:path extrusionOk="0" h="2313686" w="2313686">
                <a:moveTo>
                  <a:pt x="0" y="0"/>
                </a:moveTo>
                <a:lnTo>
                  <a:pt x="2313686" y="0"/>
                </a:lnTo>
                <a:lnTo>
                  <a:pt x="2313686" y="2313686"/>
                </a:lnTo>
                <a:lnTo>
                  <a:pt x="0" y="2313686"/>
                </a:lnTo>
                <a:lnTo>
                  <a:pt x="0" y="0"/>
                </a:lnTo>
                <a:close/>
              </a:path>
            </a:pathLst>
          </a:custGeom>
          <a:blipFill rotWithShape="1">
            <a:blip r:embed="rId5">
              <a:alphaModFix/>
            </a:blip>
            <a:stretch>
              <a:fillRect b="-389" l="-99424" r="-37678" t="0"/>
            </a:stretch>
          </a:blipFill>
          <a:ln>
            <a:noFill/>
          </a:ln>
        </p:spPr>
      </p:sp>
      <p:sp>
        <p:nvSpPr>
          <p:cNvPr id="166" name="Google Shape;166;p1"/>
          <p:cNvSpPr/>
          <p:nvPr/>
        </p:nvSpPr>
        <p:spPr>
          <a:xfrm>
            <a:off x="9032100" y="3393338"/>
            <a:ext cx="1735550" cy="2173129"/>
          </a:xfrm>
          <a:custGeom>
            <a:rect b="b" l="l" r="r" t="t"/>
            <a:pathLst>
              <a:path extrusionOk="0" h="2897505" w="2314067">
                <a:moveTo>
                  <a:pt x="0" y="0"/>
                </a:moveTo>
                <a:lnTo>
                  <a:pt x="2314067" y="0"/>
                </a:lnTo>
                <a:lnTo>
                  <a:pt x="2314067" y="2897505"/>
                </a:lnTo>
                <a:lnTo>
                  <a:pt x="0" y="2897505"/>
                </a:lnTo>
                <a:lnTo>
                  <a:pt x="0" y="0"/>
                </a:lnTo>
                <a:close/>
              </a:path>
            </a:pathLst>
          </a:custGeom>
          <a:blipFill rotWithShape="1">
            <a:blip r:embed="rId6">
              <a:alphaModFix/>
            </a:blip>
            <a:stretch>
              <a:fillRect b="-142" l="-85977" r="-107381" t="0"/>
            </a:stretch>
          </a:blipFill>
          <a:ln>
            <a:noFill/>
          </a:ln>
        </p:spPr>
      </p:sp>
      <p:sp>
        <p:nvSpPr>
          <p:cNvPr id="167" name="Google Shape;167;p1"/>
          <p:cNvSpPr/>
          <p:nvPr/>
        </p:nvSpPr>
        <p:spPr>
          <a:xfrm>
            <a:off x="870137" y="7184965"/>
            <a:ext cx="4022979" cy="1711452"/>
          </a:xfrm>
          <a:custGeom>
            <a:rect b="b" l="l" r="r" t="t"/>
            <a:pathLst>
              <a:path extrusionOk="0" h="2281936" w="5363972">
                <a:moveTo>
                  <a:pt x="0" y="0"/>
                </a:moveTo>
                <a:lnTo>
                  <a:pt x="5363972" y="0"/>
                </a:lnTo>
                <a:lnTo>
                  <a:pt x="5363972" y="2281936"/>
                </a:lnTo>
                <a:lnTo>
                  <a:pt x="0" y="2281936"/>
                </a:lnTo>
                <a:lnTo>
                  <a:pt x="0" y="0"/>
                </a:lnTo>
                <a:close/>
              </a:path>
            </a:pathLst>
          </a:custGeom>
          <a:blipFill rotWithShape="1">
            <a:blip r:embed="rId7">
              <a:alphaModFix/>
            </a:blip>
            <a:stretch>
              <a:fillRect b="0" l="-39" r="0" t="0"/>
            </a:stretch>
          </a:blipFill>
          <a:ln>
            <a:noFill/>
          </a:ln>
        </p:spPr>
      </p:sp>
      <p:sp>
        <p:nvSpPr>
          <p:cNvPr id="168" name="Google Shape;168;p1"/>
          <p:cNvSpPr/>
          <p:nvPr/>
        </p:nvSpPr>
        <p:spPr>
          <a:xfrm>
            <a:off x="5207965" y="7403344"/>
            <a:ext cx="3405759" cy="1529620"/>
          </a:xfrm>
          <a:custGeom>
            <a:rect b="b" l="l" r="r" t="t"/>
            <a:pathLst>
              <a:path extrusionOk="0" h="2039493" w="4541012">
                <a:moveTo>
                  <a:pt x="0" y="0"/>
                </a:moveTo>
                <a:lnTo>
                  <a:pt x="4541012" y="0"/>
                </a:lnTo>
                <a:lnTo>
                  <a:pt x="4541012" y="2039493"/>
                </a:lnTo>
                <a:lnTo>
                  <a:pt x="0" y="2039493"/>
                </a:lnTo>
                <a:lnTo>
                  <a:pt x="0" y="0"/>
                </a:lnTo>
                <a:close/>
              </a:path>
            </a:pathLst>
          </a:custGeom>
          <a:blipFill rotWithShape="1">
            <a:blip r:embed="rId8">
              <a:alphaModFix/>
            </a:blip>
            <a:stretch>
              <a:fillRect b="1" l="-73" r="-101" t="0"/>
            </a:stretch>
          </a:blipFill>
          <a:ln>
            <a:noFill/>
          </a:ln>
        </p:spPr>
      </p:sp>
      <p:sp>
        <p:nvSpPr>
          <p:cNvPr id="169" name="Google Shape;169;p1"/>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170" name="Google Shape;170;p1"/>
          <p:cNvSpPr/>
          <p:nvPr/>
        </p:nvSpPr>
        <p:spPr>
          <a:xfrm>
            <a:off x="7381751" y="5856942"/>
            <a:ext cx="2731675" cy="1327976"/>
          </a:xfrm>
          <a:custGeom>
            <a:rect b="b" l="l" r="r" t="t"/>
            <a:pathLst>
              <a:path extrusionOk="0" h="1770634" w="3642233">
                <a:moveTo>
                  <a:pt x="0" y="0"/>
                </a:moveTo>
                <a:lnTo>
                  <a:pt x="3642233" y="0"/>
                </a:lnTo>
                <a:lnTo>
                  <a:pt x="3642233" y="1770634"/>
                </a:lnTo>
                <a:lnTo>
                  <a:pt x="0" y="1770634"/>
                </a:lnTo>
                <a:lnTo>
                  <a:pt x="0" y="0"/>
                </a:lnTo>
                <a:close/>
              </a:path>
            </a:pathLst>
          </a:custGeom>
          <a:blipFill rotWithShape="1">
            <a:blip r:embed="rId9">
              <a:alphaModFix/>
            </a:blip>
            <a:stretch>
              <a:fillRect b="-2" l="-6718" r="-6653" t="0"/>
            </a:stretch>
          </a:blipFill>
          <a:ln>
            <a:noFill/>
          </a:ln>
        </p:spPr>
      </p:sp>
      <p:sp>
        <p:nvSpPr>
          <p:cNvPr descr="A group of men sitting in a circle looking at a computer  AI-generated content may be incorrect." id="171" name="Google Shape;171;p1"/>
          <p:cNvSpPr/>
          <p:nvPr/>
        </p:nvSpPr>
        <p:spPr>
          <a:xfrm>
            <a:off x="10965151" y="3099283"/>
            <a:ext cx="2748820" cy="2767870"/>
          </a:xfrm>
          <a:custGeom>
            <a:rect b="b" l="l" r="r" t="t"/>
            <a:pathLst>
              <a:path extrusionOk="0" h="3690493" w="3665093">
                <a:moveTo>
                  <a:pt x="0" y="0"/>
                </a:moveTo>
                <a:lnTo>
                  <a:pt x="3665093" y="0"/>
                </a:lnTo>
                <a:lnTo>
                  <a:pt x="3665093" y="3690493"/>
                </a:lnTo>
                <a:lnTo>
                  <a:pt x="0" y="3690493"/>
                </a:lnTo>
                <a:lnTo>
                  <a:pt x="0" y="0"/>
                </a:lnTo>
                <a:close/>
              </a:path>
            </a:pathLst>
          </a:custGeom>
          <a:blipFill rotWithShape="1">
            <a:blip r:embed="rId10">
              <a:alphaModFix/>
            </a:blip>
            <a:stretch>
              <a:fillRect b="-169" l="0" r="0" t="-174"/>
            </a:stretch>
          </a:blipFill>
          <a:ln>
            <a:noFill/>
          </a:ln>
        </p:spPr>
      </p:sp>
      <p:sp>
        <p:nvSpPr>
          <p:cNvPr descr="A couple of men looking at a computer  AI-generated content may be incorrect." id="172" name="Google Shape;172;p1"/>
          <p:cNvSpPr/>
          <p:nvPr/>
        </p:nvSpPr>
        <p:spPr>
          <a:xfrm>
            <a:off x="1386688" y="4818612"/>
            <a:ext cx="3505105" cy="2050352"/>
          </a:xfrm>
          <a:custGeom>
            <a:rect b="b" l="l" r="r" t="t"/>
            <a:pathLst>
              <a:path extrusionOk="0" h="2733802" w="4673473">
                <a:moveTo>
                  <a:pt x="0" y="0"/>
                </a:moveTo>
                <a:lnTo>
                  <a:pt x="4673473" y="0"/>
                </a:lnTo>
                <a:lnTo>
                  <a:pt x="4673473" y="2733802"/>
                </a:lnTo>
                <a:lnTo>
                  <a:pt x="0" y="2733802"/>
                </a:lnTo>
                <a:lnTo>
                  <a:pt x="0" y="0"/>
                </a:lnTo>
                <a:close/>
              </a:path>
            </a:pathLst>
          </a:custGeom>
          <a:blipFill rotWithShape="1">
            <a:blip r:embed="rId11">
              <a:alphaModFix/>
            </a:blip>
            <a:stretch>
              <a:fillRect b="-2400" l="0" r="-83" t="-2287"/>
            </a:stretch>
          </a:blipFill>
          <a:ln>
            <a:noFill/>
          </a:ln>
        </p:spPr>
      </p:sp>
      <p:sp>
        <p:nvSpPr>
          <p:cNvPr descr="A person wearing glasses and a black shirt  AI-generated content may be incorrect." id="173" name="Google Shape;173;p1"/>
          <p:cNvSpPr/>
          <p:nvPr/>
        </p:nvSpPr>
        <p:spPr>
          <a:xfrm>
            <a:off x="7034984" y="3093949"/>
            <a:ext cx="1883759" cy="2472404"/>
          </a:xfrm>
          <a:custGeom>
            <a:rect b="b" l="l" r="r" t="t"/>
            <a:pathLst>
              <a:path extrusionOk="0" h="3296539" w="2511679">
                <a:moveTo>
                  <a:pt x="0" y="0"/>
                </a:moveTo>
                <a:lnTo>
                  <a:pt x="2511679" y="0"/>
                </a:lnTo>
                <a:lnTo>
                  <a:pt x="2511679" y="3296539"/>
                </a:lnTo>
                <a:lnTo>
                  <a:pt x="0" y="3296539"/>
                </a:lnTo>
                <a:lnTo>
                  <a:pt x="0" y="0"/>
                </a:lnTo>
                <a:close/>
              </a:path>
            </a:pathLst>
          </a:custGeom>
          <a:blipFill rotWithShape="1">
            <a:blip r:embed="rId12">
              <a:alphaModFix/>
            </a:blip>
            <a:stretch>
              <a:fillRect b="0" l="-2170" r="-2124" t="0"/>
            </a:stretch>
          </a:blipFill>
          <a:ln>
            <a:noFill/>
          </a:ln>
        </p:spPr>
      </p:sp>
      <p:sp>
        <p:nvSpPr>
          <p:cNvPr id="174" name="Google Shape;174;p1"/>
          <p:cNvSpPr/>
          <p:nvPr/>
        </p:nvSpPr>
        <p:spPr>
          <a:xfrm>
            <a:off x="15366978" y="0"/>
            <a:ext cx="2708338" cy="1500187"/>
          </a:xfrm>
          <a:custGeom>
            <a:rect b="b" l="l" r="r" t="t"/>
            <a:pathLst>
              <a:path extrusionOk="0" h="2000250" w="3611118">
                <a:moveTo>
                  <a:pt x="0" y="0"/>
                </a:moveTo>
                <a:lnTo>
                  <a:pt x="3611118" y="0"/>
                </a:lnTo>
                <a:lnTo>
                  <a:pt x="3611118" y="2000250"/>
                </a:lnTo>
                <a:lnTo>
                  <a:pt x="0" y="2000250"/>
                </a:lnTo>
                <a:lnTo>
                  <a:pt x="0" y="0"/>
                </a:lnTo>
                <a:close/>
              </a:path>
            </a:pathLst>
          </a:custGeom>
          <a:blipFill rotWithShape="1">
            <a:blip r:embed="rId13">
              <a:alphaModFix/>
            </a:blip>
            <a:stretch>
              <a:fillRect b="0" l="0" r="-23" t="-1821"/>
            </a:stretch>
          </a:blipFill>
          <a:ln>
            <a:noFill/>
          </a:ln>
        </p:spPr>
      </p:sp>
      <p:sp>
        <p:nvSpPr>
          <p:cNvPr id="175" name="Google Shape;175;p1"/>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14">
              <a:alphaModFix/>
            </a:blip>
            <a:stretch>
              <a:fillRect b="0" l="0" r="0" t="0"/>
            </a:stretch>
          </a:blipFill>
          <a:ln>
            <a:noFill/>
          </a:ln>
        </p:spPr>
      </p:sp>
      <p:sp>
        <p:nvSpPr>
          <p:cNvPr id="176" name="Google Shape;176;p1"/>
          <p:cNvSpPr/>
          <p:nvPr/>
        </p:nvSpPr>
        <p:spPr>
          <a:xfrm>
            <a:off x="12738297" y="0"/>
            <a:ext cx="2574417" cy="1405985"/>
          </a:xfrm>
          <a:custGeom>
            <a:rect b="b" l="l" r="r" t="t"/>
            <a:pathLst>
              <a:path extrusionOk="0" h="1874647" w="3432556">
                <a:moveTo>
                  <a:pt x="0" y="0"/>
                </a:moveTo>
                <a:lnTo>
                  <a:pt x="3432556" y="0"/>
                </a:lnTo>
                <a:lnTo>
                  <a:pt x="3432556" y="1874647"/>
                </a:lnTo>
                <a:lnTo>
                  <a:pt x="0" y="1874647"/>
                </a:lnTo>
                <a:lnTo>
                  <a:pt x="0" y="0"/>
                </a:lnTo>
                <a:close/>
              </a:path>
            </a:pathLst>
          </a:custGeom>
          <a:blipFill rotWithShape="1">
            <a:blip r:embed="rId15">
              <a:alphaModFix/>
            </a:blip>
            <a:stretch>
              <a:fillRect b="-304" l="0" r="0" t="-5921"/>
            </a:stretch>
          </a:blipFill>
          <a:ln>
            <a:noFill/>
          </a:ln>
        </p:spPr>
      </p:sp>
      <p:grpSp>
        <p:nvGrpSpPr>
          <p:cNvPr id="177" name="Google Shape;177;p1"/>
          <p:cNvGrpSpPr/>
          <p:nvPr/>
        </p:nvGrpSpPr>
        <p:grpSpPr>
          <a:xfrm>
            <a:off x="12183339" y="7617"/>
            <a:ext cx="6095997" cy="1492628"/>
            <a:chOff x="63500" y="63500"/>
            <a:chExt cx="6096000" cy="1492634"/>
          </a:xfrm>
        </p:grpSpPr>
        <p:sp>
          <p:nvSpPr>
            <p:cNvPr id="178" name="Google Shape;178;p1"/>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179" name="Google Shape;179;p1"/>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180" name="Google Shape;180;p1"/>
          <p:cNvSpPr txBox="1"/>
          <p:nvPr/>
        </p:nvSpPr>
        <p:spPr>
          <a:xfrm>
            <a:off x="1175861" y="1728387"/>
            <a:ext cx="6104144" cy="113329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600" u="none" cap="none" strike="noStrike">
                <a:solidFill>
                  <a:srgbClr val="000000"/>
                </a:solidFill>
                <a:latin typeface="Roboto"/>
                <a:ea typeface="Roboto"/>
                <a:cs typeface="Roboto"/>
                <a:sym typeface="Roboto"/>
              </a:rPr>
              <a:t>TechForChange</a:t>
            </a:r>
            <a:endParaRPr/>
          </a:p>
        </p:txBody>
      </p:sp>
      <p:sp>
        <p:nvSpPr>
          <p:cNvPr id="181" name="Google Shape;181;p1"/>
          <p:cNvSpPr txBox="1"/>
          <p:nvPr/>
        </p:nvSpPr>
        <p:spPr>
          <a:xfrm>
            <a:off x="3918061" y="2753106"/>
            <a:ext cx="174193" cy="922915"/>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1" i="0" lang="en-US" sz="5400" u="none" cap="none" strike="noStrike">
                <a:solidFill>
                  <a:srgbClr val="C00000"/>
                </a:solidFill>
                <a:latin typeface="Roboto"/>
                <a:ea typeface="Roboto"/>
                <a:cs typeface="Roboto"/>
                <a:sym typeface="Roboto"/>
              </a:rPr>
              <a:t> </a:t>
            </a:r>
            <a:endParaRPr/>
          </a:p>
        </p:txBody>
      </p:sp>
      <p:sp>
        <p:nvSpPr>
          <p:cNvPr id="182" name="Google Shape;182;p1"/>
          <p:cNvSpPr txBox="1"/>
          <p:nvPr/>
        </p:nvSpPr>
        <p:spPr>
          <a:xfrm>
            <a:off x="1175861" y="2753106"/>
            <a:ext cx="3372564" cy="922915"/>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1" i="0" lang="en-US" sz="5400" u="none" cap="none" strike="noStrike">
                <a:solidFill>
                  <a:srgbClr val="C00000"/>
                </a:solidFill>
                <a:latin typeface="Roboto"/>
                <a:ea typeface="Roboto"/>
                <a:cs typeface="Roboto"/>
                <a:sym typeface="Roboto"/>
              </a:rPr>
              <a:t>COHORT</a:t>
            </a:r>
            <a:r>
              <a:rPr b="1" i="0" lang="en-US" sz="5400" u="none" cap="none" strike="noStrike">
                <a:solidFill>
                  <a:srgbClr val="000000"/>
                </a:solidFill>
                <a:latin typeface="Roboto"/>
                <a:ea typeface="Roboto"/>
                <a:cs typeface="Roboto"/>
                <a:sym typeface="Roboto"/>
              </a:rPr>
              <a:t> </a:t>
            </a:r>
            <a:r>
              <a:rPr b="1" i="0" lang="en-US" sz="5400" u="none" cap="none" strike="noStrike">
                <a:solidFill>
                  <a:srgbClr val="C00000"/>
                </a:solidFill>
                <a:latin typeface="Roboto"/>
                <a:ea typeface="Roboto"/>
                <a:cs typeface="Roboto"/>
                <a:sym typeface="Roboto"/>
              </a:rPr>
              <a:t>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188" name="Google Shape;188;p2"/>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189" name="Google Shape;189;p2"/>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190" name="Google Shape;190;p2"/>
          <p:cNvSpPr/>
          <p:nvPr/>
        </p:nvSpPr>
        <p:spPr>
          <a:xfrm>
            <a:off x="1145343" y="2286381"/>
            <a:ext cx="3613309" cy="3613309"/>
          </a:xfrm>
          <a:custGeom>
            <a:rect b="b" l="l" r="r" t="t"/>
            <a:pathLst>
              <a:path extrusionOk="0" h="4817745" w="4817745">
                <a:moveTo>
                  <a:pt x="0" y="0"/>
                </a:moveTo>
                <a:lnTo>
                  <a:pt x="4817745" y="0"/>
                </a:lnTo>
                <a:lnTo>
                  <a:pt x="4817745" y="4817745"/>
                </a:lnTo>
                <a:lnTo>
                  <a:pt x="0" y="4817745"/>
                </a:lnTo>
                <a:lnTo>
                  <a:pt x="0" y="0"/>
                </a:lnTo>
                <a:close/>
              </a:path>
            </a:pathLst>
          </a:custGeom>
          <a:blipFill rotWithShape="1">
            <a:blip r:embed="rId5">
              <a:alphaModFix/>
            </a:blip>
            <a:stretch>
              <a:fillRect b="0" l="0" r="0" t="0"/>
            </a:stretch>
          </a:blipFill>
          <a:ln>
            <a:noFill/>
          </a:ln>
        </p:spPr>
      </p:sp>
      <p:sp>
        <p:nvSpPr>
          <p:cNvPr id="191" name="Google Shape;191;p2"/>
          <p:cNvSpPr/>
          <p:nvPr/>
        </p:nvSpPr>
        <p:spPr>
          <a:xfrm>
            <a:off x="5339934" y="2373478"/>
            <a:ext cx="3613309" cy="3613309"/>
          </a:xfrm>
          <a:custGeom>
            <a:rect b="b" l="l" r="r" t="t"/>
            <a:pathLst>
              <a:path extrusionOk="0" h="4817745" w="4817745">
                <a:moveTo>
                  <a:pt x="0" y="0"/>
                </a:moveTo>
                <a:lnTo>
                  <a:pt x="4817745" y="0"/>
                </a:lnTo>
                <a:lnTo>
                  <a:pt x="4817745" y="4817745"/>
                </a:lnTo>
                <a:lnTo>
                  <a:pt x="0" y="4817745"/>
                </a:lnTo>
                <a:lnTo>
                  <a:pt x="0" y="0"/>
                </a:lnTo>
                <a:close/>
              </a:path>
            </a:pathLst>
          </a:custGeom>
          <a:blipFill rotWithShape="1">
            <a:blip r:embed="rId6">
              <a:alphaModFix/>
            </a:blip>
            <a:stretch>
              <a:fillRect b="0" l="0" r="0" t="0"/>
            </a:stretch>
          </a:blipFill>
          <a:ln>
            <a:noFill/>
          </a:ln>
        </p:spPr>
      </p:sp>
      <p:sp>
        <p:nvSpPr>
          <p:cNvPr id="192" name="Google Shape;192;p2"/>
          <p:cNvSpPr/>
          <p:nvPr/>
        </p:nvSpPr>
        <p:spPr>
          <a:xfrm>
            <a:off x="8953262" y="7582033"/>
            <a:ext cx="1392955" cy="1392955"/>
          </a:xfrm>
          <a:custGeom>
            <a:rect b="b" l="l" r="r" t="t"/>
            <a:pathLst>
              <a:path extrusionOk="0" h="1392955" w="1392955">
                <a:moveTo>
                  <a:pt x="0" y="0"/>
                </a:moveTo>
                <a:lnTo>
                  <a:pt x="1392955" y="0"/>
                </a:lnTo>
                <a:lnTo>
                  <a:pt x="1392955" y="1392955"/>
                </a:lnTo>
                <a:lnTo>
                  <a:pt x="0" y="1392955"/>
                </a:lnTo>
                <a:lnTo>
                  <a:pt x="0" y="0"/>
                </a:lnTo>
                <a:close/>
              </a:path>
            </a:pathLst>
          </a:custGeom>
          <a:blipFill rotWithShape="1">
            <a:blip r:embed="rId7">
              <a:alphaModFix/>
            </a:blip>
            <a:stretch>
              <a:fillRect b="0" l="0" r="0" t="0"/>
            </a:stretch>
          </a:blipFill>
          <a:ln>
            <a:noFill/>
          </a:ln>
        </p:spPr>
      </p:sp>
      <p:sp>
        <p:nvSpPr>
          <p:cNvPr id="193" name="Google Shape;193;p2"/>
          <p:cNvSpPr/>
          <p:nvPr/>
        </p:nvSpPr>
        <p:spPr>
          <a:xfrm>
            <a:off x="9534525" y="2121389"/>
            <a:ext cx="1392955" cy="1392955"/>
          </a:xfrm>
          <a:custGeom>
            <a:rect b="b" l="l" r="r" t="t"/>
            <a:pathLst>
              <a:path extrusionOk="0" h="1392955" w="1392955">
                <a:moveTo>
                  <a:pt x="0" y="0"/>
                </a:moveTo>
                <a:lnTo>
                  <a:pt x="1392955" y="0"/>
                </a:lnTo>
                <a:lnTo>
                  <a:pt x="1392955" y="1392955"/>
                </a:lnTo>
                <a:lnTo>
                  <a:pt x="0" y="1392955"/>
                </a:lnTo>
                <a:lnTo>
                  <a:pt x="0" y="0"/>
                </a:lnTo>
                <a:close/>
              </a:path>
            </a:pathLst>
          </a:custGeom>
          <a:blipFill rotWithShape="1">
            <a:blip r:embed="rId7">
              <a:alphaModFix/>
            </a:blip>
            <a:stretch>
              <a:fillRect b="0" l="0" r="0" t="0"/>
            </a:stretch>
          </a:blipFill>
          <a:ln>
            <a:noFill/>
          </a:ln>
        </p:spPr>
      </p:sp>
      <p:sp>
        <p:nvSpPr>
          <p:cNvPr id="194" name="Google Shape;194;p2"/>
          <p:cNvSpPr/>
          <p:nvPr/>
        </p:nvSpPr>
        <p:spPr>
          <a:xfrm>
            <a:off x="9463040" y="2397357"/>
            <a:ext cx="3534918" cy="3534918"/>
          </a:xfrm>
          <a:custGeom>
            <a:rect b="b" l="l" r="r" t="t"/>
            <a:pathLst>
              <a:path extrusionOk="0" h="4713224" w="4713224">
                <a:moveTo>
                  <a:pt x="2354326" y="0"/>
                </a:moveTo>
                <a:cubicBezTo>
                  <a:pt x="1053846" y="1143"/>
                  <a:pt x="0" y="1055878"/>
                  <a:pt x="0" y="2356612"/>
                </a:cubicBezTo>
                <a:cubicBezTo>
                  <a:pt x="0" y="3658108"/>
                  <a:pt x="1055116" y="4713224"/>
                  <a:pt x="2356612" y="4713224"/>
                </a:cubicBezTo>
                <a:cubicBezTo>
                  <a:pt x="3657473" y="4713224"/>
                  <a:pt x="4712208" y="3659124"/>
                  <a:pt x="4713224" y="2358390"/>
                </a:cubicBezTo>
                <a:lnTo>
                  <a:pt x="4713224" y="2354326"/>
                </a:lnTo>
                <a:cubicBezTo>
                  <a:pt x="4711954" y="1054608"/>
                  <a:pt x="3658616" y="1143"/>
                  <a:pt x="2358898" y="0"/>
                </a:cubicBezTo>
                <a:close/>
              </a:path>
            </a:pathLst>
          </a:custGeom>
          <a:blipFill rotWithShape="1">
            <a:blip r:embed="rId8">
              <a:alphaModFix/>
            </a:blip>
            <a:stretch>
              <a:fillRect b="-39129" l="0" r="0" t="-3899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13512298" y="2397357"/>
            <a:ext cx="3534918" cy="3534918"/>
          </a:xfrm>
          <a:custGeom>
            <a:rect b="b" l="l" r="r" t="t"/>
            <a:pathLst>
              <a:path extrusionOk="0" h="4713224" w="4713224">
                <a:moveTo>
                  <a:pt x="2354326" y="0"/>
                </a:moveTo>
                <a:cubicBezTo>
                  <a:pt x="1053846" y="1143"/>
                  <a:pt x="0" y="1055878"/>
                  <a:pt x="0" y="2356612"/>
                </a:cubicBezTo>
                <a:cubicBezTo>
                  <a:pt x="0" y="3658108"/>
                  <a:pt x="1055116" y="4713224"/>
                  <a:pt x="2356612" y="4713224"/>
                </a:cubicBezTo>
                <a:cubicBezTo>
                  <a:pt x="3657092" y="4713224"/>
                  <a:pt x="4711573" y="3659759"/>
                  <a:pt x="4713224" y="2359533"/>
                </a:cubicBezTo>
                <a:lnTo>
                  <a:pt x="4713224" y="2353437"/>
                </a:lnTo>
                <a:cubicBezTo>
                  <a:pt x="4711573" y="1054100"/>
                  <a:pt x="3658235" y="1143"/>
                  <a:pt x="2358898" y="0"/>
                </a:cubicBezTo>
                <a:close/>
              </a:path>
            </a:pathLst>
          </a:cu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 name="Google Shape;196;p2"/>
          <p:cNvGrpSpPr/>
          <p:nvPr/>
        </p:nvGrpSpPr>
        <p:grpSpPr>
          <a:xfrm>
            <a:off x="939314" y="464969"/>
            <a:ext cx="411477" cy="592837"/>
            <a:chOff x="63500" y="63500"/>
            <a:chExt cx="411479" cy="592837"/>
          </a:xfrm>
        </p:grpSpPr>
        <p:sp>
          <p:nvSpPr>
            <p:cNvPr id="197" name="Google Shape;197;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2"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
            <p:cNvSpPr/>
            <p:nvPr/>
          </p:nvSpPr>
          <p:spPr>
            <a:xfrm>
              <a:off x="292480" y="63500"/>
              <a:ext cx="180721" cy="170815"/>
            </a:xfrm>
            <a:custGeom>
              <a:rect b="b" l="l" r="r" t="t"/>
              <a:pathLst>
                <a:path extrusionOk="0" h="170815" w="180721">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9"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9"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204" name="Google Shape;204;p2"/>
          <p:cNvGrpSpPr/>
          <p:nvPr/>
        </p:nvGrpSpPr>
        <p:grpSpPr>
          <a:xfrm>
            <a:off x="12183339" y="7617"/>
            <a:ext cx="6095997" cy="1492628"/>
            <a:chOff x="63500" y="63500"/>
            <a:chExt cx="6096000" cy="1492634"/>
          </a:xfrm>
        </p:grpSpPr>
        <p:sp>
          <p:nvSpPr>
            <p:cNvPr id="205" name="Google Shape;205;p2"/>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206" name="Google Shape;206;p2"/>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207" name="Google Shape;207;p2"/>
          <p:cNvSpPr txBox="1"/>
          <p:nvPr/>
        </p:nvSpPr>
        <p:spPr>
          <a:xfrm>
            <a:off x="1503864" y="6002284"/>
            <a:ext cx="2524039" cy="1277845"/>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199" u="none" cap="none" strike="noStrike">
                <a:solidFill>
                  <a:srgbClr val="000000"/>
                </a:solidFill>
                <a:latin typeface="Calibri"/>
                <a:ea typeface="Calibri"/>
                <a:cs typeface="Calibri"/>
                <a:sym typeface="Calibri"/>
              </a:rPr>
              <a:t>Adarsh Goyal</a:t>
            </a:r>
            <a:endParaRPr/>
          </a:p>
          <a:p>
            <a:pPr indent="0" lvl="0" marL="0" marR="0" rtl="0" algn="ctr">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Founder &amp; CEO</a:t>
            </a:r>
            <a:endParaRPr/>
          </a:p>
        </p:txBody>
      </p:sp>
      <p:sp>
        <p:nvSpPr>
          <p:cNvPr id="208" name="Google Shape;208;p2"/>
          <p:cNvSpPr txBox="1"/>
          <p:nvPr/>
        </p:nvSpPr>
        <p:spPr>
          <a:xfrm>
            <a:off x="6088323" y="6183259"/>
            <a:ext cx="2158556"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199" u="none" cap="none" strike="noStrike">
                <a:solidFill>
                  <a:srgbClr val="000000"/>
                </a:solidFill>
                <a:latin typeface="Calibri"/>
                <a:ea typeface="Calibri"/>
                <a:cs typeface="Calibri"/>
                <a:sym typeface="Calibri"/>
              </a:rPr>
              <a:t>Sneha Gupta</a:t>
            </a:r>
            <a:endParaRPr/>
          </a:p>
        </p:txBody>
      </p:sp>
      <p:sp>
        <p:nvSpPr>
          <p:cNvPr id="209" name="Google Shape;209;p2"/>
          <p:cNvSpPr txBox="1"/>
          <p:nvPr/>
        </p:nvSpPr>
        <p:spPr>
          <a:xfrm>
            <a:off x="7538447" y="6702638"/>
            <a:ext cx="90783"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 </a:t>
            </a:r>
            <a:endParaRPr/>
          </a:p>
        </p:txBody>
      </p:sp>
      <p:sp>
        <p:nvSpPr>
          <p:cNvPr id="210" name="Google Shape;210;p2"/>
          <p:cNvSpPr txBox="1"/>
          <p:nvPr/>
        </p:nvSpPr>
        <p:spPr>
          <a:xfrm>
            <a:off x="10025291" y="6183259"/>
            <a:ext cx="2684078"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199" u="none" cap="none" strike="noStrike">
                <a:solidFill>
                  <a:srgbClr val="000000"/>
                </a:solidFill>
                <a:latin typeface="Calibri"/>
                <a:ea typeface="Calibri"/>
                <a:cs typeface="Calibri"/>
                <a:sym typeface="Calibri"/>
              </a:rPr>
              <a:t>Naman Dadhich</a:t>
            </a:r>
            <a:endParaRPr/>
          </a:p>
        </p:txBody>
      </p:sp>
      <p:sp>
        <p:nvSpPr>
          <p:cNvPr id="211" name="Google Shape;211;p2"/>
          <p:cNvSpPr txBox="1"/>
          <p:nvPr/>
        </p:nvSpPr>
        <p:spPr>
          <a:xfrm>
            <a:off x="10869901" y="6702638"/>
            <a:ext cx="90783"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 </a:t>
            </a:r>
            <a:endParaRPr/>
          </a:p>
        </p:txBody>
      </p:sp>
      <p:sp>
        <p:nvSpPr>
          <p:cNvPr id="212" name="Google Shape;212;p2"/>
          <p:cNvSpPr txBox="1"/>
          <p:nvPr/>
        </p:nvSpPr>
        <p:spPr>
          <a:xfrm>
            <a:off x="14231760" y="6088123"/>
            <a:ext cx="2315785"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199" u="none" cap="none" strike="noStrike">
                <a:solidFill>
                  <a:srgbClr val="000000"/>
                </a:solidFill>
                <a:latin typeface="Calibri"/>
                <a:ea typeface="Calibri"/>
                <a:cs typeface="Calibri"/>
                <a:sym typeface="Calibri"/>
              </a:rPr>
              <a:t>Sarthak Kakar</a:t>
            </a:r>
            <a:endParaRPr/>
          </a:p>
        </p:txBody>
      </p:sp>
      <p:sp>
        <p:nvSpPr>
          <p:cNvPr id="213" name="Google Shape;213;p2"/>
          <p:cNvSpPr txBox="1"/>
          <p:nvPr/>
        </p:nvSpPr>
        <p:spPr>
          <a:xfrm>
            <a:off x="14980415" y="6588452"/>
            <a:ext cx="90783"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 </a:t>
            </a:r>
            <a:endParaRPr/>
          </a:p>
        </p:txBody>
      </p:sp>
      <p:sp>
        <p:nvSpPr>
          <p:cNvPr id="214" name="Google Shape;214;p2"/>
          <p:cNvSpPr txBox="1"/>
          <p:nvPr/>
        </p:nvSpPr>
        <p:spPr>
          <a:xfrm>
            <a:off x="5638629" y="6702638"/>
            <a:ext cx="3154956"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Co-Founder</a:t>
            </a:r>
            <a:r>
              <a:rPr b="1" i="0" lang="en-US" sz="3099" u="none" cap="none" strike="noStrike">
                <a:solidFill>
                  <a:srgbClr val="000000"/>
                </a:solidFill>
                <a:latin typeface="Calibri"/>
                <a:ea typeface="Calibri"/>
                <a:cs typeface="Calibri"/>
                <a:sym typeface="Calibri"/>
              </a:rPr>
              <a:t> </a:t>
            </a:r>
            <a:r>
              <a:rPr b="1" i="0" lang="en-US" sz="3099" u="none" cap="none" strike="noStrike">
                <a:solidFill>
                  <a:srgbClr val="E69138"/>
                </a:solidFill>
                <a:latin typeface="Calibri"/>
                <a:ea typeface="Calibri"/>
                <a:cs typeface="Calibri"/>
                <a:sym typeface="Calibri"/>
              </a:rPr>
              <a:t>&amp;</a:t>
            </a:r>
            <a:r>
              <a:rPr b="1" i="0" lang="en-US" sz="3099" u="none" cap="none" strike="noStrike">
                <a:solidFill>
                  <a:srgbClr val="000000"/>
                </a:solidFill>
                <a:latin typeface="Calibri"/>
                <a:ea typeface="Calibri"/>
                <a:cs typeface="Calibri"/>
                <a:sym typeface="Calibri"/>
              </a:rPr>
              <a:t> </a:t>
            </a:r>
            <a:r>
              <a:rPr b="1" i="0" lang="en-US" sz="3099" u="none" cap="none" strike="noStrike">
                <a:solidFill>
                  <a:srgbClr val="E69138"/>
                </a:solidFill>
                <a:latin typeface="Calibri"/>
                <a:ea typeface="Calibri"/>
                <a:cs typeface="Calibri"/>
                <a:sym typeface="Calibri"/>
              </a:rPr>
              <a:t>COO</a:t>
            </a:r>
            <a:endParaRPr/>
          </a:p>
        </p:txBody>
      </p:sp>
      <p:sp>
        <p:nvSpPr>
          <p:cNvPr id="215" name="Google Shape;215;p2"/>
          <p:cNvSpPr txBox="1"/>
          <p:nvPr/>
        </p:nvSpPr>
        <p:spPr>
          <a:xfrm>
            <a:off x="10117779" y="6702638"/>
            <a:ext cx="2574427"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Web</a:t>
            </a:r>
            <a:r>
              <a:rPr b="1" i="0" lang="en-US" sz="3099" u="none" cap="none" strike="noStrike">
                <a:solidFill>
                  <a:srgbClr val="000000"/>
                </a:solidFill>
                <a:latin typeface="Calibri"/>
                <a:ea typeface="Calibri"/>
                <a:cs typeface="Calibri"/>
                <a:sym typeface="Calibri"/>
              </a:rPr>
              <a:t> </a:t>
            </a:r>
            <a:r>
              <a:rPr b="1" i="0" lang="en-US" sz="3099" u="none" cap="none" strike="noStrike">
                <a:solidFill>
                  <a:srgbClr val="E69138"/>
                </a:solidFill>
                <a:latin typeface="Calibri"/>
                <a:ea typeface="Calibri"/>
                <a:cs typeface="Calibri"/>
                <a:sym typeface="Calibri"/>
              </a:rPr>
              <a:t>Developer</a:t>
            </a:r>
            <a:endParaRPr/>
          </a:p>
        </p:txBody>
      </p:sp>
      <p:sp>
        <p:nvSpPr>
          <p:cNvPr id="216" name="Google Shape;216;p2"/>
          <p:cNvSpPr txBox="1"/>
          <p:nvPr/>
        </p:nvSpPr>
        <p:spPr>
          <a:xfrm>
            <a:off x="14228293" y="6588452"/>
            <a:ext cx="2322690"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099" u="none" cap="none" strike="noStrike">
                <a:solidFill>
                  <a:srgbClr val="E69138"/>
                </a:solidFill>
                <a:latin typeface="Calibri"/>
                <a:ea typeface="Calibri"/>
                <a:cs typeface="Calibri"/>
                <a:sym typeface="Calibri"/>
              </a:rPr>
              <a:t>Web</a:t>
            </a:r>
            <a:r>
              <a:rPr b="1" i="0" lang="en-US" sz="3099" u="none" cap="none" strike="noStrike">
                <a:solidFill>
                  <a:srgbClr val="000000"/>
                </a:solidFill>
                <a:latin typeface="Calibri"/>
                <a:ea typeface="Calibri"/>
                <a:cs typeface="Calibri"/>
                <a:sym typeface="Calibri"/>
              </a:rPr>
              <a:t> </a:t>
            </a:r>
            <a:r>
              <a:rPr b="1" i="0" lang="en-US" sz="3099" u="none" cap="none" strike="noStrike">
                <a:solidFill>
                  <a:srgbClr val="E69138"/>
                </a:solidFill>
                <a:latin typeface="Calibri"/>
                <a:ea typeface="Calibri"/>
                <a:cs typeface="Calibri"/>
                <a:sym typeface="Calibri"/>
              </a:rPr>
              <a:t>Designer</a:t>
            </a:r>
            <a:endParaRPr/>
          </a:p>
        </p:txBody>
      </p:sp>
      <p:sp>
        <p:nvSpPr>
          <p:cNvPr id="217" name="Google Shape;217;p2"/>
          <p:cNvSpPr txBox="1"/>
          <p:nvPr/>
        </p:nvSpPr>
        <p:spPr>
          <a:xfrm>
            <a:off x="1539040" y="437236"/>
            <a:ext cx="1632737" cy="6333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FD7607"/>
                </a:solidFill>
                <a:latin typeface="Times"/>
                <a:ea typeface="Times"/>
                <a:cs typeface="Times"/>
                <a:sym typeface="Times"/>
              </a:rPr>
              <a:t>VII</a:t>
            </a:r>
            <a:r>
              <a:rPr b="1" i="0" lang="en-US" sz="3600" u="none" cap="none" strike="noStrike">
                <a:solidFill>
                  <a:srgbClr val="000000"/>
                </a:solidFill>
                <a:latin typeface="Times"/>
                <a:ea typeface="Times"/>
                <a:cs typeface="Times"/>
                <a:sym typeface="Times"/>
              </a:rPr>
              <a:t>SAR</a:t>
            </a:r>
            <a:endParaRPr/>
          </a:p>
        </p:txBody>
      </p:sp>
      <p:grpSp>
        <p:nvGrpSpPr>
          <p:cNvPr id="218" name="Google Shape;218;p2"/>
          <p:cNvGrpSpPr/>
          <p:nvPr/>
        </p:nvGrpSpPr>
        <p:grpSpPr>
          <a:xfrm>
            <a:off x="1206637" y="2232310"/>
            <a:ext cx="1104348" cy="1117290"/>
            <a:chOff x="0" y="-17255"/>
            <a:chExt cx="1472463" cy="1489718"/>
          </a:xfrm>
        </p:grpSpPr>
        <p:grpSp>
          <p:nvGrpSpPr>
            <p:cNvPr id="219" name="Google Shape;219;p2"/>
            <p:cNvGrpSpPr/>
            <p:nvPr/>
          </p:nvGrpSpPr>
          <p:grpSpPr>
            <a:xfrm>
              <a:off x="0" y="-17255"/>
              <a:ext cx="1472463" cy="1489718"/>
              <a:chOff x="0" y="-9525"/>
              <a:chExt cx="812800" cy="822325"/>
            </a:xfrm>
          </p:grpSpPr>
          <p:sp>
            <p:nvSpPr>
              <p:cNvPr id="220" name="Google Shape;22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2"/>
            <p:cNvGrpSpPr/>
            <p:nvPr/>
          </p:nvGrpSpPr>
          <p:grpSpPr>
            <a:xfrm>
              <a:off x="481707" y="369591"/>
              <a:ext cx="509001" cy="733346"/>
              <a:chOff x="63500" y="63500"/>
              <a:chExt cx="411479" cy="592837"/>
            </a:xfrm>
          </p:grpSpPr>
          <p:sp>
            <p:nvSpPr>
              <p:cNvPr id="223" name="Google Shape;223;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4" y="156464"/>
                    </a:cubicBezTo>
                    <a:cubicBezTo>
                      <a:pt x="135381"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7" y="17399"/>
                      <a:pt x="149859" y="20955"/>
                      <a:pt x="154050"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292480" y="63500"/>
                <a:ext cx="180720" cy="170815"/>
              </a:xfrm>
              <a:custGeom>
                <a:rect b="b" l="l" r="r" t="t"/>
                <a:pathLst>
                  <a:path extrusionOk="0" h="170815" w="180720">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4" y="156337"/>
                    </a:cubicBezTo>
                    <a:cubicBezTo>
                      <a:pt x="135381"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4" y="156338"/>
                    </a:cubicBezTo>
                    <a:cubicBezTo>
                      <a:pt x="135381"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grpSp>
        <p:nvGrpSpPr>
          <p:cNvPr id="230" name="Google Shape;230;p2"/>
          <p:cNvGrpSpPr/>
          <p:nvPr/>
        </p:nvGrpSpPr>
        <p:grpSpPr>
          <a:xfrm>
            <a:off x="1359037" y="2384710"/>
            <a:ext cx="1104348" cy="1117290"/>
            <a:chOff x="0" y="-17255"/>
            <a:chExt cx="1472463" cy="1489718"/>
          </a:xfrm>
        </p:grpSpPr>
        <p:grpSp>
          <p:nvGrpSpPr>
            <p:cNvPr id="231" name="Google Shape;231;p2"/>
            <p:cNvGrpSpPr/>
            <p:nvPr/>
          </p:nvGrpSpPr>
          <p:grpSpPr>
            <a:xfrm>
              <a:off x="0" y="-17255"/>
              <a:ext cx="1472463" cy="1489718"/>
              <a:chOff x="0" y="-9525"/>
              <a:chExt cx="812800" cy="822325"/>
            </a:xfrm>
          </p:grpSpPr>
          <p:sp>
            <p:nvSpPr>
              <p:cNvPr id="232" name="Google Shape;23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2"/>
            <p:cNvGrpSpPr/>
            <p:nvPr/>
          </p:nvGrpSpPr>
          <p:grpSpPr>
            <a:xfrm>
              <a:off x="481707" y="369591"/>
              <a:ext cx="509001" cy="733346"/>
              <a:chOff x="63500" y="63500"/>
              <a:chExt cx="411479" cy="592837"/>
            </a:xfrm>
          </p:grpSpPr>
          <p:sp>
            <p:nvSpPr>
              <p:cNvPr id="235" name="Google Shape;235;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4" y="156464"/>
                    </a:cubicBezTo>
                    <a:cubicBezTo>
                      <a:pt x="135381"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7" y="17399"/>
                      <a:pt x="149859" y="20955"/>
                      <a:pt x="154050"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292480" y="63500"/>
                <a:ext cx="180720" cy="170815"/>
              </a:xfrm>
              <a:custGeom>
                <a:rect b="b" l="l" r="r" t="t"/>
                <a:pathLst>
                  <a:path extrusionOk="0" h="170815" w="180720">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4" y="156337"/>
                    </a:cubicBezTo>
                    <a:cubicBezTo>
                      <a:pt x="135381"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4" y="156338"/>
                    </a:cubicBezTo>
                    <a:cubicBezTo>
                      <a:pt x="135381"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grpSp>
        <p:nvGrpSpPr>
          <p:cNvPr id="242" name="Google Shape;242;p2"/>
          <p:cNvGrpSpPr/>
          <p:nvPr/>
        </p:nvGrpSpPr>
        <p:grpSpPr>
          <a:xfrm>
            <a:off x="5638629" y="2331563"/>
            <a:ext cx="1104348" cy="1117290"/>
            <a:chOff x="0" y="-17255"/>
            <a:chExt cx="1472463" cy="1489718"/>
          </a:xfrm>
        </p:grpSpPr>
        <p:grpSp>
          <p:nvGrpSpPr>
            <p:cNvPr id="243" name="Google Shape;243;p2"/>
            <p:cNvGrpSpPr/>
            <p:nvPr/>
          </p:nvGrpSpPr>
          <p:grpSpPr>
            <a:xfrm>
              <a:off x="0" y="-17255"/>
              <a:ext cx="1472463" cy="1489718"/>
              <a:chOff x="0" y="-9525"/>
              <a:chExt cx="812800" cy="822325"/>
            </a:xfrm>
          </p:grpSpPr>
          <p:sp>
            <p:nvSpPr>
              <p:cNvPr id="244" name="Google Shape;24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2"/>
            <p:cNvGrpSpPr/>
            <p:nvPr/>
          </p:nvGrpSpPr>
          <p:grpSpPr>
            <a:xfrm>
              <a:off x="481707" y="369591"/>
              <a:ext cx="509001" cy="733346"/>
              <a:chOff x="63500" y="63500"/>
              <a:chExt cx="411479" cy="592837"/>
            </a:xfrm>
          </p:grpSpPr>
          <p:sp>
            <p:nvSpPr>
              <p:cNvPr id="247" name="Google Shape;247;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4" y="156464"/>
                    </a:cubicBezTo>
                    <a:cubicBezTo>
                      <a:pt x="135381"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7" y="17399"/>
                      <a:pt x="149859" y="20955"/>
                      <a:pt x="154050"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292480" y="63500"/>
                <a:ext cx="180720" cy="170815"/>
              </a:xfrm>
              <a:custGeom>
                <a:rect b="b" l="l" r="r" t="t"/>
                <a:pathLst>
                  <a:path extrusionOk="0" h="170815" w="180720">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4" y="156337"/>
                    </a:cubicBezTo>
                    <a:cubicBezTo>
                      <a:pt x="135381"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4" y="156338"/>
                    </a:cubicBezTo>
                    <a:cubicBezTo>
                      <a:pt x="135381"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grpSp>
        <p:nvGrpSpPr>
          <p:cNvPr id="254" name="Google Shape;254;p2"/>
          <p:cNvGrpSpPr/>
          <p:nvPr/>
        </p:nvGrpSpPr>
        <p:grpSpPr>
          <a:xfrm>
            <a:off x="13687680" y="2232310"/>
            <a:ext cx="1104348" cy="1117290"/>
            <a:chOff x="0" y="-17255"/>
            <a:chExt cx="1472463" cy="1489718"/>
          </a:xfrm>
        </p:grpSpPr>
        <p:grpSp>
          <p:nvGrpSpPr>
            <p:cNvPr id="255" name="Google Shape;255;p2"/>
            <p:cNvGrpSpPr/>
            <p:nvPr/>
          </p:nvGrpSpPr>
          <p:grpSpPr>
            <a:xfrm>
              <a:off x="0" y="-17255"/>
              <a:ext cx="1472463" cy="1489718"/>
              <a:chOff x="0" y="-9525"/>
              <a:chExt cx="812800" cy="822325"/>
            </a:xfrm>
          </p:grpSpPr>
          <p:sp>
            <p:nvSpPr>
              <p:cNvPr id="256" name="Google Shape;25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2"/>
            <p:cNvGrpSpPr/>
            <p:nvPr/>
          </p:nvGrpSpPr>
          <p:grpSpPr>
            <a:xfrm>
              <a:off x="481707" y="369591"/>
              <a:ext cx="509001" cy="733346"/>
              <a:chOff x="63500" y="63500"/>
              <a:chExt cx="411479" cy="592837"/>
            </a:xfrm>
          </p:grpSpPr>
          <p:sp>
            <p:nvSpPr>
              <p:cNvPr id="259" name="Google Shape;259;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4" y="156464"/>
                    </a:cubicBezTo>
                    <a:cubicBezTo>
                      <a:pt x="135381"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7" y="17399"/>
                      <a:pt x="149859" y="20955"/>
                      <a:pt x="154050"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
              <p:cNvSpPr/>
              <p:nvPr/>
            </p:nvSpPr>
            <p:spPr>
              <a:xfrm>
                <a:off x="292480" y="63500"/>
                <a:ext cx="180720" cy="170815"/>
              </a:xfrm>
              <a:custGeom>
                <a:rect b="b" l="l" r="r" t="t"/>
                <a:pathLst>
                  <a:path extrusionOk="0" h="170815" w="180720">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4" y="156337"/>
                    </a:cubicBezTo>
                    <a:cubicBezTo>
                      <a:pt x="135381"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4" y="156338"/>
                    </a:cubicBezTo>
                    <a:cubicBezTo>
                      <a:pt x="135381"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grpSp>
        <p:nvGrpSpPr>
          <p:cNvPr id="266" name="Google Shape;266;p2"/>
          <p:cNvGrpSpPr/>
          <p:nvPr/>
        </p:nvGrpSpPr>
        <p:grpSpPr>
          <a:xfrm>
            <a:off x="9534525" y="2331563"/>
            <a:ext cx="1104348" cy="1117290"/>
            <a:chOff x="0" y="-17255"/>
            <a:chExt cx="1472463" cy="1489718"/>
          </a:xfrm>
        </p:grpSpPr>
        <p:grpSp>
          <p:nvGrpSpPr>
            <p:cNvPr id="267" name="Google Shape;267;p2"/>
            <p:cNvGrpSpPr/>
            <p:nvPr/>
          </p:nvGrpSpPr>
          <p:grpSpPr>
            <a:xfrm>
              <a:off x="0" y="-17255"/>
              <a:ext cx="1472463" cy="1489718"/>
              <a:chOff x="0" y="-9525"/>
              <a:chExt cx="812800" cy="822325"/>
            </a:xfrm>
          </p:grpSpPr>
          <p:sp>
            <p:nvSpPr>
              <p:cNvPr id="268" name="Google Shape;26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2"/>
            <p:cNvGrpSpPr/>
            <p:nvPr/>
          </p:nvGrpSpPr>
          <p:grpSpPr>
            <a:xfrm>
              <a:off x="481707" y="369591"/>
              <a:ext cx="509001" cy="733346"/>
              <a:chOff x="63500" y="63500"/>
              <a:chExt cx="411479" cy="592837"/>
            </a:xfrm>
          </p:grpSpPr>
          <p:sp>
            <p:nvSpPr>
              <p:cNvPr id="271" name="Google Shape;271;p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4" y="156464"/>
                    </a:cubicBezTo>
                    <a:cubicBezTo>
                      <a:pt x="135381"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7" y="17399"/>
                      <a:pt x="149859" y="20955"/>
                      <a:pt x="154050"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
              <p:cNvSpPr/>
              <p:nvPr/>
            </p:nvSpPr>
            <p:spPr>
              <a:xfrm>
                <a:off x="292480" y="63500"/>
                <a:ext cx="180720" cy="170815"/>
              </a:xfrm>
              <a:custGeom>
                <a:rect b="b" l="l" r="r" t="t"/>
                <a:pathLst>
                  <a:path extrusionOk="0" h="170815" w="180720">
                    <a:moveTo>
                      <a:pt x="180594" y="85471"/>
                    </a:moveTo>
                    <a:cubicBezTo>
                      <a:pt x="180594" y="91059"/>
                      <a:pt x="179959" y="96647"/>
                      <a:pt x="178816" y="102108"/>
                    </a:cubicBezTo>
                    <a:cubicBezTo>
                      <a:pt x="177673" y="107569"/>
                      <a:pt x="175895" y="112903"/>
                      <a:pt x="173736" y="118110"/>
                    </a:cubicBezTo>
                    <a:cubicBezTo>
                      <a:pt x="171577" y="123317"/>
                      <a:pt x="168656" y="128270"/>
                      <a:pt x="165354" y="132842"/>
                    </a:cubicBezTo>
                    <a:cubicBezTo>
                      <a:pt x="162052" y="137414"/>
                      <a:pt x="158369" y="141859"/>
                      <a:pt x="154178" y="145796"/>
                    </a:cubicBezTo>
                    <a:cubicBezTo>
                      <a:pt x="149987" y="149733"/>
                      <a:pt x="145415" y="153289"/>
                      <a:pt x="140462" y="156464"/>
                    </a:cubicBezTo>
                    <a:cubicBezTo>
                      <a:pt x="135509" y="159639"/>
                      <a:pt x="130302" y="162179"/>
                      <a:pt x="124841" y="164338"/>
                    </a:cubicBezTo>
                    <a:cubicBezTo>
                      <a:pt x="119380" y="166497"/>
                      <a:pt x="113665" y="168148"/>
                      <a:pt x="107950" y="169164"/>
                    </a:cubicBezTo>
                    <a:cubicBezTo>
                      <a:pt x="102235" y="170180"/>
                      <a:pt x="96266" y="170815"/>
                      <a:pt x="90297" y="170815"/>
                    </a:cubicBezTo>
                    <a:cubicBezTo>
                      <a:pt x="84328" y="170815"/>
                      <a:pt x="78486" y="170307"/>
                      <a:pt x="72644" y="169164"/>
                    </a:cubicBezTo>
                    <a:cubicBezTo>
                      <a:pt x="66802" y="168021"/>
                      <a:pt x="61214" y="166497"/>
                      <a:pt x="55753" y="164338"/>
                    </a:cubicBezTo>
                    <a:cubicBezTo>
                      <a:pt x="50292" y="162179"/>
                      <a:pt x="45085" y="159512"/>
                      <a:pt x="40132" y="156464"/>
                    </a:cubicBezTo>
                    <a:cubicBezTo>
                      <a:pt x="35179" y="153416"/>
                      <a:pt x="30607" y="149860"/>
                      <a:pt x="26416" y="145796"/>
                    </a:cubicBezTo>
                    <a:cubicBezTo>
                      <a:pt x="22225" y="141732"/>
                      <a:pt x="18542" y="137541"/>
                      <a:pt x="15240" y="132842"/>
                    </a:cubicBezTo>
                    <a:cubicBezTo>
                      <a:pt x="11938" y="128143"/>
                      <a:pt x="9144" y="123317"/>
                      <a:pt x="6858" y="118110"/>
                    </a:cubicBezTo>
                    <a:cubicBezTo>
                      <a:pt x="4572" y="112903"/>
                      <a:pt x="2921" y="107569"/>
                      <a:pt x="1778" y="102108"/>
                    </a:cubicBezTo>
                    <a:cubicBezTo>
                      <a:pt x="635"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455" y="0"/>
                      <a:pt x="90424" y="0"/>
                    </a:cubicBezTo>
                    <a:cubicBezTo>
                      <a:pt x="96393" y="0"/>
                      <a:pt x="102235" y="508"/>
                      <a:pt x="108077" y="1651"/>
                    </a:cubicBezTo>
                    <a:cubicBezTo>
                      <a:pt x="113919" y="2794"/>
                      <a:pt x="119507" y="4318"/>
                      <a:pt x="124968" y="6477"/>
                    </a:cubicBezTo>
                    <a:cubicBezTo>
                      <a:pt x="130429" y="8636"/>
                      <a:pt x="135636" y="11303"/>
                      <a:pt x="140589" y="14351"/>
                    </a:cubicBezTo>
                    <a:cubicBezTo>
                      <a:pt x="145542" y="17399"/>
                      <a:pt x="150114" y="20955"/>
                      <a:pt x="154305" y="25019"/>
                    </a:cubicBezTo>
                    <a:cubicBezTo>
                      <a:pt x="158496" y="29083"/>
                      <a:pt x="162179" y="33274"/>
                      <a:pt x="165481" y="37973"/>
                    </a:cubicBezTo>
                    <a:cubicBezTo>
                      <a:pt x="168783" y="42672"/>
                      <a:pt x="171577" y="47498"/>
                      <a:pt x="173863" y="52705"/>
                    </a:cubicBezTo>
                    <a:cubicBezTo>
                      <a:pt x="176149" y="57912"/>
                      <a:pt x="177800" y="63246"/>
                      <a:pt x="178943" y="68707"/>
                    </a:cubicBezTo>
                    <a:cubicBezTo>
                      <a:pt x="180086" y="74168"/>
                      <a:pt x="180721" y="79756"/>
                      <a:pt x="180721"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4" y="156337"/>
                    </a:cubicBezTo>
                    <a:cubicBezTo>
                      <a:pt x="135381"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4" y="156338"/>
                    </a:cubicBezTo>
                    <a:cubicBezTo>
                      <a:pt x="135381"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1" y="14351"/>
                    </a:cubicBezTo>
                    <a:cubicBezTo>
                      <a:pt x="145414"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sp>
        <p:nvSpPr>
          <p:cNvPr id="278" name="Google Shape;278;p2"/>
          <p:cNvSpPr txBox="1"/>
          <p:nvPr/>
        </p:nvSpPr>
        <p:spPr>
          <a:xfrm>
            <a:off x="1503881" y="865446"/>
            <a:ext cx="914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E36C09"/>
                </a:solidFill>
                <a:latin typeface="Calibri"/>
                <a:ea typeface="Calibri"/>
                <a:cs typeface="Calibri"/>
                <a:sym typeface="Calibri"/>
              </a:rPr>
              <a:t>Turning STEM into Touch.</a:t>
            </a:r>
            <a:endParaRPr sz="1800">
              <a:solidFill>
                <a:srgbClr val="E36C0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
          <p:cNvSpPr/>
          <p:nvPr/>
        </p:nvSpPr>
        <p:spPr>
          <a:xfrm>
            <a:off x="12183485" y="7563"/>
            <a:ext cx="6095905" cy="1492568"/>
          </a:xfrm>
          <a:custGeom>
            <a:rect b="b" l="l" r="r" t="t"/>
            <a:pathLst>
              <a:path extrusionOk="0" h="1990090" w="8127873">
                <a:moveTo>
                  <a:pt x="0" y="0"/>
                </a:moveTo>
                <a:lnTo>
                  <a:pt x="8127873" y="0"/>
                </a:lnTo>
                <a:lnTo>
                  <a:pt x="8127873" y="1990090"/>
                </a:lnTo>
                <a:lnTo>
                  <a:pt x="0" y="1990090"/>
                </a:lnTo>
                <a:close/>
              </a:path>
            </a:pathLst>
          </a:custGeom>
          <a:solidFill>
            <a:srgbClr val="FFFFFF"/>
          </a:solidFill>
          <a:ln>
            <a:noFill/>
          </a:ln>
        </p:spPr>
      </p:sp>
      <p:sp>
        <p:nvSpPr>
          <p:cNvPr id="284" name="Google Shape;284;p3"/>
          <p:cNvSpPr/>
          <p:nvPr/>
        </p:nvSpPr>
        <p:spPr>
          <a:xfrm>
            <a:off x="15832951" y="-14976"/>
            <a:ext cx="2446446" cy="1318763"/>
          </a:xfrm>
          <a:custGeom>
            <a:rect b="b" l="l" r="r" t="t"/>
            <a:pathLst>
              <a:path extrusionOk="0" h="2036699" w="3610991">
                <a:moveTo>
                  <a:pt x="0" y="0"/>
                </a:moveTo>
                <a:lnTo>
                  <a:pt x="3610991" y="0"/>
                </a:lnTo>
                <a:lnTo>
                  <a:pt x="3610991" y="2036699"/>
                </a:lnTo>
                <a:lnTo>
                  <a:pt x="0" y="2036699"/>
                </a:lnTo>
                <a:lnTo>
                  <a:pt x="0" y="0"/>
                </a:lnTo>
                <a:close/>
              </a:path>
            </a:pathLst>
          </a:custGeom>
          <a:blipFill rotWithShape="1">
            <a:blip r:embed="rId3">
              <a:alphaModFix/>
            </a:blip>
            <a:stretch>
              <a:fillRect b="-86" l="0" r="0" t="-86"/>
            </a:stretch>
          </a:blipFill>
          <a:ln>
            <a:noFill/>
          </a:ln>
        </p:spPr>
      </p:sp>
      <p:sp>
        <p:nvSpPr>
          <p:cNvPr id="285" name="Google Shape;285;p3"/>
          <p:cNvSpPr/>
          <p:nvPr/>
        </p:nvSpPr>
        <p:spPr>
          <a:xfrm rot="5354166">
            <a:off x="15314360" y="581522"/>
            <a:ext cx="782929" cy="9526"/>
          </a:xfrm>
          <a:custGeom>
            <a:rect b="b" l="l" r="r" t="t"/>
            <a:pathLst>
              <a:path extrusionOk="0" h="12700" w="1043813">
                <a:moveTo>
                  <a:pt x="0" y="0"/>
                </a:moveTo>
                <a:lnTo>
                  <a:pt x="1043813" y="12700"/>
                </a:lnTo>
              </a:path>
            </a:pathLst>
          </a:custGeom>
          <a:blipFill rotWithShape="1">
            <a:blip r:embed="rId4">
              <a:alphaModFix amt="0"/>
            </a:blip>
            <a:stretch>
              <a:fillRect b="-1551538" l="0" r="-1" t="-1551538"/>
            </a:stretch>
          </a:blipFill>
          <a:ln cap="sq" cmpd="sng" w="9525">
            <a:solidFill>
              <a:srgbClr val="000000"/>
            </a:solidFill>
            <a:prstDash val="solid"/>
            <a:miter lim="8000"/>
            <a:headEnd len="sm" w="sm" type="none"/>
            <a:tailEnd len="sm" w="sm" type="none"/>
          </a:ln>
        </p:spPr>
      </p:sp>
      <p:sp>
        <p:nvSpPr>
          <p:cNvPr id="286" name="Google Shape;286;p3"/>
          <p:cNvSpPr/>
          <p:nvPr/>
        </p:nvSpPr>
        <p:spPr>
          <a:xfrm>
            <a:off x="13595075" y="150914"/>
            <a:ext cx="1983621" cy="986974"/>
          </a:xfrm>
          <a:custGeom>
            <a:rect b="b" l="l" r="r" t="t"/>
            <a:pathLst>
              <a:path extrusionOk="0" h="1983867" w="3434842">
                <a:moveTo>
                  <a:pt x="0" y="0"/>
                </a:moveTo>
                <a:lnTo>
                  <a:pt x="3434842" y="0"/>
                </a:lnTo>
                <a:lnTo>
                  <a:pt x="3434842" y="1983867"/>
                </a:lnTo>
                <a:lnTo>
                  <a:pt x="0" y="1983867"/>
                </a:lnTo>
                <a:lnTo>
                  <a:pt x="0" y="0"/>
                </a:lnTo>
                <a:close/>
              </a:path>
            </a:pathLst>
          </a:custGeom>
          <a:blipFill rotWithShape="1">
            <a:blip r:embed="rId5">
              <a:alphaModFix/>
            </a:blip>
            <a:stretch>
              <a:fillRect b="-215" l="0" r="0" t="-215"/>
            </a:stretch>
          </a:blipFill>
          <a:ln>
            <a:noFill/>
          </a:ln>
        </p:spPr>
      </p:sp>
      <p:sp>
        <p:nvSpPr>
          <p:cNvPr id="287" name="Google Shape;287;p3"/>
          <p:cNvSpPr/>
          <p:nvPr/>
        </p:nvSpPr>
        <p:spPr>
          <a:xfrm>
            <a:off x="3674937" y="1714499"/>
            <a:ext cx="2687267" cy="2493041"/>
          </a:xfrm>
          <a:custGeom>
            <a:rect b="b" l="l" r="r" t="t"/>
            <a:pathLst>
              <a:path extrusionOk="0" h="2747153" w="2851212">
                <a:moveTo>
                  <a:pt x="0" y="0"/>
                </a:moveTo>
                <a:lnTo>
                  <a:pt x="2851212" y="0"/>
                </a:lnTo>
                <a:lnTo>
                  <a:pt x="2851212" y="2747154"/>
                </a:lnTo>
                <a:lnTo>
                  <a:pt x="0" y="2747154"/>
                </a:lnTo>
                <a:lnTo>
                  <a:pt x="0" y="0"/>
                </a:lnTo>
                <a:close/>
              </a:path>
            </a:pathLst>
          </a:custGeom>
          <a:blipFill rotWithShape="1">
            <a:blip r:embed="rId6">
              <a:alphaModFix/>
            </a:blip>
            <a:stretch>
              <a:fillRect b="-2099" l="-2053" r="-2053" t="-2099"/>
            </a:stretch>
          </a:blipFill>
          <a:ln>
            <a:noFill/>
          </a:ln>
        </p:spPr>
      </p:sp>
      <p:sp>
        <p:nvSpPr>
          <p:cNvPr id="288" name="Google Shape;288;p3"/>
          <p:cNvSpPr/>
          <p:nvPr/>
        </p:nvSpPr>
        <p:spPr>
          <a:xfrm>
            <a:off x="3752075" y="6377150"/>
            <a:ext cx="2857849" cy="2492800"/>
          </a:xfrm>
          <a:custGeom>
            <a:rect b="b" l="l" r="r" t="t"/>
            <a:pathLst>
              <a:path extrusionOk="0" h="2832727" w="3184233">
                <a:moveTo>
                  <a:pt x="0" y="0"/>
                </a:moveTo>
                <a:lnTo>
                  <a:pt x="3184233" y="0"/>
                </a:lnTo>
                <a:lnTo>
                  <a:pt x="3184233" y="2832727"/>
                </a:lnTo>
                <a:lnTo>
                  <a:pt x="0" y="2832727"/>
                </a:lnTo>
                <a:lnTo>
                  <a:pt x="0" y="0"/>
                </a:lnTo>
                <a:close/>
              </a:path>
            </a:pathLst>
          </a:custGeom>
          <a:blipFill rotWithShape="1">
            <a:blip r:embed="rId7">
              <a:alphaModFix/>
            </a:blip>
            <a:stretch>
              <a:fillRect b="-3812" l="-3816" r="-3816" t="-3812"/>
            </a:stretch>
          </a:blipFill>
          <a:ln>
            <a:noFill/>
          </a:ln>
        </p:spPr>
      </p:sp>
      <p:sp>
        <p:nvSpPr>
          <p:cNvPr id="289" name="Google Shape;289;p3"/>
          <p:cNvSpPr/>
          <p:nvPr/>
        </p:nvSpPr>
        <p:spPr>
          <a:xfrm>
            <a:off x="11248050" y="1880249"/>
            <a:ext cx="3491799" cy="2495579"/>
          </a:xfrm>
          <a:custGeom>
            <a:rect b="b" l="l" r="r" t="t"/>
            <a:pathLst>
              <a:path extrusionOk="0" h="3349771" w="4025128">
                <a:moveTo>
                  <a:pt x="0" y="0"/>
                </a:moveTo>
                <a:lnTo>
                  <a:pt x="4025128" y="0"/>
                </a:lnTo>
                <a:lnTo>
                  <a:pt x="4025128" y="3349771"/>
                </a:lnTo>
                <a:lnTo>
                  <a:pt x="0" y="3349771"/>
                </a:lnTo>
                <a:lnTo>
                  <a:pt x="0" y="0"/>
                </a:lnTo>
                <a:close/>
              </a:path>
            </a:pathLst>
          </a:custGeom>
          <a:blipFill rotWithShape="1">
            <a:blip r:embed="rId8">
              <a:alphaModFix/>
            </a:blip>
            <a:stretch>
              <a:fillRect b="-2118" l="-2113" r="-2113" t="-2118"/>
            </a:stretch>
          </a:blipFill>
          <a:ln>
            <a:noFill/>
          </a:ln>
        </p:spPr>
      </p:sp>
      <p:sp>
        <p:nvSpPr>
          <p:cNvPr id="290" name="Google Shape;290;p3"/>
          <p:cNvSpPr/>
          <p:nvPr/>
        </p:nvSpPr>
        <p:spPr>
          <a:xfrm>
            <a:off x="11920076" y="6266898"/>
            <a:ext cx="2444160" cy="2312176"/>
          </a:xfrm>
          <a:custGeom>
            <a:rect b="b" l="l" r="r" t="t"/>
            <a:pathLst>
              <a:path extrusionOk="0" h="2665332" w="2614075">
                <a:moveTo>
                  <a:pt x="0" y="0"/>
                </a:moveTo>
                <a:lnTo>
                  <a:pt x="2614076" y="0"/>
                </a:lnTo>
                <a:lnTo>
                  <a:pt x="2614076" y="2665332"/>
                </a:lnTo>
                <a:lnTo>
                  <a:pt x="0" y="2665332"/>
                </a:lnTo>
                <a:lnTo>
                  <a:pt x="0" y="0"/>
                </a:lnTo>
                <a:close/>
              </a:path>
            </a:pathLst>
          </a:custGeom>
          <a:blipFill rotWithShape="1">
            <a:blip r:embed="rId9">
              <a:alphaModFix/>
            </a:blip>
            <a:stretch>
              <a:fillRect b="-2206" l="-2212" r="-2212" t="-2206"/>
            </a:stretch>
          </a:blipFill>
          <a:ln>
            <a:noFill/>
          </a:ln>
        </p:spPr>
      </p:sp>
      <p:sp>
        <p:nvSpPr>
          <p:cNvPr id="291" name="Google Shape;291;p3"/>
          <p:cNvSpPr txBox="1"/>
          <p:nvPr/>
        </p:nvSpPr>
        <p:spPr>
          <a:xfrm>
            <a:off x="485975" y="291050"/>
            <a:ext cx="9819000" cy="590400"/>
          </a:xfrm>
          <a:prstGeom prst="rect">
            <a:avLst/>
          </a:prstGeom>
          <a:noFill/>
          <a:ln>
            <a:noFill/>
          </a:ln>
        </p:spPr>
        <p:txBody>
          <a:bodyPr anchorCtr="0" anchor="t" bIns="0" lIns="0" spcFirstLastPara="1" rIns="0" wrap="square" tIns="0">
            <a:spAutoFit/>
          </a:bodyPr>
          <a:lstStyle/>
          <a:p>
            <a:pPr indent="0" lvl="0" marL="0" marR="0" rtl="0" algn="l">
              <a:lnSpc>
                <a:spcPct val="109086"/>
              </a:lnSpc>
              <a:spcBef>
                <a:spcPts val="0"/>
              </a:spcBef>
              <a:spcAft>
                <a:spcPts val="0"/>
              </a:spcAft>
              <a:buNone/>
            </a:pPr>
            <a:r>
              <a:rPr lang="en-US" sz="3836">
                <a:solidFill>
                  <a:srgbClr val="F5A329"/>
                </a:solidFill>
                <a:latin typeface="Tahoma"/>
                <a:ea typeface="Tahoma"/>
                <a:cs typeface="Tahoma"/>
                <a:sym typeface="Tahoma"/>
              </a:rPr>
              <a:t>The Problem: STEM Is Still Visual-First</a:t>
            </a:r>
            <a:endParaRPr sz="900"/>
          </a:p>
        </p:txBody>
      </p:sp>
      <p:sp>
        <p:nvSpPr>
          <p:cNvPr id="292" name="Google Shape;292;p3"/>
          <p:cNvSpPr txBox="1"/>
          <p:nvPr/>
        </p:nvSpPr>
        <p:spPr>
          <a:xfrm>
            <a:off x="2076014" y="4375825"/>
            <a:ext cx="5885100" cy="7941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2400">
                <a:latin typeface="Calibri"/>
                <a:ea typeface="Calibri"/>
                <a:cs typeface="Calibri"/>
                <a:sym typeface="Calibri"/>
              </a:rPr>
              <a:t>Graphs, geometry, circuits, and equations are hard to understand through Braille alone.</a:t>
            </a:r>
            <a:endParaRPr sz="1100"/>
          </a:p>
        </p:txBody>
      </p:sp>
      <p:sp>
        <p:nvSpPr>
          <p:cNvPr id="293" name="Google Shape;293;p3"/>
          <p:cNvSpPr txBox="1"/>
          <p:nvPr/>
        </p:nvSpPr>
        <p:spPr>
          <a:xfrm>
            <a:off x="2436400" y="8685050"/>
            <a:ext cx="5670600" cy="1219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2400">
                <a:latin typeface="Calibri"/>
                <a:ea typeface="Calibri"/>
                <a:cs typeface="Calibri"/>
                <a:sym typeface="Calibri"/>
              </a:rPr>
              <a:t>Audio can describe a shape, but it cannot help students physically feel graphs or diagrams.</a:t>
            </a:r>
            <a:endParaRPr sz="1100"/>
          </a:p>
        </p:txBody>
      </p:sp>
      <p:sp>
        <p:nvSpPr>
          <p:cNvPr id="294" name="Google Shape;294;p3"/>
          <p:cNvSpPr txBox="1"/>
          <p:nvPr/>
        </p:nvSpPr>
        <p:spPr>
          <a:xfrm>
            <a:off x="10094150" y="4486100"/>
            <a:ext cx="6096000" cy="1754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0"/>
              </a:spcAft>
              <a:buClr>
                <a:schemeClr val="dk1"/>
              </a:buClr>
              <a:buSzPts val="1100"/>
              <a:buFont typeface="Arial"/>
              <a:buNone/>
            </a:pPr>
            <a:r>
              <a:rPr b="1" lang="en-US" sz="2000">
                <a:solidFill>
                  <a:schemeClr val="dk1"/>
                </a:solidFill>
              </a:rPr>
              <a:t>Current tactile tools and Braille books are bulky, heavy, and difficult to carry, making STEM learning less portable and less convenient.</a:t>
            </a:r>
            <a:endParaRPr b="1" sz="2000">
              <a:solidFill>
                <a:schemeClr val="dk1"/>
              </a:solidFill>
            </a:endParaRPr>
          </a:p>
          <a:p>
            <a:pPr indent="0" lvl="0" marL="0" marR="0" rtl="0" algn="ctr">
              <a:lnSpc>
                <a:spcPct val="139962"/>
              </a:lnSpc>
              <a:spcBef>
                <a:spcPts val="1200"/>
              </a:spcBef>
              <a:spcAft>
                <a:spcPts val="0"/>
              </a:spcAft>
              <a:buNone/>
            </a:pPr>
            <a:r>
              <a:t/>
            </a:r>
            <a:endParaRPr b="1" sz="3500">
              <a:latin typeface="Calibri"/>
              <a:ea typeface="Calibri"/>
              <a:cs typeface="Calibri"/>
              <a:sym typeface="Calibri"/>
            </a:endParaRPr>
          </a:p>
        </p:txBody>
      </p:sp>
      <p:sp>
        <p:nvSpPr>
          <p:cNvPr id="295" name="Google Shape;295;p3"/>
          <p:cNvSpPr txBox="1"/>
          <p:nvPr/>
        </p:nvSpPr>
        <p:spPr>
          <a:xfrm>
            <a:off x="10436450" y="8685050"/>
            <a:ext cx="5411400" cy="1219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2400">
                <a:latin typeface="Calibri"/>
                <a:ea typeface="Calibri"/>
                <a:cs typeface="Calibri"/>
                <a:sym typeface="Calibri"/>
              </a:rPr>
              <a:t>Existing tactile displays and specialized learning tools are unaffordable for most students and schools.</a:t>
            </a:r>
            <a:endParaRPr b="1" sz="2400">
              <a:solidFill>
                <a:srgbClr val="000000"/>
              </a:solidFill>
              <a:latin typeface="Calibri"/>
              <a:ea typeface="Calibri"/>
              <a:cs typeface="Calibri"/>
              <a:sym typeface="Calibri"/>
            </a:endParaRPr>
          </a:p>
        </p:txBody>
      </p:sp>
      <p:sp>
        <p:nvSpPr>
          <p:cNvPr id="296" name="Google Shape;296;p3"/>
          <p:cNvSpPr txBox="1"/>
          <p:nvPr/>
        </p:nvSpPr>
        <p:spPr>
          <a:xfrm>
            <a:off x="638364" y="2211814"/>
            <a:ext cx="984900" cy="513600"/>
          </a:xfrm>
          <a:prstGeom prst="rect">
            <a:avLst/>
          </a:prstGeom>
          <a:noFill/>
          <a:ln>
            <a:noFill/>
          </a:ln>
        </p:spPr>
        <p:txBody>
          <a:bodyPr anchorCtr="0" anchor="t" bIns="0" lIns="0" spcFirstLastPara="1" rIns="0" wrap="square" tIns="0">
            <a:spAutoFit/>
          </a:bodyPr>
          <a:lstStyle/>
          <a:p>
            <a:pPr indent="0" lvl="0" marL="0" marR="0" rtl="0" algn="l">
              <a:lnSpc>
                <a:spcPct val="109082"/>
              </a:lnSpc>
              <a:spcBef>
                <a:spcPts val="0"/>
              </a:spcBef>
              <a:spcAft>
                <a:spcPts val="0"/>
              </a:spcAft>
              <a:buNone/>
            </a:pPr>
            <a:r>
              <a:rPr b="1" lang="en-US" sz="3336">
                <a:solidFill>
                  <a:srgbClr val="F5A329"/>
                </a:solidFill>
                <a:latin typeface="Tahoma"/>
                <a:ea typeface="Tahoma"/>
                <a:cs typeface="Tahoma"/>
                <a:sym typeface="Tahoma"/>
              </a:rPr>
              <a:t>01.</a:t>
            </a:r>
            <a:endParaRPr/>
          </a:p>
        </p:txBody>
      </p:sp>
      <p:sp>
        <p:nvSpPr>
          <p:cNvPr id="297" name="Google Shape;297;p3"/>
          <p:cNvSpPr txBox="1"/>
          <p:nvPr/>
        </p:nvSpPr>
        <p:spPr>
          <a:xfrm>
            <a:off x="638364" y="6729601"/>
            <a:ext cx="985049" cy="474850"/>
          </a:xfrm>
          <a:prstGeom prst="rect">
            <a:avLst/>
          </a:prstGeom>
          <a:noFill/>
          <a:ln>
            <a:noFill/>
          </a:ln>
        </p:spPr>
        <p:txBody>
          <a:bodyPr anchorCtr="0" anchor="t" bIns="0" lIns="0" spcFirstLastPara="1" rIns="0" wrap="square" tIns="0">
            <a:spAutoFit/>
          </a:bodyPr>
          <a:lstStyle/>
          <a:p>
            <a:pPr indent="0" lvl="0" marL="0" marR="0" rtl="0" algn="l">
              <a:lnSpc>
                <a:spcPct val="109082"/>
              </a:lnSpc>
              <a:spcBef>
                <a:spcPts val="0"/>
              </a:spcBef>
              <a:spcAft>
                <a:spcPts val="0"/>
              </a:spcAft>
              <a:buNone/>
            </a:pPr>
            <a:r>
              <a:rPr b="1" lang="en-US" sz="3336">
                <a:solidFill>
                  <a:srgbClr val="F5A329"/>
                </a:solidFill>
                <a:latin typeface="Tahoma"/>
                <a:ea typeface="Tahoma"/>
                <a:cs typeface="Tahoma"/>
                <a:sym typeface="Tahoma"/>
              </a:rPr>
              <a:t>03.</a:t>
            </a:r>
            <a:endParaRPr/>
          </a:p>
        </p:txBody>
      </p:sp>
      <p:sp>
        <p:nvSpPr>
          <p:cNvPr id="298" name="Google Shape;298;p3"/>
          <p:cNvSpPr txBox="1"/>
          <p:nvPr/>
        </p:nvSpPr>
        <p:spPr>
          <a:xfrm>
            <a:off x="9577528" y="2231189"/>
            <a:ext cx="984900" cy="513600"/>
          </a:xfrm>
          <a:prstGeom prst="rect">
            <a:avLst/>
          </a:prstGeom>
          <a:noFill/>
          <a:ln>
            <a:noFill/>
          </a:ln>
        </p:spPr>
        <p:txBody>
          <a:bodyPr anchorCtr="0" anchor="t" bIns="0" lIns="0" spcFirstLastPara="1" rIns="0" wrap="square" tIns="0">
            <a:spAutoFit/>
          </a:bodyPr>
          <a:lstStyle/>
          <a:p>
            <a:pPr indent="0" lvl="0" marL="0" marR="0" rtl="0" algn="l">
              <a:lnSpc>
                <a:spcPct val="109082"/>
              </a:lnSpc>
              <a:spcBef>
                <a:spcPts val="0"/>
              </a:spcBef>
              <a:spcAft>
                <a:spcPts val="0"/>
              </a:spcAft>
              <a:buNone/>
            </a:pPr>
            <a:r>
              <a:rPr b="1" lang="en-US" sz="3336">
                <a:solidFill>
                  <a:srgbClr val="F5A329"/>
                </a:solidFill>
                <a:latin typeface="Tahoma"/>
                <a:ea typeface="Tahoma"/>
                <a:cs typeface="Tahoma"/>
                <a:sym typeface="Tahoma"/>
              </a:rPr>
              <a:t>02.</a:t>
            </a:r>
            <a:endParaRPr/>
          </a:p>
        </p:txBody>
      </p:sp>
      <p:sp>
        <p:nvSpPr>
          <p:cNvPr id="299" name="Google Shape;299;p3"/>
          <p:cNvSpPr txBox="1"/>
          <p:nvPr/>
        </p:nvSpPr>
        <p:spPr>
          <a:xfrm>
            <a:off x="9667753" y="6729601"/>
            <a:ext cx="985049" cy="474850"/>
          </a:xfrm>
          <a:prstGeom prst="rect">
            <a:avLst/>
          </a:prstGeom>
          <a:noFill/>
          <a:ln>
            <a:noFill/>
          </a:ln>
        </p:spPr>
        <p:txBody>
          <a:bodyPr anchorCtr="0" anchor="t" bIns="0" lIns="0" spcFirstLastPara="1" rIns="0" wrap="square" tIns="0">
            <a:spAutoFit/>
          </a:bodyPr>
          <a:lstStyle/>
          <a:p>
            <a:pPr indent="0" lvl="0" marL="0" marR="0" rtl="0" algn="l">
              <a:lnSpc>
                <a:spcPct val="109082"/>
              </a:lnSpc>
              <a:spcBef>
                <a:spcPts val="0"/>
              </a:spcBef>
              <a:spcAft>
                <a:spcPts val="0"/>
              </a:spcAft>
              <a:buNone/>
            </a:pPr>
            <a:r>
              <a:rPr b="1" lang="en-US" sz="3336">
                <a:solidFill>
                  <a:srgbClr val="F5A329"/>
                </a:solidFill>
                <a:latin typeface="Tahoma"/>
                <a:ea typeface="Tahoma"/>
                <a:cs typeface="Tahoma"/>
                <a:sym typeface="Tahoma"/>
              </a:rPr>
              <a:t>04.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7"/>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305" name="Google Shape;305;p7"/>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306" name="Google Shape;306;p7"/>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307" name="Google Shape;307;p7"/>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5">
              <a:alphaModFix/>
            </a:blip>
            <a:stretch>
              <a:fillRect b="0" l="0" r="0" t="0"/>
            </a:stretch>
          </a:blipFill>
          <a:ln>
            <a:noFill/>
          </a:ln>
        </p:spPr>
      </p:sp>
      <p:grpSp>
        <p:nvGrpSpPr>
          <p:cNvPr id="308" name="Google Shape;308;p7"/>
          <p:cNvGrpSpPr/>
          <p:nvPr/>
        </p:nvGrpSpPr>
        <p:grpSpPr>
          <a:xfrm>
            <a:off x="12183339" y="7617"/>
            <a:ext cx="6095997" cy="1492628"/>
            <a:chOff x="63500" y="63500"/>
            <a:chExt cx="6096000" cy="1492634"/>
          </a:xfrm>
        </p:grpSpPr>
        <p:sp>
          <p:nvSpPr>
            <p:cNvPr id="309" name="Google Shape;309;p7"/>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310" name="Google Shape;310;p7"/>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311" name="Google Shape;311;p7"/>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
        <p:nvSpPr>
          <p:cNvPr id="312" name="Google Shape;312;p7"/>
          <p:cNvSpPr/>
          <p:nvPr/>
        </p:nvSpPr>
        <p:spPr>
          <a:xfrm rot="65740">
            <a:off x="432171" y="-21062"/>
            <a:ext cx="17721815" cy="10139550"/>
          </a:xfrm>
          <a:custGeom>
            <a:rect b="b" l="l" r="r" t="t"/>
            <a:pathLst>
              <a:path extrusionOk="0" h="10139550" w="17721815">
                <a:moveTo>
                  <a:pt x="0" y="0"/>
                </a:moveTo>
                <a:lnTo>
                  <a:pt x="17721815" y="0"/>
                </a:lnTo>
                <a:lnTo>
                  <a:pt x="17721815" y="10139550"/>
                </a:lnTo>
                <a:lnTo>
                  <a:pt x="0" y="10139550"/>
                </a:lnTo>
                <a:lnTo>
                  <a:pt x="0" y="0"/>
                </a:lnTo>
                <a:close/>
              </a:path>
            </a:pathLst>
          </a:custGeom>
          <a:blipFill rotWithShape="1">
            <a:blip r:embed="rId6">
              <a:alphaModFix/>
            </a:blip>
            <a:stretch>
              <a:fillRect b="0" l="-1585" r="-1585" t="-1205"/>
            </a:stretch>
          </a:blipFill>
          <a:ln>
            <a:noFill/>
          </a:ln>
        </p:spPr>
      </p:sp>
      <p:sp>
        <p:nvSpPr>
          <p:cNvPr id="313" name="Google Shape;313;p7"/>
          <p:cNvSpPr txBox="1"/>
          <p:nvPr/>
        </p:nvSpPr>
        <p:spPr>
          <a:xfrm>
            <a:off x="6785632" y="239382"/>
            <a:ext cx="4716735"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Research &amp; Market Analysis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319" name="Google Shape;319;p5"/>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320" name="Google Shape;320;p5"/>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321" name="Google Shape;321;p5"/>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5">
              <a:alphaModFix/>
            </a:blip>
            <a:stretch>
              <a:fillRect b="0" l="0" r="0" t="0"/>
            </a:stretch>
          </a:blipFill>
          <a:ln>
            <a:noFill/>
          </a:ln>
        </p:spPr>
      </p:sp>
      <p:grpSp>
        <p:nvGrpSpPr>
          <p:cNvPr id="322" name="Google Shape;322;p5"/>
          <p:cNvGrpSpPr/>
          <p:nvPr/>
        </p:nvGrpSpPr>
        <p:grpSpPr>
          <a:xfrm>
            <a:off x="12183339" y="7617"/>
            <a:ext cx="6095997" cy="1492628"/>
            <a:chOff x="63500" y="63500"/>
            <a:chExt cx="6096000" cy="1492634"/>
          </a:xfrm>
        </p:grpSpPr>
        <p:sp>
          <p:nvSpPr>
            <p:cNvPr id="323" name="Google Shape;323;p5"/>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324" name="Google Shape;324;p5"/>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325" name="Google Shape;325;p5"/>
          <p:cNvSpPr/>
          <p:nvPr/>
        </p:nvSpPr>
        <p:spPr>
          <a:xfrm>
            <a:off x="3493371" y="1263378"/>
            <a:ext cx="11301259" cy="4054327"/>
          </a:xfrm>
          <a:custGeom>
            <a:rect b="b" l="l" r="r" t="t"/>
            <a:pathLst>
              <a:path extrusionOk="0" h="4054327" w="11301259">
                <a:moveTo>
                  <a:pt x="0" y="0"/>
                </a:moveTo>
                <a:lnTo>
                  <a:pt x="11301258" y="0"/>
                </a:lnTo>
                <a:lnTo>
                  <a:pt x="11301258" y="4054327"/>
                </a:lnTo>
                <a:lnTo>
                  <a:pt x="0" y="4054327"/>
                </a:lnTo>
                <a:lnTo>
                  <a:pt x="0" y="0"/>
                </a:lnTo>
                <a:close/>
              </a:path>
            </a:pathLst>
          </a:custGeom>
          <a:blipFill rotWithShape="1">
            <a:blip r:embed="rId6">
              <a:alphaModFix/>
            </a:blip>
            <a:stretch>
              <a:fillRect b="0" l="0" r="0" t="0"/>
            </a:stretch>
          </a:blipFill>
          <a:ln>
            <a:noFill/>
          </a:ln>
        </p:spPr>
      </p:sp>
      <p:sp>
        <p:nvSpPr>
          <p:cNvPr id="326" name="Google Shape;326;p5"/>
          <p:cNvSpPr/>
          <p:nvPr/>
        </p:nvSpPr>
        <p:spPr>
          <a:xfrm>
            <a:off x="1400594" y="5541984"/>
            <a:ext cx="7161678" cy="4481977"/>
          </a:xfrm>
          <a:custGeom>
            <a:rect b="b" l="l" r="r" t="t"/>
            <a:pathLst>
              <a:path extrusionOk="0" h="4481977" w="7161678">
                <a:moveTo>
                  <a:pt x="0" y="0"/>
                </a:moveTo>
                <a:lnTo>
                  <a:pt x="7161678" y="0"/>
                </a:lnTo>
                <a:lnTo>
                  <a:pt x="7161678" y="4481977"/>
                </a:lnTo>
                <a:lnTo>
                  <a:pt x="0" y="4481977"/>
                </a:lnTo>
                <a:lnTo>
                  <a:pt x="0" y="0"/>
                </a:lnTo>
                <a:close/>
              </a:path>
            </a:pathLst>
          </a:custGeom>
          <a:blipFill rotWithShape="1">
            <a:blip r:embed="rId7">
              <a:alphaModFix/>
            </a:blip>
            <a:stretch>
              <a:fillRect b="0" l="0" r="0" t="0"/>
            </a:stretch>
          </a:blipFill>
          <a:ln>
            <a:noFill/>
          </a:ln>
        </p:spPr>
      </p:sp>
      <p:sp>
        <p:nvSpPr>
          <p:cNvPr id="327" name="Google Shape;327;p5"/>
          <p:cNvSpPr/>
          <p:nvPr/>
        </p:nvSpPr>
        <p:spPr>
          <a:xfrm>
            <a:off x="9685140" y="5541984"/>
            <a:ext cx="6976871" cy="4481977"/>
          </a:xfrm>
          <a:custGeom>
            <a:rect b="b" l="l" r="r" t="t"/>
            <a:pathLst>
              <a:path extrusionOk="0" h="4481977" w="6976871">
                <a:moveTo>
                  <a:pt x="0" y="0"/>
                </a:moveTo>
                <a:lnTo>
                  <a:pt x="6976871" y="0"/>
                </a:lnTo>
                <a:lnTo>
                  <a:pt x="6976871" y="4481977"/>
                </a:lnTo>
                <a:lnTo>
                  <a:pt x="0" y="4481977"/>
                </a:lnTo>
                <a:lnTo>
                  <a:pt x="0" y="0"/>
                </a:lnTo>
                <a:close/>
              </a:path>
            </a:pathLst>
          </a:custGeom>
          <a:blipFill rotWithShape="1">
            <a:blip r:embed="rId8">
              <a:alphaModFix/>
            </a:blip>
            <a:stretch>
              <a:fillRect b="0" l="0" r="0" t="0"/>
            </a:stretch>
          </a:blipFill>
          <a:ln>
            <a:noFill/>
          </a:ln>
        </p:spPr>
      </p:sp>
      <p:sp>
        <p:nvSpPr>
          <p:cNvPr id="328" name="Google Shape;328;p5"/>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
        <p:nvSpPr>
          <p:cNvPr id="329" name="Google Shape;329;p5"/>
          <p:cNvSpPr txBox="1"/>
          <p:nvPr/>
        </p:nvSpPr>
        <p:spPr>
          <a:xfrm>
            <a:off x="6785632" y="239382"/>
            <a:ext cx="4716735"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Research &amp; Market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6"/>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335" name="Google Shape;335;p6"/>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336" name="Google Shape;336;p6"/>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337" name="Google Shape;337;p6"/>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5">
              <a:alphaModFix/>
            </a:blip>
            <a:stretch>
              <a:fillRect b="0" l="0" r="0" t="0"/>
            </a:stretch>
          </a:blipFill>
          <a:ln>
            <a:noFill/>
          </a:ln>
        </p:spPr>
      </p:sp>
      <p:grpSp>
        <p:nvGrpSpPr>
          <p:cNvPr id="338" name="Google Shape;338;p6"/>
          <p:cNvGrpSpPr/>
          <p:nvPr/>
        </p:nvGrpSpPr>
        <p:grpSpPr>
          <a:xfrm>
            <a:off x="12183339" y="7617"/>
            <a:ext cx="6095997" cy="1492628"/>
            <a:chOff x="63500" y="63500"/>
            <a:chExt cx="6096000" cy="1492634"/>
          </a:xfrm>
        </p:grpSpPr>
        <p:sp>
          <p:nvSpPr>
            <p:cNvPr id="339" name="Google Shape;339;p6"/>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340" name="Google Shape;340;p6"/>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341" name="Google Shape;341;p6"/>
          <p:cNvSpPr/>
          <p:nvPr/>
        </p:nvSpPr>
        <p:spPr>
          <a:xfrm>
            <a:off x="8489649" y="3641474"/>
            <a:ext cx="9918580" cy="5566803"/>
          </a:xfrm>
          <a:custGeom>
            <a:rect b="b" l="l" r="r" t="t"/>
            <a:pathLst>
              <a:path extrusionOk="0" h="5566803" w="9918580">
                <a:moveTo>
                  <a:pt x="0" y="0"/>
                </a:moveTo>
                <a:lnTo>
                  <a:pt x="9918580" y="0"/>
                </a:lnTo>
                <a:lnTo>
                  <a:pt x="9918580" y="5566802"/>
                </a:lnTo>
                <a:lnTo>
                  <a:pt x="0" y="5566802"/>
                </a:lnTo>
                <a:lnTo>
                  <a:pt x="0" y="0"/>
                </a:lnTo>
                <a:close/>
              </a:path>
            </a:pathLst>
          </a:custGeom>
          <a:blipFill rotWithShape="1">
            <a:blip r:embed="rId6">
              <a:alphaModFix/>
            </a:blip>
            <a:stretch>
              <a:fillRect b="0" l="0" r="0" t="0"/>
            </a:stretch>
          </a:blipFill>
          <a:ln>
            <a:noFill/>
          </a:ln>
        </p:spPr>
      </p:sp>
      <p:graphicFrame>
        <p:nvGraphicFramePr>
          <p:cNvPr id="342" name="Google Shape;342;p6"/>
          <p:cNvGraphicFramePr/>
          <p:nvPr/>
        </p:nvGraphicFramePr>
        <p:xfrm>
          <a:off x="193914" y="3641474"/>
          <a:ext cx="3000000" cy="3000000"/>
        </p:xfrm>
        <a:graphic>
          <a:graphicData uri="http://schemas.openxmlformats.org/drawingml/2006/table">
            <a:tbl>
              <a:tblPr>
                <a:noFill/>
                <a:tableStyleId>{53AC30FA-DB69-4B79-8D97-D8E9DD037B90}</a:tableStyleId>
              </a:tblPr>
              <a:tblGrid>
                <a:gridCol w="2659950"/>
                <a:gridCol w="2659950"/>
                <a:gridCol w="2659950"/>
              </a:tblGrid>
              <a:tr h="1391700">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DDC4"/>
                    </a:solidFill>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DDC4"/>
                    </a:solidFill>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DDC4"/>
                    </a:solidFill>
                  </a:tcPr>
                </a:tc>
              </a:tr>
              <a:tr h="1391700">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391700">
                <a:tc>
                  <a:txBody>
                    <a:bodyPr/>
                    <a:lstStyle/>
                    <a:p>
                      <a:pPr indent="0" lvl="0" marL="0" marR="0" rtl="0" algn="l">
                        <a:lnSpc>
                          <a:spcPct val="152636"/>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391700">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2900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343" name="Google Shape;343;p6"/>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
        <p:nvSpPr>
          <p:cNvPr id="344" name="Google Shape;344;p6"/>
          <p:cNvSpPr txBox="1"/>
          <p:nvPr/>
        </p:nvSpPr>
        <p:spPr>
          <a:xfrm>
            <a:off x="6785632" y="239382"/>
            <a:ext cx="4716735"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Research &amp; Market Analysis</a:t>
            </a:r>
            <a:endParaRPr/>
          </a:p>
        </p:txBody>
      </p:sp>
      <p:sp>
        <p:nvSpPr>
          <p:cNvPr id="345" name="Google Shape;345;p6"/>
          <p:cNvSpPr txBox="1"/>
          <p:nvPr/>
        </p:nvSpPr>
        <p:spPr>
          <a:xfrm>
            <a:off x="3721823" y="3982022"/>
            <a:ext cx="924000" cy="538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424242"/>
                </a:solidFill>
                <a:latin typeface="Calibri"/>
                <a:ea typeface="Calibri"/>
                <a:cs typeface="Calibri"/>
                <a:sym typeface="Calibri"/>
              </a:rPr>
              <a:t>India</a:t>
            </a:r>
            <a:endParaRPr/>
          </a:p>
        </p:txBody>
      </p:sp>
      <p:sp>
        <p:nvSpPr>
          <p:cNvPr id="346" name="Google Shape;346;p6"/>
          <p:cNvSpPr txBox="1"/>
          <p:nvPr/>
        </p:nvSpPr>
        <p:spPr>
          <a:xfrm>
            <a:off x="5778899" y="3982022"/>
            <a:ext cx="2049600" cy="538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424242"/>
                </a:solidFill>
                <a:latin typeface="Calibri"/>
                <a:ea typeface="Calibri"/>
                <a:cs typeface="Calibri"/>
                <a:sym typeface="Calibri"/>
              </a:rPr>
              <a:t>Worldwide</a:t>
            </a:r>
            <a:endParaRPr/>
          </a:p>
        </p:txBody>
      </p:sp>
      <p:sp>
        <p:nvSpPr>
          <p:cNvPr id="347" name="Google Shape;347;p6"/>
          <p:cNvSpPr txBox="1"/>
          <p:nvPr/>
        </p:nvSpPr>
        <p:spPr>
          <a:xfrm>
            <a:off x="454926" y="5312294"/>
            <a:ext cx="2144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Preschool age (0–6 years)</a:t>
            </a:r>
            <a:endParaRPr/>
          </a:p>
        </p:txBody>
      </p:sp>
      <p:sp>
        <p:nvSpPr>
          <p:cNvPr id="348" name="Google Shape;348;p6"/>
          <p:cNvSpPr txBox="1"/>
          <p:nvPr/>
        </p:nvSpPr>
        <p:spPr>
          <a:xfrm>
            <a:off x="734515" y="6709316"/>
            <a:ext cx="1584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School-age (5–19 years)</a:t>
            </a:r>
            <a:endParaRPr/>
          </a:p>
        </p:txBody>
      </p:sp>
      <p:sp>
        <p:nvSpPr>
          <p:cNvPr id="349" name="Google Shape;349;p6"/>
          <p:cNvSpPr txBox="1"/>
          <p:nvPr/>
        </p:nvSpPr>
        <p:spPr>
          <a:xfrm>
            <a:off x="263119" y="7932385"/>
            <a:ext cx="2527500" cy="122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100">
                <a:solidFill>
                  <a:srgbClr val="000000"/>
                </a:solidFill>
                <a:latin typeface="Calibri"/>
                <a:ea typeface="Calibri"/>
                <a:cs typeface="Calibri"/>
                <a:sym typeface="Calibri"/>
              </a:rPr>
              <a:t>India – College-age / young adults (20–24 years):</a:t>
            </a:r>
            <a:endParaRPr/>
          </a:p>
        </p:txBody>
      </p:sp>
      <p:sp>
        <p:nvSpPr>
          <p:cNvPr id="350" name="Google Shape;350;p6"/>
          <p:cNvSpPr txBox="1"/>
          <p:nvPr/>
        </p:nvSpPr>
        <p:spPr>
          <a:xfrm>
            <a:off x="3381167" y="5559119"/>
            <a:ext cx="1605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~0.42 million</a:t>
            </a:r>
            <a:endParaRPr/>
          </a:p>
        </p:txBody>
      </p:sp>
      <p:sp>
        <p:nvSpPr>
          <p:cNvPr id="351" name="Google Shape;351;p6"/>
          <p:cNvSpPr txBox="1"/>
          <p:nvPr/>
        </p:nvSpPr>
        <p:spPr>
          <a:xfrm>
            <a:off x="3378867" y="6899066"/>
            <a:ext cx="1605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~1.18 million</a:t>
            </a:r>
            <a:endParaRPr/>
          </a:p>
        </p:txBody>
      </p:sp>
      <p:sp>
        <p:nvSpPr>
          <p:cNvPr id="352" name="Google Shape;352;p6"/>
          <p:cNvSpPr txBox="1"/>
          <p:nvPr/>
        </p:nvSpPr>
        <p:spPr>
          <a:xfrm>
            <a:off x="3381192" y="8239031"/>
            <a:ext cx="1605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~0.39 million</a:t>
            </a:r>
            <a:endParaRPr/>
          </a:p>
        </p:txBody>
      </p:sp>
      <p:sp>
        <p:nvSpPr>
          <p:cNvPr id="353" name="Google Shape;353;p6"/>
          <p:cNvSpPr txBox="1"/>
          <p:nvPr/>
        </p:nvSpPr>
        <p:spPr>
          <a:xfrm>
            <a:off x="6043711" y="5597582"/>
            <a:ext cx="1605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~31.8 million</a:t>
            </a:r>
            <a:endParaRPr/>
          </a:p>
        </p:txBody>
      </p:sp>
      <p:sp>
        <p:nvSpPr>
          <p:cNvPr id="354" name="Google Shape;354;p6"/>
          <p:cNvSpPr txBox="1"/>
          <p:nvPr/>
        </p:nvSpPr>
        <p:spPr>
          <a:xfrm>
            <a:off x="6069989" y="6918291"/>
            <a:ext cx="1605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~67.4 million</a:t>
            </a:r>
            <a:endParaRPr/>
          </a:p>
        </p:txBody>
      </p:sp>
      <p:sp>
        <p:nvSpPr>
          <p:cNvPr id="355" name="Google Shape;355;p6"/>
          <p:cNvSpPr txBox="1"/>
          <p:nvPr/>
        </p:nvSpPr>
        <p:spPr>
          <a:xfrm>
            <a:off x="5877174" y="8239025"/>
            <a:ext cx="1798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~20.6million</a:t>
            </a:r>
            <a:endParaRPr/>
          </a:p>
        </p:txBody>
      </p:sp>
      <p:sp>
        <p:nvSpPr>
          <p:cNvPr id="356" name="Google Shape;356;p6"/>
          <p:cNvSpPr txBox="1"/>
          <p:nvPr/>
        </p:nvSpPr>
        <p:spPr>
          <a:xfrm>
            <a:off x="1175052" y="3982022"/>
            <a:ext cx="703800" cy="538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424242"/>
                </a:solidFill>
                <a:latin typeface="Calibri"/>
                <a:ea typeface="Calibri"/>
                <a:cs typeface="Calibri"/>
                <a:sym typeface="Calibri"/>
              </a:rPr>
              <a:t>Age</a:t>
            </a:r>
            <a:endParaRPr/>
          </a:p>
        </p:txBody>
      </p:sp>
      <p:sp>
        <p:nvSpPr>
          <p:cNvPr id="357" name="Google Shape;357;p6"/>
          <p:cNvSpPr txBox="1"/>
          <p:nvPr/>
        </p:nvSpPr>
        <p:spPr>
          <a:xfrm>
            <a:off x="1175050" y="1790013"/>
            <a:ext cx="15495000" cy="2462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1200"/>
              </a:spcBef>
              <a:spcAft>
                <a:spcPts val="0"/>
              </a:spcAft>
              <a:buClr>
                <a:schemeClr val="dk1"/>
              </a:buClr>
              <a:buSzPts val="1100"/>
              <a:buFont typeface="Arial"/>
              <a:buNone/>
            </a:pPr>
            <a:r>
              <a:rPr b="1" lang="en-US" sz="3000">
                <a:solidFill>
                  <a:srgbClr val="C00000"/>
                </a:solidFill>
              </a:rPr>
              <a:t>With 1.18M+ school-age visually impaired learners in India and 67M+ globally, Viisar addresses a large, underserved market with an affordable tactile STEM solution.</a:t>
            </a:r>
            <a:endParaRPr b="1" sz="3000">
              <a:solidFill>
                <a:srgbClr val="C00000"/>
              </a:solidFill>
            </a:endParaRPr>
          </a:p>
          <a:p>
            <a:pPr indent="0" lvl="0" marL="0" rtl="0" algn="ctr">
              <a:lnSpc>
                <a:spcPct val="100000"/>
              </a:lnSpc>
              <a:spcBef>
                <a:spcPts val="1200"/>
              </a:spcBef>
              <a:spcAft>
                <a:spcPts val="0"/>
              </a:spcAft>
              <a:buClr>
                <a:schemeClr val="dk1"/>
              </a:buClr>
              <a:buSzPts val="1100"/>
              <a:buFont typeface="Arial"/>
              <a:buNone/>
            </a:pPr>
            <a:r>
              <a:t/>
            </a:r>
            <a:endParaRPr b="1" sz="3000">
              <a:solidFill>
                <a:srgbClr val="C00000"/>
              </a:solidFill>
              <a:latin typeface="Calibri"/>
              <a:ea typeface="Calibri"/>
              <a:cs typeface="Calibri"/>
              <a:sym typeface="Calibri"/>
            </a:endParaRPr>
          </a:p>
          <a:p>
            <a:pPr indent="0" lvl="0" marL="0" rtl="0" algn="ctr">
              <a:lnSpc>
                <a:spcPct val="100000"/>
              </a:lnSpc>
              <a:spcBef>
                <a:spcPts val="0"/>
              </a:spcBef>
              <a:spcAft>
                <a:spcPts val="0"/>
              </a:spcAft>
              <a:buClr>
                <a:schemeClr val="dk1"/>
              </a:buClr>
              <a:buSzPts val="1100"/>
              <a:buFont typeface="Arial"/>
              <a:buNone/>
            </a:pPr>
            <a:r>
              <a:t/>
            </a:r>
            <a:endParaRPr b="1" sz="3000">
              <a:solidFill>
                <a:srgbClr val="C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sz="3000">
              <a:solidFill>
                <a:srgbClr val="C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8"/>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363" name="Google Shape;363;p8"/>
          <p:cNvSpPr/>
          <p:nvPr/>
        </p:nvSpPr>
        <p:spPr>
          <a:xfrm>
            <a:off x="15935735" y="163354"/>
            <a:ext cx="37309" cy="657311"/>
          </a:xfrm>
          <a:custGeom>
            <a:rect b="b" l="l" r="r" t="t"/>
            <a:pathLst>
              <a:path extrusionOk="0" h="657311" w="37309">
                <a:moveTo>
                  <a:pt x="0" y="0"/>
                </a:moveTo>
                <a:lnTo>
                  <a:pt x="37309" y="0"/>
                </a:lnTo>
                <a:lnTo>
                  <a:pt x="37309" y="657310"/>
                </a:lnTo>
                <a:lnTo>
                  <a:pt x="0" y="657310"/>
                </a:lnTo>
                <a:lnTo>
                  <a:pt x="0" y="0"/>
                </a:lnTo>
                <a:close/>
              </a:path>
            </a:pathLst>
          </a:custGeom>
          <a:blipFill rotWithShape="1">
            <a:blip r:embed="rId3">
              <a:alphaModFix/>
            </a:blip>
            <a:stretch>
              <a:fillRect b="0" l="0" r="0" t="0"/>
            </a:stretch>
          </a:blipFill>
          <a:ln>
            <a:noFill/>
          </a:ln>
        </p:spPr>
      </p:sp>
      <p:sp>
        <p:nvSpPr>
          <p:cNvPr id="364" name="Google Shape;364;p8"/>
          <p:cNvSpPr/>
          <p:nvPr/>
        </p:nvSpPr>
        <p:spPr>
          <a:xfrm>
            <a:off x="15973282" y="62274"/>
            <a:ext cx="1892332" cy="1067277"/>
          </a:xfrm>
          <a:custGeom>
            <a:rect b="b" l="l" r="r" t="t"/>
            <a:pathLst>
              <a:path extrusionOk="0" h="1423035" w="2523109">
                <a:moveTo>
                  <a:pt x="0" y="0"/>
                </a:moveTo>
                <a:lnTo>
                  <a:pt x="2523109" y="0"/>
                </a:lnTo>
                <a:lnTo>
                  <a:pt x="2523109" y="1423035"/>
                </a:lnTo>
                <a:lnTo>
                  <a:pt x="0" y="1423035"/>
                </a:lnTo>
                <a:lnTo>
                  <a:pt x="0" y="0"/>
                </a:lnTo>
                <a:close/>
              </a:path>
            </a:pathLst>
          </a:custGeom>
          <a:blipFill rotWithShape="1">
            <a:blip r:embed="rId4">
              <a:alphaModFix/>
            </a:blip>
            <a:stretch>
              <a:fillRect b="0" l="0" r="-21" t="0"/>
            </a:stretch>
          </a:blipFill>
          <a:ln>
            <a:noFill/>
          </a:ln>
        </p:spPr>
      </p:sp>
      <p:sp>
        <p:nvSpPr>
          <p:cNvPr id="365" name="Google Shape;365;p8"/>
          <p:cNvSpPr/>
          <p:nvPr/>
        </p:nvSpPr>
        <p:spPr>
          <a:xfrm>
            <a:off x="14441510" y="62274"/>
            <a:ext cx="1497901" cy="865632"/>
          </a:xfrm>
          <a:custGeom>
            <a:rect b="b" l="l" r="r" t="t"/>
            <a:pathLst>
              <a:path extrusionOk="0" h="1154176" w="1997202">
                <a:moveTo>
                  <a:pt x="0" y="0"/>
                </a:moveTo>
                <a:lnTo>
                  <a:pt x="1997202" y="0"/>
                </a:lnTo>
                <a:lnTo>
                  <a:pt x="1997202" y="1154176"/>
                </a:lnTo>
                <a:lnTo>
                  <a:pt x="0" y="1154176"/>
                </a:lnTo>
                <a:lnTo>
                  <a:pt x="0" y="0"/>
                </a:lnTo>
                <a:close/>
              </a:path>
            </a:pathLst>
          </a:custGeom>
          <a:blipFill rotWithShape="1">
            <a:blip r:embed="rId5">
              <a:alphaModFix/>
            </a:blip>
            <a:stretch>
              <a:fillRect b="-282" l="0" r="1" t="-102"/>
            </a:stretch>
          </a:blipFill>
          <a:ln>
            <a:noFill/>
          </a:ln>
        </p:spPr>
      </p:sp>
      <p:sp>
        <p:nvSpPr>
          <p:cNvPr id="366" name="Google Shape;366;p8"/>
          <p:cNvSpPr/>
          <p:nvPr/>
        </p:nvSpPr>
        <p:spPr>
          <a:xfrm>
            <a:off x="12288117" y="3905402"/>
            <a:ext cx="5867400" cy="2543175"/>
          </a:xfrm>
          <a:custGeom>
            <a:rect b="b" l="l" r="r" t="t"/>
            <a:pathLst>
              <a:path extrusionOk="0" h="3390900" w="7823200">
                <a:moveTo>
                  <a:pt x="0" y="0"/>
                </a:moveTo>
                <a:lnTo>
                  <a:pt x="7823200" y="0"/>
                </a:lnTo>
                <a:lnTo>
                  <a:pt x="7823200" y="3390900"/>
                </a:lnTo>
                <a:lnTo>
                  <a:pt x="0" y="3390900"/>
                </a:lnTo>
                <a:lnTo>
                  <a:pt x="0" y="0"/>
                </a:lnTo>
                <a:close/>
              </a:path>
            </a:pathLst>
          </a:custGeom>
          <a:blipFill rotWithShape="1">
            <a:blip r:embed="rId6">
              <a:alphaModFix/>
            </a:blip>
            <a:stretch>
              <a:fillRect b="0" l="-9896" r="-8772" t="0"/>
            </a:stretch>
          </a:blipFill>
          <a:ln>
            <a:noFill/>
          </a:ln>
        </p:spPr>
      </p:sp>
      <p:sp>
        <p:nvSpPr>
          <p:cNvPr id="367" name="Google Shape;367;p8"/>
          <p:cNvSpPr/>
          <p:nvPr/>
        </p:nvSpPr>
        <p:spPr>
          <a:xfrm>
            <a:off x="12354792" y="1028700"/>
            <a:ext cx="5800725" cy="2752725"/>
          </a:xfrm>
          <a:custGeom>
            <a:rect b="b" l="l" r="r" t="t"/>
            <a:pathLst>
              <a:path extrusionOk="0" h="3670300" w="7734300">
                <a:moveTo>
                  <a:pt x="0" y="0"/>
                </a:moveTo>
                <a:lnTo>
                  <a:pt x="7734300" y="0"/>
                </a:lnTo>
                <a:lnTo>
                  <a:pt x="7734300" y="3670300"/>
                </a:lnTo>
                <a:lnTo>
                  <a:pt x="0" y="3670300"/>
                </a:lnTo>
                <a:lnTo>
                  <a:pt x="0" y="0"/>
                </a:lnTo>
                <a:close/>
              </a:path>
            </a:pathLst>
          </a:custGeom>
          <a:blipFill rotWithShape="1">
            <a:blip r:embed="rId7">
              <a:alphaModFix/>
            </a:blip>
            <a:stretch>
              <a:fillRect b="-9855" l="0" r="-985" t="-9866"/>
            </a:stretch>
          </a:blipFill>
          <a:ln>
            <a:noFill/>
          </a:ln>
        </p:spPr>
      </p:sp>
      <p:sp>
        <p:nvSpPr>
          <p:cNvPr id="368" name="Google Shape;368;p8"/>
          <p:cNvSpPr/>
          <p:nvPr/>
        </p:nvSpPr>
        <p:spPr>
          <a:xfrm>
            <a:off x="12288117" y="6576098"/>
            <a:ext cx="5962650" cy="3448050"/>
          </a:xfrm>
          <a:custGeom>
            <a:rect b="b" l="l" r="r" t="t"/>
            <a:pathLst>
              <a:path extrusionOk="0" h="4597400" w="7950200">
                <a:moveTo>
                  <a:pt x="0" y="0"/>
                </a:moveTo>
                <a:lnTo>
                  <a:pt x="7950200" y="0"/>
                </a:lnTo>
                <a:lnTo>
                  <a:pt x="7950200" y="4597400"/>
                </a:lnTo>
                <a:lnTo>
                  <a:pt x="0" y="4597400"/>
                </a:lnTo>
                <a:lnTo>
                  <a:pt x="0" y="0"/>
                </a:lnTo>
                <a:close/>
              </a:path>
            </a:pathLst>
          </a:custGeom>
          <a:blipFill rotWithShape="1">
            <a:blip r:embed="rId8">
              <a:alphaModFix/>
            </a:blip>
            <a:stretch>
              <a:fillRect b="0" l="-2710" r="-5" t="0"/>
            </a:stretch>
          </a:blipFill>
          <a:ln>
            <a:noFill/>
          </a:ln>
        </p:spPr>
      </p:sp>
      <p:sp>
        <p:nvSpPr>
          <p:cNvPr id="369" name="Google Shape;369;p8"/>
          <p:cNvSpPr/>
          <p:nvPr/>
        </p:nvSpPr>
        <p:spPr>
          <a:xfrm>
            <a:off x="65246" y="1087031"/>
            <a:ext cx="5048250" cy="9127617"/>
          </a:xfrm>
          <a:custGeom>
            <a:rect b="b" l="l" r="r" t="t"/>
            <a:pathLst>
              <a:path extrusionOk="0" h="12170156" w="6731000">
                <a:moveTo>
                  <a:pt x="0" y="0"/>
                </a:moveTo>
                <a:lnTo>
                  <a:pt x="6731000" y="0"/>
                </a:lnTo>
                <a:lnTo>
                  <a:pt x="6731000" y="12170156"/>
                </a:lnTo>
                <a:lnTo>
                  <a:pt x="0" y="12170156"/>
                </a:lnTo>
                <a:lnTo>
                  <a:pt x="0" y="0"/>
                </a:lnTo>
                <a:close/>
              </a:path>
            </a:pathLst>
          </a:custGeom>
          <a:blipFill rotWithShape="1">
            <a:blip r:embed="rId9">
              <a:alphaModFix/>
            </a:blip>
            <a:stretch>
              <a:fillRect b="0" l="0" r="0" t="0"/>
            </a:stretch>
          </a:blipFill>
          <a:ln>
            <a:noFill/>
          </a:ln>
        </p:spPr>
      </p:sp>
      <p:sp>
        <p:nvSpPr>
          <p:cNvPr id="370" name="Google Shape;370;p8"/>
          <p:cNvSpPr/>
          <p:nvPr/>
        </p:nvSpPr>
        <p:spPr>
          <a:xfrm>
            <a:off x="5285032" y="1854441"/>
            <a:ext cx="6896100" cy="3876675"/>
          </a:xfrm>
          <a:custGeom>
            <a:rect b="b" l="l" r="r" t="t"/>
            <a:pathLst>
              <a:path extrusionOk="0" h="5168900" w="9194800">
                <a:moveTo>
                  <a:pt x="0" y="0"/>
                </a:moveTo>
                <a:lnTo>
                  <a:pt x="9194800" y="0"/>
                </a:lnTo>
                <a:lnTo>
                  <a:pt x="9194800" y="5168900"/>
                </a:lnTo>
                <a:lnTo>
                  <a:pt x="0" y="5168900"/>
                </a:lnTo>
                <a:lnTo>
                  <a:pt x="0" y="0"/>
                </a:lnTo>
                <a:close/>
              </a:path>
            </a:pathLst>
          </a:custGeom>
          <a:blipFill rotWithShape="1">
            <a:blip r:embed="rId10">
              <a:alphaModFix/>
            </a:blip>
            <a:stretch>
              <a:fillRect b="0" l="0" r="0" t="0"/>
            </a:stretch>
          </a:blipFill>
          <a:ln>
            <a:noFill/>
          </a:ln>
        </p:spPr>
      </p:sp>
      <p:sp>
        <p:nvSpPr>
          <p:cNvPr id="371" name="Google Shape;371;p8"/>
          <p:cNvSpPr/>
          <p:nvPr/>
        </p:nvSpPr>
        <p:spPr>
          <a:xfrm>
            <a:off x="5218814" y="5888546"/>
            <a:ext cx="6962775" cy="4133850"/>
          </a:xfrm>
          <a:custGeom>
            <a:rect b="b" l="l" r="r" t="t"/>
            <a:pathLst>
              <a:path extrusionOk="0" h="5511800" w="9283700">
                <a:moveTo>
                  <a:pt x="0" y="0"/>
                </a:moveTo>
                <a:lnTo>
                  <a:pt x="9283700" y="0"/>
                </a:lnTo>
                <a:lnTo>
                  <a:pt x="9283700" y="5511800"/>
                </a:lnTo>
                <a:lnTo>
                  <a:pt x="0" y="5511800"/>
                </a:lnTo>
                <a:lnTo>
                  <a:pt x="0" y="0"/>
                </a:lnTo>
                <a:close/>
              </a:path>
            </a:pathLst>
          </a:custGeom>
          <a:blipFill rotWithShape="1">
            <a:blip r:embed="rId11">
              <a:alphaModFix/>
            </a:blip>
            <a:stretch>
              <a:fillRect b="0" l="-3972" r="-1636" t="0"/>
            </a:stretch>
          </a:blipFill>
          <a:ln>
            <a:noFill/>
          </a:ln>
        </p:spPr>
      </p:sp>
      <p:grpSp>
        <p:nvGrpSpPr>
          <p:cNvPr id="372" name="Google Shape;372;p8"/>
          <p:cNvGrpSpPr/>
          <p:nvPr/>
        </p:nvGrpSpPr>
        <p:grpSpPr>
          <a:xfrm>
            <a:off x="131089" y="197155"/>
            <a:ext cx="411477" cy="592837"/>
            <a:chOff x="63500" y="63500"/>
            <a:chExt cx="411479" cy="592837"/>
          </a:xfrm>
        </p:grpSpPr>
        <p:sp>
          <p:nvSpPr>
            <p:cNvPr id="373" name="Google Shape;373;p8"/>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8"/>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380" name="Google Shape;380;p8"/>
          <p:cNvGrpSpPr/>
          <p:nvPr/>
        </p:nvGrpSpPr>
        <p:grpSpPr>
          <a:xfrm>
            <a:off x="11760215" y="19627"/>
            <a:ext cx="6095997" cy="1492628"/>
            <a:chOff x="63500" y="63500"/>
            <a:chExt cx="6096000" cy="1492634"/>
          </a:xfrm>
        </p:grpSpPr>
        <p:sp>
          <p:nvSpPr>
            <p:cNvPr id="381" name="Google Shape;381;p8"/>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382" name="Google Shape;382;p8"/>
            <p:cNvSpPr/>
            <p:nvPr/>
          </p:nvSpPr>
          <p:spPr>
            <a:xfrm>
              <a:off x="3795776" y="220218"/>
              <a:ext cx="77724" cy="655321"/>
            </a:xfrm>
            <a:custGeom>
              <a:rect b="b" l="l" r="r" t="t"/>
              <a:pathLst>
                <a:path extrusionOk="0" h="655321" w="77724">
                  <a:moveTo>
                    <a:pt x="0" y="655322"/>
                  </a:moveTo>
                  <a:lnTo>
                    <a:pt x="77724" y="655322"/>
                  </a:lnTo>
                  <a:lnTo>
                    <a:pt x="77724" y="0"/>
                  </a:lnTo>
                  <a:lnTo>
                    <a:pt x="0" y="0"/>
                  </a:lnTo>
                  <a:close/>
                </a:path>
              </a:pathLst>
            </a:custGeom>
            <a:solidFill>
              <a:srgbClr val="000000">
                <a:alpha val="0"/>
              </a:srgbClr>
            </a:solidFill>
            <a:ln>
              <a:noFill/>
            </a:ln>
          </p:spPr>
        </p:sp>
      </p:grpSp>
      <p:sp>
        <p:nvSpPr>
          <p:cNvPr id="383" name="Google Shape;383;p8"/>
          <p:cNvSpPr txBox="1"/>
          <p:nvPr/>
        </p:nvSpPr>
        <p:spPr>
          <a:xfrm>
            <a:off x="5909943" y="313801"/>
            <a:ext cx="5311155"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User interviews/survey insights</a:t>
            </a:r>
            <a:endParaRPr/>
          </a:p>
        </p:txBody>
      </p:sp>
      <p:sp>
        <p:nvSpPr>
          <p:cNvPr id="384" name="Google Shape;384;p8"/>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
        <p:nvSpPr>
          <p:cNvPr id="385" name="Google Shape;385;p8"/>
          <p:cNvSpPr txBox="1"/>
          <p:nvPr/>
        </p:nvSpPr>
        <p:spPr>
          <a:xfrm>
            <a:off x="6697676" y="1087025"/>
            <a:ext cx="6575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hlink"/>
                </a:solidFill>
                <a:latin typeface="Calibri"/>
                <a:ea typeface="Calibri"/>
                <a:cs typeface="Calibri"/>
                <a:sym typeface="Calibri"/>
                <a:hlinkClick r:id="rId12"/>
              </a:rPr>
              <a:t>User-Validation (1080p, h264).mp4</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9"/>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391" name="Google Shape;391;p9"/>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392" name="Google Shape;392;p9"/>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393" name="Google Shape;393;p9"/>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5">
              <a:alphaModFix/>
            </a:blip>
            <a:stretch>
              <a:fillRect b="0" l="0" r="0" t="0"/>
            </a:stretch>
          </a:blipFill>
          <a:ln>
            <a:noFill/>
          </a:ln>
        </p:spPr>
      </p:sp>
      <p:sp>
        <p:nvSpPr>
          <p:cNvPr id="394" name="Google Shape;394;p9"/>
          <p:cNvSpPr/>
          <p:nvPr/>
        </p:nvSpPr>
        <p:spPr>
          <a:xfrm>
            <a:off x="930365" y="2028360"/>
            <a:ext cx="18171014" cy="7653147"/>
          </a:xfrm>
          <a:custGeom>
            <a:rect b="b" l="l" r="r" t="t"/>
            <a:pathLst>
              <a:path extrusionOk="0" h="7653147" w="18171014">
                <a:moveTo>
                  <a:pt x="0" y="0"/>
                </a:moveTo>
                <a:lnTo>
                  <a:pt x="18171014" y="0"/>
                </a:lnTo>
                <a:lnTo>
                  <a:pt x="18171014" y="7653147"/>
                </a:lnTo>
                <a:lnTo>
                  <a:pt x="0" y="7653147"/>
                </a:lnTo>
                <a:lnTo>
                  <a:pt x="0" y="0"/>
                </a:lnTo>
                <a:close/>
              </a:path>
            </a:pathLst>
          </a:custGeom>
          <a:blipFill rotWithShape="1">
            <a:blip r:embed="rId6">
              <a:alphaModFix/>
            </a:blip>
            <a:stretch>
              <a:fillRect b="0" l="0" r="0" t="0"/>
            </a:stretch>
          </a:blipFill>
          <a:ln>
            <a:noFill/>
          </a:ln>
        </p:spPr>
      </p:sp>
      <p:grpSp>
        <p:nvGrpSpPr>
          <p:cNvPr id="395" name="Google Shape;395;p9"/>
          <p:cNvGrpSpPr/>
          <p:nvPr/>
        </p:nvGrpSpPr>
        <p:grpSpPr>
          <a:xfrm>
            <a:off x="12183339" y="7617"/>
            <a:ext cx="6095997" cy="1492628"/>
            <a:chOff x="63500" y="63500"/>
            <a:chExt cx="6096000" cy="1492634"/>
          </a:xfrm>
        </p:grpSpPr>
        <p:sp>
          <p:nvSpPr>
            <p:cNvPr id="396" name="Google Shape;396;p9"/>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397" name="Google Shape;397;p9"/>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398" name="Google Shape;398;p9"/>
          <p:cNvSpPr txBox="1"/>
          <p:nvPr/>
        </p:nvSpPr>
        <p:spPr>
          <a:xfrm>
            <a:off x="1130872" y="9421249"/>
            <a:ext cx="1140000" cy="4923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Rajesh</a:t>
            </a:r>
            <a:endParaRPr/>
          </a:p>
        </p:txBody>
      </p:sp>
      <p:sp>
        <p:nvSpPr>
          <p:cNvPr id="399" name="Google Shape;399;p9"/>
          <p:cNvSpPr txBox="1"/>
          <p:nvPr/>
        </p:nvSpPr>
        <p:spPr>
          <a:xfrm>
            <a:off x="6485468" y="9290152"/>
            <a:ext cx="1290300" cy="4923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Krishna</a:t>
            </a:r>
            <a:endParaRPr/>
          </a:p>
        </p:txBody>
      </p:sp>
      <p:sp>
        <p:nvSpPr>
          <p:cNvPr id="400" name="Google Shape;400;p9"/>
          <p:cNvSpPr txBox="1"/>
          <p:nvPr/>
        </p:nvSpPr>
        <p:spPr>
          <a:xfrm>
            <a:off x="5215699" y="338475"/>
            <a:ext cx="6834000" cy="4923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Research </a:t>
            </a:r>
            <a:r>
              <a:rPr b="1" lang="en-US" sz="3199">
                <a:solidFill>
                  <a:srgbClr val="424242"/>
                </a:solidFill>
                <a:latin typeface="Calibri"/>
                <a:ea typeface="Calibri"/>
                <a:cs typeface="Calibri"/>
                <a:sym typeface="Calibri"/>
              </a:rPr>
              <a:t>Validation &amp; Confirmation</a:t>
            </a:r>
            <a:endParaRPr/>
          </a:p>
        </p:txBody>
      </p:sp>
      <p:sp>
        <p:nvSpPr>
          <p:cNvPr id="401" name="Google Shape;401;p9"/>
          <p:cNvSpPr txBox="1"/>
          <p:nvPr/>
        </p:nvSpPr>
        <p:spPr>
          <a:xfrm>
            <a:off x="12319437" y="9290162"/>
            <a:ext cx="1140000" cy="4923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Rajesh</a:t>
            </a:r>
            <a:endParaRPr/>
          </a:p>
        </p:txBody>
      </p:sp>
      <p:sp>
        <p:nvSpPr>
          <p:cNvPr id="402" name="Google Shape;402;p9"/>
          <p:cNvSpPr txBox="1"/>
          <p:nvPr/>
        </p:nvSpPr>
        <p:spPr>
          <a:xfrm>
            <a:off x="1131017" y="1390221"/>
            <a:ext cx="6746737" cy="758221"/>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1" lang="en-US" sz="4499">
                <a:solidFill>
                  <a:srgbClr val="E69138"/>
                </a:solidFill>
                <a:latin typeface="Calibri"/>
                <a:ea typeface="Calibri"/>
                <a:cs typeface="Calibri"/>
                <a:sym typeface="Calibri"/>
              </a:rPr>
              <a:t>Target Users:</a:t>
            </a:r>
            <a:endParaRPr/>
          </a:p>
        </p:txBody>
      </p:sp>
      <p:sp>
        <p:nvSpPr>
          <p:cNvPr id="403" name="Google Shape;403;p9"/>
          <p:cNvSpPr txBox="1"/>
          <p:nvPr/>
        </p:nvSpPr>
        <p:spPr>
          <a:xfrm>
            <a:off x="1749066" y="2191236"/>
            <a:ext cx="79067"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 </a:t>
            </a:r>
            <a:endParaRPr/>
          </a:p>
        </p:txBody>
      </p:sp>
      <p:sp>
        <p:nvSpPr>
          <p:cNvPr id="404" name="Google Shape;404;p9"/>
          <p:cNvSpPr txBox="1"/>
          <p:nvPr/>
        </p:nvSpPr>
        <p:spPr>
          <a:xfrm>
            <a:off x="1130875" y="2191236"/>
            <a:ext cx="11381400" cy="41550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 We visited </a:t>
            </a:r>
            <a:r>
              <a:rPr b="1" lang="en-US" sz="2700">
                <a:solidFill>
                  <a:srgbClr val="000000"/>
                </a:solidFill>
                <a:latin typeface="Calibri"/>
                <a:ea typeface="Calibri"/>
                <a:cs typeface="Calibri"/>
                <a:sym typeface="Calibri"/>
              </a:rPr>
              <a:t>Shri Sai Nethraheen Sanstha</a:t>
            </a:r>
            <a:r>
              <a:rPr lang="en-US" sz="2700">
                <a:solidFill>
                  <a:srgbClr val="000000"/>
                </a:solidFill>
                <a:latin typeface="Calibri"/>
                <a:ea typeface="Calibri"/>
                <a:cs typeface="Calibri"/>
                <a:sym typeface="Calibri"/>
              </a:rPr>
              <a:t> and </a:t>
            </a:r>
            <a:r>
              <a:rPr b="1" lang="en-US" sz="2700">
                <a:solidFill>
                  <a:srgbClr val="000000"/>
                </a:solidFill>
                <a:latin typeface="Calibri"/>
                <a:ea typeface="Calibri"/>
                <a:cs typeface="Calibri"/>
                <a:sym typeface="Calibri"/>
              </a:rPr>
              <a:t>Blind Person Association </a:t>
            </a:r>
            <a:r>
              <a:rPr lang="en-US" sz="2700">
                <a:solidFill>
                  <a:srgbClr val="000000"/>
                </a:solidFill>
                <a:latin typeface="Calibri"/>
                <a:ea typeface="Calibri"/>
                <a:cs typeface="Calibri"/>
                <a:sym typeface="Calibri"/>
              </a:rPr>
              <a:t>in Uttam</a:t>
            </a:r>
            <a:endParaRPr/>
          </a:p>
        </p:txBody>
      </p:sp>
      <p:sp>
        <p:nvSpPr>
          <p:cNvPr id="405" name="Google Shape;405;p9"/>
          <p:cNvSpPr txBox="1"/>
          <p:nvPr/>
        </p:nvSpPr>
        <p:spPr>
          <a:xfrm>
            <a:off x="1130875" y="2600811"/>
            <a:ext cx="929369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Nagar and we tested our product on visually impaired individuals.</a:t>
            </a:r>
            <a:endParaRPr/>
          </a:p>
        </p:txBody>
      </p:sp>
      <p:sp>
        <p:nvSpPr>
          <p:cNvPr id="406" name="Google Shape;406;p9"/>
          <p:cNvSpPr txBox="1"/>
          <p:nvPr/>
        </p:nvSpPr>
        <p:spPr>
          <a:xfrm rot="-368076">
            <a:off x="13214049" y="3144342"/>
            <a:ext cx="3323834" cy="569334"/>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lang="en-US" sz="3699">
                <a:solidFill>
                  <a:srgbClr val="FD7607"/>
                </a:solidFill>
                <a:latin typeface="Calibri"/>
                <a:ea typeface="Calibri"/>
                <a:cs typeface="Calibri"/>
                <a:sym typeface="Calibri"/>
              </a:rPr>
              <a:t>25+ Users Tested</a:t>
            </a:r>
            <a:endParaRPr/>
          </a:p>
        </p:txBody>
      </p:sp>
      <p:sp>
        <p:nvSpPr>
          <p:cNvPr id="407" name="Google Shape;407;p9"/>
          <p:cNvSpPr txBox="1"/>
          <p:nvPr/>
        </p:nvSpPr>
        <p:spPr>
          <a:xfrm>
            <a:off x="1130875" y="3771119"/>
            <a:ext cx="10716549" cy="1193092"/>
          </a:xfrm>
          <a:prstGeom prst="rect">
            <a:avLst/>
          </a:prstGeom>
          <a:noFill/>
          <a:ln>
            <a:noFill/>
          </a:ln>
        </p:spPr>
        <p:txBody>
          <a:bodyPr anchorCtr="0" anchor="t" bIns="0" lIns="0" spcFirstLastPara="1" rIns="0" wrap="square" tIns="0">
            <a:spAutoFit/>
          </a:bodyPr>
          <a:lstStyle/>
          <a:p>
            <a:pPr indent="0" lvl="0" marL="0" marR="0" rtl="0" algn="l">
              <a:lnSpc>
                <a:spcPct val="118399"/>
              </a:lnSpc>
              <a:spcBef>
                <a:spcPts val="0"/>
              </a:spcBef>
              <a:spcAft>
                <a:spcPts val="0"/>
              </a:spcAft>
              <a:buNone/>
            </a:pPr>
            <a:r>
              <a:rPr b="1" lang="en-US" sz="3799">
                <a:solidFill>
                  <a:srgbClr val="E69138"/>
                </a:solidFill>
                <a:latin typeface="Calibri"/>
                <a:ea typeface="Calibri"/>
                <a:cs typeface="Calibri"/>
                <a:sym typeface="Calibri"/>
              </a:rPr>
              <a:t>Feedbacks Received Based on Interviews and Testing Sessions:</a:t>
            </a:r>
            <a:endParaRPr/>
          </a:p>
        </p:txBody>
      </p:sp>
      <p:sp>
        <p:nvSpPr>
          <p:cNvPr id="408" name="Google Shape;408;p9"/>
          <p:cNvSpPr txBox="1"/>
          <p:nvPr/>
        </p:nvSpPr>
        <p:spPr>
          <a:xfrm>
            <a:off x="1749074" y="6128600"/>
            <a:ext cx="4278900" cy="2344800"/>
          </a:xfrm>
          <a:prstGeom prst="rect">
            <a:avLst/>
          </a:prstGeom>
          <a:noFill/>
          <a:ln>
            <a:noFill/>
          </a:ln>
        </p:spPr>
        <p:txBody>
          <a:bodyPr anchorCtr="0" anchor="t" bIns="0" lIns="0" spcFirstLastPara="1" rIns="0" wrap="square" tIns="0">
            <a:spAutoFit/>
          </a:bodyPr>
          <a:lstStyle/>
          <a:p>
            <a:pPr indent="0" lvl="0" marL="0" marR="0" rtl="0" algn="ctr">
              <a:lnSpc>
                <a:spcPct val="117900"/>
              </a:lnSpc>
              <a:spcBef>
                <a:spcPts val="0"/>
              </a:spcBef>
              <a:spcAft>
                <a:spcPts val="0"/>
              </a:spcAft>
              <a:buNone/>
            </a:pPr>
            <a:r>
              <a:rPr lang="en-US" sz="1862">
                <a:solidFill>
                  <a:srgbClr val="000000"/>
                </a:solidFill>
                <a:latin typeface="Calibri"/>
                <a:ea typeface="Calibri"/>
                <a:cs typeface="Calibri"/>
                <a:sym typeface="Calibri"/>
              </a:rPr>
              <a:t>Right now we mostly rely on audiobooks, but they don’t help us feel shapes. Geometry books and physical models are also heavy and hard to carry. Your device solves this problem because we can feel different shapes on a single device, and</a:t>
            </a:r>
            <a:endParaRPr sz="1100"/>
          </a:p>
          <a:p>
            <a:pPr indent="0" lvl="0" marL="0" marR="0" rtl="0" algn="ctr">
              <a:lnSpc>
                <a:spcPct val="117900"/>
              </a:lnSpc>
              <a:spcBef>
                <a:spcPts val="0"/>
              </a:spcBef>
              <a:spcAft>
                <a:spcPts val="0"/>
              </a:spcAft>
              <a:buNone/>
            </a:pPr>
            <a:r>
              <a:rPr lang="en-US" sz="2062">
                <a:solidFill>
                  <a:srgbClr val="000000"/>
                </a:solidFill>
                <a:latin typeface="Calibri"/>
                <a:ea typeface="Calibri"/>
                <a:cs typeface="Calibri"/>
                <a:sym typeface="Calibri"/>
              </a:rPr>
              <a:t>it is much easier to carry.</a:t>
            </a:r>
            <a:endParaRPr sz="1300"/>
          </a:p>
        </p:txBody>
      </p:sp>
      <p:sp>
        <p:nvSpPr>
          <p:cNvPr id="409" name="Google Shape;409;p9"/>
          <p:cNvSpPr txBox="1"/>
          <p:nvPr/>
        </p:nvSpPr>
        <p:spPr>
          <a:xfrm>
            <a:off x="7133450" y="5897925"/>
            <a:ext cx="4713000" cy="2458500"/>
          </a:xfrm>
          <a:prstGeom prst="rect">
            <a:avLst/>
          </a:prstGeom>
          <a:noFill/>
          <a:ln>
            <a:noFill/>
          </a:ln>
        </p:spPr>
        <p:txBody>
          <a:bodyPr anchorCtr="0" anchor="t" bIns="0" lIns="0" spcFirstLastPara="1" rIns="0" wrap="square" tIns="0">
            <a:normAutofit/>
          </a:bodyPr>
          <a:lstStyle/>
          <a:p>
            <a:pPr indent="0" lvl="0" marL="0" marR="0" rtl="0" algn="ctr">
              <a:lnSpc>
                <a:spcPct val="115000"/>
              </a:lnSpc>
              <a:spcBef>
                <a:spcPts val="0"/>
              </a:spcBef>
              <a:spcAft>
                <a:spcPts val="0"/>
              </a:spcAft>
              <a:buNone/>
            </a:pPr>
            <a:r>
              <a:rPr lang="en-US" sz="1842">
                <a:solidFill>
                  <a:srgbClr val="000000"/>
                </a:solidFill>
                <a:latin typeface="Calibri"/>
                <a:ea typeface="Calibri"/>
                <a:cs typeface="Calibri"/>
                <a:sym typeface="Calibri"/>
              </a:rPr>
              <a:t>This product helps us imagine shapes in our mind. For ex- it helps us understand how A looks, how a triangle feels, or what other figures are like. For blind students, it is very helpful because it allows us to connect more with what we are studying. With this device, understanding shapes and figures becomes much easier.</a:t>
            </a:r>
            <a:endParaRPr sz="1200"/>
          </a:p>
        </p:txBody>
      </p:sp>
      <p:sp>
        <p:nvSpPr>
          <p:cNvPr id="410" name="Google Shape;410;p9"/>
          <p:cNvSpPr txBox="1"/>
          <p:nvPr/>
        </p:nvSpPr>
        <p:spPr>
          <a:xfrm>
            <a:off x="12951913" y="6257475"/>
            <a:ext cx="4042500" cy="2360700"/>
          </a:xfrm>
          <a:prstGeom prst="rect">
            <a:avLst/>
          </a:prstGeom>
          <a:noFill/>
          <a:ln>
            <a:noFill/>
          </a:ln>
        </p:spPr>
        <p:txBody>
          <a:bodyPr anchorCtr="0" anchor="t" bIns="0" lIns="0" spcFirstLastPara="1" rIns="0" wrap="square" tIns="0">
            <a:normAutofit/>
          </a:bodyPr>
          <a:lstStyle/>
          <a:p>
            <a:pPr indent="0" lvl="0" marL="0" marR="0" rtl="0" algn="ctr">
              <a:lnSpc>
                <a:spcPct val="118358"/>
              </a:lnSpc>
              <a:spcBef>
                <a:spcPts val="0"/>
              </a:spcBef>
              <a:spcAft>
                <a:spcPts val="0"/>
              </a:spcAft>
              <a:buNone/>
            </a:pPr>
            <a:r>
              <a:rPr lang="en-US" sz="1817">
                <a:solidFill>
                  <a:srgbClr val="000000"/>
                </a:solidFill>
                <a:latin typeface="Calibri"/>
                <a:ea typeface="Calibri"/>
                <a:cs typeface="Calibri"/>
                <a:sym typeface="Calibri"/>
              </a:rPr>
              <a:t>The device feels a bit large right now. If the size could be reduced, it would be better because then we could feel the whole image using just our palm. That would make it more comfortable and easier to use.</a:t>
            </a:r>
            <a:endParaRPr sz="1000"/>
          </a:p>
        </p:txBody>
      </p:sp>
      <p:sp>
        <p:nvSpPr>
          <p:cNvPr id="411" name="Google Shape;411;p9"/>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0"/>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417" name="Google Shape;417;p10"/>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418" name="Google Shape;418;p10"/>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grpSp>
        <p:nvGrpSpPr>
          <p:cNvPr id="419" name="Google Shape;419;p10"/>
          <p:cNvGrpSpPr/>
          <p:nvPr/>
        </p:nvGrpSpPr>
        <p:grpSpPr>
          <a:xfrm>
            <a:off x="131089" y="197155"/>
            <a:ext cx="411477" cy="592837"/>
            <a:chOff x="63500" y="63500"/>
            <a:chExt cx="411479" cy="592837"/>
          </a:xfrm>
        </p:grpSpPr>
        <p:sp>
          <p:nvSpPr>
            <p:cNvPr id="420" name="Google Shape;420;p10"/>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0"/>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0"/>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0"/>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0"/>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427" name="Google Shape;427;p10"/>
          <p:cNvGrpSpPr/>
          <p:nvPr/>
        </p:nvGrpSpPr>
        <p:grpSpPr>
          <a:xfrm>
            <a:off x="12183339" y="7617"/>
            <a:ext cx="6095997" cy="1492628"/>
            <a:chOff x="63500" y="63500"/>
            <a:chExt cx="6096000" cy="1492634"/>
          </a:xfrm>
        </p:grpSpPr>
        <p:sp>
          <p:nvSpPr>
            <p:cNvPr id="428" name="Google Shape;428;p10"/>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429" name="Google Shape;429;p10"/>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430" name="Google Shape;430;p10"/>
          <p:cNvSpPr txBox="1"/>
          <p:nvPr/>
        </p:nvSpPr>
        <p:spPr>
          <a:xfrm>
            <a:off x="7119428" y="479736"/>
            <a:ext cx="3091372" cy="54111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Video of the MVP</a:t>
            </a:r>
            <a:endParaRPr/>
          </a:p>
        </p:txBody>
      </p:sp>
      <p:sp>
        <p:nvSpPr>
          <p:cNvPr id="431" name="Google Shape;431;p10"/>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pic>
        <p:nvPicPr>
          <p:cNvPr id="432" name="Google Shape;432;p10" title="mq3.png">
            <a:hlinkClick r:id="rId5"/>
          </p:cNvPr>
          <p:cNvPicPr preferRelativeResize="0"/>
          <p:nvPr/>
        </p:nvPicPr>
        <p:blipFill rotWithShape="1">
          <a:blip r:embed="rId6">
            <a:alphaModFix/>
          </a:blip>
          <a:srcRect b="40" l="0" r="0" t="40"/>
          <a:stretch/>
        </p:blipFill>
        <p:spPr>
          <a:xfrm>
            <a:off x="3653314" y="2057400"/>
            <a:ext cx="10981373" cy="6172200"/>
          </a:xfrm>
          <a:prstGeom prst="rect">
            <a:avLst/>
          </a:prstGeom>
          <a:noFill/>
          <a:ln>
            <a:noFill/>
          </a:ln>
        </p:spPr>
      </p:pic>
      <p:sp>
        <p:nvSpPr>
          <p:cNvPr id="433" name="Google Shape;433;p10">
            <a:hlinkClick r:id="rId7"/>
          </p:cNvPr>
          <p:cNvSpPr txBox="1"/>
          <p:nvPr/>
        </p:nvSpPr>
        <p:spPr>
          <a:xfrm>
            <a:off x="6699175" y="8786748"/>
            <a:ext cx="914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hlink"/>
                </a:solidFill>
                <a:latin typeface="Calibri"/>
                <a:ea typeface="Calibri"/>
                <a:cs typeface="Calibri"/>
                <a:sym typeface="Calibri"/>
                <a:hlinkClick r:id="rId8"/>
              </a:rPr>
              <a:t>New Hardware - VIISAR(1080p, h264).mp4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1"/>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439" name="Google Shape;439;p11"/>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440" name="Google Shape;440;p11"/>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441" name="Google Shape;441;p11"/>
          <p:cNvSpPr/>
          <p:nvPr/>
        </p:nvSpPr>
        <p:spPr>
          <a:xfrm>
            <a:off x="17829667" y="4646252"/>
            <a:ext cx="452245" cy="2345304"/>
          </a:xfrm>
          <a:custGeom>
            <a:rect b="b" l="l" r="r" t="t"/>
            <a:pathLst>
              <a:path extrusionOk="0" h="2345311" w="452242">
                <a:moveTo>
                  <a:pt x="0" y="0"/>
                </a:moveTo>
                <a:lnTo>
                  <a:pt x="0" y="2345311"/>
                </a:lnTo>
                <a:lnTo>
                  <a:pt x="452242" y="2345311"/>
                </a:lnTo>
                <a:lnTo>
                  <a:pt x="452242" y="0"/>
                </a:lnTo>
                <a:close/>
              </a:path>
            </a:pathLst>
          </a:custGeom>
          <a:solidFill>
            <a:srgbClr val="E69138"/>
          </a:solidFill>
          <a:ln>
            <a:noFill/>
          </a:ln>
        </p:spPr>
      </p:sp>
      <p:grpSp>
        <p:nvGrpSpPr>
          <p:cNvPr id="442" name="Google Shape;442;p11"/>
          <p:cNvGrpSpPr/>
          <p:nvPr/>
        </p:nvGrpSpPr>
        <p:grpSpPr>
          <a:xfrm>
            <a:off x="131089" y="197155"/>
            <a:ext cx="411477" cy="592837"/>
            <a:chOff x="63500" y="63500"/>
            <a:chExt cx="411479" cy="592837"/>
          </a:xfrm>
        </p:grpSpPr>
        <p:sp>
          <p:nvSpPr>
            <p:cNvPr id="443" name="Google Shape;443;p11"/>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450" name="Google Shape;450;p11"/>
          <p:cNvGrpSpPr/>
          <p:nvPr/>
        </p:nvGrpSpPr>
        <p:grpSpPr>
          <a:xfrm>
            <a:off x="12183339" y="7617"/>
            <a:ext cx="6095997" cy="1492628"/>
            <a:chOff x="63500" y="63500"/>
            <a:chExt cx="6096000" cy="1492634"/>
          </a:xfrm>
        </p:grpSpPr>
        <p:sp>
          <p:nvSpPr>
            <p:cNvPr id="451" name="Google Shape;451;p11"/>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452" name="Google Shape;452;p11"/>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453" name="Google Shape;453;p11"/>
          <p:cNvSpPr txBox="1"/>
          <p:nvPr/>
        </p:nvSpPr>
        <p:spPr>
          <a:xfrm>
            <a:off x="5961311" y="414642"/>
            <a:ext cx="5712842"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Current Solutions vs Existing Gaps​</a:t>
            </a:r>
            <a:endParaRPr/>
          </a:p>
        </p:txBody>
      </p:sp>
      <p:sp>
        <p:nvSpPr>
          <p:cNvPr id="454" name="Google Shape;454;p11"/>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cxnSp>
        <p:nvCxnSpPr>
          <p:cNvPr id="455" name="Google Shape;455;p11"/>
          <p:cNvCxnSpPr/>
          <p:nvPr/>
        </p:nvCxnSpPr>
        <p:spPr>
          <a:xfrm>
            <a:off x="1747555" y="2546027"/>
            <a:ext cx="14140354" cy="0"/>
          </a:xfrm>
          <a:prstGeom prst="straightConnector1">
            <a:avLst/>
          </a:prstGeom>
          <a:noFill/>
          <a:ln cap="flat" cmpd="sng" w="38100">
            <a:solidFill>
              <a:srgbClr val="FF7755"/>
            </a:solidFill>
            <a:prstDash val="solid"/>
            <a:round/>
            <a:headEnd len="sm" w="sm" type="none"/>
            <a:tailEnd len="sm" w="sm" type="none"/>
          </a:ln>
        </p:spPr>
      </p:cxnSp>
      <p:sp>
        <p:nvSpPr>
          <p:cNvPr id="456" name="Google Shape;456;p11"/>
          <p:cNvSpPr txBox="1"/>
          <p:nvPr/>
        </p:nvSpPr>
        <p:spPr>
          <a:xfrm>
            <a:off x="2009790" y="1812575"/>
            <a:ext cx="994544" cy="56198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lang="en-US" sz="2999">
                <a:solidFill>
                  <a:srgbClr val="424242"/>
                </a:solidFill>
                <a:latin typeface="Calibri"/>
                <a:ea typeface="Calibri"/>
                <a:cs typeface="Calibri"/>
                <a:sym typeface="Calibri"/>
              </a:rPr>
              <a:t>Factor</a:t>
            </a:r>
            <a:endParaRPr/>
          </a:p>
        </p:txBody>
      </p:sp>
      <p:sp>
        <p:nvSpPr>
          <p:cNvPr id="457" name="Google Shape;457;p11"/>
          <p:cNvSpPr txBox="1"/>
          <p:nvPr/>
        </p:nvSpPr>
        <p:spPr>
          <a:xfrm>
            <a:off x="5608232" y="1812575"/>
            <a:ext cx="1294135" cy="56198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lang="en-US" sz="2999">
                <a:solidFill>
                  <a:srgbClr val="424242"/>
                </a:solidFill>
                <a:latin typeface="Calibri"/>
                <a:ea typeface="Calibri"/>
                <a:cs typeface="Calibri"/>
                <a:sym typeface="Calibri"/>
              </a:rPr>
              <a:t>Graphiti</a:t>
            </a:r>
            <a:endParaRPr/>
          </a:p>
        </p:txBody>
      </p:sp>
      <p:sp>
        <p:nvSpPr>
          <p:cNvPr id="458" name="Google Shape;458;p11"/>
          <p:cNvSpPr txBox="1"/>
          <p:nvPr/>
        </p:nvSpPr>
        <p:spPr>
          <a:xfrm>
            <a:off x="8718770" y="1812575"/>
            <a:ext cx="1258267" cy="56198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lang="en-US" sz="2999">
                <a:solidFill>
                  <a:srgbClr val="424242"/>
                </a:solidFill>
                <a:latin typeface="Calibri"/>
                <a:ea typeface="Calibri"/>
                <a:cs typeface="Calibri"/>
                <a:sym typeface="Calibri"/>
              </a:rPr>
              <a:t>Dot Pad</a:t>
            </a:r>
            <a:endParaRPr/>
          </a:p>
        </p:txBody>
      </p:sp>
      <p:sp>
        <p:nvSpPr>
          <p:cNvPr id="459" name="Google Shape;459;p11"/>
          <p:cNvSpPr txBox="1"/>
          <p:nvPr/>
        </p:nvSpPr>
        <p:spPr>
          <a:xfrm>
            <a:off x="12400790" y="1812575"/>
            <a:ext cx="1534046" cy="56198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lang="en-US" sz="2999">
                <a:solidFill>
                  <a:srgbClr val="424242"/>
                </a:solidFill>
                <a:latin typeface="Calibri"/>
                <a:ea typeface="Calibri"/>
                <a:cs typeface="Calibri"/>
                <a:sym typeface="Calibri"/>
              </a:rPr>
              <a:t>BrailleMe</a:t>
            </a:r>
            <a:endParaRPr/>
          </a:p>
        </p:txBody>
      </p:sp>
      <p:sp>
        <p:nvSpPr>
          <p:cNvPr id="460" name="Google Shape;460;p11"/>
          <p:cNvSpPr txBox="1"/>
          <p:nvPr/>
        </p:nvSpPr>
        <p:spPr>
          <a:xfrm>
            <a:off x="1765140" y="2924582"/>
            <a:ext cx="23475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Cost accessibility</a:t>
            </a:r>
            <a:endParaRPr/>
          </a:p>
        </p:txBody>
      </p:sp>
      <p:sp>
        <p:nvSpPr>
          <p:cNvPr id="461" name="Google Shape;461;p11"/>
          <p:cNvSpPr txBox="1"/>
          <p:nvPr/>
        </p:nvSpPr>
        <p:spPr>
          <a:xfrm>
            <a:off x="1765153" y="3672440"/>
            <a:ext cx="25254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Multi-line support</a:t>
            </a:r>
            <a:endParaRPr/>
          </a:p>
        </p:txBody>
      </p:sp>
      <p:sp>
        <p:nvSpPr>
          <p:cNvPr id="462" name="Google Shape;462;p11"/>
          <p:cNvSpPr txBox="1"/>
          <p:nvPr/>
        </p:nvSpPr>
        <p:spPr>
          <a:xfrm>
            <a:off x="1765153" y="4403972"/>
            <a:ext cx="2220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STEM suitability</a:t>
            </a:r>
            <a:endParaRPr/>
          </a:p>
        </p:txBody>
      </p:sp>
      <p:sp>
        <p:nvSpPr>
          <p:cNvPr id="463" name="Google Shape;463;p11"/>
          <p:cNvSpPr txBox="1"/>
          <p:nvPr/>
        </p:nvSpPr>
        <p:spPr>
          <a:xfrm>
            <a:off x="1765153" y="5135504"/>
            <a:ext cx="21594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Tactile graphics</a:t>
            </a:r>
            <a:endParaRPr/>
          </a:p>
        </p:txBody>
      </p:sp>
      <p:sp>
        <p:nvSpPr>
          <p:cNvPr id="464" name="Google Shape;464;p11"/>
          <p:cNvSpPr txBox="1"/>
          <p:nvPr/>
        </p:nvSpPr>
        <p:spPr>
          <a:xfrm>
            <a:off x="1765153" y="6805579"/>
            <a:ext cx="28368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Local manufacturing</a:t>
            </a:r>
            <a:endParaRPr/>
          </a:p>
        </p:txBody>
      </p:sp>
      <p:sp>
        <p:nvSpPr>
          <p:cNvPr id="465" name="Google Shape;465;p11"/>
          <p:cNvSpPr txBox="1"/>
          <p:nvPr/>
        </p:nvSpPr>
        <p:spPr>
          <a:xfrm>
            <a:off x="1765153" y="5867037"/>
            <a:ext cx="14427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Portability</a:t>
            </a:r>
            <a:endParaRPr/>
          </a:p>
        </p:txBody>
      </p:sp>
      <p:sp>
        <p:nvSpPr>
          <p:cNvPr id="466" name="Google Shape;466;p11"/>
          <p:cNvSpPr txBox="1"/>
          <p:nvPr/>
        </p:nvSpPr>
        <p:spPr>
          <a:xfrm>
            <a:off x="1725851" y="8256900"/>
            <a:ext cx="3120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Open-source scalability</a:t>
            </a:r>
            <a:endParaRPr/>
          </a:p>
        </p:txBody>
      </p:sp>
      <p:sp>
        <p:nvSpPr>
          <p:cNvPr id="467" name="Google Shape;467;p11"/>
          <p:cNvSpPr txBox="1"/>
          <p:nvPr/>
        </p:nvSpPr>
        <p:spPr>
          <a:xfrm>
            <a:off x="1725853" y="8995751"/>
            <a:ext cx="20241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Best suited for</a:t>
            </a:r>
            <a:endParaRPr/>
          </a:p>
        </p:txBody>
      </p:sp>
      <p:sp>
        <p:nvSpPr>
          <p:cNvPr id="468" name="Google Shape;468;p11"/>
          <p:cNvSpPr txBox="1"/>
          <p:nvPr/>
        </p:nvSpPr>
        <p:spPr>
          <a:xfrm>
            <a:off x="1765153" y="7518061"/>
            <a:ext cx="1749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Repairability</a:t>
            </a:r>
            <a:endParaRPr/>
          </a:p>
        </p:txBody>
      </p:sp>
      <p:sp>
        <p:nvSpPr>
          <p:cNvPr id="469" name="Google Shape;469;p11"/>
          <p:cNvSpPr txBox="1"/>
          <p:nvPr/>
        </p:nvSpPr>
        <p:spPr>
          <a:xfrm>
            <a:off x="5403872" y="2912625"/>
            <a:ext cx="27009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Low ( ~$20,000 USD)</a:t>
            </a:r>
            <a:endParaRPr/>
          </a:p>
        </p:txBody>
      </p:sp>
      <p:sp>
        <p:nvSpPr>
          <p:cNvPr id="470" name="Google Shape;470;p11"/>
          <p:cNvSpPr txBox="1"/>
          <p:nvPr/>
        </p:nvSpPr>
        <p:spPr>
          <a:xfrm>
            <a:off x="8790934" y="2912625"/>
            <a:ext cx="28368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Low ( ~$10,000 USD)</a:t>
            </a:r>
            <a:endParaRPr/>
          </a:p>
        </p:txBody>
      </p:sp>
      <p:sp>
        <p:nvSpPr>
          <p:cNvPr id="471" name="Google Shape;471;p11"/>
          <p:cNvSpPr txBox="1"/>
          <p:nvPr/>
        </p:nvSpPr>
        <p:spPr>
          <a:xfrm>
            <a:off x="12368977" y="2912625"/>
            <a:ext cx="31209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High (~ $1,000 USD)</a:t>
            </a:r>
            <a:endParaRPr/>
          </a:p>
        </p:txBody>
      </p:sp>
      <p:sp>
        <p:nvSpPr>
          <p:cNvPr id="472" name="Google Shape;472;p11"/>
          <p:cNvSpPr txBox="1"/>
          <p:nvPr/>
        </p:nvSpPr>
        <p:spPr>
          <a:xfrm>
            <a:off x="5403876" y="3644166"/>
            <a:ext cx="706156"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Yes</a:t>
            </a:r>
            <a:endParaRPr/>
          </a:p>
        </p:txBody>
      </p:sp>
      <p:sp>
        <p:nvSpPr>
          <p:cNvPr id="473" name="Google Shape;473;p11"/>
          <p:cNvSpPr txBox="1"/>
          <p:nvPr/>
        </p:nvSpPr>
        <p:spPr>
          <a:xfrm>
            <a:off x="8790922" y="3634679"/>
            <a:ext cx="706156"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Yes</a:t>
            </a:r>
            <a:endParaRPr/>
          </a:p>
        </p:txBody>
      </p:sp>
      <p:sp>
        <p:nvSpPr>
          <p:cNvPr id="474" name="Google Shape;474;p11"/>
          <p:cNvSpPr txBox="1"/>
          <p:nvPr/>
        </p:nvSpPr>
        <p:spPr>
          <a:xfrm>
            <a:off x="12368944" y="3634679"/>
            <a:ext cx="4115339"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No, mainly 20-cell single-line</a:t>
            </a:r>
            <a:endParaRPr/>
          </a:p>
        </p:txBody>
      </p:sp>
      <p:sp>
        <p:nvSpPr>
          <p:cNvPr id="475" name="Google Shape;475;p11"/>
          <p:cNvSpPr txBox="1"/>
          <p:nvPr/>
        </p:nvSpPr>
        <p:spPr>
          <a:xfrm>
            <a:off x="5403876" y="4375698"/>
            <a:ext cx="299698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Strong but expensive</a:t>
            </a:r>
            <a:endParaRPr/>
          </a:p>
        </p:txBody>
      </p:sp>
      <p:sp>
        <p:nvSpPr>
          <p:cNvPr id="476" name="Google Shape;476;p11"/>
          <p:cNvSpPr txBox="1"/>
          <p:nvPr/>
        </p:nvSpPr>
        <p:spPr>
          <a:xfrm>
            <a:off x="8817732" y="4385223"/>
            <a:ext cx="2960907"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Strong but expensive</a:t>
            </a:r>
            <a:endParaRPr/>
          </a:p>
        </p:txBody>
      </p:sp>
      <p:sp>
        <p:nvSpPr>
          <p:cNvPr id="477" name="Google Shape;477;p11"/>
          <p:cNvSpPr txBox="1"/>
          <p:nvPr/>
        </p:nvSpPr>
        <p:spPr>
          <a:xfrm>
            <a:off x="12368944" y="4356686"/>
            <a:ext cx="137356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Limited</a:t>
            </a:r>
            <a:endParaRPr/>
          </a:p>
        </p:txBody>
      </p:sp>
      <p:sp>
        <p:nvSpPr>
          <p:cNvPr id="478" name="Google Shape;478;p11"/>
          <p:cNvSpPr txBox="1"/>
          <p:nvPr/>
        </p:nvSpPr>
        <p:spPr>
          <a:xfrm>
            <a:off x="12368944" y="5107860"/>
            <a:ext cx="299698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Weak / not primary</a:t>
            </a:r>
            <a:endParaRPr/>
          </a:p>
        </p:txBody>
      </p:sp>
      <p:sp>
        <p:nvSpPr>
          <p:cNvPr id="479" name="Google Shape;479;p11"/>
          <p:cNvSpPr txBox="1"/>
          <p:nvPr/>
        </p:nvSpPr>
        <p:spPr>
          <a:xfrm>
            <a:off x="8850521" y="5107231"/>
            <a:ext cx="850460"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Story</a:t>
            </a:r>
            <a:endParaRPr/>
          </a:p>
        </p:txBody>
      </p:sp>
      <p:sp>
        <p:nvSpPr>
          <p:cNvPr id="480" name="Google Shape;480;p11"/>
          <p:cNvSpPr txBox="1"/>
          <p:nvPr/>
        </p:nvSpPr>
        <p:spPr>
          <a:xfrm>
            <a:off x="5403876" y="5088181"/>
            <a:ext cx="1052805"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Strong</a:t>
            </a:r>
            <a:endParaRPr/>
          </a:p>
        </p:txBody>
      </p:sp>
      <p:sp>
        <p:nvSpPr>
          <p:cNvPr id="481" name="Google Shape;481;p11"/>
          <p:cNvSpPr txBox="1"/>
          <p:nvPr/>
        </p:nvSpPr>
        <p:spPr>
          <a:xfrm>
            <a:off x="8850521" y="5822895"/>
            <a:ext cx="3120900" cy="794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400">
                <a:solidFill>
                  <a:srgbClr val="000000"/>
                </a:solidFill>
                <a:latin typeface="Calibri"/>
                <a:ea typeface="Calibri"/>
                <a:cs typeface="Calibri"/>
                <a:sym typeface="Calibri"/>
              </a:rPr>
              <a:t>Medium; Dot Pad X is more tablet-like</a:t>
            </a:r>
            <a:endParaRPr/>
          </a:p>
        </p:txBody>
      </p:sp>
      <p:sp>
        <p:nvSpPr>
          <p:cNvPr id="482" name="Google Shape;482;p11"/>
          <p:cNvSpPr txBox="1"/>
          <p:nvPr/>
        </p:nvSpPr>
        <p:spPr>
          <a:xfrm>
            <a:off x="5403876" y="5838763"/>
            <a:ext cx="1467680"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Medium</a:t>
            </a:r>
            <a:endParaRPr/>
          </a:p>
        </p:txBody>
      </p:sp>
      <p:sp>
        <p:nvSpPr>
          <p:cNvPr id="483" name="Google Shape;483;p11"/>
          <p:cNvSpPr txBox="1"/>
          <p:nvPr/>
        </p:nvSpPr>
        <p:spPr>
          <a:xfrm>
            <a:off x="12400790" y="5822895"/>
            <a:ext cx="764197"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High</a:t>
            </a:r>
            <a:endParaRPr/>
          </a:p>
        </p:txBody>
      </p:sp>
      <p:sp>
        <p:nvSpPr>
          <p:cNvPr id="484" name="Google Shape;484;p11"/>
          <p:cNvSpPr txBox="1"/>
          <p:nvPr/>
        </p:nvSpPr>
        <p:spPr>
          <a:xfrm>
            <a:off x="5403876" y="6798279"/>
            <a:ext cx="1467680"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Low</a:t>
            </a:r>
            <a:endParaRPr/>
          </a:p>
        </p:txBody>
      </p:sp>
      <p:sp>
        <p:nvSpPr>
          <p:cNvPr id="485" name="Google Shape;485;p11"/>
          <p:cNvSpPr txBox="1"/>
          <p:nvPr/>
        </p:nvSpPr>
        <p:spPr>
          <a:xfrm>
            <a:off x="12400790" y="6727446"/>
            <a:ext cx="3650159" cy="443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Medium, India-origin product</a:t>
            </a:r>
            <a:endParaRPr/>
          </a:p>
        </p:txBody>
      </p:sp>
      <p:sp>
        <p:nvSpPr>
          <p:cNvPr id="486" name="Google Shape;486;p11"/>
          <p:cNvSpPr txBox="1"/>
          <p:nvPr/>
        </p:nvSpPr>
        <p:spPr>
          <a:xfrm>
            <a:off x="8790896" y="6878274"/>
            <a:ext cx="7062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Low</a:t>
            </a:r>
            <a:endParaRPr/>
          </a:p>
        </p:txBody>
      </p:sp>
      <p:sp>
        <p:nvSpPr>
          <p:cNvPr id="487" name="Google Shape;487;p11"/>
          <p:cNvSpPr txBox="1"/>
          <p:nvPr/>
        </p:nvSpPr>
        <p:spPr>
          <a:xfrm>
            <a:off x="5403876" y="7508844"/>
            <a:ext cx="1932087" cy="443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000000"/>
                </a:solidFill>
                <a:latin typeface="Calibri"/>
                <a:ea typeface="Calibri"/>
                <a:cs typeface="Calibri"/>
                <a:sym typeface="Calibri"/>
              </a:rPr>
              <a:t>Low to medium</a:t>
            </a:r>
            <a:endParaRPr/>
          </a:p>
        </p:txBody>
      </p:sp>
      <p:sp>
        <p:nvSpPr>
          <p:cNvPr id="488" name="Google Shape;488;p11"/>
          <p:cNvSpPr txBox="1"/>
          <p:nvPr/>
        </p:nvSpPr>
        <p:spPr>
          <a:xfrm>
            <a:off x="8850521" y="7508844"/>
            <a:ext cx="2173039"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Low to medium</a:t>
            </a:r>
            <a:endParaRPr/>
          </a:p>
        </p:txBody>
      </p:sp>
      <p:sp>
        <p:nvSpPr>
          <p:cNvPr id="489" name="Google Shape;489;p11"/>
          <p:cNvSpPr txBox="1"/>
          <p:nvPr/>
        </p:nvSpPr>
        <p:spPr>
          <a:xfrm>
            <a:off x="12400790" y="7476111"/>
            <a:ext cx="1467680"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Medium</a:t>
            </a:r>
            <a:endParaRPr/>
          </a:p>
        </p:txBody>
      </p:sp>
      <p:sp>
        <p:nvSpPr>
          <p:cNvPr id="490" name="Google Shape;490;p11"/>
          <p:cNvSpPr txBox="1"/>
          <p:nvPr/>
        </p:nvSpPr>
        <p:spPr>
          <a:xfrm>
            <a:off x="12368944" y="8308352"/>
            <a:ext cx="137356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Limited</a:t>
            </a:r>
            <a:endParaRPr/>
          </a:p>
        </p:txBody>
      </p:sp>
      <p:sp>
        <p:nvSpPr>
          <p:cNvPr id="491" name="Google Shape;491;p11"/>
          <p:cNvSpPr txBox="1"/>
          <p:nvPr/>
        </p:nvSpPr>
        <p:spPr>
          <a:xfrm>
            <a:off x="8869896" y="8308352"/>
            <a:ext cx="137356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Limited</a:t>
            </a:r>
            <a:endParaRPr/>
          </a:p>
        </p:txBody>
      </p:sp>
      <p:sp>
        <p:nvSpPr>
          <p:cNvPr id="492" name="Google Shape;492;p11"/>
          <p:cNvSpPr txBox="1"/>
          <p:nvPr/>
        </p:nvSpPr>
        <p:spPr>
          <a:xfrm>
            <a:off x="5403876" y="8308352"/>
            <a:ext cx="1373563" cy="4438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Limited</a:t>
            </a:r>
            <a:endParaRPr/>
          </a:p>
        </p:txBody>
      </p:sp>
      <p:sp>
        <p:nvSpPr>
          <p:cNvPr id="493" name="Google Shape;493;p11"/>
          <p:cNvSpPr txBox="1"/>
          <p:nvPr/>
        </p:nvSpPr>
        <p:spPr>
          <a:xfrm>
            <a:off x="5335926" y="9031000"/>
            <a:ext cx="28368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000000"/>
                </a:solidFill>
                <a:latin typeface="Calibri"/>
                <a:ea typeface="Calibri"/>
                <a:cs typeface="Calibri"/>
                <a:sym typeface="Calibri"/>
              </a:rPr>
              <a:t>Premium institutions</a:t>
            </a:r>
            <a:endParaRPr/>
          </a:p>
        </p:txBody>
      </p:sp>
      <p:sp>
        <p:nvSpPr>
          <p:cNvPr id="494" name="Google Shape;494;p11"/>
          <p:cNvSpPr txBox="1"/>
          <p:nvPr/>
        </p:nvSpPr>
        <p:spPr>
          <a:xfrm>
            <a:off x="8784121" y="9030998"/>
            <a:ext cx="2700900" cy="772200"/>
          </a:xfrm>
          <a:prstGeom prst="rect">
            <a:avLst/>
          </a:prstGeom>
          <a:noFill/>
          <a:ln>
            <a:noFill/>
          </a:ln>
        </p:spPr>
        <p:txBody>
          <a:bodyPr anchorCtr="0" anchor="t" bIns="0" lIns="0" spcFirstLastPara="1" rIns="0" wrap="square" tIns="0">
            <a:spAutoFit/>
          </a:bodyPr>
          <a:lstStyle/>
          <a:p>
            <a:pPr indent="0" lvl="0" marL="0" marR="0" rtl="0" algn="l">
              <a:lnSpc>
                <a:spcPct val="109000"/>
              </a:lnSpc>
              <a:spcBef>
                <a:spcPts val="0"/>
              </a:spcBef>
              <a:spcAft>
                <a:spcPts val="0"/>
              </a:spcAft>
              <a:buNone/>
            </a:pPr>
            <a:r>
              <a:rPr lang="en-US" sz="2400">
                <a:solidFill>
                  <a:srgbClr val="000000"/>
                </a:solidFill>
                <a:latin typeface="Calibri"/>
                <a:ea typeface="Calibri"/>
                <a:cs typeface="Calibri"/>
                <a:sym typeface="Calibri"/>
              </a:rPr>
              <a:t>Premium accessibility labs / institutions</a:t>
            </a:r>
            <a:endParaRPr/>
          </a:p>
        </p:txBody>
      </p:sp>
      <p:sp>
        <p:nvSpPr>
          <p:cNvPr id="495" name="Google Shape;495;p11"/>
          <p:cNvSpPr txBox="1"/>
          <p:nvPr/>
        </p:nvSpPr>
        <p:spPr>
          <a:xfrm>
            <a:off x="12340432" y="9098199"/>
            <a:ext cx="3054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400">
                <a:solidFill>
                  <a:srgbClr val="000000"/>
                </a:solidFill>
                <a:latin typeface="Calibri"/>
                <a:ea typeface="Calibri"/>
                <a:cs typeface="Calibri"/>
                <a:sym typeface="Calibri"/>
              </a:rPr>
              <a:t>Individual Braille readers</a:t>
            </a:r>
            <a:endParaRPr/>
          </a:p>
        </p:txBody>
      </p:sp>
      <p:cxnSp>
        <p:nvCxnSpPr>
          <p:cNvPr id="496" name="Google Shape;496;p11"/>
          <p:cNvCxnSpPr/>
          <p:nvPr/>
        </p:nvCxnSpPr>
        <p:spPr>
          <a:xfrm rot="10800000">
            <a:off x="4846677" y="1694152"/>
            <a:ext cx="0" cy="8406424"/>
          </a:xfrm>
          <a:prstGeom prst="straightConnector1">
            <a:avLst/>
          </a:prstGeom>
          <a:noFill/>
          <a:ln cap="flat" cmpd="sng" w="38100">
            <a:solidFill>
              <a:srgbClr val="FF7755"/>
            </a:solidFill>
            <a:prstDash val="solid"/>
            <a:round/>
            <a:headEnd len="sm" w="sm" type="none"/>
            <a:tailEnd len="sm" w="sm" type="none"/>
          </a:ln>
        </p:spPr>
      </p:cxnSp>
      <p:cxnSp>
        <p:nvCxnSpPr>
          <p:cNvPr id="497" name="Google Shape;497;p11"/>
          <p:cNvCxnSpPr/>
          <p:nvPr/>
        </p:nvCxnSpPr>
        <p:spPr>
          <a:xfrm rot="10800000">
            <a:off x="8316918" y="1705408"/>
            <a:ext cx="0" cy="8406424"/>
          </a:xfrm>
          <a:prstGeom prst="straightConnector1">
            <a:avLst/>
          </a:prstGeom>
          <a:noFill/>
          <a:ln cap="flat" cmpd="sng" w="38100">
            <a:solidFill>
              <a:srgbClr val="FF7755"/>
            </a:solidFill>
            <a:prstDash val="solid"/>
            <a:round/>
            <a:headEnd len="sm" w="sm" type="none"/>
            <a:tailEnd len="sm" w="sm" type="none"/>
          </a:ln>
        </p:spPr>
      </p:cxnSp>
      <p:cxnSp>
        <p:nvCxnSpPr>
          <p:cNvPr id="498" name="Google Shape;498;p11"/>
          <p:cNvCxnSpPr/>
          <p:nvPr/>
        </p:nvCxnSpPr>
        <p:spPr>
          <a:xfrm rot="10800000">
            <a:off x="11952224" y="1694152"/>
            <a:ext cx="0" cy="8406424"/>
          </a:xfrm>
          <a:prstGeom prst="straightConnector1">
            <a:avLst/>
          </a:prstGeom>
          <a:noFill/>
          <a:ln cap="flat" cmpd="sng" w="38100">
            <a:solidFill>
              <a:srgbClr val="FF7755"/>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2"/>
          <p:cNvSpPr/>
          <p:nvPr/>
        </p:nvSpPr>
        <p:spPr>
          <a:xfrm>
            <a:off x="12183485" y="7563"/>
            <a:ext cx="6095905" cy="1492568"/>
          </a:xfrm>
          <a:custGeom>
            <a:rect b="b" l="l" r="r" t="t"/>
            <a:pathLst>
              <a:path extrusionOk="0" h="1990090" w="8127873">
                <a:moveTo>
                  <a:pt x="0" y="0"/>
                </a:moveTo>
                <a:lnTo>
                  <a:pt x="8127873" y="0"/>
                </a:lnTo>
                <a:lnTo>
                  <a:pt x="8127873" y="1990090"/>
                </a:lnTo>
                <a:lnTo>
                  <a:pt x="0" y="1990090"/>
                </a:lnTo>
                <a:close/>
              </a:path>
            </a:pathLst>
          </a:custGeom>
          <a:solidFill>
            <a:srgbClr val="FFFFFF"/>
          </a:solidFill>
          <a:ln>
            <a:noFill/>
          </a:ln>
        </p:spPr>
      </p:sp>
      <p:sp>
        <p:nvSpPr>
          <p:cNvPr id="504" name="Google Shape;504;p12"/>
          <p:cNvSpPr/>
          <p:nvPr/>
        </p:nvSpPr>
        <p:spPr>
          <a:xfrm rot="5356800">
            <a:off x="14772670" y="639637"/>
            <a:ext cx="782859" cy="9525"/>
          </a:xfrm>
          <a:custGeom>
            <a:rect b="b" l="l" r="r" t="t"/>
            <a:pathLst>
              <a:path extrusionOk="0" h="12700" w="1043813">
                <a:moveTo>
                  <a:pt x="0" y="0"/>
                </a:moveTo>
                <a:lnTo>
                  <a:pt x="1043813" y="12700"/>
                </a:lnTo>
              </a:path>
            </a:pathLst>
          </a:custGeom>
          <a:blipFill rotWithShape="1">
            <a:blip r:embed="rId3">
              <a:alphaModFix amt="0"/>
            </a:blip>
            <a:stretch>
              <a:fillRect b="-1551538" l="0" r="-1" t="-1551538"/>
            </a:stretch>
          </a:blipFill>
          <a:ln cap="sq" cmpd="sng" w="9525">
            <a:solidFill>
              <a:srgbClr val="000000"/>
            </a:solidFill>
            <a:prstDash val="solid"/>
            <a:miter lim="8000"/>
            <a:headEnd len="sm" w="sm" type="none"/>
            <a:tailEnd len="sm" w="sm" type="none"/>
          </a:ln>
        </p:spPr>
      </p:sp>
      <p:sp>
        <p:nvSpPr>
          <p:cNvPr id="505" name="Google Shape;505;p12"/>
          <p:cNvSpPr/>
          <p:nvPr/>
        </p:nvSpPr>
        <p:spPr>
          <a:xfrm>
            <a:off x="15366959" y="-27356"/>
            <a:ext cx="2708243" cy="1527524"/>
          </a:xfrm>
          <a:custGeom>
            <a:rect b="b" l="l" r="r" t="t"/>
            <a:pathLst>
              <a:path extrusionOk="0" h="2036699" w="3610991">
                <a:moveTo>
                  <a:pt x="0" y="0"/>
                </a:moveTo>
                <a:lnTo>
                  <a:pt x="3610991" y="0"/>
                </a:lnTo>
                <a:lnTo>
                  <a:pt x="3610991" y="2036699"/>
                </a:lnTo>
                <a:lnTo>
                  <a:pt x="0" y="2036699"/>
                </a:lnTo>
                <a:lnTo>
                  <a:pt x="0" y="0"/>
                </a:lnTo>
                <a:close/>
              </a:path>
            </a:pathLst>
          </a:custGeom>
          <a:blipFill rotWithShape="1">
            <a:blip r:embed="rId4">
              <a:alphaModFix/>
            </a:blip>
            <a:stretch>
              <a:fillRect b="-86" l="0" r="0" t="-86"/>
            </a:stretch>
          </a:blipFill>
          <a:ln>
            <a:noFill/>
          </a:ln>
        </p:spPr>
      </p:sp>
      <p:sp>
        <p:nvSpPr>
          <p:cNvPr id="506" name="Google Shape;506;p12"/>
          <p:cNvSpPr/>
          <p:nvPr/>
        </p:nvSpPr>
        <p:spPr>
          <a:xfrm>
            <a:off x="12738240" y="-81724"/>
            <a:ext cx="2576131" cy="1487900"/>
          </a:xfrm>
          <a:custGeom>
            <a:rect b="b" l="l" r="r" t="t"/>
            <a:pathLst>
              <a:path extrusionOk="0" h="1983867" w="3434842">
                <a:moveTo>
                  <a:pt x="0" y="0"/>
                </a:moveTo>
                <a:lnTo>
                  <a:pt x="3434842" y="0"/>
                </a:lnTo>
                <a:lnTo>
                  <a:pt x="3434842" y="1983867"/>
                </a:lnTo>
                <a:lnTo>
                  <a:pt x="0" y="1983867"/>
                </a:lnTo>
                <a:lnTo>
                  <a:pt x="0" y="0"/>
                </a:lnTo>
                <a:close/>
              </a:path>
            </a:pathLst>
          </a:custGeom>
          <a:blipFill rotWithShape="1">
            <a:blip r:embed="rId5">
              <a:alphaModFix/>
            </a:blip>
            <a:stretch>
              <a:fillRect b="-215" l="0" r="0" t="-215"/>
            </a:stretch>
          </a:blipFill>
          <a:ln>
            <a:noFill/>
          </a:ln>
        </p:spPr>
      </p:sp>
      <p:grpSp>
        <p:nvGrpSpPr>
          <p:cNvPr id="507" name="Google Shape;507;p12"/>
          <p:cNvGrpSpPr/>
          <p:nvPr/>
        </p:nvGrpSpPr>
        <p:grpSpPr>
          <a:xfrm>
            <a:off x="761003" y="148742"/>
            <a:ext cx="11231978" cy="1459494"/>
            <a:chOff x="-692933" y="0"/>
            <a:chExt cx="14975970" cy="1945992"/>
          </a:xfrm>
        </p:grpSpPr>
        <p:sp>
          <p:nvSpPr>
            <p:cNvPr id="508" name="Google Shape;508;p12"/>
            <p:cNvSpPr/>
            <p:nvPr/>
          </p:nvSpPr>
          <p:spPr>
            <a:xfrm>
              <a:off x="0" y="0"/>
              <a:ext cx="14283037" cy="1811361"/>
            </a:xfrm>
            <a:custGeom>
              <a:rect b="b" l="l" r="r" t="t"/>
              <a:pathLst>
                <a:path extrusionOk="0" h="1811361" w="14283037">
                  <a:moveTo>
                    <a:pt x="0" y="0"/>
                  </a:moveTo>
                  <a:lnTo>
                    <a:pt x="14283037" y="0"/>
                  </a:lnTo>
                  <a:lnTo>
                    <a:pt x="14283037" y="1811361"/>
                  </a:lnTo>
                  <a:lnTo>
                    <a:pt x="0" y="1811361"/>
                  </a:lnTo>
                  <a:close/>
                </a:path>
              </a:pathLst>
            </a:custGeom>
            <a:blipFill rotWithShape="1">
              <a:blip r:embed="rId3">
                <a:alphaModFix amt="0"/>
              </a:blip>
              <a:stretch>
                <a:fillRect b="-103380" l="0" r="0" t="-103906"/>
              </a:stretch>
            </a:blipFill>
            <a:ln>
              <a:noFill/>
            </a:ln>
          </p:spPr>
        </p:sp>
        <p:sp>
          <p:nvSpPr>
            <p:cNvPr id="509" name="Google Shape;509;p12"/>
            <p:cNvSpPr txBox="1"/>
            <p:nvPr/>
          </p:nvSpPr>
          <p:spPr>
            <a:xfrm>
              <a:off x="-692933" y="144192"/>
              <a:ext cx="14283000" cy="1801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5200">
                  <a:latin typeface="Catamaran"/>
                  <a:ea typeface="Catamaran"/>
                  <a:cs typeface="Catamaran"/>
                  <a:sym typeface="Catamaran"/>
                </a:rPr>
                <a:t>Introducing Viisar:</a:t>
              </a:r>
              <a:endParaRPr/>
            </a:p>
          </p:txBody>
        </p:sp>
      </p:grpSp>
      <p:sp>
        <p:nvSpPr>
          <p:cNvPr id="510" name="Google Shape;510;p12"/>
          <p:cNvSpPr/>
          <p:nvPr/>
        </p:nvSpPr>
        <p:spPr>
          <a:xfrm>
            <a:off x="11395558" y="3471486"/>
            <a:ext cx="6679597" cy="4392167"/>
          </a:xfrm>
          <a:custGeom>
            <a:rect b="b" l="l" r="r" t="t"/>
            <a:pathLst>
              <a:path extrusionOk="0" h="5856224" w="8906129">
                <a:moveTo>
                  <a:pt x="0" y="0"/>
                </a:moveTo>
                <a:lnTo>
                  <a:pt x="8906129" y="0"/>
                </a:lnTo>
                <a:lnTo>
                  <a:pt x="8906129" y="5856224"/>
                </a:lnTo>
                <a:lnTo>
                  <a:pt x="0" y="5856224"/>
                </a:lnTo>
                <a:lnTo>
                  <a:pt x="0" y="0"/>
                </a:lnTo>
                <a:close/>
              </a:path>
            </a:pathLst>
          </a:custGeom>
          <a:blipFill rotWithShape="1">
            <a:blip r:embed="rId6">
              <a:alphaModFix/>
            </a:blip>
            <a:stretch>
              <a:fillRect b="-7029" l="0" r="0" t="-7029"/>
            </a:stretch>
          </a:blipFill>
          <a:ln>
            <a:noFill/>
          </a:ln>
        </p:spPr>
      </p:sp>
      <p:sp>
        <p:nvSpPr>
          <p:cNvPr id="511" name="Google Shape;511;p12"/>
          <p:cNvSpPr/>
          <p:nvPr/>
        </p:nvSpPr>
        <p:spPr>
          <a:xfrm>
            <a:off x="761009" y="1532677"/>
            <a:ext cx="9915192" cy="2557720"/>
          </a:xfrm>
          <a:custGeom>
            <a:rect b="b" l="l" r="r" t="t"/>
            <a:pathLst>
              <a:path extrusionOk="0" h="2557720" w="9915192">
                <a:moveTo>
                  <a:pt x="0" y="0"/>
                </a:moveTo>
                <a:lnTo>
                  <a:pt x="9915192" y="0"/>
                </a:lnTo>
                <a:lnTo>
                  <a:pt x="9915192" y="2557720"/>
                </a:lnTo>
                <a:lnTo>
                  <a:pt x="0" y="2557720"/>
                </a:lnTo>
                <a:lnTo>
                  <a:pt x="0" y="0"/>
                </a:lnTo>
                <a:close/>
              </a:path>
            </a:pathLst>
          </a:custGeom>
          <a:blipFill rotWithShape="1">
            <a:blip r:embed="rId7">
              <a:alphaModFix/>
            </a:blip>
            <a:stretch>
              <a:fillRect b="0" l="0" r="0" t="0"/>
            </a:stretch>
          </a:blipFill>
          <a:ln>
            <a:noFill/>
          </a:ln>
        </p:spPr>
      </p:sp>
      <p:sp>
        <p:nvSpPr>
          <p:cNvPr id="512" name="Google Shape;512;p12"/>
          <p:cNvSpPr/>
          <p:nvPr/>
        </p:nvSpPr>
        <p:spPr>
          <a:xfrm>
            <a:off x="761009" y="4119277"/>
            <a:ext cx="9915192" cy="2476986"/>
          </a:xfrm>
          <a:custGeom>
            <a:rect b="b" l="l" r="r" t="t"/>
            <a:pathLst>
              <a:path extrusionOk="0" h="2476986" w="9915192">
                <a:moveTo>
                  <a:pt x="0" y="0"/>
                </a:moveTo>
                <a:lnTo>
                  <a:pt x="9915192" y="0"/>
                </a:lnTo>
                <a:lnTo>
                  <a:pt x="9915192" y="2476986"/>
                </a:lnTo>
                <a:lnTo>
                  <a:pt x="0" y="2476986"/>
                </a:lnTo>
                <a:lnTo>
                  <a:pt x="0" y="0"/>
                </a:lnTo>
                <a:close/>
              </a:path>
            </a:pathLst>
          </a:custGeom>
          <a:blipFill rotWithShape="1">
            <a:blip r:embed="rId8">
              <a:alphaModFix/>
            </a:blip>
            <a:stretch>
              <a:fillRect b="0" l="0" r="0" t="0"/>
            </a:stretch>
          </a:blipFill>
          <a:ln>
            <a:noFill/>
          </a:ln>
        </p:spPr>
      </p:sp>
      <p:sp>
        <p:nvSpPr>
          <p:cNvPr id="513" name="Google Shape;513;p12"/>
          <p:cNvSpPr/>
          <p:nvPr/>
        </p:nvSpPr>
        <p:spPr>
          <a:xfrm>
            <a:off x="761009" y="6625133"/>
            <a:ext cx="9915192" cy="2476986"/>
          </a:xfrm>
          <a:custGeom>
            <a:rect b="b" l="l" r="r" t="t"/>
            <a:pathLst>
              <a:path extrusionOk="0" h="2476986" w="9915192">
                <a:moveTo>
                  <a:pt x="0" y="0"/>
                </a:moveTo>
                <a:lnTo>
                  <a:pt x="9915192" y="0"/>
                </a:lnTo>
                <a:lnTo>
                  <a:pt x="9915192" y="2476986"/>
                </a:lnTo>
                <a:lnTo>
                  <a:pt x="0" y="2476986"/>
                </a:lnTo>
                <a:lnTo>
                  <a:pt x="0" y="0"/>
                </a:lnTo>
                <a:close/>
              </a:path>
            </a:pathLst>
          </a:custGeom>
          <a:blipFill rotWithShape="1">
            <a:blip r:embed="rId9">
              <a:alphaModFix/>
            </a:blip>
            <a:stretch>
              <a:fillRect b="0" l="0" r="0" t="0"/>
            </a:stretch>
          </a:blipFill>
          <a:ln>
            <a:noFill/>
          </a:ln>
        </p:spPr>
      </p:sp>
      <p:sp>
        <p:nvSpPr>
          <p:cNvPr id="514" name="Google Shape;514;p12"/>
          <p:cNvSpPr/>
          <p:nvPr/>
        </p:nvSpPr>
        <p:spPr>
          <a:xfrm>
            <a:off x="15983741" y="8566128"/>
            <a:ext cx="2304259" cy="2726941"/>
          </a:xfrm>
          <a:custGeom>
            <a:rect b="b" l="l" r="r" t="t"/>
            <a:pathLst>
              <a:path extrusionOk="0" h="2726941" w="2304259">
                <a:moveTo>
                  <a:pt x="0" y="0"/>
                </a:moveTo>
                <a:lnTo>
                  <a:pt x="2304259" y="0"/>
                </a:lnTo>
                <a:lnTo>
                  <a:pt x="2304259" y="2726941"/>
                </a:lnTo>
                <a:lnTo>
                  <a:pt x="0" y="2726941"/>
                </a:lnTo>
                <a:lnTo>
                  <a:pt x="0" y="0"/>
                </a:lnTo>
                <a:close/>
              </a:path>
            </a:pathLst>
          </a:custGeom>
          <a:blipFill rotWithShape="1">
            <a:blip r:embed="rId10">
              <a:alphaModFix amt="5000"/>
            </a:blip>
            <a:stretch>
              <a:fillRect b="-106" l="0" r="0" t="-106"/>
            </a:stretch>
          </a:blipFill>
          <a:ln>
            <a:noFill/>
          </a:ln>
        </p:spPr>
      </p:sp>
      <p:sp>
        <p:nvSpPr>
          <p:cNvPr id="515" name="Google Shape;515;p12"/>
          <p:cNvSpPr txBox="1"/>
          <p:nvPr/>
        </p:nvSpPr>
        <p:spPr>
          <a:xfrm>
            <a:off x="1171623" y="2211886"/>
            <a:ext cx="9093900" cy="225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b="1" lang="en-US" sz="2250">
                <a:solidFill>
                  <a:schemeClr val="dk1"/>
                </a:solidFill>
              </a:rPr>
              <a:t>Affordable tactile STEM learning:</a:t>
            </a:r>
            <a:endParaRPr b="1" sz="22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50">
                <a:solidFill>
                  <a:schemeClr val="dk1"/>
                </a:solidFill>
              </a:rPr>
              <a:t>A lightweight, modular refreshable tactile display that converts graphs, geometry, and complex mathematical concepts into touch-based learning.</a:t>
            </a:r>
            <a:endParaRPr sz="2250">
              <a:solidFill>
                <a:schemeClr val="dk1"/>
              </a:solidFill>
            </a:endParaRPr>
          </a:p>
          <a:p>
            <a:pPr indent="0" lvl="0" marL="0" marR="0" rtl="0" algn="ctr">
              <a:lnSpc>
                <a:spcPct val="152979"/>
              </a:lnSpc>
              <a:spcBef>
                <a:spcPts val="1200"/>
              </a:spcBef>
              <a:spcAft>
                <a:spcPts val="0"/>
              </a:spcAft>
              <a:buNone/>
            </a:pPr>
            <a:r>
              <a:t/>
            </a:r>
            <a:endParaRPr sz="2299">
              <a:latin typeface="Helvetica Neue"/>
              <a:ea typeface="Helvetica Neue"/>
              <a:cs typeface="Helvetica Neue"/>
              <a:sym typeface="Helvetica Neue"/>
            </a:endParaRPr>
          </a:p>
        </p:txBody>
      </p:sp>
      <p:sp>
        <p:nvSpPr>
          <p:cNvPr id="516" name="Google Shape;516;p12"/>
          <p:cNvSpPr txBox="1"/>
          <p:nvPr/>
        </p:nvSpPr>
        <p:spPr>
          <a:xfrm>
            <a:off x="1171631" y="4721949"/>
            <a:ext cx="9538200" cy="1647900"/>
          </a:xfrm>
          <a:prstGeom prst="rect">
            <a:avLst/>
          </a:prstGeom>
          <a:noFill/>
          <a:ln>
            <a:noFill/>
          </a:ln>
        </p:spPr>
        <p:txBody>
          <a:bodyPr anchorCtr="0" anchor="t" bIns="0" lIns="0" spcFirstLastPara="1" rIns="0" wrap="square" tIns="0">
            <a:spAutoFit/>
          </a:bodyPr>
          <a:lstStyle/>
          <a:p>
            <a:pPr indent="0" lvl="0" marL="0" marR="0" rtl="0" algn="l">
              <a:lnSpc>
                <a:spcPct val="150021"/>
              </a:lnSpc>
              <a:spcBef>
                <a:spcPts val="0"/>
              </a:spcBef>
              <a:spcAft>
                <a:spcPts val="0"/>
              </a:spcAft>
              <a:buNone/>
            </a:pPr>
            <a:r>
              <a:rPr b="1" lang="en-US" sz="2299">
                <a:latin typeface="Helvetica Neue"/>
                <a:ea typeface="Helvetica Neue"/>
                <a:cs typeface="Helvetica Neue"/>
                <a:sym typeface="Helvetica Neue"/>
              </a:rPr>
              <a:t>Built for </a:t>
            </a:r>
            <a:r>
              <a:rPr b="1" lang="en-US" sz="2299">
                <a:latin typeface="Helvetica Neue"/>
                <a:ea typeface="Helvetica Neue"/>
                <a:cs typeface="Helvetica Neue"/>
                <a:sym typeface="Helvetica Neue"/>
              </a:rPr>
              <a:t>accessibility</a:t>
            </a:r>
            <a:r>
              <a:rPr b="1" lang="en-US" sz="2299">
                <a:latin typeface="Helvetica Neue"/>
                <a:ea typeface="Helvetica Neue"/>
                <a:cs typeface="Helvetica Neue"/>
                <a:sym typeface="Helvetica Neue"/>
              </a:rPr>
              <a:t> and portability:</a:t>
            </a:r>
            <a:endParaRPr b="1" sz="2299">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US" sz="2199">
                <a:solidFill>
                  <a:srgbClr val="000000"/>
                </a:solidFill>
                <a:latin typeface="Helvetica Neue"/>
                <a:ea typeface="Helvetica Neue"/>
                <a:cs typeface="Helvetica Neue"/>
                <a:sym typeface="Helvetica Neue"/>
              </a:rPr>
              <a:t>It directly solves the affordability, multi-line display, and portability gaps—making Braille and STEM content accessible to millions of visually impaired learners and professionals at a fraction of the cost.</a:t>
            </a:r>
            <a:endParaRPr sz="1300"/>
          </a:p>
        </p:txBody>
      </p:sp>
      <p:sp>
        <p:nvSpPr>
          <p:cNvPr id="517" name="Google Shape;517;p12"/>
          <p:cNvSpPr txBox="1"/>
          <p:nvPr/>
        </p:nvSpPr>
        <p:spPr>
          <a:xfrm>
            <a:off x="1171625" y="7223388"/>
            <a:ext cx="9348900" cy="1662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250">
                <a:solidFill>
                  <a:schemeClr val="dk1"/>
                </a:solidFill>
              </a:rPr>
              <a:t>Scalable and cost-effective:</a:t>
            </a:r>
            <a:endParaRPr b="1" sz="2250">
              <a:solidFill>
                <a:schemeClr val="dk1"/>
              </a:solidFill>
            </a:endParaRPr>
          </a:p>
          <a:p>
            <a:pPr indent="0" lvl="0" marL="0" marR="0" rtl="0" algn="l">
              <a:lnSpc>
                <a:spcPct val="115000"/>
              </a:lnSpc>
              <a:spcBef>
                <a:spcPts val="0"/>
              </a:spcBef>
              <a:spcAft>
                <a:spcPts val="0"/>
              </a:spcAft>
              <a:buNone/>
            </a:pPr>
            <a:r>
              <a:rPr lang="en-US" sz="2250">
                <a:solidFill>
                  <a:schemeClr val="dk1"/>
                </a:solidFill>
              </a:rPr>
              <a:t>Reduces the cost of tactile display technology from </a:t>
            </a:r>
            <a:r>
              <a:rPr b="1" lang="en-US" sz="2250">
                <a:solidFill>
                  <a:schemeClr val="dk1"/>
                </a:solidFill>
              </a:rPr>
              <a:t>$10,000–$20,000 to $500–$1,500</a:t>
            </a:r>
            <a:r>
              <a:rPr lang="en-US" sz="2250">
                <a:solidFill>
                  <a:schemeClr val="dk1"/>
                </a:solidFill>
              </a:rPr>
              <a:t>, while enabling local manufacturing, repair, and open-source scalability.</a:t>
            </a:r>
            <a:endParaRPr sz="22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4"/>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523" name="Google Shape;523;p14"/>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524" name="Google Shape;524;p14"/>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525" name="Google Shape;525;p14"/>
          <p:cNvSpPr/>
          <p:nvPr/>
        </p:nvSpPr>
        <p:spPr>
          <a:xfrm>
            <a:off x="10248929" y="4382376"/>
            <a:ext cx="6749015" cy="143580"/>
          </a:xfrm>
          <a:custGeom>
            <a:rect b="b" l="l" r="r" t="t"/>
            <a:pathLst>
              <a:path extrusionOk="0" h="143580" w="6749015">
                <a:moveTo>
                  <a:pt x="0" y="0"/>
                </a:moveTo>
                <a:lnTo>
                  <a:pt x="6749015" y="0"/>
                </a:lnTo>
                <a:lnTo>
                  <a:pt x="6749015" y="143580"/>
                </a:lnTo>
                <a:lnTo>
                  <a:pt x="0" y="143580"/>
                </a:lnTo>
                <a:lnTo>
                  <a:pt x="0" y="0"/>
                </a:lnTo>
                <a:close/>
              </a:path>
            </a:pathLst>
          </a:custGeom>
          <a:blipFill rotWithShape="1">
            <a:blip r:embed="rId5">
              <a:alphaModFix/>
            </a:blip>
            <a:stretch>
              <a:fillRect b="0" l="0" r="0" t="0"/>
            </a:stretch>
          </a:blipFill>
          <a:ln>
            <a:noFill/>
          </a:ln>
        </p:spPr>
      </p:sp>
      <p:sp>
        <p:nvSpPr>
          <p:cNvPr id="526" name="Google Shape;526;p14"/>
          <p:cNvSpPr/>
          <p:nvPr/>
        </p:nvSpPr>
        <p:spPr>
          <a:xfrm>
            <a:off x="10298631" y="5205530"/>
            <a:ext cx="325413" cy="275287"/>
          </a:xfrm>
          <a:custGeom>
            <a:rect b="b" l="l" r="r" t="t"/>
            <a:pathLst>
              <a:path extrusionOk="0" h="275290" w="325413">
                <a:moveTo>
                  <a:pt x="2196" y="27067"/>
                </a:moveTo>
                <a:cubicBezTo>
                  <a:pt x="18579" y="50182"/>
                  <a:pt x="35724" y="72788"/>
                  <a:pt x="52741" y="95394"/>
                </a:cubicBezTo>
                <a:cubicBezTo>
                  <a:pt x="60996" y="106316"/>
                  <a:pt x="69251" y="117111"/>
                  <a:pt x="77506" y="128034"/>
                </a:cubicBezTo>
                <a:cubicBezTo>
                  <a:pt x="82967" y="135146"/>
                  <a:pt x="90333" y="142512"/>
                  <a:pt x="94270" y="150767"/>
                </a:cubicBezTo>
                <a:cubicBezTo>
                  <a:pt x="93762" y="148735"/>
                  <a:pt x="93127" y="146703"/>
                  <a:pt x="92619" y="144671"/>
                </a:cubicBezTo>
                <a:cubicBezTo>
                  <a:pt x="92492" y="143147"/>
                  <a:pt x="94016" y="142385"/>
                  <a:pt x="92365" y="144798"/>
                </a:cubicBezTo>
                <a:cubicBezTo>
                  <a:pt x="91349" y="146449"/>
                  <a:pt x="90206" y="148100"/>
                  <a:pt x="89190" y="150005"/>
                </a:cubicBezTo>
                <a:cubicBezTo>
                  <a:pt x="85507" y="155847"/>
                  <a:pt x="81951" y="161816"/>
                  <a:pt x="78268" y="167531"/>
                </a:cubicBezTo>
                <a:cubicBezTo>
                  <a:pt x="68743" y="183025"/>
                  <a:pt x="59091" y="198392"/>
                  <a:pt x="49439" y="214014"/>
                </a:cubicBezTo>
                <a:cubicBezTo>
                  <a:pt x="42581" y="224936"/>
                  <a:pt x="35343" y="235604"/>
                  <a:pt x="28993" y="246780"/>
                </a:cubicBezTo>
                <a:cubicBezTo>
                  <a:pt x="20484" y="261766"/>
                  <a:pt x="31914" y="279927"/>
                  <a:pt x="49693" y="274212"/>
                </a:cubicBezTo>
                <a:cubicBezTo>
                  <a:pt x="69632" y="267862"/>
                  <a:pt x="89190" y="259099"/>
                  <a:pt x="108875" y="251606"/>
                </a:cubicBezTo>
                <a:cubicBezTo>
                  <a:pt x="143418" y="238398"/>
                  <a:pt x="177962" y="225190"/>
                  <a:pt x="212505" y="211982"/>
                </a:cubicBezTo>
                <a:cubicBezTo>
                  <a:pt x="240826" y="201186"/>
                  <a:pt x="269146" y="190391"/>
                  <a:pt x="297467" y="179469"/>
                </a:cubicBezTo>
                <a:cubicBezTo>
                  <a:pt x="302674" y="177437"/>
                  <a:pt x="308008" y="175532"/>
                  <a:pt x="313088" y="173500"/>
                </a:cubicBezTo>
                <a:cubicBezTo>
                  <a:pt x="329217" y="167150"/>
                  <a:pt x="329344" y="147338"/>
                  <a:pt x="314485" y="139718"/>
                </a:cubicBezTo>
                <a:cubicBezTo>
                  <a:pt x="263812" y="113809"/>
                  <a:pt x="211616" y="90695"/>
                  <a:pt x="160309" y="66184"/>
                </a:cubicBezTo>
                <a:cubicBezTo>
                  <a:pt x="129194" y="51325"/>
                  <a:pt x="98080" y="36592"/>
                  <a:pt x="66965" y="21733"/>
                </a:cubicBezTo>
                <a:cubicBezTo>
                  <a:pt x="52995" y="15002"/>
                  <a:pt x="39025" y="7382"/>
                  <a:pt x="24548" y="1540"/>
                </a:cubicBezTo>
                <a:cubicBezTo>
                  <a:pt x="7657" y="-5318"/>
                  <a:pt x="-5043" y="12081"/>
                  <a:pt x="2196" y="27067"/>
                </a:cubicBezTo>
                <a:cubicBezTo>
                  <a:pt x="9054" y="41165"/>
                  <a:pt x="30009" y="28845"/>
                  <a:pt x="23278" y="14748"/>
                </a:cubicBezTo>
                <a:cubicBezTo>
                  <a:pt x="23024" y="14113"/>
                  <a:pt x="22643" y="13478"/>
                  <a:pt x="22389" y="12970"/>
                </a:cubicBezTo>
                <a:cubicBezTo>
                  <a:pt x="22897" y="15002"/>
                  <a:pt x="23532" y="17034"/>
                  <a:pt x="24040" y="19066"/>
                </a:cubicBezTo>
                <a:cubicBezTo>
                  <a:pt x="23405" y="20209"/>
                  <a:pt x="22770" y="21352"/>
                  <a:pt x="22135" y="22495"/>
                </a:cubicBezTo>
                <a:cubicBezTo>
                  <a:pt x="20103" y="23003"/>
                  <a:pt x="18071" y="23638"/>
                  <a:pt x="16039" y="24146"/>
                </a:cubicBezTo>
                <a:cubicBezTo>
                  <a:pt x="14642" y="24273"/>
                  <a:pt x="12483" y="22368"/>
                  <a:pt x="15658" y="23892"/>
                </a:cubicBezTo>
                <a:cubicBezTo>
                  <a:pt x="17309" y="24654"/>
                  <a:pt x="18960" y="25416"/>
                  <a:pt x="20865" y="26305"/>
                </a:cubicBezTo>
                <a:cubicBezTo>
                  <a:pt x="27215" y="29353"/>
                  <a:pt x="33565" y="32401"/>
                  <a:pt x="40041" y="35449"/>
                </a:cubicBezTo>
                <a:cubicBezTo>
                  <a:pt x="60996" y="45483"/>
                  <a:pt x="81951" y="55389"/>
                  <a:pt x="102906" y="65422"/>
                </a:cubicBezTo>
                <a:cubicBezTo>
                  <a:pt x="153324" y="89552"/>
                  <a:pt x="203869" y="113555"/>
                  <a:pt x="254288" y="137686"/>
                </a:cubicBezTo>
                <a:cubicBezTo>
                  <a:pt x="269273" y="144798"/>
                  <a:pt x="284259" y="152037"/>
                  <a:pt x="299118" y="159149"/>
                </a:cubicBezTo>
                <a:cubicBezTo>
                  <a:pt x="300388" y="159784"/>
                  <a:pt x="302293" y="161181"/>
                  <a:pt x="303690" y="161308"/>
                </a:cubicBezTo>
                <a:cubicBezTo>
                  <a:pt x="308389" y="161816"/>
                  <a:pt x="304833" y="149370"/>
                  <a:pt x="307119" y="150005"/>
                </a:cubicBezTo>
                <a:cubicBezTo>
                  <a:pt x="305087" y="149497"/>
                  <a:pt x="299118" y="153053"/>
                  <a:pt x="297340" y="153815"/>
                </a:cubicBezTo>
                <a:cubicBezTo>
                  <a:pt x="252002" y="171214"/>
                  <a:pt x="206663" y="188486"/>
                  <a:pt x="161325" y="205886"/>
                </a:cubicBezTo>
                <a:cubicBezTo>
                  <a:pt x="136306" y="215411"/>
                  <a:pt x="111287" y="225063"/>
                  <a:pt x="86269" y="234588"/>
                </a:cubicBezTo>
                <a:cubicBezTo>
                  <a:pt x="72553" y="239795"/>
                  <a:pt x="57313" y="243986"/>
                  <a:pt x="44359" y="250590"/>
                </a:cubicBezTo>
                <a:cubicBezTo>
                  <a:pt x="43470" y="250971"/>
                  <a:pt x="42962" y="251098"/>
                  <a:pt x="42200" y="250971"/>
                </a:cubicBezTo>
                <a:cubicBezTo>
                  <a:pt x="44232" y="251479"/>
                  <a:pt x="46264" y="252114"/>
                  <a:pt x="48296" y="252622"/>
                </a:cubicBezTo>
                <a:cubicBezTo>
                  <a:pt x="71156" y="263290"/>
                  <a:pt x="46645" y="262782"/>
                  <a:pt x="49820" y="260242"/>
                </a:cubicBezTo>
                <a:cubicBezTo>
                  <a:pt x="50201" y="259988"/>
                  <a:pt x="50455" y="258972"/>
                  <a:pt x="50836" y="258591"/>
                </a:cubicBezTo>
                <a:cubicBezTo>
                  <a:pt x="52360" y="256559"/>
                  <a:pt x="53630" y="254146"/>
                  <a:pt x="54900" y="251987"/>
                </a:cubicBezTo>
                <a:cubicBezTo>
                  <a:pt x="59345" y="245002"/>
                  <a:pt x="63663" y="237890"/>
                  <a:pt x="67981" y="230905"/>
                </a:cubicBezTo>
                <a:cubicBezTo>
                  <a:pt x="79030" y="213125"/>
                  <a:pt x="90079" y="195344"/>
                  <a:pt x="101001" y="177691"/>
                </a:cubicBezTo>
                <a:cubicBezTo>
                  <a:pt x="107351" y="167277"/>
                  <a:pt x="121447" y="151783"/>
                  <a:pt x="115478" y="138829"/>
                </a:cubicBezTo>
                <a:cubicBezTo>
                  <a:pt x="112176" y="131590"/>
                  <a:pt x="105446" y="125113"/>
                  <a:pt x="100747" y="118762"/>
                </a:cubicBezTo>
                <a:cubicBezTo>
                  <a:pt x="93127" y="108729"/>
                  <a:pt x="85380" y="98569"/>
                  <a:pt x="77887" y="88536"/>
                </a:cubicBezTo>
                <a:cubicBezTo>
                  <a:pt x="59472" y="64279"/>
                  <a:pt x="41057" y="40021"/>
                  <a:pt x="23405" y="15129"/>
                </a:cubicBezTo>
                <a:cubicBezTo>
                  <a:pt x="14261" y="2429"/>
                  <a:pt x="-6821" y="14494"/>
                  <a:pt x="2196" y="2732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4"/>
          <p:cNvSpPr/>
          <p:nvPr/>
        </p:nvSpPr>
        <p:spPr>
          <a:xfrm>
            <a:off x="10297319" y="6191432"/>
            <a:ext cx="325413" cy="275290"/>
          </a:xfrm>
          <a:custGeom>
            <a:rect b="b" l="l" r="r" t="t"/>
            <a:pathLst>
              <a:path extrusionOk="0" h="275290" w="325413">
                <a:moveTo>
                  <a:pt x="2196" y="27067"/>
                </a:moveTo>
                <a:cubicBezTo>
                  <a:pt x="18579" y="50182"/>
                  <a:pt x="35724" y="72788"/>
                  <a:pt x="52741" y="95394"/>
                </a:cubicBezTo>
                <a:cubicBezTo>
                  <a:pt x="60996" y="106316"/>
                  <a:pt x="69251" y="117111"/>
                  <a:pt x="77506" y="128034"/>
                </a:cubicBezTo>
                <a:cubicBezTo>
                  <a:pt x="82967" y="135146"/>
                  <a:pt x="90333" y="142512"/>
                  <a:pt x="94270" y="150767"/>
                </a:cubicBezTo>
                <a:cubicBezTo>
                  <a:pt x="93762" y="148735"/>
                  <a:pt x="93127" y="146703"/>
                  <a:pt x="92619" y="144671"/>
                </a:cubicBezTo>
                <a:cubicBezTo>
                  <a:pt x="92492" y="143147"/>
                  <a:pt x="94016" y="142385"/>
                  <a:pt x="92365" y="144798"/>
                </a:cubicBezTo>
                <a:cubicBezTo>
                  <a:pt x="91349" y="146449"/>
                  <a:pt x="90206" y="148100"/>
                  <a:pt x="89190" y="150005"/>
                </a:cubicBezTo>
                <a:cubicBezTo>
                  <a:pt x="85507" y="155847"/>
                  <a:pt x="81951" y="161816"/>
                  <a:pt x="78268" y="167531"/>
                </a:cubicBezTo>
                <a:cubicBezTo>
                  <a:pt x="68743" y="183025"/>
                  <a:pt x="59091" y="198392"/>
                  <a:pt x="49439" y="214014"/>
                </a:cubicBezTo>
                <a:cubicBezTo>
                  <a:pt x="42581" y="224936"/>
                  <a:pt x="35343" y="235604"/>
                  <a:pt x="28993" y="246780"/>
                </a:cubicBezTo>
                <a:cubicBezTo>
                  <a:pt x="20484" y="261766"/>
                  <a:pt x="31914" y="279927"/>
                  <a:pt x="49693" y="274212"/>
                </a:cubicBezTo>
                <a:cubicBezTo>
                  <a:pt x="69632" y="267862"/>
                  <a:pt x="89190" y="259099"/>
                  <a:pt x="108875" y="251606"/>
                </a:cubicBezTo>
                <a:cubicBezTo>
                  <a:pt x="143418" y="238398"/>
                  <a:pt x="177962" y="225190"/>
                  <a:pt x="212505" y="211982"/>
                </a:cubicBezTo>
                <a:cubicBezTo>
                  <a:pt x="240826" y="201186"/>
                  <a:pt x="269146" y="190391"/>
                  <a:pt x="297467" y="179469"/>
                </a:cubicBezTo>
                <a:cubicBezTo>
                  <a:pt x="302674" y="177437"/>
                  <a:pt x="308008" y="175532"/>
                  <a:pt x="313088" y="173500"/>
                </a:cubicBezTo>
                <a:cubicBezTo>
                  <a:pt x="329217" y="167150"/>
                  <a:pt x="329344" y="147338"/>
                  <a:pt x="314485" y="139718"/>
                </a:cubicBezTo>
                <a:cubicBezTo>
                  <a:pt x="263812" y="113809"/>
                  <a:pt x="211616" y="90695"/>
                  <a:pt x="160309" y="66184"/>
                </a:cubicBezTo>
                <a:cubicBezTo>
                  <a:pt x="129194" y="51325"/>
                  <a:pt x="98080" y="36592"/>
                  <a:pt x="66965" y="21733"/>
                </a:cubicBezTo>
                <a:cubicBezTo>
                  <a:pt x="52995" y="15002"/>
                  <a:pt x="39025" y="7382"/>
                  <a:pt x="24548" y="1540"/>
                </a:cubicBezTo>
                <a:cubicBezTo>
                  <a:pt x="7657" y="-5318"/>
                  <a:pt x="-5043" y="12081"/>
                  <a:pt x="2196" y="27067"/>
                </a:cubicBezTo>
                <a:cubicBezTo>
                  <a:pt x="9054" y="41165"/>
                  <a:pt x="30009" y="28845"/>
                  <a:pt x="23278" y="14748"/>
                </a:cubicBezTo>
                <a:cubicBezTo>
                  <a:pt x="23024" y="14113"/>
                  <a:pt x="22643" y="13478"/>
                  <a:pt x="22389" y="12970"/>
                </a:cubicBezTo>
                <a:cubicBezTo>
                  <a:pt x="22897" y="15002"/>
                  <a:pt x="23532" y="17034"/>
                  <a:pt x="24040" y="19066"/>
                </a:cubicBezTo>
                <a:cubicBezTo>
                  <a:pt x="23405" y="20209"/>
                  <a:pt x="22770" y="21352"/>
                  <a:pt x="22135" y="22495"/>
                </a:cubicBezTo>
                <a:cubicBezTo>
                  <a:pt x="20103" y="23003"/>
                  <a:pt x="18071" y="23638"/>
                  <a:pt x="16039" y="24146"/>
                </a:cubicBezTo>
                <a:cubicBezTo>
                  <a:pt x="14642" y="24273"/>
                  <a:pt x="12483" y="22368"/>
                  <a:pt x="15658" y="23892"/>
                </a:cubicBezTo>
                <a:cubicBezTo>
                  <a:pt x="17309" y="24654"/>
                  <a:pt x="18960" y="25416"/>
                  <a:pt x="20865" y="26305"/>
                </a:cubicBezTo>
                <a:cubicBezTo>
                  <a:pt x="27215" y="29353"/>
                  <a:pt x="33565" y="32401"/>
                  <a:pt x="40041" y="35449"/>
                </a:cubicBezTo>
                <a:cubicBezTo>
                  <a:pt x="60996" y="45483"/>
                  <a:pt x="81951" y="55389"/>
                  <a:pt x="102906" y="65422"/>
                </a:cubicBezTo>
                <a:cubicBezTo>
                  <a:pt x="153324" y="89552"/>
                  <a:pt x="203869" y="113555"/>
                  <a:pt x="254288" y="137686"/>
                </a:cubicBezTo>
                <a:cubicBezTo>
                  <a:pt x="269273" y="144798"/>
                  <a:pt x="284259" y="152037"/>
                  <a:pt x="299118" y="159149"/>
                </a:cubicBezTo>
                <a:cubicBezTo>
                  <a:pt x="300388" y="159784"/>
                  <a:pt x="302293" y="161181"/>
                  <a:pt x="303690" y="161308"/>
                </a:cubicBezTo>
                <a:cubicBezTo>
                  <a:pt x="308389" y="161816"/>
                  <a:pt x="304833" y="149370"/>
                  <a:pt x="307119" y="150005"/>
                </a:cubicBezTo>
                <a:cubicBezTo>
                  <a:pt x="305087" y="149497"/>
                  <a:pt x="299118" y="153053"/>
                  <a:pt x="297340" y="153815"/>
                </a:cubicBezTo>
                <a:cubicBezTo>
                  <a:pt x="252002" y="171214"/>
                  <a:pt x="206663" y="188486"/>
                  <a:pt x="161325" y="205886"/>
                </a:cubicBezTo>
                <a:cubicBezTo>
                  <a:pt x="136306" y="215411"/>
                  <a:pt x="111287" y="225063"/>
                  <a:pt x="86269" y="234588"/>
                </a:cubicBezTo>
                <a:cubicBezTo>
                  <a:pt x="72553" y="239795"/>
                  <a:pt x="57313" y="243986"/>
                  <a:pt x="44359" y="250590"/>
                </a:cubicBezTo>
                <a:cubicBezTo>
                  <a:pt x="43470" y="250971"/>
                  <a:pt x="42962" y="251098"/>
                  <a:pt x="42200" y="250971"/>
                </a:cubicBezTo>
                <a:cubicBezTo>
                  <a:pt x="44232" y="251479"/>
                  <a:pt x="46264" y="252114"/>
                  <a:pt x="48296" y="252622"/>
                </a:cubicBezTo>
                <a:cubicBezTo>
                  <a:pt x="71156" y="263290"/>
                  <a:pt x="46645" y="262782"/>
                  <a:pt x="49820" y="260242"/>
                </a:cubicBezTo>
                <a:cubicBezTo>
                  <a:pt x="50201" y="259988"/>
                  <a:pt x="50455" y="258972"/>
                  <a:pt x="50836" y="258591"/>
                </a:cubicBezTo>
                <a:cubicBezTo>
                  <a:pt x="52360" y="256559"/>
                  <a:pt x="53630" y="254146"/>
                  <a:pt x="54900" y="251987"/>
                </a:cubicBezTo>
                <a:cubicBezTo>
                  <a:pt x="59345" y="245002"/>
                  <a:pt x="63663" y="237890"/>
                  <a:pt x="67981" y="230905"/>
                </a:cubicBezTo>
                <a:cubicBezTo>
                  <a:pt x="79030" y="213125"/>
                  <a:pt x="90079" y="195344"/>
                  <a:pt x="101001" y="177691"/>
                </a:cubicBezTo>
                <a:cubicBezTo>
                  <a:pt x="107351" y="167277"/>
                  <a:pt x="121447" y="151783"/>
                  <a:pt x="115478" y="138829"/>
                </a:cubicBezTo>
                <a:cubicBezTo>
                  <a:pt x="112176" y="131590"/>
                  <a:pt x="105446" y="125113"/>
                  <a:pt x="100747" y="118762"/>
                </a:cubicBezTo>
                <a:cubicBezTo>
                  <a:pt x="93127" y="108729"/>
                  <a:pt x="85380" y="98569"/>
                  <a:pt x="77887" y="88536"/>
                </a:cubicBezTo>
                <a:cubicBezTo>
                  <a:pt x="59472" y="64279"/>
                  <a:pt x="41057" y="40021"/>
                  <a:pt x="23405" y="15129"/>
                </a:cubicBezTo>
                <a:cubicBezTo>
                  <a:pt x="14261" y="2429"/>
                  <a:pt x="-6821" y="14494"/>
                  <a:pt x="2196" y="2732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10298644" y="7166579"/>
            <a:ext cx="325413" cy="275290"/>
          </a:xfrm>
          <a:custGeom>
            <a:rect b="b" l="l" r="r" t="t"/>
            <a:pathLst>
              <a:path extrusionOk="0" h="275290" w="325413">
                <a:moveTo>
                  <a:pt x="2196" y="27067"/>
                </a:moveTo>
                <a:cubicBezTo>
                  <a:pt x="18579" y="50182"/>
                  <a:pt x="35724" y="72788"/>
                  <a:pt x="52741" y="95394"/>
                </a:cubicBezTo>
                <a:cubicBezTo>
                  <a:pt x="60996" y="106316"/>
                  <a:pt x="69251" y="117111"/>
                  <a:pt x="77506" y="128034"/>
                </a:cubicBezTo>
                <a:cubicBezTo>
                  <a:pt x="82967" y="135146"/>
                  <a:pt x="90333" y="142512"/>
                  <a:pt x="94270" y="150767"/>
                </a:cubicBezTo>
                <a:cubicBezTo>
                  <a:pt x="93762" y="148735"/>
                  <a:pt x="93127" y="146703"/>
                  <a:pt x="92619" y="144671"/>
                </a:cubicBezTo>
                <a:cubicBezTo>
                  <a:pt x="92492" y="143147"/>
                  <a:pt x="94016" y="142385"/>
                  <a:pt x="92365" y="144798"/>
                </a:cubicBezTo>
                <a:cubicBezTo>
                  <a:pt x="91349" y="146449"/>
                  <a:pt x="90206" y="148100"/>
                  <a:pt x="89190" y="150005"/>
                </a:cubicBezTo>
                <a:cubicBezTo>
                  <a:pt x="85507" y="155847"/>
                  <a:pt x="81951" y="161816"/>
                  <a:pt x="78268" y="167531"/>
                </a:cubicBezTo>
                <a:cubicBezTo>
                  <a:pt x="68743" y="183025"/>
                  <a:pt x="59091" y="198392"/>
                  <a:pt x="49439" y="214014"/>
                </a:cubicBezTo>
                <a:cubicBezTo>
                  <a:pt x="42581" y="224936"/>
                  <a:pt x="35343" y="235604"/>
                  <a:pt x="28993" y="246780"/>
                </a:cubicBezTo>
                <a:cubicBezTo>
                  <a:pt x="20484" y="261766"/>
                  <a:pt x="31914" y="279927"/>
                  <a:pt x="49693" y="274212"/>
                </a:cubicBezTo>
                <a:cubicBezTo>
                  <a:pt x="69632" y="267862"/>
                  <a:pt x="89190" y="259099"/>
                  <a:pt x="108875" y="251606"/>
                </a:cubicBezTo>
                <a:cubicBezTo>
                  <a:pt x="143418" y="238398"/>
                  <a:pt x="177962" y="225190"/>
                  <a:pt x="212505" y="211982"/>
                </a:cubicBezTo>
                <a:cubicBezTo>
                  <a:pt x="240826" y="201186"/>
                  <a:pt x="269146" y="190391"/>
                  <a:pt x="297467" y="179469"/>
                </a:cubicBezTo>
                <a:cubicBezTo>
                  <a:pt x="302674" y="177437"/>
                  <a:pt x="308008" y="175532"/>
                  <a:pt x="313088" y="173500"/>
                </a:cubicBezTo>
                <a:cubicBezTo>
                  <a:pt x="329217" y="167150"/>
                  <a:pt x="329344" y="147338"/>
                  <a:pt x="314485" y="139718"/>
                </a:cubicBezTo>
                <a:cubicBezTo>
                  <a:pt x="263812" y="113809"/>
                  <a:pt x="211616" y="90695"/>
                  <a:pt x="160309" y="66184"/>
                </a:cubicBezTo>
                <a:cubicBezTo>
                  <a:pt x="129194" y="51325"/>
                  <a:pt x="98080" y="36592"/>
                  <a:pt x="66965" y="21733"/>
                </a:cubicBezTo>
                <a:cubicBezTo>
                  <a:pt x="52995" y="15002"/>
                  <a:pt x="39025" y="7382"/>
                  <a:pt x="24548" y="1540"/>
                </a:cubicBezTo>
                <a:cubicBezTo>
                  <a:pt x="7657" y="-5318"/>
                  <a:pt x="-5043" y="12081"/>
                  <a:pt x="2196" y="27067"/>
                </a:cubicBezTo>
                <a:cubicBezTo>
                  <a:pt x="9054" y="41165"/>
                  <a:pt x="30009" y="28845"/>
                  <a:pt x="23278" y="14748"/>
                </a:cubicBezTo>
                <a:cubicBezTo>
                  <a:pt x="23024" y="14113"/>
                  <a:pt x="22643" y="13478"/>
                  <a:pt x="22389" y="12970"/>
                </a:cubicBezTo>
                <a:cubicBezTo>
                  <a:pt x="22897" y="15002"/>
                  <a:pt x="23532" y="17034"/>
                  <a:pt x="24040" y="19066"/>
                </a:cubicBezTo>
                <a:cubicBezTo>
                  <a:pt x="23405" y="20209"/>
                  <a:pt x="22770" y="21352"/>
                  <a:pt x="22135" y="22495"/>
                </a:cubicBezTo>
                <a:cubicBezTo>
                  <a:pt x="20103" y="23003"/>
                  <a:pt x="18071" y="23638"/>
                  <a:pt x="16039" y="24146"/>
                </a:cubicBezTo>
                <a:cubicBezTo>
                  <a:pt x="14642" y="24273"/>
                  <a:pt x="12483" y="22368"/>
                  <a:pt x="15658" y="23892"/>
                </a:cubicBezTo>
                <a:cubicBezTo>
                  <a:pt x="17309" y="24654"/>
                  <a:pt x="18960" y="25416"/>
                  <a:pt x="20865" y="26305"/>
                </a:cubicBezTo>
                <a:cubicBezTo>
                  <a:pt x="27215" y="29353"/>
                  <a:pt x="33565" y="32401"/>
                  <a:pt x="40041" y="35449"/>
                </a:cubicBezTo>
                <a:cubicBezTo>
                  <a:pt x="60996" y="45483"/>
                  <a:pt x="81951" y="55389"/>
                  <a:pt x="102906" y="65422"/>
                </a:cubicBezTo>
                <a:cubicBezTo>
                  <a:pt x="153324" y="89552"/>
                  <a:pt x="203869" y="113555"/>
                  <a:pt x="254288" y="137686"/>
                </a:cubicBezTo>
                <a:cubicBezTo>
                  <a:pt x="269273" y="144798"/>
                  <a:pt x="284259" y="152037"/>
                  <a:pt x="299118" y="159149"/>
                </a:cubicBezTo>
                <a:cubicBezTo>
                  <a:pt x="300388" y="159784"/>
                  <a:pt x="302293" y="161181"/>
                  <a:pt x="303690" y="161308"/>
                </a:cubicBezTo>
                <a:cubicBezTo>
                  <a:pt x="308389" y="161816"/>
                  <a:pt x="304833" y="149370"/>
                  <a:pt x="307119" y="150005"/>
                </a:cubicBezTo>
                <a:cubicBezTo>
                  <a:pt x="305087" y="149497"/>
                  <a:pt x="299118" y="153053"/>
                  <a:pt x="297340" y="153815"/>
                </a:cubicBezTo>
                <a:cubicBezTo>
                  <a:pt x="252002" y="171214"/>
                  <a:pt x="206663" y="188486"/>
                  <a:pt x="161325" y="205886"/>
                </a:cubicBezTo>
                <a:cubicBezTo>
                  <a:pt x="136306" y="215411"/>
                  <a:pt x="111287" y="225063"/>
                  <a:pt x="86269" y="234588"/>
                </a:cubicBezTo>
                <a:cubicBezTo>
                  <a:pt x="72553" y="239795"/>
                  <a:pt x="57313" y="243986"/>
                  <a:pt x="44359" y="250590"/>
                </a:cubicBezTo>
                <a:cubicBezTo>
                  <a:pt x="43470" y="250971"/>
                  <a:pt x="42962" y="251098"/>
                  <a:pt x="42200" y="250971"/>
                </a:cubicBezTo>
                <a:cubicBezTo>
                  <a:pt x="44232" y="251479"/>
                  <a:pt x="46264" y="252114"/>
                  <a:pt x="48296" y="252622"/>
                </a:cubicBezTo>
                <a:cubicBezTo>
                  <a:pt x="71156" y="263290"/>
                  <a:pt x="46645" y="262782"/>
                  <a:pt x="49820" y="260242"/>
                </a:cubicBezTo>
                <a:cubicBezTo>
                  <a:pt x="50201" y="259988"/>
                  <a:pt x="50455" y="258972"/>
                  <a:pt x="50836" y="258591"/>
                </a:cubicBezTo>
                <a:cubicBezTo>
                  <a:pt x="52360" y="256559"/>
                  <a:pt x="53630" y="254146"/>
                  <a:pt x="54900" y="251987"/>
                </a:cubicBezTo>
                <a:cubicBezTo>
                  <a:pt x="59345" y="245002"/>
                  <a:pt x="63663" y="237890"/>
                  <a:pt x="67981" y="230905"/>
                </a:cubicBezTo>
                <a:cubicBezTo>
                  <a:pt x="79030" y="213125"/>
                  <a:pt x="90079" y="195344"/>
                  <a:pt x="101001" y="177691"/>
                </a:cubicBezTo>
                <a:cubicBezTo>
                  <a:pt x="107351" y="167277"/>
                  <a:pt x="121447" y="151783"/>
                  <a:pt x="115478" y="138829"/>
                </a:cubicBezTo>
                <a:cubicBezTo>
                  <a:pt x="112176" y="131590"/>
                  <a:pt x="105446" y="125113"/>
                  <a:pt x="100747" y="118762"/>
                </a:cubicBezTo>
                <a:cubicBezTo>
                  <a:pt x="93127" y="108729"/>
                  <a:pt x="85380" y="98569"/>
                  <a:pt x="77887" y="88536"/>
                </a:cubicBezTo>
                <a:cubicBezTo>
                  <a:pt x="59472" y="64279"/>
                  <a:pt x="41057" y="40021"/>
                  <a:pt x="23405" y="15129"/>
                </a:cubicBezTo>
                <a:cubicBezTo>
                  <a:pt x="14261" y="2429"/>
                  <a:pt x="-6821" y="14494"/>
                  <a:pt x="2196" y="2732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10298631" y="8155391"/>
            <a:ext cx="325413" cy="275290"/>
          </a:xfrm>
          <a:custGeom>
            <a:rect b="b" l="l" r="r" t="t"/>
            <a:pathLst>
              <a:path extrusionOk="0" h="275290" w="325413">
                <a:moveTo>
                  <a:pt x="2196" y="27067"/>
                </a:moveTo>
                <a:cubicBezTo>
                  <a:pt x="18579" y="50182"/>
                  <a:pt x="35724" y="72788"/>
                  <a:pt x="52741" y="95394"/>
                </a:cubicBezTo>
                <a:cubicBezTo>
                  <a:pt x="60996" y="106316"/>
                  <a:pt x="69251" y="117111"/>
                  <a:pt x="77506" y="128034"/>
                </a:cubicBezTo>
                <a:cubicBezTo>
                  <a:pt x="82967" y="135146"/>
                  <a:pt x="90333" y="142512"/>
                  <a:pt x="94270" y="150767"/>
                </a:cubicBezTo>
                <a:cubicBezTo>
                  <a:pt x="93762" y="148735"/>
                  <a:pt x="93127" y="146703"/>
                  <a:pt x="92619" y="144671"/>
                </a:cubicBezTo>
                <a:cubicBezTo>
                  <a:pt x="92492" y="143147"/>
                  <a:pt x="94016" y="142385"/>
                  <a:pt x="92365" y="144798"/>
                </a:cubicBezTo>
                <a:cubicBezTo>
                  <a:pt x="91349" y="146449"/>
                  <a:pt x="90206" y="148100"/>
                  <a:pt x="89190" y="150005"/>
                </a:cubicBezTo>
                <a:cubicBezTo>
                  <a:pt x="85507" y="155847"/>
                  <a:pt x="81951" y="161816"/>
                  <a:pt x="78268" y="167531"/>
                </a:cubicBezTo>
                <a:cubicBezTo>
                  <a:pt x="68743" y="183025"/>
                  <a:pt x="59091" y="198392"/>
                  <a:pt x="49439" y="214014"/>
                </a:cubicBezTo>
                <a:cubicBezTo>
                  <a:pt x="42581" y="224936"/>
                  <a:pt x="35343" y="235604"/>
                  <a:pt x="28993" y="246780"/>
                </a:cubicBezTo>
                <a:cubicBezTo>
                  <a:pt x="20484" y="261766"/>
                  <a:pt x="31914" y="279927"/>
                  <a:pt x="49693" y="274212"/>
                </a:cubicBezTo>
                <a:cubicBezTo>
                  <a:pt x="69632" y="267862"/>
                  <a:pt x="89190" y="259099"/>
                  <a:pt x="108875" y="251606"/>
                </a:cubicBezTo>
                <a:cubicBezTo>
                  <a:pt x="143418" y="238398"/>
                  <a:pt x="177962" y="225190"/>
                  <a:pt x="212505" y="211982"/>
                </a:cubicBezTo>
                <a:cubicBezTo>
                  <a:pt x="240826" y="201186"/>
                  <a:pt x="269146" y="190391"/>
                  <a:pt x="297467" y="179469"/>
                </a:cubicBezTo>
                <a:cubicBezTo>
                  <a:pt x="302674" y="177437"/>
                  <a:pt x="308008" y="175532"/>
                  <a:pt x="313088" y="173500"/>
                </a:cubicBezTo>
                <a:cubicBezTo>
                  <a:pt x="329217" y="167150"/>
                  <a:pt x="329344" y="147338"/>
                  <a:pt x="314485" y="139718"/>
                </a:cubicBezTo>
                <a:cubicBezTo>
                  <a:pt x="263812" y="113809"/>
                  <a:pt x="211616" y="90695"/>
                  <a:pt x="160309" y="66184"/>
                </a:cubicBezTo>
                <a:cubicBezTo>
                  <a:pt x="129194" y="51325"/>
                  <a:pt x="98080" y="36592"/>
                  <a:pt x="66965" y="21733"/>
                </a:cubicBezTo>
                <a:cubicBezTo>
                  <a:pt x="52995" y="15002"/>
                  <a:pt x="39025" y="7382"/>
                  <a:pt x="24548" y="1540"/>
                </a:cubicBezTo>
                <a:cubicBezTo>
                  <a:pt x="7657" y="-5318"/>
                  <a:pt x="-5043" y="12081"/>
                  <a:pt x="2196" y="27067"/>
                </a:cubicBezTo>
                <a:cubicBezTo>
                  <a:pt x="9054" y="41165"/>
                  <a:pt x="30009" y="28845"/>
                  <a:pt x="23278" y="14748"/>
                </a:cubicBezTo>
                <a:cubicBezTo>
                  <a:pt x="23024" y="14113"/>
                  <a:pt x="22643" y="13478"/>
                  <a:pt x="22389" y="12970"/>
                </a:cubicBezTo>
                <a:cubicBezTo>
                  <a:pt x="22897" y="15002"/>
                  <a:pt x="23532" y="17034"/>
                  <a:pt x="24040" y="19066"/>
                </a:cubicBezTo>
                <a:cubicBezTo>
                  <a:pt x="23405" y="20209"/>
                  <a:pt x="22770" y="21352"/>
                  <a:pt x="22135" y="22495"/>
                </a:cubicBezTo>
                <a:cubicBezTo>
                  <a:pt x="20103" y="23003"/>
                  <a:pt x="18071" y="23638"/>
                  <a:pt x="16039" y="24146"/>
                </a:cubicBezTo>
                <a:cubicBezTo>
                  <a:pt x="14642" y="24273"/>
                  <a:pt x="12483" y="22368"/>
                  <a:pt x="15658" y="23892"/>
                </a:cubicBezTo>
                <a:cubicBezTo>
                  <a:pt x="17309" y="24654"/>
                  <a:pt x="18960" y="25416"/>
                  <a:pt x="20865" y="26305"/>
                </a:cubicBezTo>
                <a:cubicBezTo>
                  <a:pt x="27215" y="29353"/>
                  <a:pt x="33565" y="32401"/>
                  <a:pt x="40041" y="35449"/>
                </a:cubicBezTo>
                <a:cubicBezTo>
                  <a:pt x="60996" y="45483"/>
                  <a:pt x="81951" y="55389"/>
                  <a:pt x="102906" y="65422"/>
                </a:cubicBezTo>
                <a:cubicBezTo>
                  <a:pt x="153324" y="89552"/>
                  <a:pt x="203869" y="113555"/>
                  <a:pt x="254288" y="137686"/>
                </a:cubicBezTo>
                <a:cubicBezTo>
                  <a:pt x="269273" y="144798"/>
                  <a:pt x="284259" y="152037"/>
                  <a:pt x="299118" y="159149"/>
                </a:cubicBezTo>
                <a:cubicBezTo>
                  <a:pt x="300388" y="159784"/>
                  <a:pt x="302293" y="161181"/>
                  <a:pt x="303690" y="161308"/>
                </a:cubicBezTo>
                <a:cubicBezTo>
                  <a:pt x="308389" y="161816"/>
                  <a:pt x="304833" y="149370"/>
                  <a:pt x="307119" y="150005"/>
                </a:cubicBezTo>
                <a:cubicBezTo>
                  <a:pt x="305087" y="149497"/>
                  <a:pt x="299118" y="153053"/>
                  <a:pt x="297340" y="153815"/>
                </a:cubicBezTo>
                <a:cubicBezTo>
                  <a:pt x="252002" y="171214"/>
                  <a:pt x="206663" y="188486"/>
                  <a:pt x="161325" y="205886"/>
                </a:cubicBezTo>
                <a:cubicBezTo>
                  <a:pt x="136306" y="215411"/>
                  <a:pt x="111287" y="225063"/>
                  <a:pt x="86269" y="234588"/>
                </a:cubicBezTo>
                <a:cubicBezTo>
                  <a:pt x="72553" y="239795"/>
                  <a:pt x="57313" y="243986"/>
                  <a:pt x="44359" y="250590"/>
                </a:cubicBezTo>
                <a:cubicBezTo>
                  <a:pt x="43470" y="250971"/>
                  <a:pt x="42962" y="251098"/>
                  <a:pt x="42200" y="250971"/>
                </a:cubicBezTo>
                <a:cubicBezTo>
                  <a:pt x="44232" y="251479"/>
                  <a:pt x="46264" y="252114"/>
                  <a:pt x="48296" y="252622"/>
                </a:cubicBezTo>
                <a:cubicBezTo>
                  <a:pt x="71156" y="263290"/>
                  <a:pt x="46645" y="262782"/>
                  <a:pt x="49820" y="260242"/>
                </a:cubicBezTo>
                <a:cubicBezTo>
                  <a:pt x="50201" y="259988"/>
                  <a:pt x="50455" y="258972"/>
                  <a:pt x="50836" y="258591"/>
                </a:cubicBezTo>
                <a:cubicBezTo>
                  <a:pt x="52360" y="256559"/>
                  <a:pt x="53630" y="254146"/>
                  <a:pt x="54900" y="251987"/>
                </a:cubicBezTo>
                <a:cubicBezTo>
                  <a:pt x="59345" y="245002"/>
                  <a:pt x="63663" y="237890"/>
                  <a:pt x="67981" y="230905"/>
                </a:cubicBezTo>
                <a:cubicBezTo>
                  <a:pt x="79030" y="213125"/>
                  <a:pt x="90079" y="195344"/>
                  <a:pt x="101001" y="177691"/>
                </a:cubicBezTo>
                <a:cubicBezTo>
                  <a:pt x="107351" y="167277"/>
                  <a:pt x="121447" y="151783"/>
                  <a:pt x="115478" y="138829"/>
                </a:cubicBezTo>
                <a:cubicBezTo>
                  <a:pt x="112176" y="131590"/>
                  <a:pt x="105446" y="125113"/>
                  <a:pt x="100747" y="118762"/>
                </a:cubicBezTo>
                <a:cubicBezTo>
                  <a:pt x="93127" y="108729"/>
                  <a:pt x="85380" y="98569"/>
                  <a:pt x="77887" y="88536"/>
                </a:cubicBezTo>
                <a:cubicBezTo>
                  <a:pt x="59472" y="64279"/>
                  <a:pt x="41057" y="40021"/>
                  <a:pt x="23405" y="15129"/>
                </a:cubicBezTo>
                <a:cubicBezTo>
                  <a:pt x="14261" y="2429"/>
                  <a:pt x="-6821" y="14494"/>
                  <a:pt x="2196" y="2732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17849231" y="6584118"/>
            <a:ext cx="438788" cy="2345304"/>
          </a:xfrm>
          <a:custGeom>
            <a:rect b="b" l="l" r="r" t="t"/>
            <a:pathLst>
              <a:path extrusionOk="0" h="2345311" w="438779">
                <a:moveTo>
                  <a:pt x="0" y="0"/>
                </a:moveTo>
                <a:lnTo>
                  <a:pt x="0" y="2345311"/>
                </a:lnTo>
                <a:lnTo>
                  <a:pt x="438779" y="2345311"/>
                </a:lnTo>
                <a:lnTo>
                  <a:pt x="438779" y="0"/>
                </a:lnTo>
                <a:close/>
              </a:path>
            </a:pathLst>
          </a:custGeom>
          <a:solidFill>
            <a:srgbClr val="E69138"/>
          </a:solidFill>
          <a:ln>
            <a:noFill/>
          </a:ln>
        </p:spPr>
      </p:sp>
      <p:sp>
        <p:nvSpPr>
          <p:cNvPr id="531" name="Google Shape;531;p14"/>
          <p:cNvSpPr/>
          <p:nvPr/>
        </p:nvSpPr>
        <p:spPr>
          <a:xfrm>
            <a:off x="1826800" y="866289"/>
            <a:ext cx="6610350" cy="8505825"/>
          </a:xfrm>
          <a:custGeom>
            <a:rect b="b" l="l" r="r" t="t"/>
            <a:pathLst>
              <a:path extrusionOk="0" h="11341100" w="8813800">
                <a:moveTo>
                  <a:pt x="0" y="0"/>
                </a:moveTo>
                <a:lnTo>
                  <a:pt x="8813800" y="0"/>
                </a:lnTo>
                <a:lnTo>
                  <a:pt x="8813800" y="11341100"/>
                </a:lnTo>
                <a:lnTo>
                  <a:pt x="0" y="11341100"/>
                </a:lnTo>
                <a:lnTo>
                  <a:pt x="0" y="0"/>
                </a:lnTo>
                <a:close/>
              </a:path>
            </a:pathLst>
          </a:custGeom>
          <a:blipFill rotWithShape="1">
            <a:blip r:embed="rId6">
              <a:alphaModFix/>
            </a:blip>
            <a:stretch>
              <a:fillRect b="0" l="0" r="0" t="0"/>
            </a:stretch>
          </a:blipFill>
          <a:ln>
            <a:noFill/>
          </a:ln>
        </p:spPr>
      </p:sp>
      <p:sp>
        <p:nvSpPr>
          <p:cNvPr id="532" name="Google Shape;532;p14"/>
          <p:cNvSpPr/>
          <p:nvPr/>
        </p:nvSpPr>
        <p:spPr>
          <a:xfrm>
            <a:off x="67589" y="187157"/>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7">
              <a:alphaModFix/>
            </a:blip>
            <a:stretch>
              <a:fillRect b="0" l="0" r="0" t="0"/>
            </a:stretch>
          </a:blipFill>
          <a:ln>
            <a:noFill/>
          </a:ln>
        </p:spPr>
      </p:sp>
      <p:sp>
        <p:nvSpPr>
          <p:cNvPr id="533" name="Google Shape;533;p14"/>
          <p:cNvSpPr/>
          <p:nvPr/>
        </p:nvSpPr>
        <p:spPr>
          <a:xfrm>
            <a:off x="10291753" y="5272429"/>
            <a:ext cx="336550" cy="285240"/>
          </a:xfrm>
          <a:custGeom>
            <a:rect b="b" l="l" r="r" t="t"/>
            <a:pathLst>
              <a:path extrusionOk="0" h="285240" w="336550">
                <a:moveTo>
                  <a:pt x="0" y="285240"/>
                </a:moveTo>
                <a:lnTo>
                  <a:pt x="336550" y="285240"/>
                </a:lnTo>
                <a:lnTo>
                  <a:pt x="336550" y="0"/>
                </a:lnTo>
                <a:lnTo>
                  <a:pt x="0" y="0"/>
                </a:lnTo>
                <a:close/>
              </a:path>
            </a:pathLst>
          </a:custGeom>
          <a:solidFill>
            <a:srgbClr val="000000">
              <a:alpha val="0"/>
            </a:srgbClr>
          </a:solidFill>
          <a:ln>
            <a:noFill/>
          </a:ln>
        </p:spPr>
      </p:sp>
      <p:sp>
        <p:nvSpPr>
          <p:cNvPr id="534" name="Google Shape;534;p14"/>
          <p:cNvSpPr/>
          <p:nvPr/>
        </p:nvSpPr>
        <p:spPr>
          <a:xfrm>
            <a:off x="10291753" y="5986934"/>
            <a:ext cx="336550" cy="285240"/>
          </a:xfrm>
          <a:custGeom>
            <a:rect b="b" l="l" r="r" t="t"/>
            <a:pathLst>
              <a:path extrusionOk="0" h="285240" w="336550">
                <a:moveTo>
                  <a:pt x="0" y="285240"/>
                </a:moveTo>
                <a:lnTo>
                  <a:pt x="336550" y="285240"/>
                </a:lnTo>
                <a:lnTo>
                  <a:pt x="336550" y="0"/>
                </a:lnTo>
                <a:lnTo>
                  <a:pt x="0" y="0"/>
                </a:lnTo>
                <a:close/>
              </a:path>
            </a:pathLst>
          </a:custGeom>
          <a:solidFill>
            <a:srgbClr val="000000">
              <a:alpha val="0"/>
            </a:srgbClr>
          </a:solidFill>
          <a:ln>
            <a:noFill/>
          </a:ln>
        </p:spPr>
      </p:sp>
      <p:sp>
        <p:nvSpPr>
          <p:cNvPr id="535" name="Google Shape;535;p14"/>
          <p:cNvSpPr/>
          <p:nvPr/>
        </p:nvSpPr>
        <p:spPr>
          <a:xfrm>
            <a:off x="10291753" y="7032942"/>
            <a:ext cx="336550" cy="285240"/>
          </a:xfrm>
          <a:custGeom>
            <a:rect b="b" l="l" r="r" t="t"/>
            <a:pathLst>
              <a:path extrusionOk="0" h="285240" w="336550">
                <a:moveTo>
                  <a:pt x="0" y="285240"/>
                </a:moveTo>
                <a:lnTo>
                  <a:pt x="336550" y="285240"/>
                </a:lnTo>
                <a:lnTo>
                  <a:pt x="336550" y="0"/>
                </a:lnTo>
                <a:lnTo>
                  <a:pt x="0" y="0"/>
                </a:lnTo>
                <a:close/>
              </a:path>
            </a:pathLst>
          </a:custGeom>
          <a:solidFill>
            <a:srgbClr val="000000">
              <a:alpha val="0"/>
            </a:srgbClr>
          </a:solidFill>
          <a:ln>
            <a:noFill/>
          </a:ln>
        </p:spPr>
      </p:sp>
      <p:sp>
        <p:nvSpPr>
          <p:cNvPr id="536" name="Google Shape;536;p14"/>
          <p:cNvSpPr/>
          <p:nvPr/>
        </p:nvSpPr>
        <p:spPr>
          <a:xfrm>
            <a:off x="10293066" y="8150414"/>
            <a:ext cx="336550" cy="285240"/>
          </a:xfrm>
          <a:custGeom>
            <a:rect b="b" l="l" r="r" t="t"/>
            <a:pathLst>
              <a:path extrusionOk="0" h="285240" w="336550">
                <a:moveTo>
                  <a:pt x="0" y="285240"/>
                </a:moveTo>
                <a:lnTo>
                  <a:pt x="336550" y="285240"/>
                </a:lnTo>
                <a:lnTo>
                  <a:pt x="336550" y="0"/>
                </a:lnTo>
                <a:lnTo>
                  <a:pt x="0" y="0"/>
                </a:lnTo>
                <a:close/>
              </a:path>
            </a:pathLst>
          </a:custGeom>
          <a:solidFill>
            <a:srgbClr val="000000">
              <a:alpha val="0"/>
            </a:srgbClr>
          </a:solidFill>
          <a:ln>
            <a:noFill/>
          </a:ln>
        </p:spPr>
      </p:sp>
      <p:grpSp>
        <p:nvGrpSpPr>
          <p:cNvPr id="537" name="Google Shape;537;p14"/>
          <p:cNvGrpSpPr/>
          <p:nvPr/>
        </p:nvGrpSpPr>
        <p:grpSpPr>
          <a:xfrm>
            <a:off x="12183339" y="7617"/>
            <a:ext cx="6095997" cy="1492628"/>
            <a:chOff x="63500" y="63500"/>
            <a:chExt cx="6096000" cy="1492634"/>
          </a:xfrm>
        </p:grpSpPr>
        <p:sp>
          <p:nvSpPr>
            <p:cNvPr id="538" name="Google Shape;538;p14"/>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539" name="Google Shape;539;p14"/>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540" name="Google Shape;540;p14"/>
          <p:cNvSpPr txBox="1"/>
          <p:nvPr/>
        </p:nvSpPr>
        <p:spPr>
          <a:xfrm>
            <a:off x="6503194" y="408146"/>
            <a:ext cx="5386149"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&amp; Prototype Readiness</a:t>
            </a:r>
            <a:endParaRPr/>
          </a:p>
        </p:txBody>
      </p:sp>
      <p:sp>
        <p:nvSpPr>
          <p:cNvPr id="541" name="Google Shape;541;p14"/>
          <p:cNvSpPr txBox="1"/>
          <p:nvPr/>
        </p:nvSpPr>
        <p:spPr>
          <a:xfrm>
            <a:off x="10460050" y="2102350"/>
            <a:ext cx="6749100" cy="2311200"/>
          </a:xfrm>
          <a:prstGeom prst="rect">
            <a:avLst/>
          </a:prstGeom>
          <a:noFill/>
          <a:ln>
            <a:noFill/>
          </a:ln>
        </p:spPr>
        <p:txBody>
          <a:bodyPr anchorCtr="0" anchor="t" bIns="0" lIns="0" spcFirstLastPara="1" rIns="0" wrap="square" tIns="0">
            <a:spAutoFit/>
          </a:bodyPr>
          <a:lstStyle/>
          <a:p>
            <a:pPr indent="0" lvl="0" marL="0" marR="0" rtl="0" algn="l">
              <a:lnSpc>
                <a:spcPct val="119806"/>
              </a:lnSpc>
              <a:spcBef>
                <a:spcPts val="0"/>
              </a:spcBef>
              <a:spcAft>
                <a:spcPts val="0"/>
              </a:spcAft>
              <a:buNone/>
            </a:pPr>
            <a:r>
              <a:rPr b="1" lang="en-US" sz="6831">
                <a:solidFill>
                  <a:srgbClr val="424242"/>
                </a:solidFill>
                <a:latin typeface="Arial"/>
                <a:ea typeface="Arial"/>
                <a:cs typeface="Arial"/>
                <a:sym typeface="Arial"/>
              </a:rPr>
              <a:t>SOFTWARE SERVICES</a:t>
            </a:r>
            <a:endParaRPr/>
          </a:p>
        </p:txBody>
      </p:sp>
      <p:sp>
        <p:nvSpPr>
          <p:cNvPr id="542" name="Google Shape;542;p14"/>
          <p:cNvSpPr txBox="1"/>
          <p:nvPr/>
        </p:nvSpPr>
        <p:spPr>
          <a:xfrm>
            <a:off x="10740245" y="5115762"/>
            <a:ext cx="6188700" cy="3449400"/>
          </a:xfrm>
          <a:prstGeom prst="rect">
            <a:avLst/>
          </a:prstGeom>
          <a:noFill/>
          <a:ln>
            <a:noFill/>
          </a:ln>
        </p:spPr>
        <p:txBody>
          <a:bodyPr anchorCtr="0" anchor="t" bIns="0" lIns="0" spcFirstLastPara="1" rIns="0" wrap="square" tIns="0">
            <a:spAutoFit/>
          </a:bodyPr>
          <a:lstStyle/>
          <a:p>
            <a:pPr indent="0" lvl="0" marL="0" marR="0" rtl="0" algn="l">
              <a:lnSpc>
                <a:spcPct val="202526"/>
              </a:lnSpc>
              <a:spcBef>
                <a:spcPts val="0"/>
              </a:spcBef>
              <a:spcAft>
                <a:spcPts val="0"/>
              </a:spcAft>
              <a:buNone/>
            </a:pPr>
            <a:r>
              <a:rPr lang="en-US" sz="3167">
                <a:solidFill>
                  <a:srgbClr val="000000"/>
                </a:solidFill>
                <a:latin typeface="Calibri"/>
                <a:ea typeface="Calibri"/>
                <a:cs typeface="Calibri"/>
                <a:sym typeface="Calibri"/>
              </a:rPr>
              <a:t>Interactive Learning Modules AI-Powered Feedback System Portable Tactile-Compatible Interface Multilingual Support</a:t>
            </a:r>
            <a:endParaRPr/>
          </a:p>
        </p:txBody>
      </p:sp>
      <p:grpSp>
        <p:nvGrpSpPr>
          <p:cNvPr id="543" name="Google Shape;543;p14"/>
          <p:cNvGrpSpPr/>
          <p:nvPr/>
        </p:nvGrpSpPr>
        <p:grpSpPr>
          <a:xfrm>
            <a:off x="4550811" y="5205430"/>
            <a:ext cx="1396239" cy="1343661"/>
            <a:chOff x="4550903" y="5106880"/>
            <a:chExt cx="1396239" cy="1343661"/>
          </a:xfrm>
        </p:grpSpPr>
        <p:grpSp>
          <p:nvGrpSpPr>
            <p:cNvPr id="544" name="Google Shape;544;p14"/>
            <p:cNvGrpSpPr/>
            <p:nvPr/>
          </p:nvGrpSpPr>
          <p:grpSpPr>
            <a:xfrm>
              <a:off x="4550903" y="5106880"/>
              <a:ext cx="1396239" cy="1343661"/>
              <a:chOff x="63467" y="63412"/>
              <a:chExt cx="1396239" cy="1343661"/>
            </a:xfrm>
          </p:grpSpPr>
          <p:sp>
            <p:nvSpPr>
              <p:cNvPr id="545" name="Google Shape;545;p14"/>
              <p:cNvSpPr/>
              <p:nvPr/>
            </p:nvSpPr>
            <p:spPr>
              <a:xfrm>
                <a:off x="63467" y="63412"/>
                <a:ext cx="1396239" cy="1343661"/>
              </a:xfrm>
              <a:custGeom>
                <a:rect b="b" l="l" r="r" t="t"/>
                <a:pathLst>
                  <a:path extrusionOk="0" h="1343661" w="1396239">
                    <a:moveTo>
                      <a:pt x="0" y="0"/>
                    </a:moveTo>
                    <a:lnTo>
                      <a:pt x="0" y="1343661"/>
                    </a:lnTo>
                    <a:lnTo>
                      <a:pt x="1396239" y="1343661"/>
                    </a:lnTo>
                    <a:lnTo>
                      <a:pt x="1396239" y="0"/>
                    </a:lnTo>
                    <a:close/>
                  </a:path>
                </a:pathLst>
              </a:custGeom>
              <a:solidFill>
                <a:srgbClr val="FFFFFF"/>
              </a:solidFill>
              <a:ln>
                <a:noFill/>
              </a:ln>
            </p:spPr>
          </p:sp>
          <p:sp>
            <p:nvSpPr>
              <p:cNvPr id="546" name="Google Shape;546;p14"/>
              <p:cNvSpPr/>
              <p:nvPr/>
            </p:nvSpPr>
            <p:spPr>
              <a:xfrm>
                <a:off x="555879" y="119634"/>
                <a:ext cx="180594" cy="170688"/>
              </a:xfrm>
              <a:custGeom>
                <a:rect b="b" l="l" r="r" t="t"/>
                <a:pathLst>
                  <a:path extrusionOk="0" h="170688" w="180594">
                    <a:moveTo>
                      <a:pt x="180595" y="85344"/>
                    </a:moveTo>
                    <a:cubicBezTo>
                      <a:pt x="180595" y="90932"/>
                      <a:pt x="179960" y="96520"/>
                      <a:pt x="178817" y="101981"/>
                    </a:cubicBezTo>
                    <a:cubicBezTo>
                      <a:pt x="177674" y="107442"/>
                      <a:pt x="175896" y="112776"/>
                      <a:pt x="173736" y="117983"/>
                    </a:cubicBezTo>
                    <a:cubicBezTo>
                      <a:pt x="171578" y="123190"/>
                      <a:pt x="168657" y="128143"/>
                      <a:pt x="165354" y="132715"/>
                    </a:cubicBezTo>
                    <a:cubicBezTo>
                      <a:pt x="162053" y="137287"/>
                      <a:pt x="158370" y="141732"/>
                      <a:pt x="154178" y="145669"/>
                    </a:cubicBezTo>
                    <a:cubicBezTo>
                      <a:pt x="149988" y="149606"/>
                      <a:pt x="145415" y="153162"/>
                      <a:pt x="140463" y="156337"/>
                    </a:cubicBezTo>
                    <a:cubicBezTo>
                      <a:pt x="135510"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10" y="11303"/>
                      <a:pt x="140463" y="14351"/>
                    </a:cubicBezTo>
                    <a:cubicBezTo>
                      <a:pt x="145415" y="17399"/>
                      <a:pt x="149988" y="20955"/>
                      <a:pt x="154178" y="25019"/>
                    </a:cubicBezTo>
                    <a:cubicBezTo>
                      <a:pt x="158370" y="29083"/>
                      <a:pt x="162053" y="33274"/>
                      <a:pt x="165354" y="37973"/>
                    </a:cubicBezTo>
                    <a:cubicBezTo>
                      <a:pt x="168657" y="42672"/>
                      <a:pt x="171450" y="47498"/>
                      <a:pt x="173736" y="52705"/>
                    </a:cubicBezTo>
                    <a:cubicBezTo>
                      <a:pt x="176022" y="57912"/>
                      <a:pt x="177674" y="63246"/>
                      <a:pt x="178817" y="68707"/>
                    </a:cubicBezTo>
                    <a:cubicBezTo>
                      <a:pt x="179960" y="74168"/>
                      <a:pt x="180595" y="79756"/>
                      <a:pt x="180595"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784988" y="119634"/>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0" y="107442"/>
                      <a:pt x="1777" y="101981"/>
                    </a:cubicBezTo>
                    <a:cubicBezTo>
                      <a:pt x="634" y="96520"/>
                      <a:pt x="0" y="90932"/>
                      <a:pt x="0" y="85344"/>
                    </a:cubicBezTo>
                    <a:cubicBezTo>
                      <a:pt x="0" y="79756"/>
                      <a:pt x="634" y="74168"/>
                      <a:pt x="1777" y="68707"/>
                    </a:cubicBezTo>
                    <a:cubicBezTo>
                      <a:pt x="2920"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780162" y="329565"/>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555879" y="539369"/>
                <a:ext cx="180594" cy="170688"/>
              </a:xfrm>
              <a:custGeom>
                <a:rect b="b" l="l" r="r" t="t"/>
                <a:pathLst>
                  <a:path extrusionOk="0" h="170688" w="180594">
                    <a:moveTo>
                      <a:pt x="180595" y="85344"/>
                    </a:moveTo>
                    <a:cubicBezTo>
                      <a:pt x="180595" y="90932"/>
                      <a:pt x="179960" y="96520"/>
                      <a:pt x="178817" y="101981"/>
                    </a:cubicBezTo>
                    <a:cubicBezTo>
                      <a:pt x="177674" y="107442"/>
                      <a:pt x="175896" y="112776"/>
                      <a:pt x="173736" y="117983"/>
                    </a:cubicBezTo>
                    <a:cubicBezTo>
                      <a:pt x="171578" y="123190"/>
                      <a:pt x="168657" y="128143"/>
                      <a:pt x="165354" y="132715"/>
                    </a:cubicBezTo>
                    <a:cubicBezTo>
                      <a:pt x="162053" y="137287"/>
                      <a:pt x="158370" y="141732"/>
                      <a:pt x="154178" y="145669"/>
                    </a:cubicBezTo>
                    <a:cubicBezTo>
                      <a:pt x="149988" y="149606"/>
                      <a:pt x="145415" y="153162"/>
                      <a:pt x="140463" y="156337"/>
                    </a:cubicBezTo>
                    <a:cubicBezTo>
                      <a:pt x="135510"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10" y="11303"/>
                      <a:pt x="140463" y="14351"/>
                    </a:cubicBezTo>
                    <a:cubicBezTo>
                      <a:pt x="145415" y="17399"/>
                      <a:pt x="149988" y="20955"/>
                      <a:pt x="154178" y="25019"/>
                    </a:cubicBezTo>
                    <a:cubicBezTo>
                      <a:pt x="158370" y="29083"/>
                      <a:pt x="162053" y="33274"/>
                      <a:pt x="165354" y="37973"/>
                    </a:cubicBezTo>
                    <a:cubicBezTo>
                      <a:pt x="168657" y="42672"/>
                      <a:pt x="171450" y="47498"/>
                      <a:pt x="173736" y="52705"/>
                    </a:cubicBezTo>
                    <a:cubicBezTo>
                      <a:pt x="176022" y="57912"/>
                      <a:pt x="177674" y="63246"/>
                      <a:pt x="178817" y="68707"/>
                    </a:cubicBezTo>
                    <a:cubicBezTo>
                      <a:pt x="179960" y="74168"/>
                      <a:pt x="180595" y="79756"/>
                      <a:pt x="180595"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555879" y="329565"/>
                <a:ext cx="180594" cy="170688"/>
              </a:xfrm>
              <a:custGeom>
                <a:rect b="b" l="l" r="r" t="t"/>
                <a:pathLst>
                  <a:path extrusionOk="0" h="170688" w="180594">
                    <a:moveTo>
                      <a:pt x="180595" y="85344"/>
                    </a:moveTo>
                    <a:cubicBezTo>
                      <a:pt x="180595" y="90932"/>
                      <a:pt x="179960" y="96520"/>
                      <a:pt x="178817" y="101981"/>
                    </a:cubicBezTo>
                    <a:cubicBezTo>
                      <a:pt x="177674" y="107442"/>
                      <a:pt x="175896" y="112776"/>
                      <a:pt x="173736" y="117983"/>
                    </a:cubicBezTo>
                    <a:cubicBezTo>
                      <a:pt x="171578" y="123190"/>
                      <a:pt x="168657" y="128143"/>
                      <a:pt x="165354" y="132715"/>
                    </a:cubicBezTo>
                    <a:cubicBezTo>
                      <a:pt x="162053" y="137287"/>
                      <a:pt x="158370" y="141732"/>
                      <a:pt x="154178" y="145669"/>
                    </a:cubicBezTo>
                    <a:cubicBezTo>
                      <a:pt x="149988" y="149606"/>
                      <a:pt x="145415" y="153162"/>
                      <a:pt x="140463" y="156337"/>
                    </a:cubicBezTo>
                    <a:cubicBezTo>
                      <a:pt x="135510"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10" y="11303"/>
                      <a:pt x="140463" y="14351"/>
                    </a:cubicBezTo>
                    <a:cubicBezTo>
                      <a:pt x="145415" y="17399"/>
                      <a:pt x="149988" y="20955"/>
                      <a:pt x="154178" y="25019"/>
                    </a:cubicBezTo>
                    <a:cubicBezTo>
                      <a:pt x="158370" y="29083"/>
                      <a:pt x="162053" y="33274"/>
                      <a:pt x="165354" y="37973"/>
                    </a:cubicBezTo>
                    <a:cubicBezTo>
                      <a:pt x="168657" y="42672"/>
                      <a:pt x="171450" y="47498"/>
                      <a:pt x="173736" y="52705"/>
                    </a:cubicBezTo>
                    <a:cubicBezTo>
                      <a:pt x="176022" y="57912"/>
                      <a:pt x="177674" y="63246"/>
                      <a:pt x="178817" y="68707"/>
                    </a:cubicBezTo>
                    <a:cubicBezTo>
                      <a:pt x="179960" y="74168"/>
                      <a:pt x="180595" y="79756"/>
                      <a:pt x="180595"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780162" y="539369"/>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p:nvPr/>
            </p:nvSpPr>
            <p:spPr>
              <a:xfrm>
                <a:off x="556006" y="119634"/>
                <a:ext cx="411480" cy="592709"/>
              </a:xfrm>
              <a:custGeom>
                <a:rect b="b" l="l" r="r" t="t"/>
                <a:pathLst>
                  <a:path extrusionOk="0" h="592709" w="411480">
                    <a:moveTo>
                      <a:pt x="0" y="592709"/>
                    </a:moveTo>
                    <a:lnTo>
                      <a:pt x="411481" y="592709"/>
                    </a:lnTo>
                    <a:lnTo>
                      <a:pt x="411481" y="0"/>
                    </a:lnTo>
                    <a:lnTo>
                      <a:pt x="0" y="0"/>
                    </a:lnTo>
                    <a:close/>
                  </a:path>
                </a:pathLst>
              </a:custGeom>
              <a:solidFill>
                <a:srgbClr val="000000">
                  <a:alpha val="0"/>
                </a:srgbClr>
              </a:solidFill>
              <a:ln>
                <a:noFill/>
              </a:ln>
            </p:spPr>
          </p:sp>
        </p:grpSp>
        <p:sp>
          <p:nvSpPr>
            <p:cNvPr id="553" name="Google Shape;553;p14"/>
            <p:cNvSpPr txBox="1"/>
            <p:nvPr/>
          </p:nvSpPr>
          <p:spPr>
            <a:xfrm>
              <a:off x="4657484" y="5903405"/>
              <a:ext cx="1207800" cy="4098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1" lang="en-US" sz="2663">
                  <a:solidFill>
                    <a:srgbClr val="FD7607"/>
                  </a:solidFill>
                  <a:latin typeface="Times"/>
                  <a:ea typeface="Times"/>
                  <a:cs typeface="Times"/>
                  <a:sym typeface="Times"/>
                </a:rPr>
                <a:t>VII</a:t>
              </a:r>
              <a:r>
                <a:rPr b="1" lang="en-US" sz="2663">
                  <a:solidFill>
                    <a:srgbClr val="000000"/>
                  </a:solidFill>
                  <a:latin typeface="Times"/>
                  <a:ea typeface="Times"/>
                  <a:cs typeface="Times"/>
                  <a:sym typeface="Times"/>
                </a:rPr>
                <a:t>SAR</a:t>
              </a:r>
              <a:endParaRPr/>
            </a:p>
          </p:txBody>
        </p:sp>
      </p:grpSp>
      <p:sp>
        <p:nvSpPr>
          <p:cNvPr id="554" name="Google Shape;554;p14"/>
          <p:cNvSpPr txBox="1"/>
          <p:nvPr/>
        </p:nvSpPr>
        <p:spPr>
          <a:xfrm>
            <a:off x="687134" y="284121"/>
            <a:ext cx="1356503" cy="523227"/>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None/>
            </a:pPr>
            <a:r>
              <a:rPr b="1" lang="en-US" sz="2990">
                <a:solidFill>
                  <a:srgbClr val="FD7607"/>
                </a:solidFill>
                <a:latin typeface="Times"/>
                <a:ea typeface="Times"/>
                <a:cs typeface="Times"/>
                <a:sym typeface="Times"/>
              </a:rPr>
              <a:t>VII</a:t>
            </a:r>
            <a:r>
              <a:rPr b="1" lang="en-US" sz="2990">
                <a:solidFill>
                  <a:srgbClr val="000000"/>
                </a:solidFill>
                <a:latin typeface="Times"/>
                <a:ea typeface="Times"/>
                <a:cs typeface="Times"/>
                <a:sym typeface="Times"/>
              </a:rPr>
              <a:t>SAR</a:t>
            </a:r>
            <a:endParaRPr/>
          </a:p>
        </p:txBody>
      </p:sp>
      <p:sp>
        <p:nvSpPr>
          <p:cNvPr id="555" name="Google Shape;555;p14"/>
          <p:cNvSpPr txBox="1"/>
          <p:nvPr/>
        </p:nvSpPr>
        <p:spPr>
          <a:xfrm>
            <a:off x="8254811" y="9267339"/>
            <a:ext cx="3634532" cy="512457"/>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lang="en-US" sz="2699" u="sng">
                <a:solidFill>
                  <a:srgbClr val="424242"/>
                </a:solidFill>
                <a:latin typeface="Calibri"/>
                <a:ea typeface="Calibri"/>
                <a:cs typeface="Calibri"/>
                <a:sym typeface="Calibri"/>
                <a:hlinkClick r:id="rId8">
                  <a:extLst>
                    <a:ext uri="{A12FA001-AC4F-418D-AE19-62706E023703}">
                      <ahyp:hlinkClr val="tx"/>
                    </a:ext>
                  </a:extLst>
                </a:hlinkClick>
              </a:rPr>
              <a:t> https://viisar.vercel.app/ </a:t>
            </a:r>
            <a:endParaRPr/>
          </a:p>
        </p:txBody>
      </p:sp>
      <p:sp>
        <p:nvSpPr>
          <p:cNvPr id="556" name="Google Shape;556;p14"/>
          <p:cNvSpPr txBox="1"/>
          <p:nvPr/>
        </p:nvSpPr>
        <p:spPr>
          <a:xfrm>
            <a:off x="5729259" y="9202252"/>
            <a:ext cx="2378794"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Website Link: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3"/>
          <p:cNvSpPr/>
          <p:nvPr/>
        </p:nvSpPr>
        <p:spPr>
          <a:xfrm>
            <a:off x="12119839" y="-55883"/>
            <a:ext cx="6225559" cy="1619574"/>
          </a:xfrm>
          <a:custGeom>
            <a:rect b="b" l="l" r="r" t="t"/>
            <a:pathLst>
              <a:path extrusionOk="0" h="1619574" w="6225559">
                <a:moveTo>
                  <a:pt x="0" y="0"/>
                </a:moveTo>
                <a:lnTo>
                  <a:pt x="6225559" y="0"/>
                </a:lnTo>
                <a:lnTo>
                  <a:pt x="6225559" y="1619574"/>
                </a:lnTo>
                <a:lnTo>
                  <a:pt x="0" y="1619574"/>
                </a:lnTo>
                <a:lnTo>
                  <a:pt x="0" y="0"/>
                </a:lnTo>
                <a:close/>
              </a:path>
            </a:pathLst>
          </a:custGeom>
          <a:blipFill rotWithShape="1">
            <a:blip r:embed="rId3">
              <a:alphaModFix/>
            </a:blip>
            <a:stretch>
              <a:fillRect b="0" l="0" r="0" t="0"/>
            </a:stretch>
          </a:blipFill>
          <a:ln>
            <a:noFill/>
          </a:ln>
        </p:spPr>
      </p:sp>
      <p:sp>
        <p:nvSpPr>
          <p:cNvPr id="562" name="Google Shape;562;p13"/>
          <p:cNvSpPr/>
          <p:nvPr/>
        </p:nvSpPr>
        <p:spPr>
          <a:xfrm>
            <a:off x="15338088" y="47054"/>
            <a:ext cx="1963293" cy="1107281"/>
          </a:xfrm>
          <a:custGeom>
            <a:rect b="b" l="l" r="r" t="t"/>
            <a:pathLst>
              <a:path extrusionOk="0" h="1476375" w="2617724">
                <a:moveTo>
                  <a:pt x="0" y="0"/>
                </a:moveTo>
                <a:lnTo>
                  <a:pt x="2617724" y="0"/>
                </a:lnTo>
                <a:lnTo>
                  <a:pt x="2617724" y="1476375"/>
                </a:lnTo>
                <a:lnTo>
                  <a:pt x="0" y="1476375"/>
                </a:lnTo>
                <a:lnTo>
                  <a:pt x="0" y="0"/>
                </a:lnTo>
                <a:close/>
              </a:path>
            </a:pathLst>
          </a:custGeom>
          <a:blipFill rotWithShape="1">
            <a:blip r:embed="rId4">
              <a:alphaModFix/>
            </a:blip>
            <a:stretch>
              <a:fillRect b="-1" l="0" r="-22" t="0"/>
            </a:stretch>
          </a:blipFill>
          <a:ln>
            <a:noFill/>
          </a:ln>
        </p:spPr>
      </p:sp>
      <p:sp>
        <p:nvSpPr>
          <p:cNvPr id="563" name="Google Shape;563;p13"/>
          <p:cNvSpPr/>
          <p:nvPr/>
        </p:nvSpPr>
        <p:spPr>
          <a:xfrm>
            <a:off x="13432555" y="7620"/>
            <a:ext cx="1866233" cy="1078421"/>
          </a:xfrm>
          <a:custGeom>
            <a:rect b="b" l="l" r="r" t="t"/>
            <a:pathLst>
              <a:path extrusionOk="0" h="1437894" w="2488311">
                <a:moveTo>
                  <a:pt x="0" y="0"/>
                </a:moveTo>
                <a:lnTo>
                  <a:pt x="2488311" y="0"/>
                </a:lnTo>
                <a:lnTo>
                  <a:pt x="2488311" y="1437894"/>
                </a:lnTo>
                <a:lnTo>
                  <a:pt x="0" y="1437894"/>
                </a:lnTo>
                <a:lnTo>
                  <a:pt x="0" y="0"/>
                </a:lnTo>
                <a:close/>
              </a:path>
            </a:pathLst>
          </a:custGeom>
          <a:blipFill rotWithShape="1">
            <a:blip r:embed="rId5">
              <a:alphaModFix/>
            </a:blip>
            <a:stretch>
              <a:fillRect b="-289" l="0" r="1" t="-102"/>
            </a:stretch>
          </a:blipFill>
          <a:ln>
            <a:noFill/>
          </a:ln>
        </p:spPr>
      </p:sp>
      <p:sp>
        <p:nvSpPr>
          <p:cNvPr id="564" name="Google Shape;564;p13"/>
          <p:cNvSpPr/>
          <p:nvPr/>
        </p:nvSpPr>
        <p:spPr>
          <a:xfrm>
            <a:off x="1250232" y="3649085"/>
            <a:ext cx="7896225" cy="5248275"/>
          </a:xfrm>
          <a:custGeom>
            <a:rect b="b" l="l" r="r" t="t"/>
            <a:pathLst>
              <a:path extrusionOk="0" h="6997700" w="10528300">
                <a:moveTo>
                  <a:pt x="0" y="0"/>
                </a:moveTo>
                <a:lnTo>
                  <a:pt x="10528300" y="0"/>
                </a:lnTo>
                <a:lnTo>
                  <a:pt x="10528300" y="6997700"/>
                </a:lnTo>
                <a:lnTo>
                  <a:pt x="0" y="6997700"/>
                </a:lnTo>
                <a:lnTo>
                  <a:pt x="0" y="0"/>
                </a:lnTo>
                <a:close/>
              </a:path>
            </a:pathLst>
          </a:custGeom>
          <a:blipFill rotWithShape="1">
            <a:blip r:embed="rId6">
              <a:alphaModFix/>
            </a:blip>
            <a:stretch>
              <a:fillRect b="0" l="0" r="0" t="0"/>
            </a:stretch>
          </a:blipFill>
          <a:ln>
            <a:noFill/>
          </a:ln>
        </p:spPr>
      </p:sp>
      <p:sp>
        <p:nvSpPr>
          <p:cNvPr id="565" name="Google Shape;565;p13"/>
          <p:cNvSpPr/>
          <p:nvPr/>
        </p:nvSpPr>
        <p:spPr>
          <a:xfrm>
            <a:off x="15520854" y="4091397"/>
            <a:ext cx="2400300" cy="3667125"/>
          </a:xfrm>
          <a:custGeom>
            <a:rect b="b" l="l" r="r" t="t"/>
            <a:pathLst>
              <a:path extrusionOk="0" h="4889500" w="3200400">
                <a:moveTo>
                  <a:pt x="0" y="0"/>
                </a:moveTo>
                <a:lnTo>
                  <a:pt x="3200400" y="0"/>
                </a:lnTo>
                <a:lnTo>
                  <a:pt x="3200400" y="4889500"/>
                </a:lnTo>
                <a:lnTo>
                  <a:pt x="0" y="4889500"/>
                </a:lnTo>
                <a:lnTo>
                  <a:pt x="0" y="0"/>
                </a:lnTo>
                <a:close/>
              </a:path>
            </a:pathLst>
          </a:custGeom>
          <a:blipFill rotWithShape="1">
            <a:blip r:embed="rId7">
              <a:alphaModFix/>
            </a:blip>
            <a:stretch>
              <a:fillRect b="0" l="0" r="0" t="0"/>
            </a:stretch>
          </a:blipFill>
          <a:ln>
            <a:noFill/>
          </a:ln>
        </p:spPr>
      </p:sp>
      <p:sp>
        <p:nvSpPr>
          <p:cNvPr id="566" name="Google Shape;566;p13"/>
          <p:cNvSpPr/>
          <p:nvPr/>
        </p:nvSpPr>
        <p:spPr>
          <a:xfrm>
            <a:off x="12373708" y="4655372"/>
            <a:ext cx="2943225" cy="2781300"/>
          </a:xfrm>
          <a:custGeom>
            <a:rect b="b" l="l" r="r" t="t"/>
            <a:pathLst>
              <a:path extrusionOk="0" h="3708400" w="3924300">
                <a:moveTo>
                  <a:pt x="0" y="0"/>
                </a:moveTo>
                <a:lnTo>
                  <a:pt x="3924300" y="0"/>
                </a:lnTo>
                <a:lnTo>
                  <a:pt x="3924300" y="3708400"/>
                </a:lnTo>
                <a:lnTo>
                  <a:pt x="0" y="3708400"/>
                </a:lnTo>
                <a:lnTo>
                  <a:pt x="0" y="0"/>
                </a:lnTo>
                <a:close/>
              </a:path>
            </a:pathLst>
          </a:custGeom>
          <a:blipFill rotWithShape="1">
            <a:blip r:embed="rId8">
              <a:alphaModFix/>
            </a:blip>
            <a:stretch>
              <a:fillRect b="-11707" l="-11760" r="-14777" t="-16374"/>
            </a:stretch>
          </a:blipFill>
          <a:ln>
            <a:noFill/>
          </a:ln>
        </p:spPr>
      </p:sp>
      <p:sp>
        <p:nvSpPr>
          <p:cNvPr id="567" name="Google Shape;567;p13"/>
          <p:cNvSpPr/>
          <p:nvPr/>
        </p:nvSpPr>
        <p:spPr>
          <a:xfrm>
            <a:off x="9329090" y="4433849"/>
            <a:ext cx="3048000" cy="3324225"/>
          </a:xfrm>
          <a:custGeom>
            <a:rect b="b" l="l" r="r" t="t"/>
            <a:pathLst>
              <a:path extrusionOk="0" h="4432300" w="4064000">
                <a:moveTo>
                  <a:pt x="0" y="0"/>
                </a:moveTo>
                <a:lnTo>
                  <a:pt x="4064000" y="0"/>
                </a:lnTo>
                <a:lnTo>
                  <a:pt x="4064000" y="4432300"/>
                </a:lnTo>
                <a:lnTo>
                  <a:pt x="0" y="4432300"/>
                </a:lnTo>
                <a:lnTo>
                  <a:pt x="0" y="0"/>
                </a:lnTo>
                <a:close/>
              </a:path>
            </a:pathLst>
          </a:custGeom>
          <a:blipFill rotWithShape="1">
            <a:blip r:embed="rId9">
              <a:alphaModFix/>
            </a:blip>
            <a:stretch>
              <a:fillRect b="-7053" l="-46481" r="-43207" t="-23320"/>
            </a:stretch>
          </a:blipFill>
          <a:ln>
            <a:noFill/>
          </a:ln>
        </p:spPr>
      </p:sp>
      <p:grpSp>
        <p:nvGrpSpPr>
          <p:cNvPr id="568" name="Google Shape;568;p13"/>
          <p:cNvGrpSpPr/>
          <p:nvPr/>
        </p:nvGrpSpPr>
        <p:grpSpPr>
          <a:xfrm>
            <a:off x="196621" y="250657"/>
            <a:ext cx="411477" cy="592837"/>
            <a:chOff x="63500" y="63500"/>
            <a:chExt cx="411479" cy="592837"/>
          </a:xfrm>
        </p:grpSpPr>
        <p:sp>
          <p:nvSpPr>
            <p:cNvPr id="569" name="Google Shape;569;p13"/>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2"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3"/>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168"/>
                    <a:pt x="178816" y="68580"/>
                  </a:cubicBezTo>
                  <a:cubicBezTo>
                    <a:pt x="177673" y="62992"/>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3"/>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3"/>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9"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3"/>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9"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3"/>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3"/>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576" name="Google Shape;576;p13"/>
          <p:cNvGrpSpPr/>
          <p:nvPr/>
        </p:nvGrpSpPr>
        <p:grpSpPr>
          <a:xfrm>
            <a:off x="12183339" y="7617"/>
            <a:ext cx="6095997" cy="1492628"/>
            <a:chOff x="63500" y="63500"/>
            <a:chExt cx="6096000" cy="1492634"/>
          </a:xfrm>
        </p:grpSpPr>
        <p:sp>
          <p:nvSpPr>
            <p:cNvPr id="577" name="Google Shape;577;p13"/>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578" name="Google Shape;578;p13"/>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579" name="Google Shape;579;p13"/>
          <p:cNvSpPr txBox="1"/>
          <p:nvPr/>
        </p:nvSpPr>
        <p:spPr>
          <a:xfrm>
            <a:off x="6503194" y="408146"/>
            <a:ext cx="5386149"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&amp; Prototype Readiness</a:t>
            </a:r>
            <a:endParaRPr/>
          </a:p>
        </p:txBody>
      </p:sp>
      <p:sp>
        <p:nvSpPr>
          <p:cNvPr id="580" name="Google Shape;580;p13"/>
          <p:cNvSpPr txBox="1"/>
          <p:nvPr/>
        </p:nvSpPr>
        <p:spPr>
          <a:xfrm>
            <a:off x="2326938" y="1473194"/>
            <a:ext cx="13906500" cy="24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b="1" lang="en-US" sz="3599">
                <a:solidFill>
                  <a:srgbClr val="CA3734"/>
                </a:solidFill>
                <a:latin typeface="Calibri"/>
                <a:ea typeface="Calibri"/>
                <a:cs typeface="Calibri"/>
                <a:sym typeface="Calibri"/>
              </a:rPr>
              <a:t>We help visually impaired students achieve confidence and inclusion in STEM through affordable, touch-based learning tools.</a:t>
            </a:r>
            <a:endParaRPr b="1" sz="3599">
              <a:solidFill>
                <a:srgbClr val="CA3734"/>
              </a:solidFill>
              <a:latin typeface="Calibri"/>
              <a:ea typeface="Calibri"/>
              <a:cs typeface="Calibri"/>
              <a:sym typeface="Calibri"/>
            </a:endParaRPr>
          </a:p>
          <a:p>
            <a:pPr indent="0" lvl="0" marL="0" rtl="0" algn="ctr">
              <a:lnSpc>
                <a:spcPct val="118783"/>
              </a:lnSpc>
              <a:spcBef>
                <a:spcPts val="0"/>
              </a:spcBef>
              <a:spcAft>
                <a:spcPts val="0"/>
              </a:spcAft>
              <a:buClr>
                <a:schemeClr val="dk1"/>
              </a:buClr>
              <a:buSzPts val="1100"/>
              <a:buFont typeface="Arial"/>
              <a:buNone/>
            </a:pPr>
            <a:r>
              <a:t/>
            </a:r>
            <a:endParaRPr b="1" sz="3599">
              <a:solidFill>
                <a:srgbClr val="CA3734"/>
              </a:solidFill>
              <a:latin typeface="Calibri"/>
              <a:ea typeface="Calibri"/>
              <a:cs typeface="Calibri"/>
              <a:sym typeface="Calibri"/>
            </a:endParaRPr>
          </a:p>
          <a:p>
            <a:pPr indent="0" lvl="0" marL="0" marR="0" rtl="0" algn="ctr">
              <a:lnSpc>
                <a:spcPct val="118783"/>
              </a:lnSpc>
              <a:spcBef>
                <a:spcPts val="0"/>
              </a:spcBef>
              <a:spcAft>
                <a:spcPts val="0"/>
              </a:spcAft>
              <a:buNone/>
            </a:pPr>
            <a:r>
              <a:t/>
            </a:r>
            <a:endParaRPr b="1" sz="3599">
              <a:solidFill>
                <a:srgbClr val="CA3734"/>
              </a:solidFill>
              <a:latin typeface="Calibri"/>
              <a:ea typeface="Calibri"/>
              <a:cs typeface="Calibri"/>
              <a:sym typeface="Calibri"/>
            </a:endParaRPr>
          </a:p>
        </p:txBody>
      </p:sp>
      <p:sp>
        <p:nvSpPr>
          <p:cNvPr id="581" name="Google Shape;581;p13"/>
          <p:cNvSpPr txBox="1"/>
          <p:nvPr/>
        </p:nvSpPr>
        <p:spPr>
          <a:xfrm>
            <a:off x="1250680" y="2777300"/>
            <a:ext cx="4368300" cy="744000"/>
          </a:xfrm>
          <a:prstGeom prst="rect">
            <a:avLst/>
          </a:prstGeom>
          <a:noFill/>
          <a:ln>
            <a:noFill/>
          </a:ln>
        </p:spPr>
        <p:txBody>
          <a:bodyPr anchorCtr="0" anchor="t" bIns="0" lIns="0" spcFirstLastPara="1" rIns="0" wrap="square" tIns="0">
            <a:spAutoFit/>
          </a:bodyPr>
          <a:lstStyle/>
          <a:p>
            <a:pPr indent="0" lvl="0" marL="0" marR="0" rtl="0" algn="l">
              <a:lnSpc>
                <a:spcPct val="140024"/>
              </a:lnSpc>
              <a:spcBef>
                <a:spcPts val="0"/>
              </a:spcBef>
              <a:spcAft>
                <a:spcPts val="0"/>
              </a:spcAft>
              <a:buNone/>
            </a:pPr>
            <a:r>
              <a:rPr b="1" lang="en-US" sz="4050">
                <a:solidFill>
                  <a:srgbClr val="424242"/>
                </a:solidFill>
                <a:latin typeface="Calibri"/>
                <a:ea typeface="Calibri"/>
                <a:cs typeface="Calibri"/>
                <a:sym typeface="Calibri"/>
              </a:rPr>
              <a:t>System Architecture</a:t>
            </a:r>
            <a:endParaRPr/>
          </a:p>
        </p:txBody>
      </p:sp>
      <p:sp>
        <p:nvSpPr>
          <p:cNvPr id="582" name="Google Shape;582;p13"/>
          <p:cNvSpPr txBox="1"/>
          <p:nvPr/>
        </p:nvSpPr>
        <p:spPr>
          <a:xfrm>
            <a:off x="10563958" y="3203172"/>
            <a:ext cx="4435373" cy="744017"/>
          </a:xfrm>
          <a:prstGeom prst="rect">
            <a:avLst/>
          </a:prstGeom>
          <a:noFill/>
          <a:ln>
            <a:noFill/>
          </a:ln>
        </p:spPr>
        <p:txBody>
          <a:bodyPr anchorCtr="0" anchor="t" bIns="0" lIns="0" spcFirstLastPara="1" rIns="0" wrap="square" tIns="0">
            <a:spAutoFit/>
          </a:bodyPr>
          <a:lstStyle/>
          <a:p>
            <a:pPr indent="0" lvl="0" marL="0" marR="0" rtl="0" algn="l">
              <a:lnSpc>
                <a:spcPct val="140024"/>
              </a:lnSpc>
              <a:spcBef>
                <a:spcPts val="0"/>
              </a:spcBef>
              <a:spcAft>
                <a:spcPts val="0"/>
              </a:spcAft>
              <a:buNone/>
            </a:pPr>
            <a:r>
              <a:rPr b="1" lang="en-US" sz="4050">
                <a:solidFill>
                  <a:srgbClr val="424242"/>
                </a:solidFill>
                <a:latin typeface="Calibri"/>
                <a:ea typeface="Calibri"/>
                <a:cs typeface="Calibri"/>
                <a:sym typeface="Calibri"/>
              </a:rPr>
              <a:t>Hardware Prototype</a:t>
            </a:r>
            <a:endParaRPr/>
          </a:p>
        </p:txBody>
      </p:sp>
      <p:sp>
        <p:nvSpPr>
          <p:cNvPr id="583" name="Google Shape;583;p13"/>
          <p:cNvSpPr txBox="1"/>
          <p:nvPr/>
        </p:nvSpPr>
        <p:spPr>
          <a:xfrm>
            <a:off x="1377982" y="9027509"/>
            <a:ext cx="7790659" cy="861060"/>
          </a:xfrm>
          <a:prstGeom prst="rect">
            <a:avLst/>
          </a:prstGeom>
          <a:noFill/>
          <a:ln>
            <a:noFill/>
          </a:ln>
        </p:spPr>
        <p:txBody>
          <a:bodyPr anchorCtr="0" anchor="t" bIns="0" lIns="0" spcFirstLastPara="1" rIns="0" wrap="square" tIns="0">
            <a:spAutoFit/>
          </a:bodyPr>
          <a:lstStyle/>
          <a:p>
            <a:pPr indent="0" lvl="0" marL="0" marR="0" rtl="0" algn="ctr">
              <a:lnSpc>
                <a:spcPct val="119370"/>
              </a:lnSpc>
              <a:spcBef>
                <a:spcPts val="0"/>
              </a:spcBef>
              <a:spcAft>
                <a:spcPts val="0"/>
              </a:spcAft>
              <a:buNone/>
            </a:pPr>
            <a:r>
              <a:rPr lang="en-US" sz="2700">
                <a:solidFill>
                  <a:srgbClr val="000000"/>
                </a:solidFill>
                <a:latin typeface="Calibri"/>
                <a:ea typeface="Calibri"/>
                <a:cs typeface="Calibri"/>
                <a:sym typeface="Calibri"/>
              </a:rPr>
              <a:t>Bluetooth-connected app drives a tactile pin-matrix via ESP32 + solenoid drivers.</a:t>
            </a:r>
            <a:endParaRPr/>
          </a:p>
        </p:txBody>
      </p:sp>
      <p:sp>
        <p:nvSpPr>
          <p:cNvPr id="584" name="Google Shape;584;p13"/>
          <p:cNvSpPr txBox="1"/>
          <p:nvPr/>
        </p:nvSpPr>
        <p:spPr>
          <a:xfrm>
            <a:off x="9818180" y="7855982"/>
            <a:ext cx="2164471"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Final Prototype</a:t>
            </a:r>
            <a:endParaRPr/>
          </a:p>
        </p:txBody>
      </p:sp>
      <p:sp>
        <p:nvSpPr>
          <p:cNvPr id="585" name="Google Shape;585;p13"/>
          <p:cNvSpPr txBox="1"/>
          <p:nvPr/>
        </p:nvSpPr>
        <p:spPr>
          <a:xfrm>
            <a:off x="14184401" y="7855982"/>
            <a:ext cx="2383241"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Internal Circuitry</a:t>
            </a:r>
            <a:endParaRPr/>
          </a:p>
        </p:txBody>
      </p:sp>
      <p:sp>
        <p:nvSpPr>
          <p:cNvPr id="586" name="Google Shape;586;p13"/>
          <p:cNvSpPr txBox="1"/>
          <p:nvPr/>
        </p:nvSpPr>
        <p:spPr>
          <a:xfrm>
            <a:off x="774506" y="286455"/>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5"/>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592" name="Google Shape;592;p15"/>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593" name="Google Shape;593;p15"/>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594" name="Google Shape;594;p15"/>
          <p:cNvSpPr/>
          <p:nvPr/>
        </p:nvSpPr>
        <p:spPr>
          <a:xfrm>
            <a:off x="1803283" y="4495800"/>
            <a:ext cx="5219700" cy="4762500"/>
          </a:xfrm>
          <a:custGeom>
            <a:rect b="b" l="l" r="r" t="t"/>
            <a:pathLst>
              <a:path extrusionOk="0" h="6350000" w="6959600">
                <a:moveTo>
                  <a:pt x="0" y="0"/>
                </a:moveTo>
                <a:lnTo>
                  <a:pt x="6959600" y="0"/>
                </a:lnTo>
                <a:lnTo>
                  <a:pt x="6959600" y="6350000"/>
                </a:lnTo>
                <a:lnTo>
                  <a:pt x="0" y="6350000"/>
                </a:lnTo>
                <a:lnTo>
                  <a:pt x="0" y="0"/>
                </a:lnTo>
                <a:close/>
              </a:path>
            </a:pathLst>
          </a:custGeom>
          <a:blipFill rotWithShape="1">
            <a:blip r:embed="rId5">
              <a:alphaModFix/>
            </a:blip>
            <a:stretch>
              <a:fillRect b="-990" l="-31980" r="-45027" t="-8210"/>
            </a:stretch>
          </a:blipFill>
          <a:ln>
            <a:noFill/>
          </a:ln>
        </p:spPr>
      </p:sp>
      <p:sp>
        <p:nvSpPr>
          <p:cNvPr id="595" name="Google Shape;595;p15"/>
          <p:cNvSpPr/>
          <p:nvPr/>
        </p:nvSpPr>
        <p:spPr>
          <a:xfrm>
            <a:off x="4457281" y="1626489"/>
            <a:ext cx="9760029" cy="2404777"/>
          </a:xfrm>
          <a:custGeom>
            <a:rect b="b" l="l" r="r" t="t"/>
            <a:pathLst>
              <a:path extrusionOk="0" h="2404777" w="9760029">
                <a:moveTo>
                  <a:pt x="0" y="0"/>
                </a:moveTo>
                <a:lnTo>
                  <a:pt x="9760029" y="0"/>
                </a:lnTo>
                <a:lnTo>
                  <a:pt x="9760029" y="2404777"/>
                </a:lnTo>
                <a:lnTo>
                  <a:pt x="0" y="2404777"/>
                </a:lnTo>
                <a:lnTo>
                  <a:pt x="0" y="0"/>
                </a:lnTo>
                <a:close/>
              </a:path>
            </a:pathLst>
          </a:custGeom>
          <a:blipFill rotWithShape="1">
            <a:blip r:embed="rId6">
              <a:alphaModFix/>
            </a:blip>
            <a:stretch>
              <a:fillRect b="0" l="0" r="0" t="0"/>
            </a:stretch>
          </a:blipFill>
          <a:ln>
            <a:noFill/>
          </a:ln>
        </p:spPr>
      </p:sp>
      <p:sp>
        <p:nvSpPr>
          <p:cNvPr id="596" name="Google Shape;596;p15"/>
          <p:cNvSpPr/>
          <p:nvPr/>
        </p:nvSpPr>
        <p:spPr>
          <a:xfrm>
            <a:off x="8512619" y="6044060"/>
            <a:ext cx="1870961" cy="1540764"/>
          </a:xfrm>
          <a:custGeom>
            <a:rect b="b" l="l" r="r" t="t"/>
            <a:pathLst>
              <a:path extrusionOk="0" h="1540768" w="1870964">
                <a:moveTo>
                  <a:pt x="997839" y="0"/>
                </a:moveTo>
                <a:lnTo>
                  <a:pt x="1179449" y="480823"/>
                </a:lnTo>
                <a:lnTo>
                  <a:pt x="0" y="480823"/>
                </a:lnTo>
                <a:lnTo>
                  <a:pt x="0" y="1060072"/>
                </a:lnTo>
                <a:lnTo>
                  <a:pt x="1179449" y="1060072"/>
                </a:lnTo>
                <a:lnTo>
                  <a:pt x="997839" y="1540768"/>
                </a:lnTo>
                <a:lnTo>
                  <a:pt x="1870964" y="770384"/>
                </a:lnTo>
                <a:lnTo>
                  <a:pt x="997839" y="0"/>
                </a:lnTo>
                <a:close/>
              </a:path>
            </a:pathLst>
          </a:custGeom>
          <a:solidFill>
            <a:srgbClr val="EFC276"/>
          </a:solidFill>
          <a:ln>
            <a:noFill/>
          </a:ln>
        </p:spPr>
      </p:sp>
      <p:sp>
        <p:nvSpPr>
          <p:cNvPr id="597" name="Google Shape;597;p15"/>
          <p:cNvSpPr/>
          <p:nvPr/>
        </p:nvSpPr>
        <p:spPr>
          <a:xfrm>
            <a:off x="10028968" y="3523869"/>
            <a:ext cx="7134225" cy="5343525"/>
          </a:xfrm>
          <a:custGeom>
            <a:rect b="b" l="l" r="r" t="t"/>
            <a:pathLst>
              <a:path extrusionOk="0" h="7124700" w="9512300">
                <a:moveTo>
                  <a:pt x="0" y="0"/>
                </a:moveTo>
                <a:lnTo>
                  <a:pt x="9512300" y="0"/>
                </a:lnTo>
                <a:lnTo>
                  <a:pt x="9512300" y="7124700"/>
                </a:lnTo>
                <a:lnTo>
                  <a:pt x="0" y="7124700"/>
                </a:lnTo>
                <a:lnTo>
                  <a:pt x="0" y="0"/>
                </a:lnTo>
                <a:close/>
              </a:path>
            </a:pathLst>
          </a:custGeom>
          <a:blipFill rotWithShape="1">
            <a:blip r:embed="rId7">
              <a:alphaModFix/>
            </a:blip>
            <a:stretch>
              <a:fillRect b="0" l="0" r="0" t="0"/>
            </a:stretch>
          </a:blipFill>
          <a:ln>
            <a:noFill/>
          </a:ln>
        </p:spPr>
      </p:sp>
      <p:grpSp>
        <p:nvGrpSpPr>
          <p:cNvPr id="598" name="Google Shape;598;p15"/>
          <p:cNvGrpSpPr/>
          <p:nvPr/>
        </p:nvGrpSpPr>
        <p:grpSpPr>
          <a:xfrm>
            <a:off x="131089" y="197155"/>
            <a:ext cx="411477" cy="592837"/>
            <a:chOff x="63500" y="63500"/>
            <a:chExt cx="411479" cy="592837"/>
          </a:xfrm>
        </p:grpSpPr>
        <p:sp>
          <p:nvSpPr>
            <p:cNvPr id="599" name="Google Shape;599;p15"/>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606" name="Google Shape;606;p15"/>
          <p:cNvGrpSpPr/>
          <p:nvPr/>
        </p:nvGrpSpPr>
        <p:grpSpPr>
          <a:xfrm>
            <a:off x="12183339" y="7617"/>
            <a:ext cx="6095997" cy="1492628"/>
            <a:chOff x="63500" y="63500"/>
            <a:chExt cx="6096000" cy="1492634"/>
          </a:xfrm>
        </p:grpSpPr>
        <p:sp>
          <p:nvSpPr>
            <p:cNvPr id="607" name="Google Shape;607;p15"/>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608" name="Google Shape;608;p15"/>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609" name="Google Shape;609;p15"/>
          <p:cNvSpPr txBox="1"/>
          <p:nvPr/>
        </p:nvSpPr>
        <p:spPr>
          <a:xfrm>
            <a:off x="4878495" y="1902371"/>
            <a:ext cx="9097623" cy="1835039"/>
          </a:xfrm>
          <a:prstGeom prst="rect">
            <a:avLst/>
          </a:prstGeom>
          <a:noFill/>
          <a:ln>
            <a:noFill/>
          </a:ln>
        </p:spPr>
        <p:txBody>
          <a:bodyPr anchorCtr="0" anchor="t" bIns="0" lIns="0" spcFirstLastPara="1" rIns="0" wrap="square" tIns="0">
            <a:spAutoFit/>
          </a:bodyPr>
          <a:lstStyle/>
          <a:p>
            <a:pPr indent="0" lvl="0" marL="0" marR="0" rtl="0" algn="ctr">
              <a:lnSpc>
                <a:spcPct val="118407"/>
              </a:lnSpc>
              <a:spcBef>
                <a:spcPts val="0"/>
              </a:spcBef>
              <a:spcAft>
                <a:spcPts val="0"/>
              </a:spcAft>
              <a:buNone/>
            </a:pPr>
            <a:r>
              <a:rPr lang="en-US" sz="2977">
                <a:solidFill>
                  <a:srgbClr val="000000"/>
                </a:solidFill>
                <a:latin typeface="Calibri"/>
                <a:ea typeface="Calibri"/>
                <a:cs typeface="Calibri"/>
                <a:sym typeface="Calibri"/>
              </a:rPr>
              <a:t>Based on the feedback we received, we redesigned the hardware and made it smaller in size. This allows users to easily feel the images using their palm, and the device can now comfortably fit in the hand.</a:t>
            </a:r>
            <a:endParaRPr/>
          </a:p>
        </p:txBody>
      </p:sp>
      <p:sp>
        <p:nvSpPr>
          <p:cNvPr id="610" name="Google Shape;610;p15"/>
          <p:cNvSpPr txBox="1"/>
          <p:nvPr/>
        </p:nvSpPr>
        <p:spPr>
          <a:xfrm>
            <a:off x="3848986" y="9399356"/>
            <a:ext cx="1150820"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Before</a:t>
            </a:r>
            <a:endParaRPr/>
          </a:p>
        </p:txBody>
      </p:sp>
      <p:sp>
        <p:nvSpPr>
          <p:cNvPr id="611" name="Google Shape;611;p15"/>
          <p:cNvSpPr txBox="1"/>
          <p:nvPr/>
        </p:nvSpPr>
        <p:spPr>
          <a:xfrm>
            <a:off x="6316589" y="333842"/>
            <a:ext cx="5412857"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User Validation &amp; Confirmation</a:t>
            </a:r>
            <a:endParaRPr/>
          </a:p>
        </p:txBody>
      </p:sp>
      <p:sp>
        <p:nvSpPr>
          <p:cNvPr id="612" name="Google Shape;612;p15"/>
          <p:cNvSpPr txBox="1"/>
          <p:nvPr/>
        </p:nvSpPr>
        <p:spPr>
          <a:xfrm>
            <a:off x="13161569" y="9399356"/>
            <a:ext cx="881882"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After</a:t>
            </a:r>
            <a:endParaRPr/>
          </a:p>
        </p:txBody>
      </p:sp>
      <p:sp>
        <p:nvSpPr>
          <p:cNvPr id="613" name="Google Shape;613;p15"/>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6"/>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619" name="Google Shape;619;p16"/>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620" name="Google Shape;620;p16"/>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621" name="Google Shape;621;p16"/>
          <p:cNvSpPr/>
          <p:nvPr/>
        </p:nvSpPr>
        <p:spPr>
          <a:xfrm>
            <a:off x="17827104" y="4592307"/>
            <a:ext cx="452245" cy="2345304"/>
          </a:xfrm>
          <a:custGeom>
            <a:rect b="b" l="l" r="r" t="t"/>
            <a:pathLst>
              <a:path extrusionOk="0" h="2345311" w="452242">
                <a:moveTo>
                  <a:pt x="0" y="0"/>
                </a:moveTo>
                <a:lnTo>
                  <a:pt x="0" y="2345311"/>
                </a:lnTo>
                <a:lnTo>
                  <a:pt x="452242" y="2345311"/>
                </a:lnTo>
                <a:lnTo>
                  <a:pt x="452242" y="0"/>
                </a:lnTo>
                <a:close/>
              </a:path>
            </a:pathLst>
          </a:custGeom>
          <a:solidFill>
            <a:srgbClr val="E69138"/>
          </a:solidFill>
          <a:ln>
            <a:noFill/>
          </a:ln>
        </p:spPr>
      </p:sp>
      <p:sp>
        <p:nvSpPr>
          <p:cNvPr id="622" name="Google Shape;622;p16"/>
          <p:cNvSpPr/>
          <p:nvPr/>
        </p:nvSpPr>
        <p:spPr>
          <a:xfrm>
            <a:off x="0" y="442093"/>
            <a:ext cx="6789135" cy="5915025"/>
          </a:xfrm>
          <a:custGeom>
            <a:rect b="b" l="l" r="r" t="t"/>
            <a:pathLst>
              <a:path extrusionOk="0" h="7886700" w="9052179">
                <a:moveTo>
                  <a:pt x="0" y="0"/>
                </a:moveTo>
                <a:lnTo>
                  <a:pt x="9052179" y="0"/>
                </a:lnTo>
                <a:lnTo>
                  <a:pt x="9052179" y="7886700"/>
                </a:lnTo>
                <a:lnTo>
                  <a:pt x="0" y="7886700"/>
                </a:lnTo>
                <a:lnTo>
                  <a:pt x="0" y="0"/>
                </a:lnTo>
                <a:close/>
              </a:path>
            </a:pathLst>
          </a:custGeom>
          <a:blipFill rotWithShape="1">
            <a:blip r:embed="rId5">
              <a:alphaModFix/>
            </a:blip>
            <a:stretch>
              <a:fillRect b="0" l="-18973" r="0" t="0"/>
            </a:stretch>
          </a:blipFill>
          <a:ln>
            <a:noFill/>
          </a:ln>
        </p:spPr>
      </p:sp>
      <p:sp>
        <p:nvSpPr>
          <p:cNvPr id="623" name="Google Shape;623;p16"/>
          <p:cNvSpPr/>
          <p:nvPr/>
        </p:nvSpPr>
        <p:spPr>
          <a:xfrm>
            <a:off x="2715530" y="5143500"/>
            <a:ext cx="6905625" cy="5143500"/>
          </a:xfrm>
          <a:custGeom>
            <a:rect b="b" l="l" r="r" t="t"/>
            <a:pathLst>
              <a:path extrusionOk="0" h="6858000" w="9207500">
                <a:moveTo>
                  <a:pt x="0" y="0"/>
                </a:moveTo>
                <a:lnTo>
                  <a:pt x="9207500" y="0"/>
                </a:lnTo>
                <a:lnTo>
                  <a:pt x="9207500" y="6858000"/>
                </a:lnTo>
                <a:lnTo>
                  <a:pt x="0" y="6858000"/>
                </a:lnTo>
                <a:lnTo>
                  <a:pt x="0" y="0"/>
                </a:lnTo>
                <a:close/>
              </a:path>
            </a:pathLst>
          </a:custGeom>
          <a:blipFill rotWithShape="1">
            <a:blip r:embed="rId6">
              <a:alphaModFix/>
            </a:blip>
            <a:stretch>
              <a:fillRect b="-370" l="0" r="0" t="0"/>
            </a:stretch>
          </a:blipFill>
          <a:ln>
            <a:noFill/>
          </a:ln>
        </p:spPr>
      </p:sp>
      <p:sp>
        <p:nvSpPr>
          <p:cNvPr id="624" name="Google Shape;624;p16"/>
          <p:cNvSpPr/>
          <p:nvPr/>
        </p:nvSpPr>
        <p:spPr>
          <a:xfrm>
            <a:off x="10890142" y="5914034"/>
            <a:ext cx="6962775" cy="4372928"/>
          </a:xfrm>
          <a:custGeom>
            <a:rect b="b" l="l" r="r" t="t"/>
            <a:pathLst>
              <a:path extrusionOk="0" h="5830570" w="9283700">
                <a:moveTo>
                  <a:pt x="0" y="0"/>
                </a:moveTo>
                <a:lnTo>
                  <a:pt x="9283700" y="0"/>
                </a:lnTo>
                <a:lnTo>
                  <a:pt x="9283700" y="5830570"/>
                </a:lnTo>
                <a:lnTo>
                  <a:pt x="0" y="5830570"/>
                </a:lnTo>
                <a:lnTo>
                  <a:pt x="0" y="0"/>
                </a:lnTo>
                <a:close/>
              </a:path>
            </a:pathLst>
          </a:custGeom>
          <a:blipFill rotWithShape="1">
            <a:blip r:embed="rId7">
              <a:alphaModFix/>
            </a:blip>
            <a:stretch>
              <a:fillRect b="-26987" l="0" r="-6155" t="0"/>
            </a:stretch>
          </a:blipFill>
          <a:ln>
            <a:noFill/>
          </a:ln>
        </p:spPr>
      </p:sp>
      <p:sp>
        <p:nvSpPr>
          <p:cNvPr id="625" name="Google Shape;625;p16"/>
          <p:cNvSpPr/>
          <p:nvPr/>
        </p:nvSpPr>
        <p:spPr>
          <a:xfrm>
            <a:off x="9308011" y="1316164"/>
            <a:ext cx="5534025" cy="4162425"/>
          </a:xfrm>
          <a:custGeom>
            <a:rect b="b" l="l" r="r" t="t"/>
            <a:pathLst>
              <a:path extrusionOk="0" h="5549900" w="7378700">
                <a:moveTo>
                  <a:pt x="0" y="0"/>
                </a:moveTo>
                <a:lnTo>
                  <a:pt x="7378700" y="0"/>
                </a:lnTo>
                <a:lnTo>
                  <a:pt x="7378700" y="5549900"/>
                </a:lnTo>
                <a:lnTo>
                  <a:pt x="0" y="5549900"/>
                </a:lnTo>
                <a:lnTo>
                  <a:pt x="0" y="0"/>
                </a:lnTo>
                <a:close/>
              </a:path>
            </a:pathLst>
          </a:custGeom>
          <a:blipFill rotWithShape="1">
            <a:blip r:embed="rId8">
              <a:alphaModFix/>
            </a:blip>
            <a:stretch>
              <a:fillRect b="0" l="0" r="0" t="0"/>
            </a:stretch>
          </a:blipFill>
          <a:ln>
            <a:noFill/>
          </a:ln>
        </p:spPr>
      </p:sp>
      <p:grpSp>
        <p:nvGrpSpPr>
          <p:cNvPr id="626" name="Google Shape;626;p16"/>
          <p:cNvGrpSpPr/>
          <p:nvPr/>
        </p:nvGrpSpPr>
        <p:grpSpPr>
          <a:xfrm>
            <a:off x="254152" y="185714"/>
            <a:ext cx="427354" cy="615693"/>
            <a:chOff x="63500" y="63500"/>
            <a:chExt cx="427356" cy="615699"/>
          </a:xfrm>
        </p:grpSpPr>
        <p:sp>
          <p:nvSpPr>
            <p:cNvPr id="627" name="Google Shape;627;p16"/>
            <p:cNvSpPr/>
            <p:nvPr/>
          </p:nvSpPr>
          <p:spPr>
            <a:xfrm>
              <a:off x="63500" y="63500"/>
              <a:ext cx="187452" cy="177547"/>
            </a:xfrm>
            <a:custGeom>
              <a:rect b="b" l="l" r="r" t="t"/>
              <a:pathLst>
                <a:path extrusionOk="0" h="177547" w="187452">
                  <a:moveTo>
                    <a:pt x="187325" y="88774"/>
                  </a:moveTo>
                  <a:cubicBezTo>
                    <a:pt x="187325" y="94616"/>
                    <a:pt x="186690" y="100331"/>
                    <a:pt x="185547" y="106046"/>
                  </a:cubicBezTo>
                  <a:cubicBezTo>
                    <a:pt x="184404" y="111761"/>
                    <a:pt x="182626" y="117349"/>
                    <a:pt x="180213" y="122683"/>
                  </a:cubicBezTo>
                  <a:cubicBezTo>
                    <a:pt x="177800" y="128017"/>
                    <a:pt x="175006" y="133224"/>
                    <a:pt x="171577" y="138050"/>
                  </a:cubicBezTo>
                  <a:cubicBezTo>
                    <a:pt x="168148" y="142876"/>
                    <a:pt x="164338" y="147321"/>
                    <a:pt x="159893" y="151512"/>
                  </a:cubicBezTo>
                  <a:cubicBezTo>
                    <a:pt x="155448" y="155703"/>
                    <a:pt x="150749" y="159259"/>
                    <a:pt x="145669" y="162561"/>
                  </a:cubicBezTo>
                  <a:cubicBezTo>
                    <a:pt x="140589" y="165863"/>
                    <a:pt x="135128" y="168530"/>
                    <a:pt x="129413" y="170816"/>
                  </a:cubicBezTo>
                  <a:cubicBezTo>
                    <a:pt x="123698" y="173102"/>
                    <a:pt x="117856" y="174753"/>
                    <a:pt x="111887" y="175896"/>
                  </a:cubicBezTo>
                  <a:cubicBezTo>
                    <a:pt x="105918" y="177039"/>
                    <a:pt x="99822" y="177547"/>
                    <a:pt x="93599" y="177547"/>
                  </a:cubicBezTo>
                  <a:cubicBezTo>
                    <a:pt x="87376" y="177547"/>
                    <a:pt x="81407" y="177039"/>
                    <a:pt x="75311" y="175896"/>
                  </a:cubicBezTo>
                  <a:cubicBezTo>
                    <a:pt x="69215" y="174753"/>
                    <a:pt x="63373" y="173102"/>
                    <a:pt x="57785" y="170816"/>
                  </a:cubicBezTo>
                  <a:cubicBezTo>
                    <a:pt x="52197" y="168530"/>
                    <a:pt x="46736" y="165863"/>
                    <a:pt x="41529" y="162561"/>
                  </a:cubicBezTo>
                  <a:cubicBezTo>
                    <a:pt x="36322" y="159259"/>
                    <a:pt x="31623" y="155703"/>
                    <a:pt x="27305" y="151512"/>
                  </a:cubicBezTo>
                  <a:cubicBezTo>
                    <a:pt x="22987" y="147321"/>
                    <a:pt x="19050" y="142876"/>
                    <a:pt x="15621" y="138050"/>
                  </a:cubicBezTo>
                  <a:cubicBezTo>
                    <a:pt x="12192" y="133224"/>
                    <a:pt x="9271" y="128144"/>
                    <a:pt x="6985" y="122683"/>
                  </a:cubicBezTo>
                  <a:cubicBezTo>
                    <a:pt x="4699" y="117222"/>
                    <a:pt x="2794" y="111761"/>
                    <a:pt x="1651" y="106046"/>
                  </a:cubicBezTo>
                  <a:cubicBezTo>
                    <a:pt x="508" y="100331"/>
                    <a:pt x="0" y="94489"/>
                    <a:pt x="0" y="88774"/>
                  </a:cubicBezTo>
                  <a:cubicBezTo>
                    <a:pt x="0" y="83059"/>
                    <a:pt x="635" y="77217"/>
                    <a:pt x="1778" y="71502"/>
                  </a:cubicBezTo>
                  <a:cubicBezTo>
                    <a:pt x="2921" y="65787"/>
                    <a:pt x="4699" y="60199"/>
                    <a:pt x="7112" y="54865"/>
                  </a:cubicBezTo>
                  <a:cubicBezTo>
                    <a:pt x="9525" y="49531"/>
                    <a:pt x="12319" y="44324"/>
                    <a:pt x="15748" y="39497"/>
                  </a:cubicBezTo>
                  <a:cubicBezTo>
                    <a:pt x="19177" y="34671"/>
                    <a:pt x="22987" y="30226"/>
                    <a:pt x="27432" y="26035"/>
                  </a:cubicBezTo>
                  <a:cubicBezTo>
                    <a:pt x="31877" y="21844"/>
                    <a:pt x="36576" y="18288"/>
                    <a:pt x="41656" y="14986"/>
                  </a:cubicBezTo>
                  <a:cubicBezTo>
                    <a:pt x="46736" y="11684"/>
                    <a:pt x="52197" y="9017"/>
                    <a:pt x="57912" y="6731"/>
                  </a:cubicBezTo>
                  <a:cubicBezTo>
                    <a:pt x="63627" y="4445"/>
                    <a:pt x="69469" y="2794"/>
                    <a:pt x="75438" y="1651"/>
                  </a:cubicBezTo>
                  <a:cubicBezTo>
                    <a:pt x="81407" y="508"/>
                    <a:pt x="87503" y="0"/>
                    <a:pt x="93726" y="0"/>
                  </a:cubicBezTo>
                  <a:cubicBezTo>
                    <a:pt x="99949" y="0"/>
                    <a:pt x="105918" y="508"/>
                    <a:pt x="112014" y="1651"/>
                  </a:cubicBezTo>
                  <a:cubicBezTo>
                    <a:pt x="118110" y="2794"/>
                    <a:pt x="123952" y="4445"/>
                    <a:pt x="129540" y="6731"/>
                  </a:cubicBezTo>
                  <a:cubicBezTo>
                    <a:pt x="135128" y="9017"/>
                    <a:pt x="140589" y="11684"/>
                    <a:pt x="145796" y="14986"/>
                  </a:cubicBezTo>
                  <a:cubicBezTo>
                    <a:pt x="151003" y="18288"/>
                    <a:pt x="155702" y="21844"/>
                    <a:pt x="160020" y="26035"/>
                  </a:cubicBezTo>
                  <a:cubicBezTo>
                    <a:pt x="164338" y="30226"/>
                    <a:pt x="168275" y="34671"/>
                    <a:pt x="171704" y="39497"/>
                  </a:cubicBezTo>
                  <a:cubicBezTo>
                    <a:pt x="175133" y="44324"/>
                    <a:pt x="178054" y="49404"/>
                    <a:pt x="180340" y="54865"/>
                  </a:cubicBezTo>
                  <a:cubicBezTo>
                    <a:pt x="182626" y="60326"/>
                    <a:pt x="184531" y="65787"/>
                    <a:pt x="185674" y="71502"/>
                  </a:cubicBezTo>
                  <a:cubicBezTo>
                    <a:pt x="186817" y="77217"/>
                    <a:pt x="187452" y="82932"/>
                    <a:pt x="187452" y="8877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301371" y="63500"/>
              <a:ext cx="187579" cy="177547"/>
            </a:xfrm>
            <a:custGeom>
              <a:rect b="b" l="l" r="r" t="t"/>
              <a:pathLst>
                <a:path extrusionOk="0" h="177547" w="187579">
                  <a:moveTo>
                    <a:pt x="187453" y="88774"/>
                  </a:moveTo>
                  <a:cubicBezTo>
                    <a:pt x="187453" y="94616"/>
                    <a:pt x="186818" y="100331"/>
                    <a:pt x="185675" y="106046"/>
                  </a:cubicBezTo>
                  <a:cubicBezTo>
                    <a:pt x="184532" y="111761"/>
                    <a:pt x="182754" y="117349"/>
                    <a:pt x="180341" y="122683"/>
                  </a:cubicBezTo>
                  <a:cubicBezTo>
                    <a:pt x="177928" y="128017"/>
                    <a:pt x="175134" y="133224"/>
                    <a:pt x="171705" y="138050"/>
                  </a:cubicBezTo>
                  <a:cubicBezTo>
                    <a:pt x="168276" y="142876"/>
                    <a:pt x="164466" y="147321"/>
                    <a:pt x="160021" y="151512"/>
                  </a:cubicBezTo>
                  <a:cubicBezTo>
                    <a:pt x="155576" y="155703"/>
                    <a:pt x="150877" y="159259"/>
                    <a:pt x="145797" y="162561"/>
                  </a:cubicBezTo>
                  <a:cubicBezTo>
                    <a:pt x="140717" y="165863"/>
                    <a:pt x="135256" y="168530"/>
                    <a:pt x="129541" y="170816"/>
                  </a:cubicBezTo>
                  <a:cubicBezTo>
                    <a:pt x="123826" y="173102"/>
                    <a:pt x="117984" y="174753"/>
                    <a:pt x="112015" y="175896"/>
                  </a:cubicBezTo>
                  <a:cubicBezTo>
                    <a:pt x="106046" y="177039"/>
                    <a:pt x="99950" y="177547"/>
                    <a:pt x="93727" y="177547"/>
                  </a:cubicBezTo>
                  <a:cubicBezTo>
                    <a:pt x="87504" y="177547"/>
                    <a:pt x="81535" y="177039"/>
                    <a:pt x="75439" y="175896"/>
                  </a:cubicBezTo>
                  <a:cubicBezTo>
                    <a:pt x="69343" y="174753"/>
                    <a:pt x="63501" y="173102"/>
                    <a:pt x="57913" y="170816"/>
                  </a:cubicBezTo>
                  <a:cubicBezTo>
                    <a:pt x="52325" y="168530"/>
                    <a:pt x="46864" y="165863"/>
                    <a:pt x="41657" y="162561"/>
                  </a:cubicBezTo>
                  <a:cubicBezTo>
                    <a:pt x="36450" y="159259"/>
                    <a:pt x="31751" y="155703"/>
                    <a:pt x="27433" y="151512"/>
                  </a:cubicBezTo>
                  <a:cubicBezTo>
                    <a:pt x="23114" y="147321"/>
                    <a:pt x="19177" y="142876"/>
                    <a:pt x="15748" y="138050"/>
                  </a:cubicBezTo>
                  <a:cubicBezTo>
                    <a:pt x="12319" y="133224"/>
                    <a:pt x="9398" y="128144"/>
                    <a:pt x="7112" y="122683"/>
                  </a:cubicBezTo>
                  <a:cubicBezTo>
                    <a:pt x="4826" y="117222"/>
                    <a:pt x="2921" y="111761"/>
                    <a:pt x="1778" y="106046"/>
                  </a:cubicBezTo>
                  <a:cubicBezTo>
                    <a:pt x="635" y="100331"/>
                    <a:pt x="0" y="94616"/>
                    <a:pt x="0" y="88774"/>
                  </a:cubicBezTo>
                  <a:cubicBezTo>
                    <a:pt x="0" y="82932"/>
                    <a:pt x="635" y="77217"/>
                    <a:pt x="1778" y="71502"/>
                  </a:cubicBezTo>
                  <a:cubicBezTo>
                    <a:pt x="2921" y="65787"/>
                    <a:pt x="4699" y="60199"/>
                    <a:pt x="7112" y="54865"/>
                  </a:cubicBezTo>
                  <a:cubicBezTo>
                    <a:pt x="9525" y="49531"/>
                    <a:pt x="12319" y="44324"/>
                    <a:pt x="15748" y="39497"/>
                  </a:cubicBezTo>
                  <a:cubicBezTo>
                    <a:pt x="19177" y="34671"/>
                    <a:pt x="22987" y="30226"/>
                    <a:pt x="27433" y="26035"/>
                  </a:cubicBezTo>
                  <a:cubicBezTo>
                    <a:pt x="31878" y="21844"/>
                    <a:pt x="36577" y="18288"/>
                    <a:pt x="41657" y="14986"/>
                  </a:cubicBezTo>
                  <a:cubicBezTo>
                    <a:pt x="46737" y="11684"/>
                    <a:pt x="52198" y="9017"/>
                    <a:pt x="57913" y="6731"/>
                  </a:cubicBezTo>
                  <a:cubicBezTo>
                    <a:pt x="63628" y="4445"/>
                    <a:pt x="69470" y="2794"/>
                    <a:pt x="75439" y="1651"/>
                  </a:cubicBezTo>
                  <a:cubicBezTo>
                    <a:pt x="81408" y="508"/>
                    <a:pt x="87631" y="0"/>
                    <a:pt x="93854" y="0"/>
                  </a:cubicBezTo>
                  <a:cubicBezTo>
                    <a:pt x="100077" y="0"/>
                    <a:pt x="106046" y="508"/>
                    <a:pt x="112142" y="1651"/>
                  </a:cubicBezTo>
                  <a:cubicBezTo>
                    <a:pt x="118238" y="2794"/>
                    <a:pt x="124080" y="4445"/>
                    <a:pt x="129668" y="6731"/>
                  </a:cubicBezTo>
                  <a:cubicBezTo>
                    <a:pt x="135256" y="9017"/>
                    <a:pt x="140717" y="11684"/>
                    <a:pt x="145924" y="14986"/>
                  </a:cubicBezTo>
                  <a:cubicBezTo>
                    <a:pt x="151131" y="18288"/>
                    <a:pt x="155830" y="21844"/>
                    <a:pt x="160148" y="26035"/>
                  </a:cubicBezTo>
                  <a:cubicBezTo>
                    <a:pt x="164466" y="30226"/>
                    <a:pt x="168403" y="34671"/>
                    <a:pt x="171832" y="39497"/>
                  </a:cubicBezTo>
                  <a:cubicBezTo>
                    <a:pt x="175261" y="44324"/>
                    <a:pt x="178182" y="49404"/>
                    <a:pt x="180468" y="54865"/>
                  </a:cubicBezTo>
                  <a:cubicBezTo>
                    <a:pt x="182754" y="60326"/>
                    <a:pt x="184659" y="65787"/>
                    <a:pt x="185802" y="71502"/>
                  </a:cubicBezTo>
                  <a:cubicBezTo>
                    <a:pt x="186945" y="77217"/>
                    <a:pt x="187580" y="82932"/>
                    <a:pt x="187580" y="8877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296418" y="281433"/>
              <a:ext cx="187452" cy="177547"/>
            </a:xfrm>
            <a:custGeom>
              <a:rect b="b" l="l" r="r" t="t"/>
              <a:pathLst>
                <a:path extrusionOk="0" h="177547" w="187452">
                  <a:moveTo>
                    <a:pt x="187453" y="88774"/>
                  </a:moveTo>
                  <a:cubicBezTo>
                    <a:pt x="187453" y="94616"/>
                    <a:pt x="186818" y="100331"/>
                    <a:pt x="185675" y="106046"/>
                  </a:cubicBezTo>
                  <a:cubicBezTo>
                    <a:pt x="184532" y="111761"/>
                    <a:pt x="182754" y="117349"/>
                    <a:pt x="180341" y="122683"/>
                  </a:cubicBezTo>
                  <a:cubicBezTo>
                    <a:pt x="177928" y="128017"/>
                    <a:pt x="175134" y="133224"/>
                    <a:pt x="171705" y="138050"/>
                  </a:cubicBezTo>
                  <a:cubicBezTo>
                    <a:pt x="168276" y="142876"/>
                    <a:pt x="164466" y="147321"/>
                    <a:pt x="160021" y="151512"/>
                  </a:cubicBezTo>
                  <a:cubicBezTo>
                    <a:pt x="155576" y="155703"/>
                    <a:pt x="150877" y="159259"/>
                    <a:pt x="145797" y="162561"/>
                  </a:cubicBezTo>
                  <a:cubicBezTo>
                    <a:pt x="140717" y="165863"/>
                    <a:pt x="135256" y="168530"/>
                    <a:pt x="129541" y="170816"/>
                  </a:cubicBezTo>
                  <a:cubicBezTo>
                    <a:pt x="123826" y="173102"/>
                    <a:pt x="117984" y="174753"/>
                    <a:pt x="112015" y="175896"/>
                  </a:cubicBezTo>
                  <a:cubicBezTo>
                    <a:pt x="106046" y="177039"/>
                    <a:pt x="99950" y="177547"/>
                    <a:pt x="93727" y="177547"/>
                  </a:cubicBezTo>
                  <a:cubicBezTo>
                    <a:pt x="87504" y="177547"/>
                    <a:pt x="81535" y="177039"/>
                    <a:pt x="75439" y="175896"/>
                  </a:cubicBezTo>
                  <a:cubicBezTo>
                    <a:pt x="69343" y="174753"/>
                    <a:pt x="63501" y="173102"/>
                    <a:pt x="57912" y="170816"/>
                  </a:cubicBezTo>
                  <a:cubicBezTo>
                    <a:pt x="52324" y="168530"/>
                    <a:pt x="46863" y="165863"/>
                    <a:pt x="41656" y="162561"/>
                  </a:cubicBezTo>
                  <a:cubicBezTo>
                    <a:pt x="36449" y="159259"/>
                    <a:pt x="31750" y="155703"/>
                    <a:pt x="27432" y="151512"/>
                  </a:cubicBezTo>
                  <a:cubicBezTo>
                    <a:pt x="23114" y="147321"/>
                    <a:pt x="19177" y="142876"/>
                    <a:pt x="15748" y="138050"/>
                  </a:cubicBezTo>
                  <a:cubicBezTo>
                    <a:pt x="12319" y="133224"/>
                    <a:pt x="9398" y="128144"/>
                    <a:pt x="7112" y="122683"/>
                  </a:cubicBezTo>
                  <a:cubicBezTo>
                    <a:pt x="4826" y="117222"/>
                    <a:pt x="2921" y="111761"/>
                    <a:pt x="1778" y="106046"/>
                  </a:cubicBezTo>
                  <a:cubicBezTo>
                    <a:pt x="635" y="100331"/>
                    <a:pt x="0" y="94616"/>
                    <a:pt x="0" y="88774"/>
                  </a:cubicBezTo>
                  <a:cubicBezTo>
                    <a:pt x="0" y="82932"/>
                    <a:pt x="635" y="77217"/>
                    <a:pt x="1778" y="71502"/>
                  </a:cubicBezTo>
                  <a:cubicBezTo>
                    <a:pt x="2921" y="65787"/>
                    <a:pt x="4699" y="60199"/>
                    <a:pt x="7112" y="54865"/>
                  </a:cubicBezTo>
                  <a:cubicBezTo>
                    <a:pt x="9525" y="49531"/>
                    <a:pt x="12319" y="44324"/>
                    <a:pt x="15748" y="39498"/>
                  </a:cubicBezTo>
                  <a:cubicBezTo>
                    <a:pt x="19177" y="34671"/>
                    <a:pt x="22987" y="30226"/>
                    <a:pt x="27432" y="26035"/>
                  </a:cubicBezTo>
                  <a:cubicBezTo>
                    <a:pt x="31877" y="21844"/>
                    <a:pt x="36576" y="18288"/>
                    <a:pt x="41656" y="14986"/>
                  </a:cubicBezTo>
                  <a:cubicBezTo>
                    <a:pt x="46736" y="11684"/>
                    <a:pt x="52197" y="9017"/>
                    <a:pt x="57912" y="6731"/>
                  </a:cubicBezTo>
                  <a:cubicBezTo>
                    <a:pt x="63628" y="4445"/>
                    <a:pt x="69470" y="2794"/>
                    <a:pt x="75439" y="1651"/>
                  </a:cubicBezTo>
                  <a:cubicBezTo>
                    <a:pt x="81408" y="508"/>
                    <a:pt x="87504" y="0"/>
                    <a:pt x="93727" y="0"/>
                  </a:cubicBezTo>
                  <a:cubicBezTo>
                    <a:pt x="99950" y="0"/>
                    <a:pt x="105919" y="508"/>
                    <a:pt x="112015" y="1651"/>
                  </a:cubicBezTo>
                  <a:cubicBezTo>
                    <a:pt x="118111" y="2794"/>
                    <a:pt x="123953" y="4445"/>
                    <a:pt x="129541" y="6731"/>
                  </a:cubicBezTo>
                  <a:cubicBezTo>
                    <a:pt x="135129" y="9017"/>
                    <a:pt x="140590" y="11684"/>
                    <a:pt x="145797" y="14986"/>
                  </a:cubicBezTo>
                  <a:cubicBezTo>
                    <a:pt x="151004" y="18288"/>
                    <a:pt x="155703" y="21844"/>
                    <a:pt x="160021" y="26035"/>
                  </a:cubicBezTo>
                  <a:cubicBezTo>
                    <a:pt x="164339" y="30226"/>
                    <a:pt x="168276" y="34671"/>
                    <a:pt x="171705" y="39498"/>
                  </a:cubicBezTo>
                  <a:cubicBezTo>
                    <a:pt x="175134" y="44324"/>
                    <a:pt x="178055" y="49404"/>
                    <a:pt x="180341" y="54865"/>
                  </a:cubicBezTo>
                  <a:cubicBezTo>
                    <a:pt x="182627" y="60326"/>
                    <a:pt x="184532" y="65787"/>
                    <a:pt x="185675" y="71502"/>
                  </a:cubicBezTo>
                  <a:cubicBezTo>
                    <a:pt x="186818" y="77217"/>
                    <a:pt x="187453" y="82932"/>
                    <a:pt x="187453" y="8877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63500" y="499366"/>
              <a:ext cx="187452" cy="177547"/>
            </a:xfrm>
            <a:custGeom>
              <a:rect b="b" l="l" r="r" t="t"/>
              <a:pathLst>
                <a:path extrusionOk="0" h="177547" w="187452">
                  <a:moveTo>
                    <a:pt x="187325" y="88774"/>
                  </a:moveTo>
                  <a:cubicBezTo>
                    <a:pt x="187325" y="94616"/>
                    <a:pt x="186690" y="100331"/>
                    <a:pt x="185547" y="106046"/>
                  </a:cubicBezTo>
                  <a:cubicBezTo>
                    <a:pt x="184404" y="111761"/>
                    <a:pt x="182626" y="117349"/>
                    <a:pt x="180213" y="122683"/>
                  </a:cubicBezTo>
                  <a:cubicBezTo>
                    <a:pt x="177800" y="128017"/>
                    <a:pt x="175006" y="133224"/>
                    <a:pt x="171577" y="138050"/>
                  </a:cubicBezTo>
                  <a:cubicBezTo>
                    <a:pt x="168148" y="142876"/>
                    <a:pt x="164338" y="147321"/>
                    <a:pt x="159893" y="151512"/>
                  </a:cubicBezTo>
                  <a:cubicBezTo>
                    <a:pt x="155448" y="155703"/>
                    <a:pt x="150749" y="159259"/>
                    <a:pt x="145669" y="162561"/>
                  </a:cubicBezTo>
                  <a:cubicBezTo>
                    <a:pt x="140589" y="165863"/>
                    <a:pt x="135128" y="168530"/>
                    <a:pt x="129413" y="170816"/>
                  </a:cubicBezTo>
                  <a:cubicBezTo>
                    <a:pt x="123698" y="173102"/>
                    <a:pt x="117856" y="174753"/>
                    <a:pt x="111887" y="175896"/>
                  </a:cubicBezTo>
                  <a:cubicBezTo>
                    <a:pt x="105918" y="177039"/>
                    <a:pt x="99822" y="177547"/>
                    <a:pt x="93599" y="177547"/>
                  </a:cubicBezTo>
                  <a:cubicBezTo>
                    <a:pt x="87376" y="177547"/>
                    <a:pt x="81407" y="177039"/>
                    <a:pt x="75311" y="175896"/>
                  </a:cubicBezTo>
                  <a:cubicBezTo>
                    <a:pt x="69215" y="174753"/>
                    <a:pt x="63373" y="173102"/>
                    <a:pt x="57785" y="170816"/>
                  </a:cubicBezTo>
                  <a:cubicBezTo>
                    <a:pt x="52197" y="168530"/>
                    <a:pt x="46736" y="165863"/>
                    <a:pt x="41529" y="162561"/>
                  </a:cubicBezTo>
                  <a:cubicBezTo>
                    <a:pt x="36322" y="159259"/>
                    <a:pt x="31623" y="155703"/>
                    <a:pt x="27305" y="151512"/>
                  </a:cubicBezTo>
                  <a:cubicBezTo>
                    <a:pt x="22987" y="147321"/>
                    <a:pt x="19050" y="142876"/>
                    <a:pt x="15621" y="138050"/>
                  </a:cubicBezTo>
                  <a:cubicBezTo>
                    <a:pt x="12192" y="133224"/>
                    <a:pt x="9271" y="128144"/>
                    <a:pt x="6985" y="122683"/>
                  </a:cubicBezTo>
                  <a:cubicBezTo>
                    <a:pt x="4699" y="117222"/>
                    <a:pt x="2794" y="111761"/>
                    <a:pt x="1651" y="106046"/>
                  </a:cubicBezTo>
                  <a:cubicBezTo>
                    <a:pt x="508" y="100331"/>
                    <a:pt x="0" y="94616"/>
                    <a:pt x="0" y="88774"/>
                  </a:cubicBezTo>
                  <a:cubicBezTo>
                    <a:pt x="0" y="82932"/>
                    <a:pt x="635" y="77217"/>
                    <a:pt x="1778" y="71502"/>
                  </a:cubicBezTo>
                  <a:cubicBezTo>
                    <a:pt x="2921" y="65787"/>
                    <a:pt x="4699" y="60199"/>
                    <a:pt x="7112" y="54865"/>
                  </a:cubicBezTo>
                  <a:cubicBezTo>
                    <a:pt x="9525" y="49531"/>
                    <a:pt x="12319" y="44324"/>
                    <a:pt x="15748" y="39498"/>
                  </a:cubicBezTo>
                  <a:cubicBezTo>
                    <a:pt x="19177" y="34672"/>
                    <a:pt x="22987" y="30227"/>
                    <a:pt x="27432" y="26036"/>
                  </a:cubicBezTo>
                  <a:cubicBezTo>
                    <a:pt x="31877" y="21844"/>
                    <a:pt x="36576" y="18288"/>
                    <a:pt x="41656" y="14986"/>
                  </a:cubicBezTo>
                  <a:cubicBezTo>
                    <a:pt x="46736" y="11684"/>
                    <a:pt x="52197" y="9017"/>
                    <a:pt x="57912" y="6731"/>
                  </a:cubicBezTo>
                  <a:cubicBezTo>
                    <a:pt x="63627" y="4445"/>
                    <a:pt x="69469" y="2794"/>
                    <a:pt x="75438" y="1651"/>
                  </a:cubicBezTo>
                  <a:cubicBezTo>
                    <a:pt x="81407" y="508"/>
                    <a:pt x="87503" y="0"/>
                    <a:pt x="93726" y="0"/>
                  </a:cubicBezTo>
                  <a:cubicBezTo>
                    <a:pt x="99949" y="0"/>
                    <a:pt x="105918" y="508"/>
                    <a:pt x="112014" y="1651"/>
                  </a:cubicBezTo>
                  <a:cubicBezTo>
                    <a:pt x="118110" y="2794"/>
                    <a:pt x="123952" y="4445"/>
                    <a:pt x="129540" y="6731"/>
                  </a:cubicBezTo>
                  <a:cubicBezTo>
                    <a:pt x="135128" y="9017"/>
                    <a:pt x="140589" y="11684"/>
                    <a:pt x="145796" y="14986"/>
                  </a:cubicBezTo>
                  <a:cubicBezTo>
                    <a:pt x="151003" y="18288"/>
                    <a:pt x="155702" y="21844"/>
                    <a:pt x="160020" y="26036"/>
                  </a:cubicBezTo>
                  <a:cubicBezTo>
                    <a:pt x="164338" y="30227"/>
                    <a:pt x="168275" y="34672"/>
                    <a:pt x="171704" y="39498"/>
                  </a:cubicBezTo>
                  <a:cubicBezTo>
                    <a:pt x="175133" y="44324"/>
                    <a:pt x="178054" y="49404"/>
                    <a:pt x="180340" y="54865"/>
                  </a:cubicBezTo>
                  <a:cubicBezTo>
                    <a:pt x="182626" y="60326"/>
                    <a:pt x="184531" y="65787"/>
                    <a:pt x="185674" y="71502"/>
                  </a:cubicBezTo>
                  <a:cubicBezTo>
                    <a:pt x="186817" y="77217"/>
                    <a:pt x="187452" y="82932"/>
                    <a:pt x="187452" y="8877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p:nvPr/>
          </p:nvSpPr>
          <p:spPr>
            <a:xfrm>
              <a:off x="63500" y="281433"/>
              <a:ext cx="187452" cy="177547"/>
            </a:xfrm>
            <a:custGeom>
              <a:rect b="b" l="l" r="r" t="t"/>
              <a:pathLst>
                <a:path extrusionOk="0" h="177547" w="187452">
                  <a:moveTo>
                    <a:pt x="187325" y="88774"/>
                  </a:moveTo>
                  <a:cubicBezTo>
                    <a:pt x="187325" y="94616"/>
                    <a:pt x="186690" y="100331"/>
                    <a:pt x="185547" y="106046"/>
                  </a:cubicBezTo>
                  <a:cubicBezTo>
                    <a:pt x="184404" y="111761"/>
                    <a:pt x="182626" y="117349"/>
                    <a:pt x="180213" y="122683"/>
                  </a:cubicBezTo>
                  <a:cubicBezTo>
                    <a:pt x="177800" y="128017"/>
                    <a:pt x="175006" y="133224"/>
                    <a:pt x="171577" y="138050"/>
                  </a:cubicBezTo>
                  <a:cubicBezTo>
                    <a:pt x="168148" y="142876"/>
                    <a:pt x="164338" y="147321"/>
                    <a:pt x="159893" y="151512"/>
                  </a:cubicBezTo>
                  <a:cubicBezTo>
                    <a:pt x="155448" y="155703"/>
                    <a:pt x="150749" y="159259"/>
                    <a:pt x="145669" y="162561"/>
                  </a:cubicBezTo>
                  <a:cubicBezTo>
                    <a:pt x="140589" y="165863"/>
                    <a:pt x="135128" y="168530"/>
                    <a:pt x="129413" y="170816"/>
                  </a:cubicBezTo>
                  <a:cubicBezTo>
                    <a:pt x="123698" y="173102"/>
                    <a:pt x="117856" y="174753"/>
                    <a:pt x="111887" y="175896"/>
                  </a:cubicBezTo>
                  <a:cubicBezTo>
                    <a:pt x="105918" y="177039"/>
                    <a:pt x="99822" y="177547"/>
                    <a:pt x="93599" y="177547"/>
                  </a:cubicBezTo>
                  <a:cubicBezTo>
                    <a:pt x="87376" y="177547"/>
                    <a:pt x="81407" y="177039"/>
                    <a:pt x="75311" y="175896"/>
                  </a:cubicBezTo>
                  <a:cubicBezTo>
                    <a:pt x="69215" y="174753"/>
                    <a:pt x="63373" y="173102"/>
                    <a:pt x="57785" y="170816"/>
                  </a:cubicBezTo>
                  <a:cubicBezTo>
                    <a:pt x="52197" y="168530"/>
                    <a:pt x="46736" y="165863"/>
                    <a:pt x="41529" y="162561"/>
                  </a:cubicBezTo>
                  <a:cubicBezTo>
                    <a:pt x="36322" y="159259"/>
                    <a:pt x="31623" y="155703"/>
                    <a:pt x="27305" y="151512"/>
                  </a:cubicBezTo>
                  <a:cubicBezTo>
                    <a:pt x="22987" y="147321"/>
                    <a:pt x="19050" y="142876"/>
                    <a:pt x="15621" y="138050"/>
                  </a:cubicBezTo>
                  <a:cubicBezTo>
                    <a:pt x="12192" y="133224"/>
                    <a:pt x="9271" y="128144"/>
                    <a:pt x="6985" y="122683"/>
                  </a:cubicBezTo>
                  <a:cubicBezTo>
                    <a:pt x="4699" y="117222"/>
                    <a:pt x="2794" y="111761"/>
                    <a:pt x="1651" y="106046"/>
                  </a:cubicBezTo>
                  <a:cubicBezTo>
                    <a:pt x="508" y="100331"/>
                    <a:pt x="0" y="94616"/>
                    <a:pt x="0" y="88774"/>
                  </a:cubicBezTo>
                  <a:cubicBezTo>
                    <a:pt x="0" y="82932"/>
                    <a:pt x="635" y="77217"/>
                    <a:pt x="1778" y="71502"/>
                  </a:cubicBezTo>
                  <a:cubicBezTo>
                    <a:pt x="2921" y="65787"/>
                    <a:pt x="4699" y="60199"/>
                    <a:pt x="7112" y="54865"/>
                  </a:cubicBezTo>
                  <a:cubicBezTo>
                    <a:pt x="9525" y="49531"/>
                    <a:pt x="12319" y="44324"/>
                    <a:pt x="15748" y="39498"/>
                  </a:cubicBezTo>
                  <a:cubicBezTo>
                    <a:pt x="19177" y="34671"/>
                    <a:pt x="22987" y="30226"/>
                    <a:pt x="27432" y="26035"/>
                  </a:cubicBezTo>
                  <a:cubicBezTo>
                    <a:pt x="31877" y="21844"/>
                    <a:pt x="36576" y="18288"/>
                    <a:pt x="41656" y="14986"/>
                  </a:cubicBezTo>
                  <a:cubicBezTo>
                    <a:pt x="46736" y="11684"/>
                    <a:pt x="52197" y="9017"/>
                    <a:pt x="57912" y="6731"/>
                  </a:cubicBezTo>
                  <a:cubicBezTo>
                    <a:pt x="63627" y="4445"/>
                    <a:pt x="69469" y="2794"/>
                    <a:pt x="75438" y="1651"/>
                  </a:cubicBezTo>
                  <a:cubicBezTo>
                    <a:pt x="81407" y="508"/>
                    <a:pt x="87503" y="0"/>
                    <a:pt x="93726" y="0"/>
                  </a:cubicBezTo>
                  <a:cubicBezTo>
                    <a:pt x="99949" y="0"/>
                    <a:pt x="105918" y="508"/>
                    <a:pt x="112014" y="1651"/>
                  </a:cubicBezTo>
                  <a:cubicBezTo>
                    <a:pt x="118110" y="2794"/>
                    <a:pt x="123952" y="4445"/>
                    <a:pt x="129540" y="6731"/>
                  </a:cubicBezTo>
                  <a:cubicBezTo>
                    <a:pt x="135128" y="9017"/>
                    <a:pt x="140589" y="11684"/>
                    <a:pt x="145796" y="14986"/>
                  </a:cubicBezTo>
                  <a:cubicBezTo>
                    <a:pt x="151003" y="18288"/>
                    <a:pt x="155702" y="21844"/>
                    <a:pt x="160020" y="26035"/>
                  </a:cubicBezTo>
                  <a:cubicBezTo>
                    <a:pt x="164338" y="30226"/>
                    <a:pt x="168275" y="34671"/>
                    <a:pt x="171704" y="39498"/>
                  </a:cubicBezTo>
                  <a:cubicBezTo>
                    <a:pt x="175133" y="44324"/>
                    <a:pt x="178054" y="49404"/>
                    <a:pt x="180340" y="54865"/>
                  </a:cubicBezTo>
                  <a:cubicBezTo>
                    <a:pt x="182626" y="60326"/>
                    <a:pt x="184531" y="65787"/>
                    <a:pt x="185674" y="71502"/>
                  </a:cubicBezTo>
                  <a:cubicBezTo>
                    <a:pt x="186817" y="77217"/>
                    <a:pt x="187452" y="82932"/>
                    <a:pt x="187452" y="8877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296418" y="499366"/>
              <a:ext cx="187452" cy="177547"/>
            </a:xfrm>
            <a:custGeom>
              <a:rect b="b" l="l" r="r" t="t"/>
              <a:pathLst>
                <a:path extrusionOk="0" h="177547" w="187452">
                  <a:moveTo>
                    <a:pt x="187453" y="88774"/>
                  </a:moveTo>
                  <a:cubicBezTo>
                    <a:pt x="187453" y="94616"/>
                    <a:pt x="186818" y="100331"/>
                    <a:pt x="185675" y="106046"/>
                  </a:cubicBezTo>
                  <a:cubicBezTo>
                    <a:pt x="184532" y="111761"/>
                    <a:pt x="182754" y="117349"/>
                    <a:pt x="180341" y="122683"/>
                  </a:cubicBezTo>
                  <a:cubicBezTo>
                    <a:pt x="177928" y="128017"/>
                    <a:pt x="175134" y="133224"/>
                    <a:pt x="171705" y="138050"/>
                  </a:cubicBezTo>
                  <a:cubicBezTo>
                    <a:pt x="168276" y="142876"/>
                    <a:pt x="164466" y="147321"/>
                    <a:pt x="160021" y="151512"/>
                  </a:cubicBezTo>
                  <a:cubicBezTo>
                    <a:pt x="155576" y="155703"/>
                    <a:pt x="150877" y="159259"/>
                    <a:pt x="145797" y="162561"/>
                  </a:cubicBezTo>
                  <a:cubicBezTo>
                    <a:pt x="140717" y="165863"/>
                    <a:pt x="135256" y="168530"/>
                    <a:pt x="129541" y="170816"/>
                  </a:cubicBezTo>
                  <a:cubicBezTo>
                    <a:pt x="123826" y="173102"/>
                    <a:pt x="117984" y="174753"/>
                    <a:pt x="112015" y="175896"/>
                  </a:cubicBezTo>
                  <a:cubicBezTo>
                    <a:pt x="106046" y="177039"/>
                    <a:pt x="99950" y="177547"/>
                    <a:pt x="93727" y="177547"/>
                  </a:cubicBezTo>
                  <a:cubicBezTo>
                    <a:pt x="87504" y="177547"/>
                    <a:pt x="81535" y="177039"/>
                    <a:pt x="75439" y="175896"/>
                  </a:cubicBezTo>
                  <a:cubicBezTo>
                    <a:pt x="69343" y="174753"/>
                    <a:pt x="63501" y="173102"/>
                    <a:pt x="57912" y="170816"/>
                  </a:cubicBezTo>
                  <a:cubicBezTo>
                    <a:pt x="52324" y="168530"/>
                    <a:pt x="46863" y="165863"/>
                    <a:pt x="41656" y="162561"/>
                  </a:cubicBezTo>
                  <a:cubicBezTo>
                    <a:pt x="36449" y="159259"/>
                    <a:pt x="31750" y="155703"/>
                    <a:pt x="27432" y="151512"/>
                  </a:cubicBezTo>
                  <a:cubicBezTo>
                    <a:pt x="23114" y="147321"/>
                    <a:pt x="19177" y="142876"/>
                    <a:pt x="15748" y="138050"/>
                  </a:cubicBezTo>
                  <a:cubicBezTo>
                    <a:pt x="12319" y="133224"/>
                    <a:pt x="9398" y="128144"/>
                    <a:pt x="7112" y="122683"/>
                  </a:cubicBezTo>
                  <a:cubicBezTo>
                    <a:pt x="4826" y="117222"/>
                    <a:pt x="2921" y="111761"/>
                    <a:pt x="1778" y="106046"/>
                  </a:cubicBezTo>
                  <a:cubicBezTo>
                    <a:pt x="635" y="100331"/>
                    <a:pt x="0" y="94616"/>
                    <a:pt x="0" y="88774"/>
                  </a:cubicBezTo>
                  <a:cubicBezTo>
                    <a:pt x="0" y="82932"/>
                    <a:pt x="635" y="77217"/>
                    <a:pt x="1778" y="71502"/>
                  </a:cubicBezTo>
                  <a:cubicBezTo>
                    <a:pt x="2921" y="65787"/>
                    <a:pt x="4699" y="60199"/>
                    <a:pt x="7112" y="54865"/>
                  </a:cubicBezTo>
                  <a:cubicBezTo>
                    <a:pt x="9525" y="49531"/>
                    <a:pt x="12319" y="44324"/>
                    <a:pt x="15748" y="39498"/>
                  </a:cubicBezTo>
                  <a:cubicBezTo>
                    <a:pt x="19177" y="34672"/>
                    <a:pt x="22987" y="30227"/>
                    <a:pt x="27432" y="26036"/>
                  </a:cubicBezTo>
                  <a:cubicBezTo>
                    <a:pt x="31877" y="21844"/>
                    <a:pt x="36576" y="18288"/>
                    <a:pt x="41656" y="14986"/>
                  </a:cubicBezTo>
                  <a:cubicBezTo>
                    <a:pt x="46736" y="11684"/>
                    <a:pt x="52197" y="9017"/>
                    <a:pt x="57912" y="6731"/>
                  </a:cubicBezTo>
                  <a:cubicBezTo>
                    <a:pt x="63628" y="4445"/>
                    <a:pt x="69470" y="2794"/>
                    <a:pt x="75439" y="1651"/>
                  </a:cubicBezTo>
                  <a:cubicBezTo>
                    <a:pt x="81408" y="508"/>
                    <a:pt x="87504" y="0"/>
                    <a:pt x="93727" y="0"/>
                  </a:cubicBezTo>
                  <a:cubicBezTo>
                    <a:pt x="99950" y="0"/>
                    <a:pt x="105919" y="508"/>
                    <a:pt x="112015" y="1651"/>
                  </a:cubicBezTo>
                  <a:cubicBezTo>
                    <a:pt x="118111" y="2794"/>
                    <a:pt x="123953" y="4445"/>
                    <a:pt x="129541" y="6731"/>
                  </a:cubicBezTo>
                  <a:cubicBezTo>
                    <a:pt x="135129" y="9017"/>
                    <a:pt x="140590" y="11684"/>
                    <a:pt x="145797" y="14986"/>
                  </a:cubicBezTo>
                  <a:cubicBezTo>
                    <a:pt x="151004" y="18288"/>
                    <a:pt x="155703" y="21844"/>
                    <a:pt x="160021" y="26036"/>
                  </a:cubicBezTo>
                  <a:cubicBezTo>
                    <a:pt x="164339" y="30227"/>
                    <a:pt x="168276" y="34672"/>
                    <a:pt x="171705" y="39498"/>
                  </a:cubicBezTo>
                  <a:cubicBezTo>
                    <a:pt x="175134" y="44324"/>
                    <a:pt x="178055" y="49404"/>
                    <a:pt x="180341" y="54865"/>
                  </a:cubicBezTo>
                  <a:cubicBezTo>
                    <a:pt x="182627" y="60326"/>
                    <a:pt x="184532" y="65787"/>
                    <a:pt x="185675" y="71502"/>
                  </a:cubicBezTo>
                  <a:cubicBezTo>
                    <a:pt x="186818" y="77217"/>
                    <a:pt x="187453" y="82932"/>
                    <a:pt x="187453" y="8877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63500" y="63500"/>
              <a:ext cx="427356" cy="615699"/>
            </a:xfrm>
            <a:custGeom>
              <a:rect b="b" l="l" r="r" t="t"/>
              <a:pathLst>
                <a:path extrusionOk="0" h="615699" w="427356">
                  <a:moveTo>
                    <a:pt x="0" y="615699"/>
                  </a:moveTo>
                  <a:lnTo>
                    <a:pt x="427356" y="615699"/>
                  </a:lnTo>
                  <a:lnTo>
                    <a:pt x="427356" y="0"/>
                  </a:lnTo>
                  <a:lnTo>
                    <a:pt x="0" y="0"/>
                  </a:lnTo>
                  <a:close/>
                </a:path>
              </a:pathLst>
            </a:custGeom>
            <a:solidFill>
              <a:srgbClr val="000000">
                <a:alpha val="0"/>
              </a:srgbClr>
            </a:solidFill>
            <a:ln>
              <a:noFill/>
            </a:ln>
          </p:spPr>
        </p:sp>
      </p:grpSp>
      <p:grpSp>
        <p:nvGrpSpPr>
          <p:cNvPr id="634" name="Google Shape;634;p16"/>
          <p:cNvGrpSpPr/>
          <p:nvPr/>
        </p:nvGrpSpPr>
        <p:grpSpPr>
          <a:xfrm>
            <a:off x="12183339" y="7617"/>
            <a:ext cx="6095997" cy="1492628"/>
            <a:chOff x="63500" y="63500"/>
            <a:chExt cx="6096000" cy="1492634"/>
          </a:xfrm>
        </p:grpSpPr>
        <p:sp>
          <p:nvSpPr>
            <p:cNvPr id="635" name="Google Shape;635;p16"/>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636" name="Google Shape;636;p16"/>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637" name="Google Shape;637;p16"/>
          <p:cNvSpPr txBox="1"/>
          <p:nvPr/>
        </p:nvSpPr>
        <p:spPr>
          <a:xfrm>
            <a:off x="6503194" y="408146"/>
            <a:ext cx="5386149"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&amp; Prototype Readiness</a:t>
            </a:r>
            <a:endParaRPr/>
          </a:p>
        </p:txBody>
      </p:sp>
      <p:sp>
        <p:nvSpPr>
          <p:cNvPr id="638" name="Google Shape;638;p16"/>
          <p:cNvSpPr txBox="1"/>
          <p:nvPr/>
        </p:nvSpPr>
        <p:spPr>
          <a:xfrm>
            <a:off x="298352" y="6904768"/>
            <a:ext cx="4814297" cy="1270635"/>
          </a:xfrm>
          <a:prstGeom prst="rect">
            <a:avLst/>
          </a:prstGeom>
          <a:noFill/>
          <a:ln>
            <a:noFill/>
          </a:ln>
        </p:spPr>
        <p:txBody>
          <a:bodyPr anchorCtr="0" anchor="t" bIns="0" lIns="0" spcFirstLastPara="1" rIns="0" wrap="square" tIns="0">
            <a:spAutoFit/>
          </a:bodyPr>
          <a:lstStyle/>
          <a:p>
            <a:pPr indent="0" lvl="0" marL="0" marR="0" rtl="0" algn="l">
              <a:lnSpc>
                <a:spcPct val="119370"/>
              </a:lnSpc>
              <a:spcBef>
                <a:spcPts val="0"/>
              </a:spcBef>
              <a:spcAft>
                <a:spcPts val="0"/>
              </a:spcAft>
              <a:buNone/>
            </a:pPr>
            <a:r>
              <a:rPr lang="en-US" sz="2700">
                <a:solidFill>
                  <a:srgbClr val="000000"/>
                </a:solidFill>
                <a:latin typeface="Calibri"/>
                <a:ea typeface="Calibri"/>
                <a:cs typeface="Calibri"/>
                <a:sym typeface="Calibri"/>
              </a:rPr>
              <a:t>Mobile app with voice read-aloud feature offering a diverse range of STEM study materials.</a:t>
            </a:r>
            <a:endParaRPr/>
          </a:p>
        </p:txBody>
      </p:sp>
      <p:sp>
        <p:nvSpPr>
          <p:cNvPr id="639" name="Google Shape;639;p16"/>
          <p:cNvSpPr txBox="1"/>
          <p:nvPr/>
        </p:nvSpPr>
        <p:spPr>
          <a:xfrm>
            <a:off x="4473635" y="1900218"/>
            <a:ext cx="4887392" cy="1680210"/>
          </a:xfrm>
          <a:prstGeom prst="rect">
            <a:avLst/>
          </a:prstGeom>
          <a:noFill/>
          <a:ln>
            <a:noFill/>
          </a:ln>
        </p:spPr>
        <p:txBody>
          <a:bodyPr anchorCtr="0" anchor="t" bIns="0" lIns="0" spcFirstLastPara="1" rIns="0" wrap="square" tIns="0">
            <a:spAutoFit/>
          </a:bodyPr>
          <a:lstStyle/>
          <a:p>
            <a:pPr indent="0" lvl="0" marL="0" marR="0" rtl="0" algn="l">
              <a:lnSpc>
                <a:spcPct val="119370"/>
              </a:lnSpc>
              <a:spcBef>
                <a:spcPts val="0"/>
              </a:spcBef>
              <a:spcAft>
                <a:spcPts val="0"/>
              </a:spcAft>
              <a:buNone/>
            </a:pPr>
            <a:r>
              <a:rPr lang="en-US" sz="2700">
                <a:solidFill>
                  <a:srgbClr val="000000"/>
                </a:solidFill>
                <a:latin typeface="Calibri"/>
                <a:ea typeface="Calibri"/>
                <a:cs typeface="Calibri"/>
                <a:sym typeface="Calibri"/>
              </a:rPr>
              <a:t>Use a Bluetooth-connected app and hardware to visually trace and comprehend figure geometry in real time</a:t>
            </a:r>
            <a:endParaRPr/>
          </a:p>
        </p:txBody>
      </p:sp>
      <p:sp>
        <p:nvSpPr>
          <p:cNvPr id="640" name="Google Shape;640;p16"/>
          <p:cNvSpPr txBox="1"/>
          <p:nvPr/>
        </p:nvSpPr>
        <p:spPr>
          <a:xfrm>
            <a:off x="9191958" y="6693341"/>
            <a:ext cx="4636341" cy="861060"/>
          </a:xfrm>
          <a:prstGeom prst="rect">
            <a:avLst/>
          </a:prstGeom>
          <a:noFill/>
          <a:ln>
            <a:noFill/>
          </a:ln>
        </p:spPr>
        <p:txBody>
          <a:bodyPr anchorCtr="0" anchor="t" bIns="0" lIns="0" spcFirstLastPara="1" rIns="0" wrap="square" tIns="0">
            <a:spAutoFit/>
          </a:bodyPr>
          <a:lstStyle/>
          <a:p>
            <a:pPr indent="0" lvl="0" marL="0" marR="0" rtl="0" algn="l">
              <a:lnSpc>
                <a:spcPct val="119370"/>
              </a:lnSpc>
              <a:spcBef>
                <a:spcPts val="0"/>
              </a:spcBef>
              <a:spcAft>
                <a:spcPts val="0"/>
              </a:spcAft>
              <a:buNone/>
            </a:pPr>
            <a:r>
              <a:rPr lang="en-US" sz="2700">
                <a:solidFill>
                  <a:srgbClr val="000000"/>
                </a:solidFill>
                <a:latin typeface="Calibri"/>
                <a:ea typeface="Calibri"/>
                <a:cs typeface="Calibri"/>
                <a:sym typeface="Calibri"/>
              </a:rPr>
              <a:t>Explore and Learn various Maths and Science Concepts</a:t>
            </a:r>
            <a:endParaRPr/>
          </a:p>
        </p:txBody>
      </p:sp>
      <p:sp>
        <p:nvSpPr>
          <p:cNvPr id="641" name="Google Shape;641;p16"/>
          <p:cNvSpPr txBox="1"/>
          <p:nvPr/>
        </p:nvSpPr>
        <p:spPr>
          <a:xfrm>
            <a:off x="13416639" y="2137524"/>
            <a:ext cx="4104170" cy="861060"/>
          </a:xfrm>
          <a:prstGeom prst="rect">
            <a:avLst/>
          </a:prstGeom>
          <a:noFill/>
          <a:ln>
            <a:noFill/>
          </a:ln>
        </p:spPr>
        <p:txBody>
          <a:bodyPr anchorCtr="0" anchor="t" bIns="0" lIns="0" spcFirstLastPara="1" rIns="0" wrap="square" tIns="0">
            <a:spAutoFit/>
          </a:bodyPr>
          <a:lstStyle/>
          <a:p>
            <a:pPr indent="0" lvl="0" marL="0" marR="0" rtl="0" algn="l">
              <a:lnSpc>
                <a:spcPct val="119370"/>
              </a:lnSpc>
              <a:spcBef>
                <a:spcPts val="0"/>
              </a:spcBef>
              <a:spcAft>
                <a:spcPts val="0"/>
              </a:spcAft>
              <a:buNone/>
            </a:pPr>
            <a:r>
              <a:rPr lang="en-US" sz="2700">
                <a:solidFill>
                  <a:srgbClr val="000000"/>
                </a:solidFill>
                <a:latin typeface="Calibri"/>
                <a:ea typeface="Calibri"/>
                <a:cs typeface="Calibri"/>
                <a:sym typeface="Calibri"/>
              </a:rPr>
              <a:t>Assess your knowledge using real-time audio responses.</a:t>
            </a:r>
            <a:endParaRPr/>
          </a:p>
        </p:txBody>
      </p:sp>
      <p:sp>
        <p:nvSpPr>
          <p:cNvPr id="642" name="Google Shape;642;p16"/>
          <p:cNvSpPr txBox="1"/>
          <p:nvPr/>
        </p:nvSpPr>
        <p:spPr>
          <a:xfrm>
            <a:off x="6328201" y="4018003"/>
            <a:ext cx="4004400" cy="90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5850">
                <a:solidFill>
                  <a:srgbClr val="E69138"/>
                </a:solidFill>
                <a:latin typeface="Calibri"/>
                <a:ea typeface="Calibri"/>
                <a:cs typeface="Calibri"/>
                <a:sym typeface="Calibri"/>
              </a:rPr>
              <a:t>Key Features</a:t>
            </a:r>
            <a:endParaRPr/>
          </a:p>
        </p:txBody>
      </p:sp>
      <p:sp>
        <p:nvSpPr>
          <p:cNvPr id="643" name="Google Shape;643;p16"/>
          <p:cNvSpPr txBox="1"/>
          <p:nvPr/>
        </p:nvSpPr>
        <p:spPr>
          <a:xfrm>
            <a:off x="833352" y="226809"/>
            <a:ext cx="1384163" cy="532343"/>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lang="en-US" sz="3051">
                <a:solidFill>
                  <a:srgbClr val="FD7607"/>
                </a:solidFill>
                <a:latin typeface="Times"/>
                <a:ea typeface="Times"/>
                <a:cs typeface="Times"/>
                <a:sym typeface="Times"/>
              </a:rPr>
              <a:t>VII</a:t>
            </a:r>
            <a:r>
              <a:rPr b="1" lang="en-US" sz="3051">
                <a:solidFill>
                  <a:srgbClr val="000000"/>
                </a:solidFill>
                <a:latin typeface="Times"/>
                <a:ea typeface="Times"/>
                <a:cs typeface="Times"/>
                <a:sym typeface="Times"/>
              </a:rPr>
              <a:t>SAR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7"/>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649" name="Google Shape;649;p17"/>
          <p:cNvSpPr/>
          <p:nvPr/>
        </p:nvSpPr>
        <p:spPr>
          <a:xfrm>
            <a:off x="16061998" y="125292"/>
            <a:ext cx="1892332" cy="1067277"/>
          </a:xfrm>
          <a:custGeom>
            <a:rect b="b" l="l" r="r" t="t"/>
            <a:pathLst>
              <a:path extrusionOk="0" h="1423035" w="2523109">
                <a:moveTo>
                  <a:pt x="0" y="0"/>
                </a:moveTo>
                <a:lnTo>
                  <a:pt x="2523109" y="0"/>
                </a:lnTo>
                <a:lnTo>
                  <a:pt x="2523109" y="1423035"/>
                </a:lnTo>
                <a:lnTo>
                  <a:pt x="0" y="1423035"/>
                </a:lnTo>
                <a:lnTo>
                  <a:pt x="0" y="0"/>
                </a:lnTo>
                <a:close/>
              </a:path>
            </a:pathLst>
          </a:custGeom>
          <a:blipFill rotWithShape="1">
            <a:blip r:embed="rId3">
              <a:alphaModFix/>
            </a:blip>
            <a:stretch>
              <a:fillRect b="0" l="0" r="-21" t="0"/>
            </a:stretch>
          </a:blipFill>
          <a:ln>
            <a:noFill/>
          </a:ln>
        </p:spPr>
      </p:sp>
      <p:sp>
        <p:nvSpPr>
          <p:cNvPr id="650" name="Google Shape;650;p17"/>
          <p:cNvSpPr/>
          <p:nvPr/>
        </p:nvSpPr>
        <p:spPr>
          <a:xfrm>
            <a:off x="16035004" y="230124"/>
            <a:ext cx="26880" cy="807520"/>
          </a:xfrm>
          <a:custGeom>
            <a:rect b="b" l="l" r="r" t="t"/>
            <a:pathLst>
              <a:path extrusionOk="0" h="807520" w="26880">
                <a:moveTo>
                  <a:pt x="0" y="0"/>
                </a:moveTo>
                <a:lnTo>
                  <a:pt x="26880" y="0"/>
                </a:lnTo>
                <a:lnTo>
                  <a:pt x="26880" y="807520"/>
                </a:lnTo>
                <a:lnTo>
                  <a:pt x="0" y="807520"/>
                </a:lnTo>
                <a:lnTo>
                  <a:pt x="0" y="0"/>
                </a:lnTo>
                <a:close/>
              </a:path>
            </a:pathLst>
          </a:custGeom>
          <a:blipFill rotWithShape="1">
            <a:blip r:embed="rId4">
              <a:alphaModFix/>
            </a:blip>
            <a:stretch>
              <a:fillRect b="0" l="0" r="0" t="0"/>
            </a:stretch>
          </a:blipFill>
          <a:ln>
            <a:noFill/>
          </a:ln>
        </p:spPr>
      </p:sp>
      <p:sp>
        <p:nvSpPr>
          <p:cNvPr id="651" name="Google Shape;651;p17"/>
          <p:cNvSpPr/>
          <p:nvPr/>
        </p:nvSpPr>
        <p:spPr>
          <a:xfrm>
            <a:off x="14092361" y="202711"/>
            <a:ext cx="1578960" cy="912400"/>
          </a:xfrm>
          <a:custGeom>
            <a:rect b="b" l="l" r="r" t="t"/>
            <a:pathLst>
              <a:path extrusionOk="0" h="1216533" w="2105279">
                <a:moveTo>
                  <a:pt x="0" y="0"/>
                </a:moveTo>
                <a:lnTo>
                  <a:pt x="2105279" y="0"/>
                </a:lnTo>
                <a:lnTo>
                  <a:pt x="2105279" y="1216533"/>
                </a:lnTo>
                <a:lnTo>
                  <a:pt x="0" y="1216533"/>
                </a:lnTo>
                <a:lnTo>
                  <a:pt x="0" y="0"/>
                </a:lnTo>
                <a:close/>
              </a:path>
            </a:pathLst>
          </a:custGeom>
          <a:blipFill rotWithShape="1">
            <a:blip r:embed="rId5">
              <a:alphaModFix/>
            </a:blip>
            <a:stretch>
              <a:fillRect b="-292" l="0" r="0" t="-102"/>
            </a:stretch>
          </a:blipFill>
          <a:ln>
            <a:noFill/>
          </a:ln>
        </p:spPr>
      </p:sp>
      <p:sp>
        <p:nvSpPr>
          <p:cNvPr id="652" name="Google Shape;652;p17"/>
          <p:cNvSpPr/>
          <p:nvPr/>
        </p:nvSpPr>
        <p:spPr>
          <a:xfrm>
            <a:off x="617172" y="1811598"/>
            <a:ext cx="3397186" cy="6663785"/>
          </a:xfrm>
          <a:custGeom>
            <a:rect b="b" l="l" r="r" t="t"/>
            <a:pathLst>
              <a:path extrusionOk="0" h="8885047" w="4529582">
                <a:moveTo>
                  <a:pt x="304800" y="0"/>
                </a:moveTo>
                <a:cubicBezTo>
                  <a:pt x="136525" y="0"/>
                  <a:pt x="0" y="136525"/>
                  <a:pt x="0" y="304800"/>
                </a:cubicBezTo>
                <a:lnTo>
                  <a:pt x="0" y="8580247"/>
                </a:lnTo>
                <a:cubicBezTo>
                  <a:pt x="0" y="8748522"/>
                  <a:pt x="136525" y="8885047"/>
                  <a:pt x="304800" y="8885047"/>
                </a:cubicBezTo>
                <a:lnTo>
                  <a:pt x="4224782" y="8885047"/>
                </a:lnTo>
                <a:cubicBezTo>
                  <a:pt x="4393057" y="8885047"/>
                  <a:pt x="4529582" y="8748522"/>
                  <a:pt x="4529582" y="8580247"/>
                </a:cubicBezTo>
                <a:lnTo>
                  <a:pt x="4529582" y="304800"/>
                </a:lnTo>
                <a:cubicBezTo>
                  <a:pt x="4529582" y="136525"/>
                  <a:pt x="4393057" y="0"/>
                  <a:pt x="4224782" y="0"/>
                </a:cubicBezTo>
                <a:close/>
              </a:path>
            </a:pathLst>
          </a:custGeom>
          <a:blipFill rotWithShape="1">
            <a:blip r:embed="rId6">
              <a:alphaModFix/>
            </a:blip>
            <a:stretch>
              <a:fillRect b="-55" l="0" r="-9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5202612" y="1811598"/>
            <a:ext cx="3333750" cy="6663785"/>
          </a:xfrm>
          <a:custGeom>
            <a:rect b="b" l="l" r="r" t="t"/>
            <a:pathLst>
              <a:path extrusionOk="0" h="8885047" w="4445000">
                <a:moveTo>
                  <a:pt x="381000" y="0"/>
                </a:moveTo>
                <a:cubicBezTo>
                  <a:pt x="170561" y="0"/>
                  <a:pt x="0" y="170561"/>
                  <a:pt x="0" y="381000"/>
                </a:cubicBezTo>
                <a:lnTo>
                  <a:pt x="0" y="8504047"/>
                </a:lnTo>
                <a:cubicBezTo>
                  <a:pt x="0" y="8714486"/>
                  <a:pt x="170561" y="8885047"/>
                  <a:pt x="381000" y="8885047"/>
                </a:cubicBezTo>
                <a:lnTo>
                  <a:pt x="4068064" y="8885047"/>
                </a:lnTo>
                <a:cubicBezTo>
                  <a:pt x="4259453" y="8885047"/>
                  <a:pt x="4417949" y="8743823"/>
                  <a:pt x="4445000" y="8559927"/>
                </a:cubicBezTo>
                <a:lnTo>
                  <a:pt x="4445000" y="325374"/>
                </a:lnTo>
                <a:cubicBezTo>
                  <a:pt x="4433189" y="244856"/>
                  <a:pt x="4395724" y="169799"/>
                  <a:pt x="4337431" y="111506"/>
                </a:cubicBezTo>
                <a:cubicBezTo>
                  <a:pt x="4266057" y="40132"/>
                  <a:pt x="4169156" y="0"/>
                  <a:pt x="4068064" y="0"/>
                </a:cubicBezTo>
                <a:close/>
              </a:path>
            </a:pathLst>
          </a:custGeom>
          <a:blipFill rotWithShape="1">
            <a:blip r:embed="rId7">
              <a:alphaModFix/>
            </a:blip>
            <a:stretch>
              <a:fillRect b="-55"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4283373" y="5022847"/>
            <a:ext cx="650253" cy="279397"/>
          </a:xfrm>
          <a:custGeom>
            <a:rect b="b" l="l" r="r" t="t"/>
            <a:pathLst>
              <a:path extrusionOk="0" h="279397" w="650253">
                <a:moveTo>
                  <a:pt x="0" y="0"/>
                </a:moveTo>
                <a:lnTo>
                  <a:pt x="650253" y="0"/>
                </a:lnTo>
                <a:lnTo>
                  <a:pt x="650253" y="279397"/>
                </a:lnTo>
                <a:lnTo>
                  <a:pt x="0" y="279397"/>
                </a:lnTo>
                <a:lnTo>
                  <a:pt x="0" y="0"/>
                </a:lnTo>
                <a:close/>
              </a:path>
            </a:pathLst>
          </a:custGeom>
          <a:blipFill rotWithShape="1">
            <a:blip r:embed="rId8">
              <a:alphaModFix/>
            </a:blip>
            <a:stretch>
              <a:fillRect b="0" l="0" r="0" t="0"/>
            </a:stretch>
          </a:blipFill>
          <a:ln>
            <a:noFill/>
          </a:ln>
        </p:spPr>
      </p:sp>
      <p:sp>
        <p:nvSpPr>
          <p:cNvPr id="655" name="Google Shape;655;p17"/>
          <p:cNvSpPr/>
          <p:nvPr/>
        </p:nvSpPr>
        <p:spPr>
          <a:xfrm>
            <a:off x="9730045" y="1811598"/>
            <a:ext cx="3362134" cy="6663785"/>
          </a:xfrm>
          <a:custGeom>
            <a:rect b="b" l="l" r="r" t="t"/>
            <a:pathLst>
              <a:path extrusionOk="0" h="8885047" w="4482846">
                <a:moveTo>
                  <a:pt x="241300" y="0"/>
                </a:moveTo>
                <a:cubicBezTo>
                  <a:pt x="108077" y="0"/>
                  <a:pt x="0" y="108077"/>
                  <a:pt x="0" y="241300"/>
                </a:cubicBezTo>
                <a:lnTo>
                  <a:pt x="0" y="8643747"/>
                </a:lnTo>
                <a:cubicBezTo>
                  <a:pt x="0" y="8776970"/>
                  <a:pt x="108077" y="8885047"/>
                  <a:pt x="241300" y="8885047"/>
                </a:cubicBezTo>
                <a:lnTo>
                  <a:pt x="4241546" y="8885047"/>
                </a:lnTo>
                <a:cubicBezTo>
                  <a:pt x="4374769" y="8885047"/>
                  <a:pt x="4482846" y="8776970"/>
                  <a:pt x="4482846" y="8643747"/>
                </a:cubicBezTo>
                <a:lnTo>
                  <a:pt x="4482846" y="241300"/>
                </a:lnTo>
                <a:cubicBezTo>
                  <a:pt x="4482846" y="108077"/>
                  <a:pt x="4374769" y="0"/>
                  <a:pt x="4241546" y="0"/>
                </a:cubicBezTo>
                <a:close/>
              </a:path>
            </a:pathLst>
          </a:custGeom>
          <a:blipFill rotWithShape="1">
            <a:blip r:embed="rId9">
              <a:alphaModFix/>
            </a:blip>
            <a:stretch>
              <a:fillRect b="-55" l="0" r="-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14282766" y="1811598"/>
            <a:ext cx="3302222" cy="6663785"/>
          </a:xfrm>
          <a:custGeom>
            <a:rect b="b" l="l" r="r" t="t"/>
            <a:pathLst>
              <a:path extrusionOk="0" h="8885047" w="4402963">
                <a:moveTo>
                  <a:pt x="457200" y="0"/>
                </a:moveTo>
                <a:cubicBezTo>
                  <a:pt x="204724" y="0"/>
                  <a:pt x="0" y="204724"/>
                  <a:pt x="0" y="457200"/>
                </a:cubicBezTo>
                <a:lnTo>
                  <a:pt x="0" y="8427847"/>
                </a:lnTo>
                <a:cubicBezTo>
                  <a:pt x="0" y="8680323"/>
                  <a:pt x="204724" y="8885047"/>
                  <a:pt x="457200" y="8885047"/>
                </a:cubicBezTo>
                <a:lnTo>
                  <a:pt x="3945763" y="8885047"/>
                </a:lnTo>
                <a:cubicBezTo>
                  <a:pt x="4198239" y="8885047"/>
                  <a:pt x="4402963" y="8680323"/>
                  <a:pt x="4402963" y="8427847"/>
                </a:cubicBezTo>
                <a:lnTo>
                  <a:pt x="4402963" y="457200"/>
                </a:lnTo>
                <a:cubicBezTo>
                  <a:pt x="4402963" y="204724"/>
                  <a:pt x="4198239" y="0"/>
                  <a:pt x="3945763" y="0"/>
                </a:cubicBezTo>
                <a:close/>
              </a:path>
            </a:pathLst>
          </a:custGeom>
          <a:blipFill rotWithShape="1">
            <a:blip r:embed="rId10">
              <a:alphaModFix/>
            </a:blip>
            <a:stretch>
              <a:fillRect b="-55" l="0" r="-8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 name="Google Shape;657;p17"/>
          <p:cNvGrpSpPr/>
          <p:nvPr/>
        </p:nvGrpSpPr>
        <p:grpSpPr>
          <a:xfrm>
            <a:off x="131089" y="197155"/>
            <a:ext cx="411477" cy="592837"/>
            <a:chOff x="63500" y="63500"/>
            <a:chExt cx="411479" cy="592837"/>
          </a:xfrm>
        </p:grpSpPr>
        <p:sp>
          <p:nvSpPr>
            <p:cNvPr id="658" name="Google Shape;658;p17"/>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7"/>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7"/>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7"/>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sp>
        <p:nvSpPr>
          <p:cNvPr id="665" name="Google Shape;665;p17"/>
          <p:cNvSpPr/>
          <p:nvPr/>
        </p:nvSpPr>
        <p:spPr>
          <a:xfrm>
            <a:off x="4346877" y="5143500"/>
            <a:ext cx="523240" cy="38100"/>
          </a:xfrm>
          <a:custGeom>
            <a:rect b="b" l="l" r="r" t="t"/>
            <a:pathLst>
              <a:path extrusionOk="0" h="38100" w="523237">
                <a:moveTo>
                  <a:pt x="0" y="38100"/>
                </a:moveTo>
                <a:lnTo>
                  <a:pt x="523237" y="38100"/>
                </a:lnTo>
                <a:lnTo>
                  <a:pt x="523237" y="0"/>
                </a:lnTo>
                <a:lnTo>
                  <a:pt x="0" y="0"/>
                </a:lnTo>
                <a:close/>
              </a:path>
            </a:pathLst>
          </a:custGeom>
          <a:solidFill>
            <a:srgbClr val="000000">
              <a:alpha val="0"/>
            </a:srgbClr>
          </a:solidFill>
          <a:ln>
            <a:noFill/>
          </a:ln>
        </p:spPr>
      </p:sp>
      <p:sp>
        <p:nvSpPr>
          <p:cNvPr id="666" name="Google Shape;666;p17"/>
          <p:cNvSpPr/>
          <p:nvPr/>
        </p:nvSpPr>
        <p:spPr>
          <a:xfrm>
            <a:off x="8809596" y="4984747"/>
            <a:ext cx="650253" cy="279397"/>
          </a:xfrm>
          <a:custGeom>
            <a:rect b="b" l="l" r="r" t="t"/>
            <a:pathLst>
              <a:path extrusionOk="0" h="279397" w="650253">
                <a:moveTo>
                  <a:pt x="0" y="0"/>
                </a:moveTo>
                <a:lnTo>
                  <a:pt x="650253" y="0"/>
                </a:lnTo>
                <a:lnTo>
                  <a:pt x="650253" y="279397"/>
                </a:lnTo>
                <a:lnTo>
                  <a:pt x="0" y="279397"/>
                </a:lnTo>
                <a:lnTo>
                  <a:pt x="0" y="0"/>
                </a:lnTo>
                <a:close/>
              </a:path>
            </a:pathLst>
          </a:custGeom>
          <a:blipFill rotWithShape="1">
            <a:blip r:embed="rId8">
              <a:alphaModFix/>
            </a:blip>
            <a:stretch>
              <a:fillRect b="0" l="0" r="0" t="0"/>
            </a:stretch>
          </a:blipFill>
          <a:ln>
            <a:noFill/>
          </a:ln>
        </p:spPr>
      </p:sp>
      <p:grpSp>
        <p:nvGrpSpPr>
          <p:cNvPr id="667" name="Google Shape;667;p17"/>
          <p:cNvGrpSpPr/>
          <p:nvPr/>
        </p:nvGrpSpPr>
        <p:grpSpPr>
          <a:xfrm>
            <a:off x="13425827" y="5029234"/>
            <a:ext cx="523237" cy="152375"/>
            <a:chOff x="63500" y="63538"/>
            <a:chExt cx="523237" cy="152377"/>
          </a:xfrm>
        </p:grpSpPr>
        <p:sp>
          <p:nvSpPr>
            <p:cNvPr id="668" name="Google Shape;668;p17"/>
            <p:cNvSpPr/>
            <p:nvPr/>
          </p:nvSpPr>
          <p:spPr>
            <a:xfrm>
              <a:off x="63500" y="120650"/>
              <a:ext cx="418463" cy="38100"/>
            </a:xfrm>
            <a:custGeom>
              <a:rect b="b" l="l" r="r" t="t"/>
              <a:pathLst>
                <a:path extrusionOk="0" h="38100" w="418463">
                  <a:moveTo>
                    <a:pt x="0" y="0"/>
                  </a:moveTo>
                  <a:lnTo>
                    <a:pt x="418462" y="0"/>
                  </a:lnTo>
                  <a:lnTo>
                    <a:pt x="418462" y="38100"/>
                  </a:lnTo>
                  <a:lnTo>
                    <a:pt x="0" y="38100"/>
                  </a:lnTo>
                  <a:close/>
                </a:path>
              </a:pathLst>
            </a:custGeom>
            <a:solidFill>
              <a:srgbClr val="000000"/>
            </a:solidFill>
            <a:ln>
              <a:noFill/>
            </a:ln>
          </p:spPr>
        </p:sp>
        <p:sp>
          <p:nvSpPr>
            <p:cNvPr id="669" name="Google Shape;669;p17"/>
            <p:cNvSpPr/>
            <p:nvPr/>
          </p:nvSpPr>
          <p:spPr>
            <a:xfrm>
              <a:off x="491487" y="82550"/>
              <a:ext cx="76200" cy="114300"/>
            </a:xfrm>
            <a:custGeom>
              <a:rect b="b" l="l" r="r" t="t"/>
              <a:pathLst>
                <a:path extrusionOk="0" h="114300" w="76200">
                  <a:moveTo>
                    <a:pt x="0" y="0"/>
                  </a:moveTo>
                  <a:lnTo>
                    <a:pt x="76200" y="57150"/>
                  </a:lnTo>
                  <a:lnTo>
                    <a:pt x="0" y="114300"/>
                  </a:lnTo>
                  <a:lnTo>
                    <a:pt x="0" y="0"/>
                  </a:lnTo>
                  <a:close/>
                </a:path>
              </a:pathLst>
            </a:custGeom>
            <a:solidFill>
              <a:srgbClr val="000000"/>
            </a:solidFill>
            <a:ln>
              <a:noFill/>
            </a:ln>
          </p:spPr>
        </p:sp>
        <p:sp>
          <p:nvSpPr>
            <p:cNvPr id="670" name="Google Shape;670;p17"/>
            <p:cNvSpPr/>
            <p:nvPr/>
          </p:nvSpPr>
          <p:spPr>
            <a:xfrm>
              <a:off x="472437" y="63538"/>
              <a:ext cx="114299" cy="152377"/>
            </a:xfrm>
            <a:custGeom>
              <a:rect b="b" l="l" r="r" t="t"/>
              <a:pathLst>
                <a:path extrusionOk="0" h="152377" w="114299">
                  <a:moveTo>
                    <a:pt x="30480" y="3772"/>
                  </a:moveTo>
                  <a:lnTo>
                    <a:pt x="106680" y="60922"/>
                  </a:lnTo>
                  <a:cubicBezTo>
                    <a:pt x="111506" y="64478"/>
                    <a:pt x="114300" y="70193"/>
                    <a:pt x="114300" y="76162"/>
                  </a:cubicBezTo>
                  <a:cubicBezTo>
                    <a:pt x="114300" y="82131"/>
                    <a:pt x="111506" y="87846"/>
                    <a:pt x="106680" y="91402"/>
                  </a:cubicBezTo>
                  <a:lnTo>
                    <a:pt x="30480" y="148552"/>
                  </a:lnTo>
                  <a:cubicBezTo>
                    <a:pt x="24765" y="152870"/>
                    <a:pt x="17018" y="153632"/>
                    <a:pt x="10541" y="150330"/>
                  </a:cubicBezTo>
                  <a:cubicBezTo>
                    <a:pt x="4064" y="147028"/>
                    <a:pt x="0" y="140551"/>
                    <a:pt x="0" y="133312"/>
                  </a:cubicBezTo>
                  <a:lnTo>
                    <a:pt x="0" y="19012"/>
                  </a:lnTo>
                  <a:cubicBezTo>
                    <a:pt x="0" y="11773"/>
                    <a:pt x="4064" y="5169"/>
                    <a:pt x="10541" y="1994"/>
                  </a:cubicBezTo>
                  <a:cubicBezTo>
                    <a:pt x="17018" y="-1181"/>
                    <a:pt x="24765" y="-546"/>
                    <a:pt x="30480" y="3772"/>
                  </a:cubicBezTo>
                  <a:moveTo>
                    <a:pt x="7620" y="34252"/>
                  </a:moveTo>
                  <a:lnTo>
                    <a:pt x="19050" y="19012"/>
                  </a:lnTo>
                  <a:lnTo>
                    <a:pt x="38100" y="19012"/>
                  </a:lnTo>
                  <a:lnTo>
                    <a:pt x="38100" y="133312"/>
                  </a:lnTo>
                  <a:lnTo>
                    <a:pt x="19050" y="133312"/>
                  </a:lnTo>
                  <a:lnTo>
                    <a:pt x="7620" y="118072"/>
                  </a:lnTo>
                  <a:lnTo>
                    <a:pt x="83820" y="60922"/>
                  </a:lnTo>
                  <a:lnTo>
                    <a:pt x="95250" y="76162"/>
                  </a:lnTo>
                  <a:lnTo>
                    <a:pt x="83820" y="91402"/>
                  </a:lnTo>
                  <a:lnTo>
                    <a:pt x="7620" y="34252"/>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7"/>
            <p:cNvSpPr/>
            <p:nvPr/>
          </p:nvSpPr>
          <p:spPr>
            <a:xfrm>
              <a:off x="63500" y="120650"/>
              <a:ext cx="523237" cy="38100"/>
            </a:xfrm>
            <a:custGeom>
              <a:rect b="b" l="l" r="r" t="t"/>
              <a:pathLst>
                <a:path extrusionOk="0" h="38100" w="523237">
                  <a:moveTo>
                    <a:pt x="0" y="38100"/>
                  </a:moveTo>
                  <a:lnTo>
                    <a:pt x="523237" y="38100"/>
                  </a:lnTo>
                  <a:lnTo>
                    <a:pt x="523237" y="0"/>
                  </a:lnTo>
                  <a:lnTo>
                    <a:pt x="0" y="0"/>
                  </a:lnTo>
                  <a:close/>
                </a:path>
              </a:pathLst>
            </a:custGeom>
            <a:solidFill>
              <a:srgbClr val="000000">
                <a:alpha val="0"/>
              </a:srgbClr>
            </a:solidFill>
            <a:ln>
              <a:noFill/>
            </a:ln>
          </p:spPr>
        </p:sp>
      </p:grpSp>
      <p:grpSp>
        <p:nvGrpSpPr>
          <p:cNvPr id="672" name="Google Shape;672;p17"/>
          <p:cNvGrpSpPr/>
          <p:nvPr/>
        </p:nvGrpSpPr>
        <p:grpSpPr>
          <a:xfrm>
            <a:off x="12183339" y="7617"/>
            <a:ext cx="6095997" cy="1492628"/>
            <a:chOff x="63500" y="63500"/>
            <a:chExt cx="6096000" cy="1492634"/>
          </a:xfrm>
        </p:grpSpPr>
        <p:sp>
          <p:nvSpPr>
            <p:cNvPr id="673" name="Google Shape;673;p17"/>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674" name="Google Shape;674;p17"/>
            <p:cNvSpPr/>
            <p:nvPr/>
          </p:nvSpPr>
          <p:spPr>
            <a:xfrm>
              <a:off x="3915029" y="285878"/>
              <a:ext cx="27051" cy="807722"/>
            </a:xfrm>
            <a:custGeom>
              <a:rect b="b" l="l" r="r" t="t"/>
              <a:pathLst>
                <a:path extrusionOk="0" h="807722" w="27051">
                  <a:moveTo>
                    <a:pt x="0" y="807721"/>
                  </a:moveTo>
                  <a:lnTo>
                    <a:pt x="27051" y="807721"/>
                  </a:lnTo>
                  <a:lnTo>
                    <a:pt x="27051" y="0"/>
                  </a:lnTo>
                  <a:lnTo>
                    <a:pt x="0" y="0"/>
                  </a:lnTo>
                  <a:close/>
                </a:path>
              </a:pathLst>
            </a:custGeom>
            <a:solidFill>
              <a:srgbClr val="000000">
                <a:alpha val="0"/>
              </a:srgbClr>
            </a:solidFill>
            <a:ln>
              <a:noFill/>
            </a:ln>
          </p:spPr>
        </p:sp>
      </p:grpSp>
      <p:sp>
        <p:nvSpPr>
          <p:cNvPr id="675" name="Google Shape;675;p17"/>
          <p:cNvSpPr txBox="1"/>
          <p:nvPr/>
        </p:nvSpPr>
        <p:spPr>
          <a:xfrm>
            <a:off x="6799031" y="182728"/>
            <a:ext cx="4782722"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Journey Experience</a:t>
            </a:r>
            <a:endParaRPr/>
          </a:p>
        </p:txBody>
      </p:sp>
      <p:sp>
        <p:nvSpPr>
          <p:cNvPr id="676" name="Google Shape;676;p17"/>
          <p:cNvSpPr txBox="1"/>
          <p:nvPr/>
        </p:nvSpPr>
        <p:spPr>
          <a:xfrm>
            <a:off x="663159" y="1030662"/>
            <a:ext cx="1445533" cy="644452"/>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0C661A"/>
                </a:solidFill>
                <a:latin typeface="Calibri"/>
                <a:ea typeface="Calibri"/>
                <a:cs typeface="Calibri"/>
                <a:sym typeface="Calibri"/>
              </a:rPr>
              <a:t>Screens</a:t>
            </a:r>
            <a:endParaRPr/>
          </a:p>
        </p:txBody>
      </p:sp>
      <p:sp>
        <p:nvSpPr>
          <p:cNvPr id="677" name="Google Shape;677;p17"/>
          <p:cNvSpPr txBox="1"/>
          <p:nvPr/>
        </p:nvSpPr>
        <p:spPr>
          <a:xfrm>
            <a:off x="849306" y="9014041"/>
            <a:ext cx="299155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424242"/>
                </a:solidFill>
                <a:latin typeface="Calibri"/>
                <a:ea typeface="Calibri"/>
                <a:cs typeface="Calibri"/>
                <a:sym typeface="Calibri"/>
              </a:rPr>
              <a:t>Starting with the app</a:t>
            </a:r>
            <a:endParaRPr/>
          </a:p>
        </p:txBody>
      </p:sp>
      <p:sp>
        <p:nvSpPr>
          <p:cNvPr id="678" name="Google Shape;678;p17"/>
          <p:cNvSpPr txBox="1"/>
          <p:nvPr/>
        </p:nvSpPr>
        <p:spPr>
          <a:xfrm>
            <a:off x="5444976" y="8938317"/>
            <a:ext cx="2909030" cy="75057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Available options to learn, practice and test</a:t>
            </a:r>
            <a:endParaRPr/>
          </a:p>
        </p:txBody>
      </p:sp>
      <p:sp>
        <p:nvSpPr>
          <p:cNvPr id="679" name="Google Shape;679;p17"/>
          <p:cNvSpPr txBox="1"/>
          <p:nvPr/>
        </p:nvSpPr>
        <p:spPr>
          <a:xfrm>
            <a:off x="9876263" y="8883015"/>
            <a:ext cx="3130972" cy="75057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Offering a diverse range of STEM study materials.</a:t>
            </a:r>
            <a:endParaRPr/>
          </a:p>
        </p:txBody>
      </p:sp>
      <p:sp>
        <p:nvSpPr>
          <p:cNvPr id="680" name="Google Shape;680;p17"/>
          <p:cNvSpPr txBox="1"/>
          <p:nvPr/>
        </p:nvSpPr>
        <p:spPr>
          <a:xfrm>
            <a:off x="14258354" y="8883015"/>
            <a:ext cx="3608394" cy="75057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Explore and Learn various Maths and Science Concepts</a:t>
            </a:r>
            <a:endParaRPr/>
          </a:p>
        </p:txBody>
      </p:sp>
      <p:sp>
        <p:nvSpPr>
          <p:cNvPr id="681" name="Google Shape;681;p17"/>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8"/>
          <p:cNvSpPr/>
          <p:nvPr/>
        </p:nvSpPr>
        <p:spPr>
          <a:xfrm>
            <a:off x="16061998" y="125292"/>
            <a:ext cx="1892332" cy="1067277"/>
          </a:xfrm>
          <a:custGeom>
            <a:rect b="b" l="l" r="r" t="t"/>
            <a:pathLst>
              <a:path extrusionOk="0" h="1423035" w="2523109">
                <a:moveTo>
                  <a:pt x="0" y="0"/>
                </a:moveTo>
                <a:lnTo>
                  <a:pt x="2523109" y="0"/>
                </a:lnTo>
                <a:lnTo>
                  <a:pt x="2523109" y="1423035"/>
                </a:lnTo>
                <a:lnTo>
                  <a:pt x="0" y="1423035"/>
                </a:lnTo>
                <a:lnTo>
                  <a:pt x="0" y="0"/>
                </a:lnTo>
                <a:close/>
              </a:path>
            </a:pathLst>
          </a:custGeom>
          <a:blipFill rotWithShape="1">
            <a:blip r:embed="rId3">
              <a:alphaModFix/>
            </a:blip>
            <a:stretch>
              <a:fillRect b="0" l="0" r="-21" t="0"/>
            </a:stretch>
          </a:blipFill>
          <a:ln>
            <a:noFill/>
          </a:ln>
        </p:spPr>
      </p:sp>
      <p:sp>
        <p:nvSpPr>
          <p:cNvPr id="687" name="Google Shape;687;p18"/>
          <p:cNvSpPr/>
          <p:nvPr/>
        </p:nvSpPr>
        <p:spPr>
          <a:xfrm>
            <a:off x="16035004" y="230124"/>
            <a:ext cx="26880" cy="807520"/>
          </a:xfrm>
          <a:custGeom>
            <a:rect b="b" l="l" r="r" t="t"/>
            <a:pathLst>
              <a:path extrusionOk="0" h="807520" w="26880">
                <a:moveTo>
                  <a:pt x="0" y="0"/>
                </a:moveTo>
                <a:lnTo>
                  <a:pt x="26880" y="0"/>
                </a:lnTo>
                <a:lnTo>
                  <a:pt x="26880" y="807520"/>
                </a:lnTo>
                <a:lnTo>
                  <a:pt x="0" y="807520"/>
                </a:lnTo>
                <a:lnTo>
                  <a:pt x="0" y="0"/>
                </a:lnTo>
                <a:close/>
              </a:path>
            </a:pathLst>
          </a:custGeom>
          <a:blipFill rotWithShape="1">
            <a:blip r:embed="rId4">
              <a:alphaModFix/>
            </a:blip>
            <a:stretch>
              <a:fillRect b="0" l="0" r="0" t="0"/>
            </a:stretch>
          </a:blipFill>
          <a:ln>
            <a:noFill/>
          </a:ln>
        </p:spPr>
      </p:sp>
      <p:sp>
        <p:nvSpPr>
          <p:cNvPr id="688" name="Google Shape;688;p18"/>
          <p:cNvSpPr/>
          <p:nvPr/>
        </p:nvSpPr>
        <p:spPr>
          <a:xfrm>
            <a:off x="14092361" y="202711"/>
            <a:ext cx="1578960" cy="912400"/>
          </a:xfrm>
          <a:custGeom>
            <a:rect b="b" l="l" r="r" t="t"/>
            <a:pathLst>
              <a:path extrusionOk="0" h="1216533" w="2105279">
                <a:moveTo>
                  <a:pt x="0" y="0"/>
                </a:moveTo>
                <a:lnTo>
                  <a:pt x="2105279" y="0"/>
                </a:lnTo>
                <a:lnTo>
                  <a:pt x="2105279" y="1216533"/>
                </a:lnTo>
                <a:lnTo>
                  <a:pt x="0" y="1216533"/>
                </a:lnTo>
                <a:lnTo>
                  <a:pt x="0" y="0"/>
                </a:lnTo>
                <a:close/>
              </a:path>
            </a:pathLst>
          </a:custGeom>
          <a:blipFill rotWithShape="1">
            <a:blip r:embed="rId5">
              <a:alphaModFix/>
            </a:blip>
            <a:stretch>
              <a:fillRect b="-292" l="0" r="0" t="-102"/>
            </a:stretch>
          </a:blipFill>
          <a:ln>
            <a:noFill/>
          </a:ln>
        </p:spPr>
      </p:sp>
      <p:sp>
        <p:nvSpPr>
          <p:cNvPr id="689" name="Google Shape;689;p18"/>
          <p:cNvSpPr/>
          <p:nvPr/>
        </p:nvSpPr>
        <p:spPr>
          <a:xfrm>
            <a:off x="1449543" y="1898971"/>
            <a:ext cx="3448050" cy="6875621"/>
          </a:xfrm>
          <a:custGeom>
            <a:rect b="b" l="l" r="r" t="t"/>
            <a:pathLst>
              <a:path extrusionOk="0" h="9167495" w="4597400">
                <a:moveTo>
                  <a:pt x="215900" y="0"/>
                </a:moveTo>
                <a:cubicBezTo>
                  <a:pt x="96647" y="0"/>
                  <a:pt x="0" y="96647"/>
                  <a:pt x="0" y="215900"/>
                </a:cubicBezTo>
                <a:lnTo>
                  <a:pt x="0" y="8951595"/>
                </a:lnTo>
                <a:cubicBezTo>
                  <a:pt x="0" y="9070848"/>
                  <a:pt x="96647" y="9167495"/>
                  <a:pt x="215900" y="9167495"/>
                </a:cubicBezTo>
                <a:lnTo>
                  <a:pt x="4381500" y="9167495"/>
                </a:lnTo>
                <a:cubicBezTo>
                  <a:pt x="4500753" y="9167495"/>
                  <a:pt x="4597400" y="9070848"/>
                  <a:pt x="4597400" y="8951595"/>
                </a:cubicBezTo>
                <a:lnTo>
                  <a:pt x="4597400" y="215900"/>
                </a:lnTo>
                <a:cubicBezTo>
                  <a:pt x="4597400" y="96647"/>
                  <a:pt x="4500753" y="0"/>
                  <a:pt x="4381500" y="0"/>
                </a:cubicBezTo>
                <a:close/>
              </a:path>
            </a:pathLst>
          </a:custGeom>
          <a:blipFill rotWithShape="1">
            <a:blip r:embed="rId6">
              <a:alphaModFix/>
            </a:blip>
            <a:stretch>
              <a:fillRect b="-2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8"/>
          <p:cNvSpPr/>
          <p:nvPr/>
        </p:nvSpPr>
        <p:spPr>
          <a:xfrm>
            <a:off x="5698484" y="1657598"/>
            <a:ext cx="3486150" cy="6875621"/>
          </a:xfrm>
          <a:custGeom>
            <a:rect b="b" l="l" r="r" t="t"/>
            <a:pathLst>
              <a:path extrusionOk="0" h="9167495" w="4648200">
                <a:moveTo>
                  <a:pt x="254000" y="0"/>
                </a:moveTo>
                <a:cubicBezTo>
                  <a:pt x="113665" y="0"/>
                  <a:pt x="0" y="113665"/>
                  <a:pt x="0" y="254000"/>
                </a:cubicBezTo>
                <a:lnTo>
                  <a:pt x="0" y="8913495"/>
                </a:lnTo>
                <a:cubicBezTo>
                  <a:pt x="0" y="9053830"/>
                  <a:pt x="113665" y="9167495"/>
                  <a:pt x="254000" y="9167495"/>
                </a:cubicBezTo>
                <a:lnTo>
                  <a:pt x="4398010" y="9167495"/>
                </a:lnTo>
                <a:cubicBezTo>
                  <a:pt x="4523359" y="9167495"/>
                  <a:pt x="4627499" y="9076689"/>
                  <a:pt x="4648200" y="8957310"/>
                </a:cubicBezTo>
                <a:lnTo>
                  <a:pt x="4648200" y="210185"/>
                </a:lnTo>
                <a:cubicBezTo>
                  <a:pt x="4627499" y="90805"/>
                  <a:pt x="4523359" y="0"/>
                  <a:pt x="4398010" y="0"/>
                </a:cubicBezTo>
                <a:close/>
              </a:path>
            </a:pathLst>
          </a:custGeom>
          <a:blipFill rotWithShape="1">
            <a:blip r:embed="rId7">
              <a:alphaModFix/>
            </a:blip>
            <a:stretch>
              <a:fillRect b="-2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1" name="Google Shape;691;p18"/>
          <p:cNvGrpSpPr/>
          <p:nvPr/>
        </p:nvGrpSpPr>
        <p:grpSpPr>
          <a:xfrm>
            <a:off x="131089" y="197164"/>
            <a:ext cx="409700" cy="590423"/>
            <a:chOff x="63500" y="63500"/>
            <a:chExt cx="409702" cy="590423"/>
          </a:xfrm>
        </p:grpSpPr>
        <p:sp>
          <p:nvSpPr>
            <p:cNvPr id="692" name="Google Shape;692;p18"/>
            <p:cNvSpPr/>
            <p:nvPr/>
          </p:nvSpPr>
          <p:spPr>
            <a:xfrm>
              <a:off x="63500" y="63500"/>
              <a:ext cx="180467" cy="170815"/>
            </a:xfrm>
            <a:custGeom>
              <a:rect b="b" l="l" r="r" t="t"/>
              <a:pathLst>
                <a:path extrusionOk="0" h="170815" w="180467">
                  <a:moveTo>
                    <a:pt x="180467" y="85471"/>
                  </a:moveTo>
                  <a:cubicBezTo>
                    <a:pt x="180467" y="91059"/>
                    <a:pt x="179832" y="96647"/>
                    <a:pt x="178689" y="102108"/>
                  </a:cubicBezTo>
                  <a:cubicBezTo>
                    <a:pt x="177546" y="107569"/>
                    <a:pt x="175768" y="112903"/>
                    <a:pt x="173609" y="118110"/>
                  </a:cubicBezTo>
                  <a:cubicBezTo>
                    <a:pt x="171450" y="123317"/>
                    <a:pt x="168529" y="128270"/>
                    <a:pt x="165227" y="132842"/>
                  </a:cubicBezTo>
                  <a:cubicBezTo>
                    <a:pt x="161925" y="137414"/>
                    <a:pt x="158242" y="141859"/>
                    <a:pt x="154051" y="145796"/>
                  </a:cubicBezTo>
                  <a:cubicBezTo>
                    <a:pt x="149860" y="149733"/>
                    <a:pt x="145288"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2" y="29083"/>
                    <a:pt x="161925" y="33274"/>
                    <a:pt x="165227" y="37973"/>
                  </a:cubicBezTo>
                  <a:cubicBezTo>
                    <a:pt x="168529" y="42672"/>
                    <a:pt x="171323" y="47498"/>
                    <a:pt x="173609" y="52705"/>
                  </a:cubicBezTo>
                  <a:cubicBezTo>
                    <a:pt x="175895" y="57912"/>
                    <a:pt x="177546" y="63246"/>
                    <a:pt x="178689" y="68707"/>
                  </a:cubicBezTo>
                  <a:cubicBezTo>
                    <a:pt x="179832" y="74168"/>
                    <a:pt x="180467" y="79756"/>
                    <a:pt x="180467"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8"/>
            <p:cNvSpPr/>
            <p:nvPr/>
          </p:nvSpPr>
          <p:spPr>
            <a:xfrm>
              <a:off x="292608"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8"/>
            <p:cNvSpPr/>
            <p:nvPr/>
          </p:nvSpPr>
          <p:spPr>
            <a:xfrm>
              <a:off x="287655" y="273431"/>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8"/>
            <p:cNvSpPr/>
            <p:nvPr/>
          </p:nvSpPr>
          <p:spPr>
            <a:xfrm>
              <a:off x="63500" y="483235"/>
              <a:ext cx="180594" cy="170688"/>
            </a:xfrm>
            <a:custGeom>
              <a:rect b="b" l="l" r="r" t="t"/>
              <a:pathLst>
                <a:path extrusionOk="0" h="170688" w="180594">
                  <a:moveTo>
                    <a:pt x="180467" y="85344"/>
                  </a:moveTo>
                  <a:cubicBezTo>
                    <a:pt x="180467" y="90932"/>
                    <a:pt x="179832" y="96520"/>
                    <a:pt x="178689" y="101981"/>
                  </a:cubicBezTo>
                  <a:cubicBezTo>
                    <a:pt x="177546" y="107442"/>
                    <a:pt x="175768" y="112776"/>
                    <a:pt x="173609" y="117983"/>
                  </a:cubicBezTo>
                  <a:cubicBezTo>
                    <a:pt x="171450" y="123190"/>
                    <a:pt x="168529" y="128143"/>
                    <a:pt x="165227" y="132715"/>
                  </a:cubicBezTo>
                  <a:cubicBezTo>
                    <a:pt x="161925" y="137287"/>
                    <a:pt x="158242" y="141732"/>
                    <a:pt x="154051" y="145669"/>
                  </a:cubicBezTo>
                  <a:cubicBezTo>
                    <a:pt x="149860" y="149606"/>
                    <a:pt x="145288"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8"/>
            <p:cNvSpPr/>
            <p:nvPr/>
          </p:nvSpPr>
          <p:spPr>
            <a:xfrm>
              <a:off x="63500" y="273431"/>
              <a:ext cx="180594" cy="170688"/>
            </a:xfrm>
            <a:custGeom>
              <a:rect b="b" l="l" r="r" t="t"/>
              <a:pathLst>
                <a:path extrusionOk="0" h="170688" w="180594">
                  <a:moveTo>
                    <a:pt x="180467" y="85344"/>
                  </a:moveTo>
                  <a:cubicBezTo>
                    <a:pt x="180467" y="90932"/>
                    <a:pt x="179832" y="96520"/>
                    <a:pt x="178689" y="101981"/>
                  </a:cubicBezTo>
                  <a:cubicBezTo>
                    <a:pt x="177546" y="107442"/>
                    <a:pt x="175768" y="112776"/>
                    <a:pt x="173609" y="117983"/>
                  </a:cubicBezTo>
                  <a:cubicBezTo>
                    <a:pt x="171450" y="123190"/>
                    <a:pt x="168529" y="128143"/>
                    <a:pt x="165227" y="132715"/>
                  </a:cubicBezTo>
                  <a:cubicBezTo>
                    <a:pt x="161925" y="137287"/>
                    <a:pt x="158242" y="141732"/>
                    <a:pt x="154051" y="145669"/>
                  </a:cubicBezTo>
                  <a:cubicBezTo>
                    <a:pt x="149860" y="149606"/>
                    <a:pt x="145288"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p:nvPr/>
          </p:nvSpPr>
          <p:spPr>
            <a:xfrm>
              <a:off x="287655" y="483235"/>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 name="Google Shape;698;p18"/>
          <p:cNvSpPr/>
          <p:nvPr/>
        </p:nvSpPr>
        <p:spPr>
          <a:xfrm>
            <a:off x="4834080" y="4974765"/>
            <a:ext cx="650253" cy="279397"/>
          </a:xfrm>
          <a:custGeom>
            <a:rect b="b" l="l" r="r" t="t"/>
            <a:pathLst>
              <a:path extrusionOk="0" h="279397" w="650253">
                <a:moveTo>
                  <a:pt x="0" y="0"/>
                </a:moveTo>
                <a:lnTo>
                  <a:pt x="650253" y="0"/>
                </a:lnTo>
                <a:lnTo>
                  <a:pt x="650253" y="279396"/>
                </a:lnTo>
                <a:lnTo>
                  <a:pt x="0" y="279396"/>
                </a:lnTo>
                <a:lnTo>
                  <a:pt x="0" y="0"/>
                </a:lnTo>
                <a:close/>
              </a:path>
            </a:pathLst>
          </a:custGeom>
          <a:blipFill rotWithShape="1">
            <a:blip r:embed="rId8">
              <a:alphaModFix/>
            </a:blip>
            <a:stretch>
              <a:fillRect b="0" l="0" r="0" t="0"/>
            </a:stretch>
          </a:blipFill>
          <a:ln>
            <a:noFill/>
          </a:ln>
        </p:spPr>
      </p:sp>
      <p:sp>
        <p:nvSpPr>
          <p:cNvPr id="699" name="Google Shape;699;p18"/>
          <p:cNvSpPr/>
          <p:nvPr/>
        </p:nvSpPr>
        <p:spPr>
          <a:xfrm>
            <a:off x="9701927" y="3119295"/>
            <a:ext cx="7762875" cy="3619500"/>
          </a:xfrm>
          <a:custGeom>
            <a:rect b="b" l="l" r="r" t="t"/>
            <a:pathLst>
              <a:path extrusionOk="0" h="4826000" w="10350500">
                <a:moveTo>
                  <a:pt x="0" y="0"/>
                </a:moveTo>
                <a:lnTo>
                  <a:pt x="10350500" y="0"/>
                </a:lnTo>
                <a:lnTo>
                  <a:pt x="10350500" y="4826000"/>
                </a:lnTo>
                <a:lnTo>
                  <a:pt x="0" y="4826000"/>
                </a:lnTo>
                <a:lnTo>
                  <a:pt x="0" y="0"/>
                </a:lnTo>
                <a:close/>
              </a:path>
            </a:pathLst>
          </a:custGeom>
          <a:blipFill rotWithShape="1">
            <a:blip r:embed="rId9">
              <a:alphaModFix/>
            </a:blip>
            <a:stretch>
              <a:fillRect b="-52326" l="0" r="-2576" t="-12674"/>
            </a:stretch>
          </a:blipFill>
          <a:ln>
            <a:noFill/>
          </a:ln>
        </p:spPr>
      </p:sp>
      <p:sp>
        <p:nvSpPr>
          <p:cNvPr id="700" name="Google Shape;700;p18"/>
          <p:cNvSpPr/>
          <p:nvPr/>
        </p:nvSpPr>
        <p:spPr>
          <a:xfrm>
            <a:off x="131083" y="197158"/>
            <a:ext cx="411479" cy="592840"/>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sp>
        <p:nvSpPr>
          <p:cNvPr id="701" name="Google Shape;701;p18"/>
          <p:cNvSpPr/>
          <p:nvPr/>
        </p:nvSpPr>
        <p:spPr>
          <a:xfrm>
            <a:off x="4897584" y="5095408"/>
            <a:ext cx="523240" cy="38100"/>
          </a:xfrm>
          <a:custGeom>
            <a:rect b="b" l="l" r="r" t="t"/>
            <a:pathLst>
              <a:path extrusionOk="0" h="38100" w="523237">
                <a:moveTo>
                  <a:pt x="0" y="38100"/>
                </a:moveTo>
                <a:lnTo>
                  <a:pt x="523237" y="38100"/>
                </a:lnTo>
                <a:lnTo>
                  <a:pt x="523237" y="0"/>
                </a:lnTo>
                <a:lnTo>
                  <a:pt x="0" y="0"/>
                </a:lnTo>
                <a:close/>
              </a:path>
            </a:pathLst>
          </a:custGeom>
          <a:solidFill>
            <a:srgbClr val="000000">
              <a:alpha val="0"/>
            </a:srgbClr>
          </a:solidFill>
          <a:ln>
            <a:noFill/>
          </a:ln>
        </p:spPr>
      </p:sp>
      <p:sp>
        <p:nvSpPr>
          <p:cNvPr id="702" name="Google Shape;702;p18"/>
          <p:cNvSpPr/>
          <p:nvPr/>
        </p:nvSpPr>
        <p:spPr>
          <a:xfrm>
            <a:off x="16034909" y="230010"/>
            <a:ext cx="27052" cy="807724"/>
          </a:xfrm>
          <a:custGeom>
            <a:rect b="b" l="l" r="r" t="t"/>
            <a:pathLst>
              <a:path extrusionOk="0" h="807714" w="27052">
                <a:moveTo>
                  <a:pt x="0" y="807714"/>
                </a:moveTo>
                <a:lnTo>
                  <a:pt x="27052" y="807714"/>
                </a:lnTo>
                <a:lnTo>
                  <a:pt x="27052" y="0"/>
                </a:lnTo>
                <a:lnTo>
                  <a:pt x="0" y="0"/>
                </a:lnTo>
                <a:close/>
              </a:path>
            </a:pathLst>
          </a:custGeom>
          <a:solidFill>
            <a:srgbClr val="000000">
              <a:alpha val="0"/>
            </a:srgbClr>
          </a:solidFill>
          <a:ln>
            <a:noFill/>
          </a:ln>
        </p:spPr>
      </p:sp>
      <p:sp>
        <p:nvSpPr>
          <p:cNvPr id="703" name="Google Shape;703;p18"/>
          <p:cNvSpPr txBox="1"/>
          <p:nvPr/>
        </p:nvSpPr>
        <p:spPr>
          <a:xfrm>
            <a:off x="1449543" y="864279"/>
            <a:ext cx="1321603"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0C661A"/>
                </a:solidFill>
                <a:latin typeface="Calibri"/>
                <a:ea typeface="Calibri"/>
                <a:cs typeface="Calibri"/>
                <a:sym typeface="Calibri"/>
              </a:rPr>
              <a:t>Screens</a:t>
            </a:r>
            <a:endParaRPr/>
          </a:p>
        </p:txBody>
      </p:sp>
      <p:sp>
        <p:nvSpPr>
          <p:cNvPr id="704" name="Google Shape;704;p18"/>
          <p:cNvSpPr txBox="1"/>
          <p:nvPr/>
        </p:nvSpPr>
        <p:spPr>
          <a:xfrm>
            <a:off x="6799031" y="182728"/>
            <a:ext cx="4782722"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Journey Experience</a:t>
            </a:r>
            <a:endParaRPr/>
          </a:p>
        </p:txBody>
      </p:sp>
      <p:sp>
        <p:nvSpPr>
          <p:cNvPr id="705" name="Google Shape;705;p18"/>
          <p:cNvSpPr txBox="1"/>
          <p:nvPr/>
        </p:nvSpPr>
        <p:spPr>
          <a:xfrm>
            <a:off x="2058781" y="8964168"/>
            <a:ext cx="2474109" cy="75057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Understanding Sine Graph</a:t>
            </a:r>
            <a:endParaRPr/>
          </a:p>
        </p:txBody>
      </p:sp>
      <p:sp>
        <p:nvSpPr>
          <p:cNvPr id="706" name="Google Shape;706;p18"/>
          <p:cNvSpPr txBox="1"/>
          <p:nvPr/>
        </p:nvSpPr>
        <p:spPr>
          <a:xfrm>
            <a:off x="5924579" y="8964168"/>
            <a:ext cx="3084976" cy="111252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Bluetooth enable option for connecting to hardware</a:t>
            </a:r>
            <a:endParaRPr/>
          </a:p>
        </p:txBody>
      </p:sp>
      <p:sp>
        <p:nvSpPr>
          <p:cNvPr id="707" name="Google Shape;707;p18"/>
          <p:cNvSpPr txBox="1"/>
          <p:nvPr/>
        </p:nvSpPr>
        <p:spPr>
          <a:xfrm>
            <a:off x="12189019" y="8783193"/>
            <a:ext cx="3034579" cy="111252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Hardware showing the practical representation of Sine Graph</a:t>
            </a:r>
            <a:endParaRPr/>
          </a:p>
        </p:txBody>
      </p:sp>
      <p:sp>
        <p:nvSpPr>
          <p:cNvPr id="708" name="Google Shape;708;p18"/>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9"/>
          <p:cNvSpPr/>
          <p:nvPr/>
        </p:nvSpPr>
        <p:spPr>
          <a:xfrm>
            <a:off x="16061998" y="125292"/>
            <a:ext cx="1892332" cy="1067277"/>
          </a:xfrm>
          <a:custGeom>
            <a:rect b="b" l="l" r="r" t="t"/>
            <a:pathLst>
              <a:path extrusionOk="0" h="1423035" w="2523109">
                <a:moveTo>
                  <a:pt x="0" y="0"/>
                </a:moveTo>
                <a:lnTo>
                  <a:pt x="2523109" y="0"/>
                </a:lnTo>
                <a:lnTo>
                  <a:pt x="2523109" y="1423035"/>
                </a:lnTo>
                <a:lnTo>
                  <a:pt x="0" y="1423035"/>
                </a:lnTo>
                <a:lnTo>
                  <a:pt x="0" y="0"/>
                </a:lnTo>
                <a:close/>
              </a:path>
            </a:pathLst>
          </a:custGeom>
          <a:blipFill rotWithShape="1">
            <a:blip r:embed="rId3">
              <a:alphaModFix/>
            </a:blip>
            <a:stretch>
              <a:fillRect b="0" l="0" r="-21" t="0"/>
            </a:stretch>
          </a:blipFill>
          <a:ln>
            <a:noFill/>
          </a:ln>
        </p:spPr>
      </p:sp>
      <p:sp>
        <p:nvSpPr>
          <p:cNvPr id="714" name="Google Shape;714;p19"/>
          <p:cNvSpPr/>
          <p:nvPr/>
        </p:nvSpPr>
        <p:spPr>
          <a:xfrm>
            <a:off x="16035004" y="230124"/>
            <a:ext cx="26880" cy="807520"/>
          </a:xfrm>
          <a:custGeom>
            <a:rect b="b" l="l" r="r" t="t"/>
            <a:pathLst>
              <a:path extrusionOk="0" h="807520" w="26880">
                <a:moveTo>
                  <a:pt x="0" y="0"/>
                </a:moveTo>
                <a:lnTo>
                  <a:pt x="26880" y="0"/>
                </a:lnTo>
                <a:lnTo>
                  <a:pt x="26880" y="807520"/>
                </a:lnTo>
                <a:lnTo>
                  <a:pt x="0" y="807520"/>
                </a:lnTo>
                <a:lnTo>
                  <a:pt x="0" y="0"/>
                </a:lnTo>
                <a:close/>
              </a:path>
            </a:pathLst>
          </a:custGeom>
          <a:blipFill rotWithShape="1">
            <a:blip r:embed="rId4">
              <a:alphaModFix/>
            </a:blip>
            <a:stretch>
              <a:fillRect b="0" l="0" r="0" t="0"/>
            </a:stretch>
          </a:blipFill>
          <a:ln>
            <a:noFill/>
          </a:ln>
        </p:spPr>
      </p:sp>
      <p:sp>
        <p:nvSpPr>
          <p:cNvPr id="715" name="Google Shape;715;p19"/>
          <p:cNvSpPr/>
          <p:nvPr/>
        </p:nvSpPr>
        <p:spPr>
          <a:xfrm>
            <a:off x="14092361" y="202711"/>
            <a:ext cx="1578960" cy="912400"/>
          </a:xfrm>
          <a:custGeom>
            <a:rect b="b" l="l" r="r" t="t"/>
            <a:pathLst>
              <a:path extrusionOk="0" h="1216533" w="2105279">
                <a:moveTo>
                  <a:pt x="0" y="0"/>
                </a:moveTo>
                <a:lnTo>
                  <a:pt x="2105279" y="0"/>
                </a:lnTo>
                <a:lnTo>
                  <a:pt x="2105279" y="1216533"/>
                </a:lnTo>
                <a:lnTo>
                  <a:pt x="0" y="1216533"/>
                </a:lnTo>
                <a:lnTo>
                  <a:pt x="0" y="0"/>
                </a:lnTo>
                <a:close/>
              </a:path>
            </a:pathLst>
          </a:custGeom>
          <a:blipFill rotWithShape="1">
            <a:blip r:embed="rId5">
              <a:alphaModFix/>
            </a:blip>
            <a:stretch>
              <a:fillRect b="-292" l="0" r="0" t="-102"/>
            </a:stretch>
          </a:blipFill>
          <a:ln>
            <a:noFill/>
          </a:ln>
        </p:spPr>
      </p:sp>
      <p:sp>
        <p:nvSpPr>
          <p:cNvPr id="716" name="Google Shape;716;p19"/>
          <p:cNvSpPr/>
          <p:nvPr/>
        </p:nvSpPr>
        <p:spPr>
          <a:xfrm>
            <a:off x="1267187" y="1642158"/>
            <a:ext cx="3857625" cy="7524750"/>
          </a:xfrm>
          <a:custGeom>
            <a:rect b="b" l="l" r="r" t="t"/>
            <a:pathLst>
              <a:path extrusionOk="0" h="10033000" w="5143500">
                <a:moveTo>
                  <a:pt x="368300" y="0"/>
                </a:moveTo>
                <a:cubicBezTo>
                  <a:pt x="164846" y="0"/>
                  <a:pt x="0" y="164846"/>
                  <a:pt x="0" y="368300"/>
                </a:cubicBezTo>
                <a:lnTo>
                  <a:pt x="0" y="9667621"/>
                </a:lnTo>
                <a:cubicBezTo>
                  <a:pt x="0" y="9855200"/>
                  <a:pt x="140335" y="10010140"/>
                  <a:pt x="321818" y="10033000"/>
                </a:cubicBezTo>
                <a:lnTo>
                  <a:pt x="4824095" y="10033000"/>
                </a:lnTo>
                <a:cubicBezTo>
                  <a:pt x="4991862" y="10011791"/>
                  <a:pt x="5124450" y="9877806"/>
                  <a:pt x="5143500" y="9709404"/>
                </a:cubicBezTo>
                <a:lnTo>
                  <a:pt x="5143500" y="326517"/>
                </a:lnTo>
                <a:cubicBezTo>
                  <a:pt x="5122672" y="142748"/>
                  <a:pt x="4966843" y="0"/>
                  <a:pt x="4777486" y="0"/>
                </a:cubicBezTo>
                <a:close/>
              </a:path>
            </a:pathLst>
          </a:cu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6368244" y="1642158"/>
            <a:ext cx="3790950" cy="7343775"/>
          </a:xfrm>
          <a:custGeom>
            <a:rect b="b" l="l" r="r" t="t"/>
            <a:pathLst>
              <a:path extrusionOk="0" h="9791700" w="5054600">
                <a:moveTo>
                  <a:pt x="292100" y="0"/>
                </a:moveTo>
                <a:cubicBezTo>
                  <a:pt x="130810" y="0"/>
                  <a:pt x="0" y="130810"/>
                  <a:pt x="0" y="292100"/>
                </a:cubicBezTo>
                <a:lnTo>
                  <a:pt x="0" y="9504299"/>
                </a:lnTo>
                <a:cubicBezTo>
                  <a:pt x="0" y="9647682"/>
                  <a:pt x="103378" y="9767062"/>
                  <a:pt x="239776" y="9791700"/>
                </a:cubicBezTo>
                <a:lnTo>
                  <a:pt x="4818761" y="9791700"/>
                </a:lnTo>
                <a:cubicBezTo>
                  <a:pt x="4939538" y="9769856"/>
                  <a:pt x="5034407" y="9673717"/>
                  <a:pt x="5054600" y="9552432"/>
                </a:cubicBezTo>
                <a:lnTo>
                  <a:pt x="5054600" y="243967"/>
                </a:lnTo>
                <a:cubicBezTo>
                  <a:pt x="5031613" y="105537"/>
                  <a:pt x="4911344" y="0"/>
                  <a:pt x="4766437" y="0"/>
                </a:cubicBezTo>
                <a:close/>
              </a:path>
            </a:pathLst>
          </a:cu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5320798" y="4788722"/>
            <a:ext cx="650253" cy="279397"/>
          </a:xfrm>
          <a:custGeom>
            <a:rect b="b" l="l" r="r" t="t"/>
            <a:pathLst>
              <a:path extrusionOk="0" h="279397" w="650253">
                <a:moveTo>
                  <a:pt x="0" y="0"/>
                </a:moveTo>
                <a:lnTo>
                  <a:pt x="650253" y="0"/>
                </a:lnTo>
                <a:lnTo>
                  <a:pt x="650253" y="279397"/>
                </a:lnTo>
                <a:lnTo>
                  <a:pt x="0" y="279397"/>
                </a:lnTo>
                <a:lnTo>
                  <a:pt x="0" y="0"/>
                </a:lnTo>
                <a:close/>
              </a:path>
            </a:pathLst>
          </a:custGeom>
          <a:blipFill rotWithShape="1">
            <a:blip r:embed="rId8">
              <a:alphaModFix/>
            </a:blip>
            <a:stretch>
              <a:fillRect b="0" l="0" r="0" t="0"/>
            </a:stretch>
          </a:blipFill>
          <a:ln>
            <a:noFill/>
          </a:ln>
        </p:spPr>
      </p:sp>
      <p:sp>
        <p:nvSpPr>
          <p:cNvPr id="719" name="Google Shape;719;p19"/>
          <p:cNvSpPr/>
          <p:nvPr/>
        </p:nvSpPr>
        <p:spPr>
          <a:xfrm>
            <a:off x="10619356" y="2082784"/>
            <a:ext cx="6867525" cy="5972175"/>
          </a:xfrm>
          <a:custGeom>
            <a:rect b="b" l="l" r="r" t="t"/>
            <a:pathLst>
              <a:path extrusionOk="0" h="7962900" w="9156700">
                <a:moveTo>
                  <a:pt x="0" y="0"/>
                </a:moveTo>
                <a:lnTo>
                  <a:pt x="9156700" y="0"/>
                </a:lnTo>
                <a:lnTo>
                  <a:pt x="9156700" y="7962900"/>
                </a:lnTo>
                <a:lnTo>
                  <a:pt x="0" y="7962900"/>
                </a:lnTo>
                <a:lnTo>
                  <a:pt x="0" y="0"/>
                </a:lnTo>
                <a:close/>
              </a:path>
            </a:pathLst>
          </a:custGeom>
          <a:blipFill rotWithShape="1">
            <a:blip r:embed="rId9">
              <a:alphaModFix/>
            </a:blip>
            <a:stretch>
              <a:fillRect b="-9020" l="-34368" r="-23465" t="-27024"/>
            </a:stretch>
          </a:blipFill>
          <a:ln>
            <a:noFill/>
          </a:ln>
        </p:spPr>
      </p:sp>
      <p:grpSp>
        <p:nvGrpSpPr>
          <p:cNvPr id="720" name="Google Shape;720;p19"/>
          <p:cNvGrpSpPr/>
          <p:nvPr/>
        </p:nvGrpSpPr>
        <p:grpSpPr>
          <a:xfrm>
            <a:off x="131089" y="197155"/>
            <a:ext cx="411477" cy="592837"/>
            <a:chOff x="63500" y="63500"/>
            <a:chExt cx="411479" cy="592837"/>
          </a:xfrm>
        </p:grpSpPr>
        <p:sp>
          <p:nvSpPr>
            <p:cNvPr id="721" name="Google Shape;721;p19"/>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sp>
        <p:nvSpPr>
          <p:cNvPr id="728" name="Google Shape;728;p19"/>
          <p:cNvSpPr/>
          <p:nvPr/>
        </p:nvSpPr>
        <p:spPr>
          <a:xfrm>
            <a:off x="5384302" y="4909366"/>
            <a:ext cx="523240" cy="38100"/>
          </a:xfrm>
          <a:custGeom>
            <a:rect b="b" l="l" r="r" t="t"/>
            <a:pathLst>
              <a:path extrusionOk="0" h="38100" w="523237">
                <a:moveTo>
                  <a:pt x="0" y="38100"/>
                </a:moveTo>
                <a:lnTo>
                  <a:pt x="523237" y="38100"/>
                </a:lnTo>
                <a:lnTo>
                  <a:pt x="523237" y="0"/>
                </a:lnTo>
                <a:lnTo>
                  <a:pt x="0" y="0"/>
                </a:lnTo>
                <a:close/>
              </a:path>
            </a:pathLst>
          </a:custGeom>
          <a:solidFill>
            <a:srgbClr val="000000">
              <a:alpha val="0"/>
            </a:srgbClr>
          </a:solidFill>
          <a:ln>
            <a:noFill/>
          </a:ln>
        </p:spPr>
      </p:sp>
      <p:sp>
        <p:nvSpPr>
          <p:cNvPr id="729" name="Google Shape;729;p19"/>
          <p:cNvSpPr/>
          <p:nvPr/>
        </p:nvSpPr>
        <p:spPr>
          <a:xfrm>
            <a:off x="16034909" y="230010"/>
            <a:ext cx="27052" cy="807724"/>
          </a:xfrm>
          <a:custGeom>
            <a:rect b="b" l="l" r="r" t="t"/>
            <a:pathLst>
              <a:path extrusionOk="0" h="807714" w="27052">
                <a:moveTo>
                  <a:pt x="0" y="807714"/>
                </a:moveTo>
                <a:lnTo>
                  <a:pt x="27052" y="807714"/>
                </a:lnTo>
                <a:lnTo>
                  <a:pt x="27052" y="0"/>
                </a:lnTo>
                <a:lnTo>
                  <a:pt x="0" y="0"/>
                </a:lnTo>
                <a:close/>
              </a:path>
            </a:pathLst>
          </a:custGeom>
          <a:solidFill>
            <a:srgbClr val="000000">
              <a:alpha val="0"/>
            </a:srgbClr>
          </a:solidFill>
          <a:ln>
            <a:noFill/>
          </a:ln>
        </p:spPr>
      </p:sp>
      <p:sp>
        <p:nvSpPr>
          <p:cNvPr id="730" name="Google Shape;730;p19"/>
          <p:cNvSpPr txBox="1"/>
          <p:nvPr/>
        </p:nvSpPr>
        <p:spPr>
          <a:xfrm>
            <a:off x="6799031" y="182728"/>
            <a:ext cx="4782722" cy="600637"/>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Journey Experience</a:t>
            </a:r>
            <a:endParaRPr/>
          </a:p>
        </p:txBody>
      </p:sp>
      <p:sp>
        <p:nvSpPr>
          <p:cNvPr id="731" name="Google Shape;731;p19"/>
          <p:cNvSpPr txBox="1"/>
          <p:nvPr/>
        </p:nvSpPr>
        <p:spPr>
          <a:xfrm>
            <a:off x="1296629" y="941451"/>
            <a:ext cx="1156526" cy="532733"/>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799">
                <a:solidFill>
                  <a:srgbClr val="0C661A"/>
                </a:solidFill>
                <a:latin typeface="Calibri"/>
                <a:ea typeface="Calibri"/>
                <a:cs typeface="Calibri"/>
                <a:sym typeface="Calibri"/>
              </a:rPr>
              <a:t>Screens</a:t>
            </a:r>
            <a:endParaRPr/>
          </a:p>
        </p:txBody>
      </p:sp>
      <p:sp>
        <p:nvSpPr>
          <p:cNvPr id="732" name="Google Shape;732;p19"/>
          <p:cNvSpPr txBox="1"/>
          <p:nvPr/>
        </p:nvSpPr>
        <p:spPr>
          <a:xfrm>
            <a:off x="1814960" y="9459468"/>
            <a:ext cx="2756011" cy="43624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Connecting Bluetooth</a:t>
            </a:r>
            <a:endParaRPr/>
          </a:p>
        </p:txBody>
      </p:sp>
      <p:sp>
        <p:nvSpPr>
          <p:cNvPr id="733" name="Google Shape;733;p19"/>
          <p:cNvSpPr txBox="1"/>
          <p:nvPr/>
        </p:nvSpPr>
        <p:spPr>
          <a:xfrm>
            <a:off x="6823024" y="9459468"/>
            <a:ext cx="2925880" cy="43624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424242"/>
                </a:solidFill>
                <a:latin typeface="Calibri"/>
                <a:ea typeface="Calibri"/>
                <a:cs typeface="Calibri"/>
                <a:sym typeface="Calibri"/>
              </a:rPr>
              <a:t>Drawing square on app</a:t>
            </a:r>
            <a:endParaRPr/>
          </a:p>
        </p:txBody>
      </p:sp>
      <p:sp>
        <p:nvSpPr>
          <p:cNvPr id="734" name="Google Shape;734;p19"/>
          <p:cNvSpPr txBox="1"/>
          <p:nvPr/>
        </p:nvSpPr>
        <p:spPr>
          <a:xfrm>
            <a:off x="12758585" y="9346263"/>
            <a:ext cx="2371039" cy="75057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424242"/>
                </a:solidFill>
                <a:latin typeface="Calibri"/>
                <a:ea typeface="Calibri"/>
                <a:cs typeface="Calibri"/>
                <a:sym typeface="Calibri"/>
              </a:rPr>
              <a:t>Hardware showing square figure </a:t>
            </a:r>
            <a:endParaRPr/>
          </a:p>
        </p:txBody>
      </p:sp>
      <p:sp>
        <p:nvSpPr>
          <p:cNvPr id="735" name="Google Shape;735;p19"/>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21"/>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741" name="Google Shape;741;p21"/>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742" name="Google Shape;742;p21"/>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743" name="Google Shape;743;p21"/>
          <p:cNvSpPr/>
          <p:nvPr/>
        </p:nvSpPr>
        <p:spPr>
          <a:xfrm>
            <a:off x="17827104" y="4592307"/>
            <a:ext cx="452245" cy="2345304"/>
          </a:xfrm>
          <a:custGeom>
            <a:rect b="b" l="l" r="r" t="t"/>
            <a:pathLst>
              <a:path extrusionOk="0" h="2345311" w="452242">
                <a:moveTo>
                  <a:pt x="0" y="0"/>
                </a:moveTo>
                <a:lnTo>
                  <a:pt x="0" y="2345311"/>
                </a:lnTo>
                <a:lnTo>
                  <a:pt x="452242" y="2345311"/>
                </a:lnTo>
                <a:lnTo>
                  <a:pt x="452242" y="0"/>
                </a:lnTo>
                <a:close/>
              </a:path>
            </a:pathLst>
          </a:custGeom>
          <a:solidFill>
            <a:srgbClr val="E69138"/>
          </a:solidFill>
          <a:ln>
            <a:noFill/>
          </a:ln>
        </p:spPr>
      </p:sp>
      <p:sp>
        <p:nvSpPr>
          <p:cNvPr id="744" name="Google Shape;744;p21"/>
          <p:cNvSpPr/>
          <p:nvPr/>
        </p:nvSpPr>
        <p:spPr>
          <a:xfrm>
            <a:off x="6411087" y="1202246"/>
            <a:ext cx="5467350" cy="8429625"/>
          </a:xfrm>
          <a:custGeom>
            <a:rect b="b" l="l" r="r" t="t"/>
            <a:pathLst>
              <a:path extrusionOk="0" h="11239500" w="7289800">
                <a:moveTo>
                  <a:pt x="0" y="0"/>
                </a:moveTo>
                <a:lnTo>
                  <a:pt x="7289800" y="0"/>
                </a:lnTo>
                <a:lnTo>
                  <a:pt x="7289800" y="11239500"/>
                </a:lnTo>
                <a:lnTo>
                  <a:pt x="0" y="11239500"/>
                </a:lnTo>
                <a:lnTo>
                  <a:pt x="0" y="0"/>
                </a:lnTo>
                <a:close/>
              </a:path>
            </a:pathLst>
          </a:custGeom>
          <a:blipFill rotWithShape="1">
            <a:blip r:embed="rId5">
              <a:alphaModFix/>
            </a:blip>
            <a:stretch>
              <a:fillRect b="0" l="0" r="0" t="0"/>
            </a:stretch>
          </a:blipFill>
          <a:ln>
            <a:noFill/>
          </a:ln>
        </p:spPr>
      </p:sp>
      <p:sp>
        <p:nvSpPr>
          <p:cNvPr id="745" name="Google Shape;745;p21"/>
          <p:cNvSpPr/>
          <p:nvPr/>
        </p:nvSpPr>
        <p:spPr>
          <a:xfrm>
            <a:off x="12091226" y="2056686"/>
            <a:ext cx="866775" cy="866775"/>
          </a:xfrm>
          <a:custGeom>
            <a:rect b="b" l="l" r="r" t="t"/>
            <a:pathLst>
              <a:path extrusionOk="0" h="1155700" w="1155700">
                <a:moveTo>
                  <a:pt x="0" y="0"/>
                </a:moveTo>
                <a:lnTo>
                  <a:pt x="1155700" y="0"/>
                </a:lnTo>
                <a:lnTo>
                  <a:pt x="1155700" y="1155700"/>
                </a:lnTo>
                <a:lnTo>
                  <a:pt x="0" y="1155700"/>
                </a:lnTo>
                <a:lnTo>
                  <a:pt x="0" y="0"/>
                </a:lnTo>
                <a:close/>
              </a:path>
            </a:pathLst>
          </a:custGeom>
          <a:blipFill rotWithShape="1">
            <a:blip r:embed="rId6">
              <a:alphaModFix/>
            </a:blip>
            <a:stretch>
              <a:fillRect b="-10438" l="-41216" r="-42301" t="-8242"/>
            </a:stretch>
          </a:blipFill>
          <a:ln>
            <a:noFill/>
          </a:ln>
        </p:spPr>
      </p:sp>
      <p:sp>
        <p:nvSpPr>
          <p:cNvPr id="746" name="Google Shape;746;p21"/>
          <p:cNvSpPr/>
          <p:nvPr/>
        </p:nvSpPr>
        <p:spPr>
          <a:xfrm>
            <a:off x="5636447" y="2300649"/>
            <a:ext cx="590550" cy="590550"/>
          </a:xfrm>
          <a:custGeom>
            <a:rect b="b" l="l" r="r" t="t"/>
            <a:pathLst>
              <a:path extrusionOk="0" h="787400" w="787400">
                <a:moveTo>
                  <a:pt x="0" y="0"/>
                </a:moveTo>
                <a:lnTo>
                  <a:pt x="787400" y="0"/>
                </a:lnTo>
                <a:lnTo>
                  <a:pt x="787400" y="787400"/>
                </a:lnTo>
                <a:lnTo>
                  <a:pt x="0" y="787400"/>
                </a:lnTo>
                <a:lnTo>
                  <a:pt x="0" y="0"/>
                </a:lnTo>
                <a:close/>
              </a:path>
            </a:pathLst>
          </a:custGeom>
          <a:blipFill rotWithShape="1">
            <a:blip r:embed="rId7">
              <a:alphaModFix/>
            </a:blip>
            <a:stretch>
              <a:fillRect b="-19611" l="-61086" r="-59879" t="-19097"/>
            </a:stretch>
          </a:blipFill>
          <a:ln>
            <a:noFill/>
          </a:ln>
        </p:spPr>
      </p:sp>
      <p:sp>
        <p:nvSpPr>
          <p:cNvPr id="747" name="Google Shape;747;p21"/>
          <p:cNvSpPr/>
          <p:nvPr/>
        </p:nvSpPr>
        <p:spPr>
          <a:xfrm>
            <a:off x="3936511" y="2582608"/>
            <a:ext cx="628650" cy="590550"/>
          </a:xfrm>
          <a:custGeom>
            <a:rect b="b" l="l" r="r" t="t"/>
            <a:pathLst>
              <a:path extrusionOk="0" h="787400" w="838200">
                <a:moveTo>
                  <a:pt x="0" y="0"/>
                </a:moveTo>
                <a:lnTo>
                  <a:pt x="838200" y="0"/>
                </a:lnTo>
                <a:lnTo>
                  <a:pt x="838200" y="787400"/>
                </a:lnTo>
                <a:lnTo>
                  <a:pt x="0" y="787400"/>
                </a:lnTo>
                <a:lnTo>
                  <a:pt x="0" y="0"/>
                </a:lnTo>
                <a:close/>
              </a:path>
            </a:pathLst>
          </a:custGeom>
          <a:blipFill rotWithShape="1">
            <a:blip r:embed="rId8">
              <a:alphaModFix/>
            </a:blip>
            <a:stretch>
              <a:fillRect b="0" l="0" r="0" t="0"/>
            </a:stretch>
          </a:blipFill>
          <a:ln>
            <a:noFill/>
          </a:ln>
        </p:spPr>
      </p:sp>
      <p:sp>
        <p:nvSpPr>
          <p:cNvPr id="748" name="Google Shape;748;p21"/>
          <p:cNvSpPr/>
          <p:nvPr/>
        </p:nvSpPr>
        <p:spPr>
          <a:xfrm>
            <a:off x="13661993" y="4323140"/>
            <a:ext cx="371475" cy="752475"/>
          </a:xfrm>
          <a:custGeom>
            <a:rect b="b" l="l" r="r" t="t"/>
            <a:pathLst>
              <a:path extrusionOk="0" h="1003300" w="495300">
                <a:moveTo>
                  <a:pt x="0" y="0"/>
                </a:moveTo>
                <a:lnTo>
                  <a:pt x="495300" y="0"/>
                </a:lnTo>
                <a:lnTo>
                  <a:pt x="495300" y="1003300"/>
                </a:lnTo>
                <a:lnTo>
                  <a:pt x="0" y="1003300"/>
                </a:lnTo>
                <a:lnTo>
                  <a:pt x="0" y="0"/>
                </a:lnTo>
                <a:close/>
              </a:path>
            </a:pathLst>
          </a:custGeom>
          <a:blipFill rotWithShape="1">
            <a:blip r:embed="rId9">
              <a:alphaModFix/>
            </a:blip>
            <a:stretch>
              <a:fillRect b="0" l="-66567" r="-82152" t="0"/>
            </a:stretch>
          </a:blipFill>
          <a:ln>
            <a:noFill/>
          </a:ln>
        </p:spPr>
      </p:sp>
      <p:sp>
        <p:nvSpPr>
          <p:cNvPr id="749" name="Google Shape;749;p21"/>
          <p:cNvSpPr/>
          <p:nvPr/>
        </p:nvSpPr>
        <p:spPr>
          <a:xfrm>
            <a:off x="12231157" y="3968629"/>
            <a:ext cx="561975" cy="523875"/>
          </a:xfrm>
          <a:custGeom>
            <a:rect b="b" l="l" r="r" t="t"/>
            <a:pathLst>
              <a:path extrusionOk="0" h="698500" w="749300">
                <a:moveTo>
                  <a:pt x="0" y="0"/>
                </a:moveTo>
                <a:lnTo>
                  <a:pt x="749300" y="0"/>
                </a:lnTo>
                <a:lnTo>
                  <a:pt x="749300" y="698500"/>
                </a:lnTo>
                <a:lnTo>
                  <a:pt x="0" y="698500"/>
                </a:lnTo>
                <a:lnTo>
                  <a:pt x="0" y="0"/>
                </a:lnTo>
                <a:close/>
              </a:path>
            </a:pathLst>
          </a:custGeom>
          <a:blipFill rotWithShape="1">
            <a:blip r:embed="rId10">
              <a:alphaModFix/>
            </a:blip>
            <a:stretch>
              <a:fillRect b="-12825" l="-21765" r="-13826" t="-18084"/>
            </a:stretch>
          </a:blipFill>
          <a:ln>
            <a:noFill/>
          </a:ln>
        </p:spPr>
      </p:sp>
      <p:sp>
        <p:nvSpPr>
          <p:cNvPr id="750" name="Google Shape;750;p21"/>
          <p:cNvSpPr/>
          <p:nvPr/>
        </p:nvSpPr>
        <p:spPr>
          <a:xfrm>
            <a:off x="4989605" y="4423505"/>
            <a:ext cx="1514475" cy="1152525"/>
          </a:xfrm>
          <a:custGeom>
            <a:rect b="b" l="l" r="r" t="t"/>
            <a:pathLst>
              <a:path extrusionOk="0" h="1536700" w="2019300">
                <a:moveTo>
                  <a:pt x="0" y="0"/>
                </a:moveTo>
                <a:lnTo>
                  <a:pt x="2019300" y="0"/>
                </a:lnTo>
                <a:lnTo>
                  <a:pt x="2019300" y="1536700"/>
                </a:lnTo>
                <a:lnTo>
                  <a:pt x="0" y="1536700"/>
                </a:lnTo>
                <a:lnTo>
                  <a:pt x="0" y="0"/>
                </a:lnTo>
                <a:close/>
              </a:path>
            </a:pathLst>
          </a:custGeom>
          <a:blipFill rotWithShape="1">
            <a:blip r:embed="rId11">
              <a:alphaModFix/>
            </a:blip>
            <a:stretch>
              <a:fillRect b="0" l="0" r="0" t="0"/>
            </a:stretch>
          </a:blipFill>
          <a:ln>
            <a:noFill/>
          </a:ln>
        </p:spPr>
      </p:sp>
      <p:sp>
        <p:nvSpPr>
          <p:cNvPr id="751" name="Google Shape;751;p21"/>
          <p:cNvSpPr/>
          <p:nvPr/>
        </p:nvSpPr>
        <p:spPr>
          <a:xfrm>
            <a:off x="4870142" y="5624512"/>
            <a:ext cx="942975" cy="514350"/>
          </a:xfrm>
          <a:custGeom>
            <a:rect b="b" l="l" r="r" t="t"/>
            <a:pathLst>
              <a:path extrusionOk="0" h="685800" w="1257300">
                <a:moveTo>
                  <a:pt x="0" y="0"/>
                </a:moveTo>
                <a:lnTo>
                  <a:pt x="1257300" y="0"/>
                </a:lnTo>
                <a:lnTo>
                  <a:pt x="1257300" y="685800"/>
                </a:lnTo>
                <a:lnTo>
                  <a:pt x="0" y="685800"/>
                </a:lnTo>
                <a:lnTo>
                  <a:pt x="0" y="0"/>
                </a:lnTo>
                <a:close/>
              </a:path>
            </a:pathLst>
          </a:custGeom>
          <a:blipFill rotWithShape="1">
            <a:blip r:embed="rId12">
              <a:alphaModFix/>
            </a:blip>
            <a:stretch>
              <a:fillRect b="0" l="0" r="0" t="0"/>
            </a:stretch>
          </a:blipFill>
          <a:ln>
            <a:noFill/>
          </a:ln>
        </p:spPr>
      </p:sp>
      <p:sp>
        <p:nvSpPr>
          <p:cNvPr id="752" name="Google Shape;752;p21"/>
          <p:cNvSpPr/>
          <p:nvPr/>
        </p:nvSpPr>
        <p:spPr>
          <a:xfrm>
            <a:off x="4320654" y="4477226"/>
            <a:ext cx="742950" cy="647700"/>
          </a:xfrm>
          <a:custGeom>
            <a:rect b="b" l="l" r="r" t="t"/>
            <a:pathLst>
              <a:path extrusionOk="0" h="863600" w="990600">
                <a:moveTo>
                  <a:pt x="0" y="0"/>
                </a:moveTo>
                <a:lnTo>
                  <a:pt x="990600" y="0"/>
                </a:lnTo>
                <a:lnTo>
                  <a:pt x="990600" y="863600"/>
                </a:lnTo>
                <a:lnTo>
                  <a:pt x="0" y="863600"/>
                </a:lnTo>
                <a:lnTo>
                  <a:pt x="0" y="0"/>
                </a:lnTo>
                <a:close/>
              </a:path>
            </a:pathLst>
          </a:custGeom>
          <a:blipFill rotWithShape="1">
            <a:blip r:embed="rId13">
              <a:alphaModFix/>
            </a:blip>
            <a:stretch>
              <a:fillRect b="-63092" l="-115795" r="-100871" t="-48669"/>
            </a:stretch>
          </a:blipFill>
          <a:ln>
            <a:noFill/>
          </a:ln>
        </p:spPr>
      </p:sp>
      <p:sp>
        <p:nvSpPr>
          <p:cNvPr id="753" name="Google Shape;753;p21"/>
          <p:cNvSpPr/>
          <p:nvPr/>
        </p:nvSpPr>
        <p:spPr>
          <a:xfrm>
            <a:off x="3442002" y="5269230"/>
            <a:ext cx="552450" cy="342900"/>
          </a:xfrm>
          <a:custGeom>
            <a:rect b="b" l="l" r="r" t="t"/>
            <a:pathLst>
              <a:path extrusionOk="0" h="457200" w="736600">
                <a:moveTo>
                  <a:pt x="0" y="0"/>
                </a:moveTo>
                <a:lnTo>
                  <a:pt x="736600" y="0"/>
                </a:lnTo>
                <a:lnTo>
                  <a:pt x="736600" y="457200"/>
                </a:lnTo>
                <a:lnTo>
                  <a:pt x="0" y="457200"/>
                </a:lnTo>
                <a:lnTo>
                  <a:pt x="0" y="0"/>
                </a:lnTo>
                <a:close/>
              </a:path>
            </a:pathLst>
          </a:custGeom>
          <a:blipFill rotWithShape="1">
            <a:blip r:embed="rId14">
              <a:alphaModFix/>
            </a:blip>
            <a:stretch>
              <a:fillRect b="0" l="0" r="0" t="0"/>
            </a:stretch>
          </a:blipFill>
          <a:ln>
            <a:noFill/>
          </a:ln>
        </p:spPr>
      </p:sp>
      <p:sp>
        <p:nvSpPr>
          <p:cNvPr id="754" name="Google Shape;754;p21"/>
          <p:cNvSpPr/>
          <p:nvPr/>
        </p:nvSpPr>
        <p:spPr>
          <a:xfrm>
            <a:off x="12183342" y="5770121"/>
            <a:ext cx="619125" cy="666750"/>
          </a:xfrm>
          <a:custGeom>
            <a:rect b="b" l="l" r="r" t="t"/>
            <a:pathLst>
              <a:path extrusionOk="0" h="889000" w="825500">
                <a:moveTo>
                  <a:pt x="0" y="0"/>
                </a:moveTo>
                <a:lnTo>
                  <a:pt x="825500" y="0"/>
                </a:lnTo>
                <a:lnTo>
                  <a:pt x="825500" y="889000"/>
                </a:lnTo>
                <a:lnTo>
                  <a:pt x="0" y="889000"/>
                </a:lnTo>
                <a:lnTo>
                  <a:pt x="0" y="0"/>
                </a:lnTo>
                <a:close/>
              </a:path>
            </a:pathLst>
          </a:custGeom>
          <a:blipFill rotWithShape="1">
            <a:blip r:embed="rId15">
              <a:alphaModFix/>
            </a:blip>
            <a:stretch>
              <a:fillRect b="-11938" l="-69510" r="-67418" t="-9491"/>
            </a:stretch>
          </a:blipFill>
          <a:ln>
            <a:noFill/>
          </a:ln>
        </p:spPr>
      </p:sp>
      <p:sp>
        <p:nvSpPr>
          <p:cNvPr id="755" name="Google Shape;755;p21"/>
          <p:cNvSpPr/>
          <p:nvPr/>
        </p:nvSpPr>
        <p:spPr>
          <a:xfrm>
            <a:off x="5613892" y="7081018"/>
            <a:ext cx="733425" cy="600075"/>
          </a:xfrm>
          <a:custGeom>
            <a:rect b="b" l="l" r="r" t="t"/>
            <a:pathLst>
              <a:path extrusionOk="0" h="800100" w="977900">
                <a:moveTo>
                  <a:pt x="0" y="0"/>
                </a:moveTo>
                <a:lnTo>
                  <a:pt x="977900" y="0"/>
                </a:lnTo>
                <a:lnTo>
                  <a:pt x="977900" y="800100"/>
                </a:lnTo>
                <a:lnTo>
                  <a:pt x="0" y="800100"/>
                </a:lnTo>
                <a:lnTo>
                  <a:pt x="0" y="0"/>
                </a:lnTo>
                <a:close/>
              </a:path>
            </a:pathLst>
          </a:custGeom>
          <a:blipFill rotWithShape="1">
            <a:blip r:embed="rId16">
              <a:alphaModFix/>
            </a:blip>
            <a:stretch>
              <a:fillRect b="0" l="0" r="0" t="0"/>
            </a:stretch>
          </a:blipFill>
          <a:ln>
            <a:noFill/>
          </a:ln>
        </p:spPr>
      </p:sp>
      <p:sp>
        <p:nvSpPr>
          <p:cNvPr id="756" name="Google Shape;756;p21"/>
          <p:cNvSpPr/>
          <p:nvPr/>
        </p:nvSpPr>
        <p:spPr>
          <a:xfrm>
            <a:off x="11876913" y="7313466"/>
            <a:ext cx="742950" cy="742950"/>
          </a:xfrm>
          <a:custGeom>
            <a:rect b="b" l="l" r="r" t="t"/>
            <a:pathLst>
              <a:path extrusionOk="0" h="990600" w="990600">
                <a:moveTo>
                  <a:pt x="0" y="0"/>
                </a:moveTo>
                <a:lnTo>
                  <a:pt x="990600" y="0"/>
                </a:lnTo>
                <a:lnTo>
                  <a:pt x="990600" y="990600"/>
                </a:lnTo>
                <a:lnTo>
                  <a:pt x="0" y="990600"/>
                </a:lnTo>
                <a:lnTo>
                  <a:pt x="0" y="0"/>
                </a:lnTo>
                <a:close/>
              </a:path>
            </a:pathLst>
          </a:custGeom>
          <a:blipFill rotWithShape="1">
            <a:blip r:embed="rId17">
              <a:alphaModFix/>
            </a:blip>
            <a:stretch>
              <a:fillRect b="0" l="0" r="0" t="0"/>
            </a:stretch>
          </a:blipFill>
          <a:ln>
            <a:noFill/>
          </a:ln>
        </p:spPr>
      </p:sp>
      <p:grpSp>
        <p:nvGrpSpPr>
          <p:cNvPr id="757" name="Google Shape;757;p21"/>
          <p:cNvGrpSpPr/>
          <p:nvPr/>
        </p:nvGrpSpPr>
        <p:grpSpPr>
          <a:xfrm>
            <a:off x="131089" y="197155"/>
            <a:ext cx="411477" cy="592837"/>
            <a:chOff x="63500" y="63500"/>
            <a:chExt cx="411479" cy="592837"/>
          </a:xfrm>
        </p:grpSpPr>
        <p:sp>
          <p:nvSpPr>
            <p:cNvPr id="758" name="Google Shape;758;p21"/>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1"/>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1"/>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1"/>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1"/>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765" name="Google Shape;765;p21"/>
          <p:cNvGrpSpPr/>
          <p:nvPr/>
        </p:nvGrpSpPr>
        <p:grpSpPr>
          <a:xfrm>
            <a:off x="12183339" y="7617"/>
            <a:ext cx="6095997" cy="1492628"/>
            <a:chOff x="63500" y="63500"/>
            <a:chExt cx="6096000" cy="1492634"/>
          </a:xfrm>
        </p:grpSpPr>
        <p:sp>
          <p:nvSpPr>
            <p:cNvPr id="766" name="Google Shape;766;p21"/>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767" name="Google Shape;767;p21"/>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768" name="Google Shape;768;p21"/>
          <p:cNvSpPr txBox="1"/>
          <p:nvPr/>
        </p:nvSpPr>
        <p:spPr>
          <a:xfrm>
            <a:off x="11784806" y="2883846"/>
            <a:ext cx="1864671" cy="532733"/>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lang="en-US" sz="2799">
                <a:solidFill>
                  <a:srgbClr val="424242"/>
                </a:solidFill>
                <a:latin typeface="Calibri"/>
                <a:ea typeface="Calibri"/>
                <a:cs typeface="Calibri"/>
                <a:sym typeface="Calibri"/>
              </a:rPr>
              <a:t>React Native</a:t>
            </a:r>
            <a:endParaRPr/>
          </a:p>
        </p:txBody>
      </p:sp>
      <p:sp>
        <p:nvSpPr>
          <p:cNvPr id="769" name="Google Shape;769;p21"/>
          <p:cNvSpPr txBox="1"/>
          <p:nvPr/>
        </p:nvSpPr>
        <p:spPr>
          <a:xfrm>
            <a:off x="4143518" y="5047755"/>
            <a:ext cx="965073"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Docker</a:t>
            </a:r>
            <a:endParaRPr/>
          </a:p>
        </p:txBody>
      </p:sp>
      <p:sp>
        <p:nvSpPr>
          <p:cNvPr id="770" name="Google Shape;770;p21"/>
          <p:cNvSpPr txBox="1"/>
          <p:nvPr/>
        </p:nvSpPr>
        <p:spPr>
          <a:xfrm>
            <a:off x="3348190" y="5640981"/>
            <a:ext cx="863136"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Vercel</a:t>
            </a:r>
            <a:endParaRPr/>
          </a:p>
        </p:txBody>
      </p:sp>
      <p:sp>
        <p:nvSpPr>
          <p:cNvPr id="771" name="Google Shape;771;p21"/>
          <p:cNvSpPr txBox="1"/>
          <p:nvPr/>
        </p:nvSpPr>
        <p:spPr>
          <a:xfrm>
            <a:off x="4361269" y="6128261"/>
            <a:ext cx="1951844"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CI/CD Pipeline</a:t>
            </a:r>
            <a:endParaRPr/>
          </a:p>
        </p:txBody>
      </p:sp>
      <p:sp>
        <p:nvSpPr>
          <p:cNvPr id="772" name="Google Shape;772;p21"/>
          <p:cNvSpPr txBox="1"/>
          <p:nvPr/>
        </p:nvSpPr>
        <p:spPr>
          <a:xfrm>
            <a:off x="5393607" y="7774038"/>
            <a:ext cx="1344358"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Graphana</a:t>
            </a:r>
            <a:endParaRPr/>
          </a:p>
        </p:txBody>
      </p:sp>
      <p:sp>
        <p:nvSpPr>
          <p:cNvPr id="773" name="Google Shape;773;p21"/>
          <p:cNvSpPr txBox="1"/>
          <p:nvPr/>
        </p:nvSpPr>
        <p:spPr>
          <a:xfrm>
            <a:off x="5222910" y="2899019"/>
            <a:ext cx="1548051" cy="836857"/>
          </a:xfrm>
          <a:prstGeom prst="rect">
            <a:avLst/>
          </a:prstGeom>
          <a:noFill/>
          <a:ln>
            <a:noFill/>
          </a:ln>
        </p:spPr>
        <p:txBody>
          <a:bodyPr anchorCtr="0" anchor="t" bIns="0" lIns="0" spcFirstLastPara="1" rIns="0" wrap="square" tIns="0">
            <a:spAutoFit/>
          </a:bodyPr>
          <a:lstStyle/>
          <a:p>
            <a:pPr indent="0" lvl="0" marL="0" marR="0" rtl="0" algn="ctr">
              <a:lnSpc>
                <a:spcPct val="126010"/>
              </a:lnSpc>
              <a:spcBef>
                <a:spcPts val="0"/>
              </a:spcBef>
              <a:spcAft>
                <a:spcPts val="0"/>
              </a:spcAft>
              <a:buNone/>
            </a:pPr>
            <a:r>
              <a:rPr lang="en-US" sz="2599">
                <a:solidFill>
                  <a:srgbClr val="424242"/>
                </a:solidFill>
                <a:latin typeface="Calibri"/>
                <a:ea typeface="Calibri"/>
                <a:cs typeface="Calibri"/>
                <a:sym typeface="Calibri"/>
              </a:rPr>
              <a:t>Fast API (AI Server)</a:t>
            </a:r>
            <a:endParaRPr/>
          </a:p>
        </p:txBody>
      </p:sp>
      <p:sp>
        <p:nvSpPr>
          <p:cNvPr id="774" name="Google Shape;774;p21"/>
          <p:cNvSpPr txBox="1"/>
          <p:nvPr/>
        </p:nvSpPr>
        <p:spPr>
          <a:xfrm>
            <a:off x="3567865" y="3334131"/>
            <a:ext cx="1618259" cy="817807"/>
          </a:xfrm>
          <a:prstGeom prst="rect">
            <a:avLst/>
          </a:prstGeom>
          <a:noFill/>
          <a:ln>
            <a:noFill/>
          </a:ln>
        </p:spPr>
        <p:txBody>
          <a:bodyPr anchorCtr="0" anchor="t" bIns="0" lIns="0" spcFirstLastPara="1" rIns="0" wrap="square" tIns="0">
            <a:spAutoFit/>
          </a:bodyPr>
          <a:lstStyle/>
          <a:p>
            <a:pPr indent="0" lvl="0" marL="0" marR="0" rtl="0" algn="ctr">
              <a:lnSpc>
                <a:spcPct val="118314"/>
              </a:lnSpc>
              <a:spcBef>
                <a:spcPts val="0"/>
              </a:spcBef>
              <a:spcAft>
                <a:spcPts val="0"/>
              </a:spcAft>
              <a:buNone/>
            </a:pPr>
            <a:r>
              <a:rPr lang="en-US" sz="2599">
                <a:solidFill>
                  <a:srgbClr val="424242"/>
                </a:solidFill>
                <a:latin typeface="Calibri"/>
                <a:ea typeface="Calibri"/>
                <a:cs typeface="Calibri"/>
                <a:sym typeface="Calibri"/>
              </a:rPr>
              <a:t>NestJS (App Server)</a:t>
            </a:r>
            <a:endParaRPr/>
          </a:p>
        </p:txBody>
      </p:sp>
      <p:sp>
        <p:nvSpPr>
          <p:cNvPr id="775" name="Google Shape;775;p21"/>
          <p:cNvSpPr txBox="1"/>
          <p:nvPr/>
        </p:nvSpPr>
        <p:spPr>
          <a:xfrm>
            <a:off x="11784806" y="8075733"/>
            <a:ext cx="1013736"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Mageai</a:t>
            </a:r>
            <a:endParaRPr/>
          </a:p>
        </p:txBody>
      </p:sp>
      <p:sp>
        <p:nvSpPr>
          <p:cNvPr id="776" name="Google Shape;776;p21"/>
          <p:cNvSpPr txBox="1"/>
          <p:nvPr/>
        </p:nvSpPr>
        <p:spPr>
          <a:xfrm>
            <a:off x="11784806" y="6431842"/>
            <a:ext cx="1630261"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Arduino IDE</a:t>
            </a:r>
            <a:endParaRPr/>
          </a:p>
        </p:txBody>
      </p:sp>
      <p:sp>
        <p:nvSpPr>
          <p:cNvPr id="777" name="Google Shape;777;p21"/>
          <p:cNvSpPr txBox="1"/>
          <p:nvPr/>
        </p:nvSpPr>
        <p:spPr>
          <a:xfrm>
            <a:off x="11784806" y="4547892"/>
            <a:ext cx="1460106"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Clickhouse</a:t>
            </a:r>
            <a:endParaRPr/>
          </a:p>
        </p:txBody>
      </p:sp>
      <p:sp>
        <p:nvSpPr>
          <p:cNvPr id="778" name="Google Shape;778;p21"/>
          <p:cNvSpPr txBox="1"/>
          <p:nvPr/>
        </p:nvSpPr>
        <p:spPr>
          <a:xfrm>
            <a:off x="13243531" y="5040478"/>
            <a:ext cx="1368695"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424242"/>
                </a:solidFill>
                <a:latin typeface="Calibri"/>
                <a:ea typeface="Calibri"/>
                <a:cs typeface="Calibri"/>
                <a:sym typeface="Calibri"/>
              </a:rPr>
              <a:t>MongoDB</a:t>
            </a:r>
            <a:endParaRPr/>
          </a:p>
        </p:txBody>
      </p:sp>
      <p:sp>
        <p:nvSpPr>
          <p:cNvPr id="779" name="Google Shape;779;p21"/>
          <p:cNvSpPr txBox="1"/>
          <p:nvPr/>
        </p:nvSpPr>
        <p:spPr>
          <a:xfrm>
            <a:off x="6556077" y="414642"/>
            <a:ext cx="4831407"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Product Demo &amp; Technology</a:t>
            </a:r>
            <a:endParaRPr/>
          </a:p>
        </p:txBody>
      </p:sp>
      <p:sp>
        <p:nvSpPr>
          <p:cNvPr id="780" name="Google Shape;780;p21"/>
          <p:cNvSpPr txBox="1"/>
          <p:nvPr/>
        </p:nvSpPr>
        <p:spPr>
          <a:xfrm>
            <a:off x="890063" y="1117416"/>
            <a:ext cx="5880897" cy="938077"/>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US" sz="5550">
                <a:solidFill>
                  <a:srgbClr val="E69138"/>
                </a:solidFill>
                <a:latin typeface="Calibri"/>
                <a:ea typeface="Calibri"/>
                <a:cs typeface="Calibri"/>
                <a:sym typeface="Calibri"/>
              </a:rPr>
              <a:t>Tech Stack:</a:t>
            </a:r>
            <a:endParaRPr/>
          </a:p>
        </p:txBody>
      </p:sp>
      <p:sp>
        <p:nvSpPr>
          <p:cNvPr id="781" name="Google Shape;781;p21"/>
          <p:cNvSpPr txBox="1"/>
          <p:nvPr/>
        </p:nvSpPr>
        <p:spPr>
          <a:xfrm rot="1159740">
            <a:off x="7506403" y="2684305"/>
            <a:ext cx="129690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FFFFFF"/>
                </a:solidFill>
                <a:latin typeface="Calibri"/>
                <a:ea typeface="Calibri"/>
                <a:cs typeface="Calibri"/>
                <a:sym typeface="Calibri"/>
              </a:rPr>
              <a:t>Frontend</a:t>
            </a:r>
            <a:endParaRPr/>
          </a:p>
        </p:txBody>
      </p:sp>
      <p:sp>
        <p:nvSpPr>
          <p:cNvPr id="782" name="Google Shape;782;p21"/>
          <p:cNvSpPr txBox="1"/>
          <p:nvPr/>
        </p:nvSpPr>
        <p:spPr>
          <a:xfrm rot="1159740">
            <a:off x="7509276" y="3633388"/>
            <a:ext cx="1194949"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FFFFFF"/>
                </a:solidFill>
                <a:latin typeface="Calibri"/>
                <a:ea typeface="Calibri"/>
                <a:cs typeface="Calibri"/>
                <a:sym typeface="Calibri"/>
              </a:rPr>
              <a:t>Backend</a:t>
            </a:r>
            <a:endParaRPr/>
          </a:p>
        </p:txBody>
      </p:sp>
      <p:sp>
        <p:nvSpPr>
          <p:cNvPr id="783" name="Google Shape;783;p21"/>
          <p:cNvSpPr txBox="1"/>
          <p:nvPr/>
        </p:nvSpPr>
        <p:spPr>
          <a:xfrm rot="1159740">
            <a:off x="7505695" y="4583078"/>
            <a:ext cx="1322013"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FFFFFF"/>
                </a:solidFill>
                <a:latin typeface="Calibri"/>
                <a:ea typeface="Calibri"/>
                <a:cs typeface="Calibri"/>
                <a:sym typeface="Calibri"/>
              </a:rPr>
              <a:t>Database</a:t>
            </a:r>
            <a:endParaRPr/>
          </a:p>
        </p:txBody>
      </p:sp>
      <p:sp>
        <p:nvSpPr>
          <p:cNvPr id="784" name="Google Shape;784;p21"/>
          <p:cNvSpPr txBox="1"/>
          <p:nvPr/>
        </p:nvSpPr>
        <p:spPr>
          <a:xfrm rot="1159740">
            <a:off x="7500995" y="6501849"/>
            <a:ext cx="139134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FFFFFF"/>
                </a:solidFill>
                <a:latin typeface="Calibri"/>
                <a:ea typeface="Calibri"/>
                <a:cs typeface="Calibri"/>
                <a:sym typeface="Calibri"/>
              </a:rPr>
              <a:t>Hardware</a:t>
            </a:r>
            <a:endParaRPr/>
          </a:p>
        </p:txBody>
      </p:sp>
      <p:sp>
        <p:nvSpPr>
          <p:cNvPr id="785" name="Google Shape;785;p21"/>
          <p:cNvSpPr txBox="1"/>
          <p:nvPr/>
        </p:nvSpPr>
        <p:spPr>
          <a:xfrm rot="1159740">
            <a:off x="7443459" y="7406497"/>
            <a:ext cx="159628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FFFFFF"/>
                </a:solidFill>
                <a:latin typeface="Calibri"/>
                <a:ea typeface="Calibri"/>
                <a:cs typeface="Calibri"/>
                <a:sym typeface="Calibri"/>
              </a:rPr>
              <a:t>Monitoring</a:t>
            </a:r>
            <a:endParaRPr/>
          </a:p>
        </p:txBody>
      </p:sp>
      <p:sp>
        <p:nvSpPr>
          <p:cNvPr id="786" name="Google Shape;786;p21"/>
          <p:cNvSpPr txBox="1"/>
          <p:nvPr/>
        </p:nvSpPr>
        <p:spPr>
          <a:xfrm rot="1159740">
            <a:off x="8312706" y="8257037"/>
            <a:ext cx="54607" cy="34851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lang="en-US" sz="1864">
                <a:solidFill>
                  <a:srgbClr val="FFFFFF"/>
                </a:solidFill>
                <a:latin typeface="Calibri"/>
                <a:ea typeface="Calibri"/>
                <a:cs typeface="Calibri"/>
                <a:sym typeface="Calibri"/>
              </a:rPr>
              <a:t> </a:t>
            </a:r>
            <a:endParaRPr/>
          </a:p>
        </p:txBody>
      </p:sp>
      <p:sp>
        <p:nvSpPr>
          <p:cNvPr id="787" name="Google Shape;787;p21"/>
          <p:cNvSpPr txBox="1"/>
          <p:nvPr/>
        </p:nvSpPr>
        <p:spPr>
          <a:xfrm rot="1159740">
            <a:off x="7412521" y="5598043"/>
            <a:ext cx="1680077" cy="484432"/>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lang="en-US" sz="2599">
                <a:solidFill>
                  <a:srgbClr val="FFFFFF"/>
                </a:solidFill>
                <a:latin typeface="Calibri"/>
                <a:ea typeface="Calibri"/>
                <a:cs typeface="Calibri"/>
                <a:sym typeface="Calibri"/>
              </a:rPr>
              <a:t>Deployment</a:t>
            </a:r>
            <a:endParaRPr/>
          </a:p>
        </p:txBody>
      </p:sp>
      <p:sp>
        <p:nvSpPr>
          <p:cNvPr id="788" name="Google Shape;788;p21"/>
          <p:cNvSpPr txBox="1"/>
          <p:nvPr/>
        </p:nvSpPr>
        <p:spPr>
          <a:xfrm rot="1159740">
            <a:off x="7513315" y="8385253"/>
            <a:ext cx="1412215" cy="577110"/>
          </a:xfrm>
          <a:prstGeom prst="rect">
            <a:avLst/>
          </a:prstGeom>
          <a:noFill/>
          <a:ln>
            <a:noFill/>
          </a:ln>
        </p:spPr>
        <p:txBody>
          <a:bodyPr anchorCtr="0" anchor="t" bIns="0" lIns="0" spcFirstLastPara="1" rIns="0" wrap="square" tIns="0">
            <a:spAutoFit/>
          </a:bodyPr>
          <a:lstStyle/>
          <a:p>
            <a:pPr indent="0" lvl="0" marL="0" marR="0" rtl="0" algn="ctr">
              <a:lnSpc>
                <a:spcPct val="116684"/>
              </a:lnSpc>
              <a:spcBef>
                <a:spcPts val="0"/>
              </a:spcBef>
              <a:spcAft>
                <a:spcPts val="0"/>
              </a:spcAft>
              <a:buNone/>
            </a:pPr>
            <a:r>
              <a:rPr lang="en-US" sz="1864">
                <a:solidFill>
                  <a:srgbClr val="FFFFFF"/>
                </a:solidFill>
                <a:latin typeface="Calibri"/>
                <a:ea typeface="Calibri"/>
                <a:cs typeface="Calibri"/>
                <a:sym typeface="Calibri"/>
              </a:rPr>
              <a:t>Data Ingestion Pipelines</a:t>
            </a:r>
            <a:endParaRPr/>
          </a:p>
        </p:txBody>
      </p:sp>
      <p:sp>
        <p:nvSpPr>
          <p:cNvPr id="789" name="Google Shape;789;p21"/>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22"/>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795" name="Google Shape;795;p22"/>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796" name="Google Shape;796;p22"/>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797" name="Google Shape;797;p22"/>
          <p:cNvSpPr/>
          <p:nvPr/>
        </p:nvSpPr>
        <p:spPr>
          <a:xfrm>
            <a:off x="17829667" y="4646252"/>
            <a:ext cx="452245" cy="2345304"/>
          </a:xfrm>
          <a:custGeom>
            <a:rect b="b" l="l" r="r" t="t"/>
            <a:pathLst>
              <a:path extrusionOk="0" h="2345311" w="452242">
                <a:moveTo>
                  <a:pt x="0" y="0"/>
                </a:moveTo>
                <a:lnTo>
                  <a:pt x="0" y="2345311"/>
                </a:lnTo>
                <a:lnTo>
                  <a:pt x="452242" y="2345311"/>
                </a:lnTo>
                <a:lnTo>
                  <a:pt x="452242" y="0"/>
                </a:lnTo>
                <a:close/>
              </a:path>
            </a:pathLst>
          </a:custGeom>
          <a:solidFill>
            <a:srgbClr val="E69138"/>
          </a:solidFill>
          <a:ln>
            <a:noFill/>
          </a:ln>
        </p:spPr>
      </p:sp>
      <p:grpSp>
        <p:nvGrpSpPr>
          <p:cNvPr id="798" name="Google Shape;798;p22"/>
          <p:cNvGrpSpPr/>
          <p:nvPr/>
        </p:nvGrpSpPr>
        <p:grpSpPr>
          <a:xfrm>
            <a:off x="131089" y="197155"/>
            <a:ext cx="411477" cy="592837"/>
            <a:chOff x="63500" y="63500"/>
            <a:chExt cx="411479" cy="592837"/>
          </a:xfrm>
        </p:grpSpPr>
        <p:sp>
          <p:nvSpPr>
            <p:cNvPr id="799" name="Google Shape;799;p22"/>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2"/>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2"/>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2"/>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2"/>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2"/>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806" name="Google Shape;806;p22"/>
          <p:cNvGrpSpPr/>
          <p:nvPr/>
        </p:nvGrpSpPr>
        <p:grpSpPr>
          <a:xfrm>
            <a:off x="12183339" y="7617"/>
            <a:ext cx="6095997" cy="1492628"/>
            <a:chOff x="63500" y="63500"/>
            <a:chExt cx="6096000" cy="1492634"/>
          </a:xfrm>
        </p:grpSpPr>
        <p:sp>
          <p:nvSpPr>
            <p:cNvPr id="807" name="Google Shape;807;p22"/>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808" name="Google Shape;808;p22"/>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809" name="Google Shape;809;p22"/>
          <p:cNvSpPr/>
          <p:nvPr/>
        </p:nvSpPr>
        <p:spPr>
          <a:xfrm rot="-85595">
            <a:off x="13634571" y="7287738"/>
            <a:ext cx="3544472" cy="2637746"/>
          </a:xfrm>
          <a:custGeom>
            <a:rect b="b" l="l" r="r" t="t"/>
            <a:pathLst>
              <a:path extrusionOk="0" h="2637746" w="3544472">
                <a:moveTo>
                  <a:pt x="0" y="0"/>
                </a:moveTo>
                <a:lnTo>
                  <a:pt x="3544471" y="0"/>
                </a:lnTo>
                <a:lnTo>
                  <a:pt x="3544471" y="2637747"/>
                </a:lnTo>
                <a:lnTo>
                  <a:pt x="0" y="2637747"/>
                </a:lnTo>
                <a:lnTo>
                  <a:pt x="0" y="0"/>
                </a:lnTo>
                <a:close/>
              </a:path>
            </a:pathLst>
          </a:custGeom>
          <a:blipFill rotWithShape="1">
            <a:blip r:embed="rId5">
              <a:alphaModFix/>
            </a:blip>
            <a:stretch>
              <a:fillRect b="0" l="0" r="0" t="0"/>
            </a:stretch>
          </a:blipFill>
          <a:ln>
            <a:noFill/>
          </a:ln>
        </p:spPr>
      </p:sp>
      <p:sp>
        <p:nvSpPr>
          <p:cNvPr id="810" name="Google Shape;810;p22"/>
          <p:cNvSpPr/>
          <p:nvPr/>
        </p:nvSpPr>
        <p:spPr>
          <a:xfrm>
            <a:off x="11015283" y="1724272"/>
            <a:ext cx="4132143" cy="2765608"/>
          </a:xfrm>
          <a:custGeom>
            <a:rect b="b" l="l" r="r" t="t"/>
            <a:pathLst>
              <a:path extrusionOk="0" h="2765608" w="4132143">
                <a:moveTo>
                  <a:pt x="0" y="0"/>
                </a:moveTo>
                <a:lnTo>
                  <a:pt x="4132144" y="0"/>
                </a:lnTo>
                <a:lnTo>
                  <a:pt x="4132144" y="2765607"/>
                </a:lnTo>
                <a:lnTo>
                  <a:pt x="0" y="2765607"/>
                </a:lnTo>
                <a:lnTo>
                  <a:pt x="0" y="0"/>
                </a:lnTo>
                <a:close/>
              </a:path>
            </a:pathLst>
          </a:custGeom>
          <a:blipFill rotWithShape="1">
            <a:blip r:embed="rId6">
              <a:alphaModFix/>
            </a:blip>
            <a:stretch>
              <a:fillRect b="0" l="0" r="0" t="0"/>
            </a:stretch>
          </a:blipFill>
          <a:ln>
            <a:noFill/>
          </a:ln>
        </p:spPr>
      </p:sp>
      <p:sp>
        <p:nvSpPr>
          <p:cNvPr id="811" name="Google Shape;811;p22"/>
          <p:cNvSpPr/>
          <p:nvPr/>
        </p:nvSpPr>
        <p:spPr>
          <a:xfrm>
            <a:off x="12103501" y="4646250"/>
            <a:ext cx="4128819" cy="2445373"/>
          </a:xfrm>
          <a:custGeom>
            <a:rect b="b" l="l" r="r" t="t"/>
            <a:pathLst>
              <a:path extrusionOk="0" h="2445373" w="4118523">
                <a:moveTo>
                  <a:pt x="0" y="0"/>
                </a:moveTo>
                <a:lnTo>
                  <a:pt x="4118523" y="0"/>
                </a:lnTo>
                <a:lnTo>
                  <a:pt x="4118523" y="2445373"/>
                </a:lnTo>
                <a:lnTo>
                  <a:pt x="0" y="2445373"/>
                </a:lnTo>
                <a:lnTo>
                  <a:pt x="0" y="0"/>
                </a:lnTo>
                <a:close/>
              </a:path>
            </a:pathLst>
          </a:custGeom>
          <a:blipFill rotWithShape="1">
            <a:blip r:embed="rId7">
              <a:alphaModFix/>
            </a:blip>
            <a:stretch>
              <a:fillRect b="0" l="0" r="0" t="0"/>
            </a:stretch>
          </a:blipFill>
          <a:ln>
            <a:noFill/>
          </a:ln>
        </p:spPr>
      </p:sp>
      <p:sp>
        <p:nvSpPr>
          <p:cNvPr id="812" name="Google Shape;812;p22"/>
          <p:cNvSpPr txBox="1"/>
          <p:nvPr/>
        </p:nvSpPr>
        <p:spPr>
          <a:xfrm>
            <a:off x="5961311" y="414642"/>
            <a:ext cx="6365379" cy="61405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199">
                <a:solidFill>
                  <a:srgbClr val="424242"/>
                </a:solidFill>
                <a:latin typeface="Calibri"/>
                <a:ea typeface="Calibri"/>
                <a:cs typeface="Calibri"/>
                <a:sym typeface="Calibri"/>
              </a:rPr>
              <a:t> Innovation &amp; Competitive Advantage</a:t>
            </a:r>
            <a:endParaRPr/>
          </a:p>
        </p:txBody>
      </p:sp>
      <p:sp>
        <p:nvSpPr>
          <p:cNvPr id="813" name="Google Shape;813;p22"/>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graphicFrame>
        <p:nvGraphicFramePr>
          <p:cNvPr id="814" name="Google Shape;814;p22"/>
          <p:cNvGraphicFramePr/>
          <p:nvPr/>
        </p:nvGraphicFramePr>
        <p:xfrm>
          <a:off x="998351" y="2474185"/>
          <a:ext cx="3000000" cy="3000000"/>
        </p:xfrm>
        <a:graphic>
          <a:graphicData uri="http://schemas.openxmlformats.org/drawingml/2006/table">
            <a:tbl>
              <a:tblPr>
                <a:noFill/>
                <a:tableStyleId>{53AC30FA-DB69-4B79-8D97-D8E9DD037B90}</a:tableStyleId>
              </a:tblPr>
              <a:tblGrid>
                <a:gridCol w="1864800"/>
                <a:gridCol w="2302350"/>
                <a:gridCol w="2437075"/>
                <a:gridCol w="2473175"/>
              </a:tblGrid>
              <a:tr h="174782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775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775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775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7755"/>
                    </a:solidFill>
                  </a:tcPr>
                </a:tc>
              </a:tr>
              <a:tr h="112297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r>
              <a:tr h="110487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086800">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10972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C0FF95"/>
                    </a:solidFill>
                  </a:tcPr>
                </a:tc>
              </a:tr>
            </a:tbl>
          </a:graphicData>
        </a:graphic>
      </p:graphicFrame>
      <p:sp>
        <p:nvSpPr>
          <p:cNvPr id="815" name="Google Shape;815;p22"/>
          <p:cNvSpPr txBox="1"/>
          <p:nvPr/>
        </p:nvSpPr>
        <p:spPr>
          <a:xfrm>
            <a:off x="-609600" y="3050996"/>
            <a:ext cx="9144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a:solidFill>
                  <a:srgbClr val="FFFFFF"/>
                </a:solidFill>
                <a:latin typeface="Calibri"/>
                <a:ea typeface="Calibri"/>
                <a:cs typeface="Calibri"/>
                <a:sym typeface="Calibri"/>
              </a:rPr>
              <a:t>Portability</a:t>
            </a:r>
            <a:endParaRPr sz="2800">
              <a:solidFill>
                <a:schemeClr val="dk1"/>
              </a:solidFill>
              <a:latin typeface="Calibri"/>
              <a:ea typeface="Calibri"/>
              <a:cs typeface="Calibri"/>
              <a:sym typeface="Calibri"/>
            </a:endParaRPr>
          </a:p>
        </p:txBody>
      </p:sp>
      <p:sp>
        <p:nvSpPr>
          <p:cNvPr id="816" name="Google Shape;816;p22"/>
          <p:cNvSpPr txBox="1"/>
          <p:nvPr/>
        </p:nvSpPr>
        <p:spPr>
          <a:xfrm>
            <a:off x="1648994" y="3050996"/>
            <a:ext cx="94488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a:solidFill>
                  <a:srgbClr val="FFFFFF"/>
                </a:solidFill>
                <a:latin typeface="Calibri"/>
                <a:ea typeface="Calibri"/>
                <a:cs typeface="Calibri"/>
                <a:sym typeface="Calibri"/>
              </a:rPr>
              <a:t>Repairability</a:t>
            </a:r>
            <a:endParaRPr sz="2800">
              <a:solidFill>
                <a:schemeClr val="dk1"/>
              </a:solidFill>
              <a:latin typeface="Calibri"/>
              <a:ea typeface="Calibri"/>
              <a:cs typeface="Calibri"/>
              <a:sym typeface="Calibri"/>
            </a:endParaRPr>
          </a:p>
        </p:txBody>
      </p:sp>
      <p:sp>
        <p:nvSpPr>
          <p:cNvPr id="817" name="Google Shape;817;p22"/>
          <p:cNvSpPr txBox="1"/>
          <p:nvPr/>
        </p:nvSpPr>
        <p:spPr>
          <a:xfrm>
            <a:off x="4071592" y="3028094"/>
            <a:ext cx="94488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a:solidFill>
                  <a:srgbClr val="FFFFFF"/>
                </a:solidFill>
                <a:latin typeface="Calibri"/>
                <a:ea typeface="Calibri"/>
                <a:cs typeface="Calibri"/>
                <a:sym typeface="Calibri"/>
              </a:rPr>
              <a:t>Cost-effective</a:t>
            </a:r>
            <a:endParaRPr sz="2800">
              <a:solidFill>
                <a:schemeClr val="dk1"/>
              </a:solidFill>
              <a:latin typeface="Calibri"/>
              <a:ea typeface="Calibri"/>
              <a:cs typeface="Calibri"/>
              <a:sym typeface="Calibri"/>
            </a:endParaRPr>
          </a:p>
        </p:txBody>
      </p:sp>
      <p:sp>
        <p:nvSpPr>
          <p:cNvPr id="818" name="Google Shape;818;p22"/>
          <p:cNvSpPr txBox="1"/>
          <p:nvPr/>
        </p:nvSpPr>
        <p:spPr>
          <a:xfrm>
            <a:off x="-2849013" y="4525617"/>
            <a:ext cx="94488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a:solidFill>
                  <a:srgbClr val="000000"/>
                </a:solidFill>
                <a:latin typeface="Calibri"/>
                <a:ea typeface="Calibri"/>
                <a:cs typeface="Calibri"/>
                <a:sym typeface="Calibri"/>
              </a:rPr>
              <a:t>VIISAR</a:t>
            </a:r>
            <a:endParaRPr sz="2800">
              <a:solidFill>
                <a:schemeClr val="dk1"/>
              </a:solidFill>
              <a:latin typeface="Calibri"/>
              <a:ea typeface="Calibri"/>
              <a:cs typeface="Calibri"/>
              <a:sym typeface="Calibri"/>
            </a:endParaRPr>
          </a:p>
        </p:txBody>
      </p:sp>
      <p:sp>
        <p:nvSpPr>
          <p:cNvPr id="819" name="Google Shape;819;p22"/>
          <p:cNvSpPr txBox="1"/>
          <p:nvPr/>
        </p:nvSpPr>
        <p:spPr>
          <a:xfrm>
            <a:off x="1214973" y="5733950"/>
            <a:ext cx="1536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chemeClr val="dk1"/>
                </a:solidFill>
                <a:latin typeface="Calibri"/>
                <a:ea typeface="Calibri"/>
                <a:cs typeface="Calibri"/>
                <a:sym typeface="Calibri"/>
              </a:rPr>
              <a:t>Graphiti</a:t>
            </a:r>
            <a:endParaRPr sz="2400">
              <a:solidFill>
                <a:schemeClr val="dk1"/>
              </a:solidFill>
              <a:latin typeface="Calibri"/>
              <a:ea typeface="Calibri"/>
              <a:cs typeface="Calibri"/>
              <a:sym typeface="Calibri"/>
            </a:endParaRPr>
          </a:p>
        </p:txBody>
      </p:sp>
      <p:sp>
        <p:nvSpPr>
          <p:cNvPr id="820" name="Google Shape;820;p22"/>
          <p:cNvSpPr txBox="1"/>
          <p:nvPr/>
        </p:nvSpPr>
        <p:spPr>
          <a:xfrm>
            <a:off x="1316587" y="6760723"/>
            <a:ext cx="10566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chemeClr val="dk1"/>
                </a:solidFill>
                <a:latin typeface="Calibri"/>
                <a:ea typeface="Calibri"/>
                <a:cs typeface="Calibri"/>
                <a:sym typeface="Calibri"/>
              </a:rPr>
              <a:t>Dot Pad</a:t>
            </a:r>
            <a:endParaRPr sz="2400">
              <a:solidFill>
                <a:schemeClr val="dk1"/>
              </a:solidFill>
              <a:latin typeface="Calibri"/>
              <a:ea typeface="Calibri"/>
              <a:cs typeface="Calibri"/>
              <a:sym typeface="Calibri"/>
            </a:endParaRPr>
          </a:p>
        </p:txBody>
      </p:sp>
      <p:sp>
        <p:nvSpPr>
          <p:cNvPr id="821" name="Google Shape;821;p22"/>
          <p:cNvSpPr txBox="1"/>
          <p:nvPr/>
        </p:nvSpPr>
        <p:spPr>
          <a:xfrm>
            <a:off x="998350" y="7747500"/>
            <a:ext cx="1864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a:solidFill>
                  <a:srgbClr val="000000"/>
                </a:solidFill>
                <a:latin typeface="Calibri"/>
                <a:ea typeface="Calibri"/>
                <a:cs typeface="Calibri"/>
                <a:sym typeface="Calibri"/>
              </a:rPr>
              <a:t>BrailleMe </a:t>
            </a:r>
            <a:endParaRPr/>
          </a:p>
          <a:p>
            <a:pPr indent="0" lvl="0" marL="0" marR="0" rtl="0" algn="ctr">
              <a:spcBef>
                <a:spcPts val="0"/>
              </a:spcBef>
              <a:spcAft>
                <a:spcPts val="0"/>
              </a:spcAft>
              <a:buNone/>
            </a:pPr>
            <a:r>
              <a:rPr b="0" i="0" lang="en-US" sz="1800">
                <a:solidFill>
                  <a:srgbClr val="000000"/>
                </a:solidFill>
                <a:latin typeface="Calibri"/>
                <a:ea typeface="Calibri"/>
                <a:cs typeface="Calibri"/>
                <a:sym typeface="Calibri"/>
              </a:rPr>
              <a:t>(Innovision Tech)</a:t>
            </a:r>
            <a:endParaRPr sz="1800">
              <a:solidFill>
                <a:schemeClr val="dk1"/>
              </a:solidFill>
              <a:latin typeface="Calibri"/>
              <a:ea typeface="Calibri"/>
              <a:cs typeface="Calibri"/>
              <a:sym typeface="Calibri"/>
            </a:endParaRPr>
          </a:p>
        </p:txBody>
      </p:sp>
      <p:sp>
        <p:nvSpPr>
          <p:cNvPr id="822" name="Google Shape;822;p22"/>
          <p:cNvSpPr txBox="1"/>
          <p:nvPr/>
        </p:nvSpPr>
        <p:spPr>
          <a:xfrm>
            <a:off x="2019300" y="4963067"/>
            <a:ext cx="10845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2"/>
          <p:cNvSpPr txBox="1"/>
          <p:nvPr/>
        </p:nvSpPr>
        <p:spPr>
          <a:xfrm>
            <a:off x="2019300" y="4963067"/>
            <a:ext cx="10845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24" name="Google Shape;824;p22"/>
          <p:cNvPicPr preferRelativeResize="0"/>
          <p:nvPr/>
        </p:nvPicPr>
        <p:blipFill rotWithShape="1">
          <a:blip r:embed="rId8">
            <a:alphaModFix/>
          </a:blip>
          <a:srcRect b="0" l="0" r="0" t="0"/>
          <a:stretch/>
        </p:blipFill>
        <p:spPr>
          <a:xfrm>
            <a:off x="3724275" y="4535873"/>
            <a:ext cx="530291" cy="523220"/>
          </a:xfrm>
          <a:prstGeom prst="rect">
            <a:avLst/>
          </a:prstGeom>
          <a:noFill/>
          <a:ln>
            <a:noFill/>
          </a:ln>
        </p:spPr>
      </p:pic>
      <p:pic>
        <p:nvPicPr>
          <p:cNvPr id="825" name="Google Shape;825;p22"/>
          <p:cNvPicPr preferRelativeResize="0"/>
          <p:nvPr/>
        </p:nvPicPr>
        <p:blipFill rotWithShape="1">
          <a:blip r:embed="rId8">
            <a:alphaModFix/>
          </a:blip>
          <a:srcRect b="0" l="0" r="0" t="0"/>
          <a:stretch/>
        </p:blipFill>
        <p:spPr>
          <a:xfrm>
            <a:off x="6073578" y="4542231"/>
            <a:ext cx="530291" cy="523220"/>
          </a:xfrm>
          <a:prstGeom prst="rect">
            <a:avLst/>
          </a:prstGeom>
          <a:noFill/>
          <a:ln>
            <a:noFill/>
          </a:ln>
        </p:spPr>
      </p:pic>
      <p:pic>
        <p:nvPicPr>
          <p:cNvPr id="826" name="Google Shape;826;p22"/>
          <p:cNvPicPr preferRelativeResize="0"/>
          <p:nvPr/>
        </p:nvPicPr>
        <p:blipFill rotWithShape="1">
          <a:blip r:embed="rId8">
            <a:alphaModFix/>
          </a:blip>
          <a:srcRect b="0" l="0" r="0" t="0"/>
          <a:stretch/>
        </p:blipFill>
        <p:spPr>
          <a:xfrm>
            <a:off x="8510880" y="4526198"/>
            <a:ext cx="530291" cy="523220"/>
          </a:xfrm>
          <a:prstGeom prst="rect">
            <a:avLst/>
          </a:prstGeom>
          <a:noFill/>
          <a:ln>
            <a:noFill/>
          </a:ln>
        </p:spPr>
      </p:pic>
      <p:pic>
        <p:nvPicPr>
          <p:cNvPr id="827" name="Google Shape;827;p22"/>
          <p:cNvPicPr preferRelativeResize="0"/>
          <p:nvPr/>
        </p:nvPicPr>
        <p:blipFill rotWithShape="1">
          <a:blip r:embed="rId9">
            <a:alphaModFix/>
          </a:blip>
          <a:srcRect b="0" l="0" r="0" t="0"/>
          <a:stretch/>
        </p:blipFill>
        <p:spPr>
          <a:xfrm>
            <a:off x="8409267" y="5629008"/>
            <a:ext cx="664311" cy="646829"/>
          </a:xfrm>
          <a:prstGeom prst="rect">
            <a:avLst/>
          </a:prstGeom>
          <a:noFill/>
          <a:ln>
            <a:noFill/>
          </a:ln>
        </p:spPr>
      </p:pic>
      <p:pic>
        <p:nvPicPr>
          <p:cNvPr id="828" name="Google Shape;828;p22"/>
          <p:cNvPicPr preferRelativeResize="0"/>
          <p:nvPr/>
        </p:nvPicPr>
        <p:blipFill rotWithShape="1">
          <a:blip r:embed="rId9">
            <a:alphaModFix/>
          </a:blip>
          <a:srcRect b="0" l="0" r="0" t="0"/>
          <a:stretch/>
        </p:blipFill>
        <p:spPr>
          <a:xfrm>
            <a:off x="8409267" y="6644036"/>
            <a:ext cx="664311" cy="646829"/>
          </a:xfrm>
          <a:prstGeom prst="rect">
            <a:avLst/>
          </a:prstGeom>
          <a:noFill/>
          <a:ln>
            <a:noFill/>
          </a:ln>
        </p:spPr>
      </p:pic>
      <p:pic>
        <p:nvPicPr>
          <p:cNvPr id="829" name="Google Shape;829;p22"/>
          <p:cNvPicPr preferRelativeResize="0"/>
          <p:nvPr/>
        </p:nvPicPr>
        <p:blipFill rotWithShape="1">
          <a:blip r:embed="rId9">
            <a:alphaModFix/>
          </a:blip>
          <a:srcRect b="0" l="0" r="0" t="0"/>
          <a:stretch/>
        </p:blipFill>
        <p:spPr>
          <a:xfrm>
            <a:off x="5975709" y="5532434"/>
            <a:ext cx="664311" cy="646829"/>
          </a:xfrm>
          <a:prstGeom prst="rect">
            <a:avLst/>
          </a:prstGeom>
          <a:noFill/>
          <a:ln>
            <a:noFill/>
          </a:ln>
        </p:spPr>
      </p:pic>
      <p:pic>
        <p:nvPicPr>
          <p:cNvPr id="830" name="Google Shape;830;p22"/>
          <p:cNvPicPr preferRelativeResize="0"/>
          <p:nvPr/>
        </p:nvPicPr>
        <p:blipFill rotWithShape="1">
          <a:blip r:embed="rId9">
            <a:alphaModFix/>
          </a:blip>
          <a:srcRect b="0" l="0" r="0" t="0"/>
          <a:stretch/>
        </p:blipFill>
        <p:spPr>
          <a:xfrm>
            <a:off x="5955254" y="6597196"/>
            <a:ext cx="664311" cy="646829"/>
          </a:xfrm>
          <a:prstGeom prst="rect">
            <a:avLst/>
          </a:prstGeom>
          <a:noFill/>
          <a:ln>
            <a:noFill/>
          </a:ln>
        </p:spPr>
      </p:pic>
      <p:pic>
        <p:nvPicPr>
          <p:cNvPr id="831" name="Google Shape;831;p22"/>
          <p:cNvPicPr preferRelativeResize="0"/>
          <p:nvPr/>
        </p:nvPicPr>
        <p:blipFill rotWithShape="1">
          <a:blip r:embed="rId9">
            <a:alphaModFix/>
          </a:blip>
          <a:srcRect b="0" l="0" r="0" t="0"/>
          <a:stretch/>
        </p:blipFill>
        <p:spPr>
          <a:xfrm>
            <a:off x="6041238" y="7778644"/>
            <a:ext cx="664311" cy="646829"/>
          </a:xfrm>
          <a:prstGeom prst="rect">
            <a:avLst/>
          </a:prstGeom>
          <a:noFill/>
          <a:ln>
            <a:noFill/>
          </a:ln>
        </p:spPr>
      </p:pic>
      <p:pic>
        <p:nvPicPr>
          <p:cNvPr id="832" name="Google Shape;832;p22"/>
          <p:cNvPicPr preferRelativeResize="0"/>
          <p:nvPr/>
        </p:nvPicPr>
        <p:blipFill rotWithShape="1">
          <a:blip r:embed="rId8">
            <a:alphaModFix/>
          </a:blip>
          <a:srcRect b="0" l="0" r="0" t="0"/>
          <a:stretch/>
        </p:blipFill>
        <p:spPr>
          <a:xfrm>
            <a:off x="3676153" y="5602019"/>
            <a:ext cx="530291" cy="523220"/>
          </a:xfrm>
          <a:prstGeom prst="rect">
            <a:avLst/>
          </a:prstGeom>
          <a:noFill/>
          <a:ln>
            <a:noFill/>
          </a:ln>
        </p:spPr>
      </p:pic>
      <p:pic>
        <p:nvPicPr>
          <p:cNvPr id="833" name="Google Shape;833;p22"/>
          <p:cNvPicPr preferRelativeResize="0"/>
          <p:nvPr/>
        </p:nvPicPr>
        <p:blipFill rotWithShape="1">
          <a:blip r:embed="rId8">
            <a:alphaModFix/>
          </a:blip>
          <a:srcRect b="0" l="0" r="0" t="0"/>
          <a:stretch/>
        </p:blipFill>
        <p:spPr>
          <a:xfrm>
            <a:off x="3724278" y="6674769"/>
            <a:ext cx="530291" cy="523220"/>
          </a:xfrm>
          <a:prstGeom prst="rect">
            <a:avLst/>
          </a:prstGeom>
          <a:noFill/>
          <a:ln>
            <a:noFill/>
          </a:ln>
        </p:spPr>
      </p:pic>
      <p:pic>
        <p:nvPicPr>
          <p:cNvPr id="834" name="Google Shape;834;p22"/>
          <p:cNvPicPr preferRelativeResize="0"/>
          <p:nvPr/>
        </p:nvPicPr>
        <p:blipFill rotWithShape="1">
          <a:blip r:embed="rId8">
            <a:alphaModFix/>
          </a:blip>
          <a:srcRect b="0" l="0" r="0" t="0"/>
          <a:stretch/>
        </p:blipFill>
        <p:spPr>
          <a:xfrm>
            <a:off x="3724278" y="7857869"/>
            <a:ext cx="530291" cy="523220"/>
          </a:xfrm>
          <a:prstGeom prst="rect">
            <a:avLst/>
          </a:prstGeom>
          <a:noFill/>
          <a:ln>
            <a:noFill/>
          </a:ln>
        </p:spPr>
      </p:pic>
      <p:pic>
        <p:nvPicPr>
          <p:cNvPr id="835" name="Google Shape;835;p22"/>
          <p:cNvPicPr preferRelativeResize="0"/>
          <p:nvPr/>
        </p:nvPicPr>
        <p:blipFill rotWithShape="1">
          <a:blip r:embed="rId8">
            <a:alphaModFix/>
          </a:blip>
          <a:srcRect b="0" l="0" r="0" t="0"/>
          <a:stretch/>
        </p:blipFill>
        <p:spPr>
          <a:xfrm>
            <a:off x="8530855" y="7857873"/>
            <a:ext cx="530291" cy="5232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ef042cd5e0_1_75"/>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841" name="Google Shape;841;g3ef042cd5e0_1_75"/>
          <p:cNvSpPr/>
          <p:nvPr/>
        </p:nvSpPr>
        <p:spPr>
          <a:xfrm>
            <a:off x="15147427" y="250717"/>
            <a:ext cx="32566" cy="787079"/>
          </a:xfrm>
          <a:custGeom>
            <a:rect b="b" l="l" r="r" t="t"/>
            <a:pathLst>
              <a:path extrusionOk="0" h="787079" w="32566">
                <a:moveTo>
                  <a:pt x="0" y="0"/>
                </a:moveTo>
                <a:lnTo>
                  <a:pt x="32565" y="0"/>
                </a:lnTo>
                <a:lnTo>
                  <a:pt x="32565" y="787079"/>
                </a:lnTo>
                <a:lnTo>
                  <a:pt x="0" y="787079"/>
                </a:lnTo>
                <a:lnTo>
                  <a:pt x="0" y="0"/>
                </a:lnTo>
                <a:close/>
              </a:path>
            </a:pathLst>
          </a:custGeom>
          <a:blipFill rotWithShape="1">
            <a:blip r:embed="rId3">
              <a:alphaModFix/>
            </a:blip>
            <a:stretch>
              <a:fillRect b="0" l="0" r="0" t="0"/>
            </a:stretch>
          </a:blipFill>
          <a:ln>
            <a:noFill/>
          </a:ln>
        </p:spPr>
      </p:sp>
      <p:sp>
        <p:nvSpPr>
          <p:cNvPr id="842" name="Google Shape;842;g3ef042cd5e0_1_75"/>
          <p:cNvSpPr/>
          <p:nvPr/>
        </p:nvSpPr>
        <p:spPr>
          <a:xfrm>
            <a:off x="12738297" y="0"/>
            <a:ext cx="5337047" cy="1500187"/>
          </a:xfrm>
          <a:custGeom>
            <a:rect b="b" l="l" r="r" t="t"/>
            <a:pathLst>
              <a:path extrusionOk="0" h="2000250" w="7116064">
                <a:moveTo>
                  <a:pt x="0" y="0"/>
                </a:moveTo>
                <a:lnTo>
                  <a:pt x="7116064" y="0"/>
                </a:lnTo>
                <a:lnTo>
                  <a:pt x="7116064" y="2000250"/>
                </a:lnTo>
                <a:lnTo>
                  <a:pt x="0" y="2000250"/>
                </a:lnTo>
                <a:lnTo>
                  <a:pt x="0" y="0"/>
                </a:lnTo>
                <a:close/>
              </a:path>
            </a:pathLst>
          </a:custGeom>
          <a:blipFill rotWithShape="1">
            <a:blip r:embed="rId4">
              <a:alphaModFix/>
            </a:blip>
            <a:stretch>
              <a:fillRect b="0" l="0" r="0" t="0"/>
            </a:stretch>
          </a:blipFill>
          <a:ln>
            <a:noFill/>
          </a:ln>
        </p:spPr>
      </p:sp>
      <p:sp>
        <p:nvSpPr>
          <p:cNvPr id="843" name="Google Shape;843;g3ef042cd5e0_1_75"/>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5">
              <a:alphaModFix/>
            </a:blip>
            <a:stretch>
              <a:fillRect b="0" l="0" r="0" t="0"/>
            </a:stretch>
          </a:blipFill>
          <a:ln>
            <a:noFill/>
          </a:ln>
        </p:spPr>
      </p:sp>
      <p:grpSp>
        <p:nvGrpSpPr>
          <p:cNvPr id="844" name="Google Shape;844;g3ef042cd5e0_1_75"/>
          <p:cNvGrpSpPr/>
          <p:nvPr/>
        </p:nvGrpSpPr>
        <p:grpSpPr>
          <a:xfrm>
            <a:off x="12183339" y="7617"/>
            <a:ext cx="6095997" cy="1492628"/>
            <a:chOff x="63500" y="63500"/>
            <a:chExt cx="6096000" cy="1492634"/>
          </a:xfrm>
        </p:grpSpPr>
        <p:sp>
          <p:nvSpPr>
            <p:cNvPr id="845" name="Google Shape;845;g3ef042cd5e0_1_75"/>
            <p:cNvSpPr/>
            <p:nvPr/>
          </p:nvSpPr>
          <p:spPr>
            <a:xfrm>
              <a:off x="63500" y="63500"/>
              <a:ext cx="6096000" cy="1492634"/>
            </a:xfrm>
            <a:custGeom>
              <a:rect b="b" l="l" r="r" t="t"/>
              <a:pathLst>
                <a:path extrusionOk="0" h="1492634" w="6096000">
                  <a:moveTo>
                    <a:pt x="0" y="1492634"/>
                  </a:moveTo>
                  <a:lnTo>
                    <a:pt x="6096000" y="1492634"/>
                  </a:lnTo>
                  <a:lnTo>
                    <a:pt x="6096000" y="0"/>
                  </a:lnTo>
                  <a:lnTo>
                    <a:pt x="0" y="0"/>
                  </a:lnTo>
                  <a:close/>
                </a:path>
              </a:pathLst>
            </a:custGeom>
            <a:solidFill>
              <a:srgbClr val="000000">
                <a:alpha val="0"/>
              </a:srgbClr>
            </a:solidFill>
            <a:ln>
              <a:noFill/>
            </a:ln>
          </p:spPr>
        </p:sp>
        <p:sp>
          <p:nvSpPr>
            <p:cNvPr id="846" name="Google Shape;846;g3ef042cd5e0_1_75"/>
            <p:cNvSpPr/>
            <p:nvPr/>
          </p:nvSpPr>
          <p:spPr>
            <a:xfrm>
              <a:off x="3027553" y="306325"/>
              <a:ext cx="32893" cy="787402"/>
            </a:xfrm>
            <a:custGeom>
              <a:rect b="b" l="l" r="r" t="t"/>
              <a:pathLst>
                <a:path extrusionOk="0" h="787402" w="32893">
                  <a:moveTo>
                    <a:pt x="0" y="787401"/>
                  </a:moveTo>
                  <a:lnTo>
                    <a:pt x="32893" y="787401"/>
                  </a:lnTo>
                  <a:lnTo>
                    <a:pt x="32893" y="0"/>
                  </a:lnTo>
                  <a:lnTo>
                    <a:pt x="0" y="0"/>
                  </a:lnTo>
                  <a:close/>
                </a:path>
              </a:pathLst>
            </a:custGeom>
            <a:solidFill>
              <a:srgbClr val="000000">
                <a:alpha val="0"/>
              </a:srgbClr>
            </a:solidFill>
            <a:ln>
              <a:noFill/>
            </a:ln>
          </p:spPr>
        </p:sp>
      </p:grpSp>
      <p:sp>
        <p:nvSpPr>
          <p:cNvPr id="847" name="Google Shape;847;g3ef042cd5e0_1_75"/>
          <p:cNvSpPr/>
          <p:nvPr/>
        </p:nvSpPr>
        <p:spPr>
          <a:xfrm>
            <a:off x="17890598" y="2797512"/>
            <a:ext cx="452245" cy="2345304"/>
          </a:xfrm>
          <a:custGeom>
            <a:rect b="b" l="l" r="r" t="t"/>
            <a:pathLst>
              <a:path extrusionOk="0" h="2345311" w="452242">
                <a:moveTo>
                  <a:pt x="0" y="0"/>
                </a:moveTo>
                <a:lnTo>
                  <a:pt x="0" y="2345311"/>
                </a:lnTo>
                <a:lnTo>
                  <a:pt x="452242" y="2345311"/>
                </a:lnTo>
                <a:lnTo>
                  <a:pt x="452242" y="0"/>
                </a:lnTo>
                <a:close/>
              </a:path>
            </a:pathLst>
          </a:custGeom>
          <a:solidFill>
            <a:srgbClr val="E69138"/>
          </a:solidFill>
          <a:ln>
            <a:noFill/>
          </a:ln>
        </p:spPr>
      </p:sp>
      <p:grpSp>
        <p:nvGrpSpPr>
          <p:cNvPr id="848" name="Google Shape;848;g3ef042cd5e0_1_75"/>
          <p:cNvGrpSpPr/>
          <p:nvPr/>
        </p:nvGrpSpPr>
        <p:grpSpPr>
          <a:xfrm>
            <a:off x="730815" y="3138908"/>
            <a:ext cx="5911576" cy="6119405"/>
            <a:chOff x="0" y="-28575"/>
            <a:chExt cx="812800" cy="841375"/>
          </a:xfrm>
        </p:grpSpPr>
        <p:sp>
          <p:nvSpPr>
            <p:cNvPr id="849" name="Google Shape;849;g3ef042cd5e0_1_7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4D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g3ef042cd5e0_1_75"/>
            <p:cNvSpPr txBox="1"/>
            <p:nvPr/>
          </p:nvSpPr>
          <p:spPr>
            <a:xfrm>
              <a:off x="76200" y="-28575"/>
              <a:ext cx="660400" cy="765175"/>
            </a:xfrm>
            <a:prstGeom prst="rect">
              <a:avLst/>
            </a:prstGeom>
            <a:noFill/>
            <a:ln>
              <a:noFill/>
            </a:ln>
          </p:spPr>
          <p:txBody>
            <a:bodyPr anchorCtr="0" anchor="ctr" bIns="88725" lIns="88725" spcFirstLastPara="1" rIns="88725" wrap="square" tIns="88725">
              <a:noAutofit/>
            </a:bodyPr>
            <a:lstStyle/>
            <a:p>
              <a:pPr indent="0" lvl="0" marL="0" marR="0" rtl="0" algn="ctr">
                <a:lnSpc>
                  <a:spcPct val="202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51" name="Google Shape;851;g3ef042cd5e0_1_75"/>
          <p:cNvGrpSpPr/>
          <p:nvPr/>
        </p:nvGrpSpPr>
        <p:grpSpPr>
          <a:xfrm>
            <a:off x="7547250" y="3883205"/>
            <a:ext cx="5160061" cy="5341301"/>
            <a:chOff x="0" y="-28575"/>
            <a:chExt cx="812800" cy="841375"/>
          </a:xfrm>
        </p:grpSpPr>
        <p:sp>
          <p:nvSpPr>
            <p:cNvPr id="852" name="Google Shape;852;g3ef042cd5e0_1_7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4E8FF"/>
            </a:solidFill>
            <a:ln>
              <a:noFill/>
            </a:ln>
          </p:spPr>
          <p:txBody>
            <a:bodyPr anchorCtr="0" anchor="ctr" bIns="102275" lIns="102275" spcFirstLastPara="1" rIns="102275" wrap="square" tIns="102275">
              <a:noAutofit/>
            </a:bodyPr>
            <a:lstStyle/>
            <a:p>
              <a:pPr indent="0" lvl="0" marL="0" rtl="0" algn="l">
                <a:spcBef>
                  <a:spcPts val="0"/>
                </a:spcBef>
                <a:spcAft>
                  <a:spcPts val="0"/>
                </a:spcAft>
                <a:buNone/>
              </a:pPr>
              <a:r>
                <a:t/>
              </a:r>
              <a:endParaRPr/>
            </a:p>
          </p:txBody>
        </p:sp>
        <p:sp>
          <p:nvSpPr>
            <p:cNvPr id="853" name="Google Shape;853;g3ef042cd5e0_1_75"/>
            <p:cNvSpPr txBox="1"/>
            <p:nvPr/>
          </p:nvSpPr>
          <p:spPr>
            <a:xfrm>
              <a:off x="76200" y="-28575"/>
              <a:ext cx="660400" cy="765175"/>
            </a:xfrm>
            <a:prstGeom prst="rect">
              <a:avLst/>
            </a:prstGeom>
            <a:noFill/>
            <a:ln>
              <a:noFill/>
            </a:ln>
          </p:spPr>
          <p:txBody>
            <a:bodyPr anchorCtr="0" anchor="ctr" bIns="99275" lIns="99275" spcFirstLastPara="1" rIns="99275" wrap="square" tIns="99275">
              <a:noAutofit/>
            </a:bodyPr>
            <a:lstStyle/>
            <a:p>
              <a:pPr indent="0" lvl="0" marL="0" marR="0" rtl="0" algn="ctr">
                <a:lnSpc>
                  <a:spcPct val="202166"/>
                </a:lnSpc>
                <a:spcBef>
                  <a:spcPts val="0"/>
                </a:spcBef>
                <a:spcAft>
                  <a:spcPts val="0"/>
                </a:spcAft>
                <a:buNone/>
              </a:pPr>
              <a:r>
                <a:t/>
              </a:r>
              <a:endParaRPr b="0" i="0" sz="2014" u="none" cap="none" strike="noStrike">
                <a:solidFill>
                  <a:schemeClr val="dk1"/>
                </a:solidFill>
                <a:latin typeface="Calibri"/>
                <a:ea typeface="Calibri"/>
                <a:cs typeface="Calibri"/>
                <a:sym typeface="Calibri"/>
              </a:endParaRPr>
            </a:p>
          </p:txBody>
        </p:sp>
      </p:grpSp>
      <p:grpSp>
        <p:nvGrpSpPr>
          <p:cNvPr id="854" name="Google Shape;854;g3ef042cd5e0_1_75"/>
          <p:cNvGrpSpPr/>
          <p:nvPr/>
        </p:nvGrpSpPr>
        <p:grpSpPr>
          <a:xfrm>
            <a:off x="13612150" y="4973325"/>
            <a:ext cx="4122278" cy="4267202"/>
            <a:chOff x="0" y="-28575"/>
            <a:chExt cx="812800" cy="841375"/>
          </a:xfrm>
        </p:grpSpPr>
        <p:sp>
          <p:nvSpPr>
            <p:cNvPr id="855" name="Google Shape;855;g3ef042cd5e0_1_7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9FFE5"/>
            </a:solidFill>
            <a:ln>
              <a:noFill/>
            </a:ln>
          </p:spPr>
          <p:txBody>
            <a:bodyPr anchorCtr="0" anchor="ctr" bIns="105625" lIns="105625" spcFirstLastPara="1" rIns="105625" wrap="square" tIns="105625">
              <a:noAutofit/>
            </a:bodyPr>
            <a:lstStyle/>
            <a:p>
              <a:pPr indent="0" lvl="0" marL="0" rtl="0" algn="l">
                <a:spcBef>
                  <a:spcPts val="0"/>
                </a:spcBef>
                <a:spcAft>
                  <a:spcPts val="0"/>
                </a:spcAft>
                <a:buNone/>
              </a:pPr>
              <a:r>
                <a:t/>
              </a:r>
              <a:endParaRPr/>
            </a:p>
          </p:txBody>
        </p:sp>
        <p:sp>
          <p:nvSpPr>
            <p:cNvPr id="856" name="Google Shape;856;g3ef042cd5e0_1_75"/>
            <p:cNvSpPr txBox="1"/>
            <p:nvPr/>
          </p:nvSpPr>
          <p:spPr>
            <a:xfrm>
              <a:off x="76200" y="-28575"/>
              <a:ext cx="660400" cy="765175"/>
            </a:xfrm>
            <a:prstGeom prst="rect">
              <a:avLst/>
            </a:prstGeom>
            <a:noFill/>
            <a:ln>
              <a:noFill/>
            </a:ln>
          </p:spPr>
          <p:txBody>
            <a:bodyPr anchorCtr="0" anchor="ctr" bIns="102500" lIns="102500" spcFirstLastPara="1" rIns="102500" wrap="square" tIns="102500">
              <a:noAutofit/>
            </a:bodyPr>
            <a:lstStyle/>
            <a:p>
              <a:pPr indent="0" lvl="0" marL="0" marR="0" rtl="0" algn="ctr">
                <a:lnSpc>
                  <a:spcPct val="202166"/>
                </a:lnSpc>
                <a:spcBef>
                  <a:spcPts val="0"/>
                </a:spcBef>
                <a:spcAft>
                  <a:spcPts val="0"/>
                </a:spcAft>
                <a:buNone/>
              </a:pPr>
              <a:r>
                <a:t/>
              </a:r>
              <a:endParaRPr b="0" i="0" sz="2079" u="none" cap="none" strike="noStrike">
                <a:solidFill>
                  <a:schemeClr val="dk1"/>
                </a:solidFill>
                <a:latin typeface="Calibri"/>
                <a:ea typeface="Calibri"/>
                <a:cs typeface="Calibri"/>
                <a:sym typeface="Calibri"/>
              </a:endParaRPr>
            </a:p>
          </p:txBody>
        </p:sp>
      </p:grpSp>
      <p:sp>
        <p:nvSpPr>
          <p:cNvPr id="857" name="Google Shape;857;g3ef042cd5e0_1_75"/>
          <p:cNvSpPr txBox="1"/>
          <p:nvPr/>
        </p:nvSpPr>
        <p:spPr>
          <a:xfrm>
            <a:off x="4998700" y="297700"/>
            <a:ext cx="7184700" cy="50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300">
                <a:solidFill>
                  <a:srgbClr val="424242"/>
                </a:solidFill>
                <a:latin typeface="Calibri"/>
                <a:ea typeface="Calibri"/>
                <a:cs typeface="Calibri"/>
                <a:sym typeface="Calibri"/>
              </a:rPr>
              <a:t>Market Opportunity: TAM, SAM &amp; SOM</a:t>
            </a:r>
            <a:endParaRPr b="1" i="0" sz="3300" u="none" cap="none" strike="noStrike">
              <a:solidFill>
                <a:srgbClr val="424242"/>
              </a:solidFill>
              <a:latin typeface="Calibri"/>
              <a:ea typeface="Calibri"/>
              <a:cs typeface="Calibri"/>
              <a:sym typeface="Calibri"/>
            </a:endParaRPr>
          </a:p>
        </p:txBody>
      </p:sp>
      <p:sp>
        <p:nvSpPr>
          <p:cNvPr id="858" name="Google Shape;858;g3ef042cd5e0_1_75"/>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i="0" lang="en-US" sz="2953" u="none" cap="none" strike="noStrike">
                <a:solidFill>
                  <a:srgbClr val="FD7607"/>
                </a:solidFill>
                <a:latin typeface="Times"/>
                <a:ea typeface="Times"/>
                <a:cs typeface="Times"/>
                <a:sym typeface="Times"/>
              </a:rPr>
              <a:t>VII</a:t>
            </a:r>
            <a:r>
              <a:rPr b="1" i="0" lang="en-US" sz="2953" u="none" cap="none" strike="noStrike">
                <a:solidFill>
                  <a:srgbClr val="000000"/>
                </a:solidFill>
                <a:latin typeface="Times"/>
                <a:ea typeface="Times"/>
                <a:cs typeface="Times"/>
                <a:sym typeface="Times"/>
              </a:rPr>
              <a:t>SAR</a:t>
            </a:r>
            <a:endParaRPr/>
          </a:p>
        </p:txBody>
      </p:sp>
      <p:sp>
        <p:nvSpPr>
          <p:cNvPr id="859" name="Google Shape;859;g3ef042cd5e0_1_75"/>
          <p:cNvSpPr txBox="1"/>
          <p:nvPr/>
        </p:nvSpPr>
        <p:spPr>
          <a:xfrm>
            <a:off x="3208895" y="4002412"/>
            <a:ext cx="989400" cy="6072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i="0" lang="en-US" sz="3944" u="none" cap="none" strike="noStrike">
                <a:solidFill>
                  <a:srgbClr val="104271"/>
                </a:solidFill>
                <a:latin typeface="Calibri"/>
                <a:ea typeface="Calibri"/>
                <a:cs typeface="Calibri"/>
                <a:sym typeface="Calibri"/>
              </a:rPr>
              <a:t>TAM</a:t>
            </a:r>
            <a:endParaRPr/>
          </a:p>
        </p:txBody>
      </p:sp>
      <p:sp>
        <p:nvSpPr>
          <p:cNvPr id="860" name="Google Shape;860;g3ef042cd5e0_1_75"/>
          <p:cNvSpPr txBox="1"/>
          <p:nvPr/>
        </p:nvSpPr>
        <p:spPr>
          <a:xfrm>
            <a:off x="9603836" y="4847700"/>
            <a:ext cx="989400" cy="591600"/>
          </a:xfrm>
          <a:prstGeom prst="rect">
            <a:avLst/>
          </a:prstGeom>
          <a:noFill/>
          <a:ln>
            <a:noFill/>
          </a:ln>
        </p:spPr>
        <p:txBody>
          <a:bodyPr anchorCtr="0" anchor="t" bIns="0" lIns="0" spcFirstLastPara="1" rIns="0" wrap="square" tIns="0">
            <a:spAutoFit/>
          </a:bodyPr>
          <a:lstStyle/>
          <a:p>
            <a:pPr indent="0" lvl="0" marL="0" marR="0" rtl="0" algn="l">
              <a:lnSpc>
                <a:spcPct val="140046"/>
              </a:lnSpc>
              <a:spcBef>
                <a:spcPts val="0"/>
              </a:spcBef>
              <a:spcAft>
                <a:spcPts val="0"/>
              </a:spcAft>
              <a:buNone/>
            </a:pPr>
            <a:r>
              <a:rPr b="1" i="0" lang="en-US" sz="3844" u="none" cap="none" strike="noStrike">
                <a:solidFill>
                  <a:srgbClr val="12659B"/>
                </a:solidFill>
                <a:latin typeface="Calibri"/>
                <a:ea typeface="Calibri"/>
                <a:cs typeface="Calibri"/>
                <a:sym typeface="Calibri"/>
              </a:rPr>
              <a:t>SAM</a:t>
            </a:r>
            <a:endParaRPr/>
          </a:p>
        </p:txBody>
      </p:sp>
      <p:sp>
        <p:nvSpPr>
          <p:cNvPr id="861" name="Google Shape;861;g3ef042cd5e0_1_75"/>
          <p:cNvSpPr txBox="1"/>
          <p:nvPr/>
        </p:nvSpPr>
        <p:spPr>
          <a:xfrm>
            <a:off x="15243694" y="5689500"/>
            <a:ext cx="859200" cy="514800"/>
          </a:xfrm>
          <a:prstGeom prst="rect">
            <a:avLst/>
          </a:prstGeom>
          <a:noFill/>
          <a:ln>
            <a:noFill/>
          </a:ln>
        </p:spPr>
        <p:txBody>
          <a:bodyPr anchorCtr="0" anchor="t" bIns="0" lIns="0" spcFirstLastPara="1" rIns="0" wrap="square" tIns="0">
            <a:spAutoFit/>
          </a:bodyPr>
          <a:lstStyle/>
          <a:p>
            <a:pPr indent="0" lvl="0" marL="0" marR="0" rtl="0" algn="l">
              <a:lnSpc>
                <a:spcPct val="140053"/>
              </a:lnSpc>
              <a:spcBef>
                <a:spcPts val="0"/>
              </a:spcBef>
              <a:spcAft>
                <a:spcPts val="0"/>
              </a:spcAft>
              <a:buNone/>
            </a:pPr>
            <a:r>
              <a:rPr b="1" i="0" lang="en-US" sz="3344" u="none" cap="none" strike="noStrike">
                <a:solidFill>
                  <a:srgbClr val="0C661A"/>
                </a:solidFill>
                <a:latin typeface="Calibri"/>
                <a:ea typeface="Calibri"/>
                <a:cs typeface="Calibri"/>
                <a:sym typeface="Calibri"/>
              </a:rPr>
              <a:t>SOM</a:t>
            </a:r>
            <a:endParaRPr/>
          </a:p>
        </p:txBody>
      </p:sp>
      <p:sp>
        <p:nvSpPr>
          <p:cNvPr id="862" name="Google Shape;862;g3ef042cd5e0_1_75"/>
          <p:cNvSpPr txBox="1"/>
          <p:nvPr/>
        </p:nvSpPr>
        <p:spPr>
          <a:xfrm>
            <a:off x="1551442" y="6562244"/>
            <a:ext cx="4349400" cy="1637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800" u="none" cap="none" strike="noStrike">
                <a:solidFill>
                  <a:srgbClr val="004369"/>
                </a:solidFill>
                <a:latin typeface="Calibri"/>
                <a:ea typeface="Calibri"/>
                <a:cs typeface="Calibri"/>
                <a:sym typeface="Calibri"/>
              </a:rPr>
              <a:t>Global visually impaired learners who need accessible STEM tools</a:t>
            </a:r>
            <a:endParaRPr sz="1700"/>
          </a:p>
        </p:txBody>
      </p:sp>
      <p:sp>
        <p:nvSpPr>
          <p:cNvPr id="863" name="Google Shape;863;g3ef042cd5e0_1_75"/>
          <p:cNvSpPr txBox="1"/>
          <p:nvPr/>
        </p:nvSpPr>
        <p:spPr>
          <a:xfrm>
            <a:off x="1938000" y="5270888"/>
            <a:ext cx="35892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999">
                <a:solidFill>
                  <a:srgbClr val="004369"/>
                </a:solidFill>
                <a:latin typeface="Calibri"/>
                <a:ea typeface="Calibri"/>
                <a:cs typeface="Calibri"/>
                <a:sym typeface="Calibri"/>
              </a:rPr>
              <a:t>$20 Billion+</a:t>
            </a:r>
            <a:endParaRPr/>
          </a:p>
        </p:txBody>
      </p:sp>
      <p:sp>
        <p:nvSpPr>
          <p:cNvPr id="864" name="Google Shape;864;g3ef042cd5e0_1_75"/>
          <p:cNvSpPr txBox="1"/>
          <p:nvPr/>
        </p:nvSpPr>
        <p:spPr>
          <a:xfrm>
            <a:off x="8478323" y="6019719"/>
            <a:ext cx="35892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12659B"/>
                </a:solidFill>
                <a:latin typeface="Calibri"/>
                <a:ea typeface="Calibri"/>
                <a:cs typeface="Calibri"/>
                <a:sym typeface="Calibri"/>
              </a:rPr>
              <a:t>$200 Million+</a:t>
            </a:r>
            <a:endParaRPr/>
          </a:p>
        </p:txBody>
      </p:sp>
      <p:sp>
        <p:nvSpPr>
          <p:cNvPr id="865" name="Google Shape;865;g3ef042cd5e0_1_75"/>
          <p:cNvSpPr txBox="1"/>
          <p:nvPr/>
        </p:nvSpPr>
        <p:spPr>
          <a:xfrm>
            <a:off x="8066125" y="6948400"/>
            <a:ext cx="4122300" cy="176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200" u="none" cap="none" strike="noStrike">
                <a:solidFill>
                  <a:srgbClr val="12659B"/>
                </a:solidFill>
                <a:latin typeface="Calibri"/>
                <a:ea typeface="Calibri"/>
                <a:cs typeface="Calibri"/>
                <a:sym typeface="Calibri"/>
              </a:rPr>
              <a:t>India + developing-market institutions reachable through schools, NGOs, CSR, and government</a:t>
            </a:r>
            <a:endParaRPr sz="1600"/>
          </a:p>
        </p:txBody>
      </p:sp>
      <p:sp>
        <p:nvSpPr>
          <p:cNvPr id="866" name="Google Shape;866;g3ef042cd5e0_1_75"/>
          <p:cNvSpPr txBox="1"/>
          <p:nvPr/>
        </p:nvSpPr>
        <p:spPr>
          <a:xfrm>
            <a:off x="14200423" y="7295000"/>
            <a:ext cx="3100200" cy="1440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800">
                <a:solidFill>
                  <a:srgbClr val="0C661A"/>
                </a:solidFill>
                <a:latin typeface="Calibri"/>
                <a:ea typeface="Calibri"/>
                <a:cs typeface="Calibri"/>
                <a:sym typeface="Calibri"/>
              </a:rPr>
              <a:t>Realistic 3–5 year obtainable market through pilots, school partnerships, NGOs, and CSR-funded deployments.</a:t>
            </a:r>
            <a:endParaRPr sz="1500"/>
          </a:p>
        </p:txBody>
      </p:sp>
      <p:sp>
        <p:nvSpPr>
          <p:cNvPr id="867" name="Google Shape;867;g3ef042cd5e0_1_75"/>
          <p:cNvSpPr txBox="1"/>
          <p:nvPr/>
        </p:nvSpPr>
        <p:spPr>
          <a:xfrm>
            <a:off x="13903447" y="6511141"/>
            <a:ext cx="3589200" cy="4770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i="0" lang="en-US" sz="3099" u="none" cap="none" strike="noStrike">
                <a:solidFill>
                  <a:srgbClr val="0C661A"/>
                </a:solidFill>
                <a:latin typeface="Calibri"/>
                <a:ea typeface="Calibri"/>
                <a:cs typeface="Calibri"/>
                <a:sym typeface="Calibri"/>
              </a:rPr>
              <a:t>$40 Million+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24"/>
          <p:cNvSpPr/>
          <p:nvPr/>
        </p:nvSpPr>
        <p:spPr>
          <a:xfrm rot="10800000">
            <a:off x="8725186" y="-16678"/>
            <a:ext cx="9562814" cy="5473827"/>
          </a:xfrm>
          <a:custGeom>
            <a:rect b="b" l="l" r="r" t="t"/>
            <a:pathLst>
              <a:path extrusionOk="0" h="7298436" w="12750419">
                <a:moveTo>
                  <a:pt x="0" y="7298436"/>
                </a:moveTo>
                <a:lnTo>
                  <a:pt x="0" y="0"/>
                </a:lnTo>
                <a:lnTo>
                  <a:pt x="12750419" y="7298436"/>
                </a:lnTo>
                <a:close/>
              </a:path>
            </a:pathLst>
          </a:custGeom>
          <a:solidFill>
            <a:srgbClr val="E8E8E8"/>
          </a:solidFill>
          <a:ln>
            <a:noFill/>
          </a:ln>
        </p:spPr>
      </p:sp>
      <p:sp>
        <p:nvSpPr>
          <p:cNvPr id="877" name="Google Shape;877;p24"/>
          <p:cNvSpPr/>
          <p:nvPr/>
        </p:nvSpPr>
        <p:spPr>
          <a:xfrm>
            <a:off x="0" y="7866002"/>
            <a:ext cx="4229957" cy="2420969"/>
          </a:xfrm>
          <a:custGeom>
            <a:rect b="b" l="l" r="r" t="t"/>
            <a:pathLst>
              <a:path extrusionOk="0" h="3227959" w="5639943">
                <a:moveTo>
                  <a:pt x="0" y="3227959"/>
                </a:moveTo>
                <a:lnTo>
                  <a:pt x="0" y="0"/>
                </a:lnTo>
                <a:lnTo>
                  <a:pt x="5639943" y="3227959"/>
                </a:lnTo>
                <a:close/>
              </a:path>
            </a:pathLst>
          </a:custGeom>
          <a:solidFill>
            <a:srgbClr val="156082"/>
          </a:solidFill>
          <a:ln>
            <a:noFill/>
          </a:ln>
        </p:spPr>
      </p:sp>
      <p:sp>
        <p:nvSpPr>
          <p:cNvPr id="878" name="Google Shape;878;p24"/>
          <p:cNvSpPr/>
          <p:nvPr/>
        </p:nvSpPr>
        <p:spPr>
          <a:xfrm>
            <a:off x="7370102" y="1053303"/>
            <a:ext cx="3587877" cy="6705410"/>
          </a:xfrm>
          <a:custGeom>
            <a:rect b="b" l="l" r="r" t="t"/>
            <a:pathLst>
              <a:path extrusionOk="0" h="8940546" w="4783836">
                <a:moveTo>
                  <a:pt x="33909" y="0"/>
                </a:moveTo>
                <a:lnTo>
                  <a:pt x="4749927" y="0"/>
                </a:lnTo>
                <a:cubicBezTo>
                  <a:pt x="4768596" y="0"/>
                  <a:pt x="4783836" y="15113"/>
                  <a:pt x="4783836" y="33909"/>
                </a:cubicBezTo>
                <a:lnTo>
                  <a:pt x="4783836" y="8906637"/>
                </a:lnTo>
                <a:cubicBezTo>
                  <a:pt x="4783836" y="8925306"/>
                  <a:pt x="4768723" y="8940546"/>
                  <a:pt x="4749927" y="8940546"/>
                </a:cubicBezTo>
                <a:lnTo>
                  <a:pt x="33909" y="8940546"/>
                </a:lnTo>
                <a:cubicBezTo>
                  <a:pt x="15240" y="8940546"/>
                  <a:pt x="0" y="8925433"/>
                  <a:pt x="0" y="8906637"/>
                </a:cubicBezTo>
                <a:lnTo>
                  <a:pt x="0" y="33909"/>
                </a:lnTo>
                <a:cubicBezTo>
                  <a:pt x="0" y="15113"/>
                  <a:pt x="15113" y="0"/>
                  <a:pt x="33909" y="0"/>
                </a:cubicBezTo>
                <a:moveTo>
                  <a:pt x="33909" y="67691"/>
                </a:moveTo>
                <a:lnTo>
                  <a:pt x="33909" y="33909"/>
                </a:lnTo>
                <a:lnTo>
                  <a:pt x="67691" y="33909"/>
                </a:lnTo>
                <a:lnTo>
                  <a:pt x="67691" y="8906637"/>
                </a:lnTo>
                <a:lnTo>
                  <a:pt x="33909" y="8906637"/>
                </a:lnTo>
                <a:lnTo>
                  <a:pt x="33909" y="8872728"/>
                </a:lnTo>
                <a:lnTo>
                  <a:pt x="4749927" y="8872728"/>
                </a:lnTo>
                <a:lnTo>
                  <a:pt x="4749927" y="8906637"/>
                </a:lnTo>
                <a:lnTo>
                  <a:pt x="4716018" y="8906637"/>
                </a:lnTo>
                <a:lnTo>
                  <a:pt x="4716018" y="33909"/>
                </a:lnTo>
                <a:lnTo>
                  <a:pt x="4749927" y="33909"/>
                </a:lnTo>
                <a:lnTo>
                  <a:pt x="4749927"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4"/>
          <p:cNvSpPr txBox="1"/>
          <p:nvPr/>
        </p:nvSpPr>
        <p:spPr>
          <a:xfrm>
            <a:off x="7420899" y="1085050"/>
            <a:ext cx="3486198" cy="662284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VALUE</a:t>
            </a:r>
            <a:endParaRPr/>
          </a:p>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PROPOSITIONS</a:t>
            </a:r>
            <a:endParaRPr/>
          </a:p>
        </p:txBody>
      </p:sp>
      <p:sp>
        <p:nvSpPr>
          <p:cNvPr id="880" name="Google Shape;880;p24"/>
          <p:cNvSpPr/>
          <p:nvPr/>
        </p:nvSpPr>
        <p:spPr>
          <a:xfrm>
            <a:off x="10906897" y="4870447"/>
            <a:ext cx="4046792" cy="2888266"/>
          </a:xfrm>
          <a:custGeom>
            <a:rect b="b" l="l" r="r" t="t"/>
            <a:pathLst>
              <a:path extrusionOk="0" h="3851021" w="5395722">
                <a:moveTo>
                  <a:pt x="33909" y="0"/>
                </a:moveTo>
                <a:lnTo>
                  <a:pt x="5361813" y="0"/>
                </a:lnTo>
                <a:cubicBezTo>
                  <a:pt x="5380482" y="0"/>
                  <a:pt x="5395722" y="15113"/>
                  <a:pt x="5395722" y="33909"/>
                </a:cubicBezTo>
                <a:lnTo>
                  <a:pt x="5395722" y="3817112"/>
                </a:lnTo>
                <a:cubicBezTo>
                  <a:pt x="5395722" y="3835781"/>
                  <a:pt x="5380609" y="3851021"/>
                  <a:pt x="5361813" y="3851021"/>
                </a:cubicBezTo>
                <a:lnTo>
                  <a:pt x="33909" y="3851021"/>
                </a:lnTo>
                <a:cubicBezTo>
                  <a:pt x="15240" y="3851021"/>
                  <a:pt x="0" y="3835908"/>
                  <a:pt x="0" y="3817112"/>
                </a:cubicBezTo>
                <a:lnTo>
                  <a:pt x="0" y="33909"/>
                </a:lnTo>
                <a:cubicBezTo>
                  <a:pt x="0" y="15113"/>
                  <a:pt x="15113" y="0"/>
                  <a:pt x="33909" y="0"/>
                </a:cubicBezTo>
                <a:moveTo>
                  <a:pt x="33909" y="67691"/>
                </a:moveTo>
                <a:lnTo>
                  <a:pt x="33909" y="33909"/>
                </a:lnTo>
                <a:lnTo>
                  <a:pt x="67691" y="33909"/>
                </a:lnTo>
                <a:lnTo>
                  <a:pt x="67691" y="3817112"/>
                </a:lnTo>
                <a:lnTo>
                  <a:pt x="33909" y="3817112"/>
                </a:lnTo>
                <a:lnTo>
                  <a:pt x="33909" y="3783203"/>
                </a:lnTo>
                <a:lnTo>
                  <a:pt x="5361813" y="3783203"/>
                </a:lnTo>
                <a:lnTo>
                  <a:pt x="5361813" y="3817112"/>
                </a:lnTo>
                <a:lnTo>
                  <a:pt x="5327904" y="3817112"/>
                </a:lnTo>
                <a:lnTo>
                  <a:pt x="5327904" y="33909"/>
                </a:lnTo>
                <a:lnTo>
                  <a:pt x="5361813" y="33909"/>
                </a:lnTo>
                <a:lnTo>
                  <a:pt x="5361813"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4"/>
          <p:cNvSpPr txBox="1"/>
          <p:nvPr/>
        </p:nvSpPr>
        <p:spPr>
          <a:xfrm>
            <a:off x="10942739" y="5049650"/>
            <a:ext cx="3945198" cy="24365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                	       CHANNELS</a:t>
            </a:r>
            <a:endParaRPr/>
          </a:p>
        </p:txBody>
      </p:sp>
      <p:sp>
        <p:nvSpPr>
          <p:cNvPr id="882" name="Google Shape;882;p24"/>
          <p:cNvSpPr/>
          <p:nvPr/>
        </p:nvSpPr>
        <p:spPr>
          <a:xfrm>
            <a:off x="10910011" y="1053294"/>
            <a:ext cx="4043839" cy="3868007"/>
          </a:xfrm>
          <a:custGeom>
            <a:rect b="b" l="l" r="r" t="t"/>
            <a:pathLst>
              <a:path extrusionOk="0" h="5157343" w="5391785">
                <a:moveTo>
                  <a:pt x="33909" y="0"/>
                </a:moveTo>
                <a:lnTo>
                  <a:pt x="5357876" y="0"/>
                </a:lnTo>
                <a:cubicBezTo>
                  <a:pt x="5376545" y="0"/>
                  <a:pt x="5391785" y="15113"/>
                  <a:pt x="5391785" y="33909"/>
                </a:cubicBezTo>
                <a:lnTo>
                  <a:pt x="5391785" y="5123434"/>
                </a:lnTo>
                <a:cubicBezTo>
                  <a:pt x="5391785" y="5142103"/>
                  <a:pt x="5376672" y="5157343"/>
                  <a:pt x="5357876" y="5157343"/>
                </a:cubicBezTo>
                <a:lnTo>
                  <a:pt x="33909" y="5157343"/>
                </a:lnTo>
                <a:cubicBezTo>
                  <a:pt x="15240" y="5157343"/>
                  <a:pt x="0" y="5142230"/>
                  <a:pt x="0" y="5123434"/>
                </a:cubicBezTo>
                <a:lnTo>
                  <a:pt x="0" y="33909"/>
                </a:lnTo>
                <a:cubicBezTo>
                  <a:pt x="0" y="15113"/>
                  <a:pt x="15113" y="0"/>
                  <a:pt x="33909" y="0"/>
                </a:cubicBezTo>
                <a:moveTo>
                  <a:pt x="33909" y="67691"/>
                </a:moveTo>
                <a:lnTo>
                  <a:pt x="33909" y="33909"/>
                </a:lnTo>
                <a:lnTo>
                  <a:pt x="67691" y="33909"/>
                </a:lnTo>
                <a:lnTo>
                  <a:pt x="67691" y="5123434"/>
                </a:lnTo>
                <a:lnTo>
                  <a:pt x="33909" y="5123434"/>
                </a:lnTo>
                <a:lnTo>
                  <a:pt x="33909" y="5089525"/>
                </a:lnTo>
                <a:lnTo>
                  <a:pt x="5357876" y="5089525"/>
                </a:lnTo>
                <a:lnTo>
                  <a:pt x="5357876" y="5123434"/>
                </a:lnTo>
                <a:lnTo>
                  <a:pt x="5323967" y="5123434"/>
                </a:lnTo>
                <a:lnTo>
                  <a:pt x="5323967" y="33909"/>
                </a:lnTo>
                <a:lnTo>
                  <a:pt x="5357876" y="33909"/>
                </a:lnTo>
                <a:lnTo>
                  <a:pt x="5357876"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4"/>
          <p:cNvSpPr txBox="1"/>
          <p:nvPr/>
        </p:nvSpPr>
        <p:spPr>
          <a:xfrm>
            <a:off x="10960808" y="1085040"/>
            <a:ext cx="3942197" cy="3785454"/>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CUSTOMER</a:t>
            </a:r>
            <a:endParaRPr/>
          </a:p>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RELATIONSHIPS</a:t>
            </a:r>
            <a:endParaRPr/>
          </a:p>
        </p:txBody>
      </p:sp>
      <p:sp>
        <p:nvSpPr>
          <p:cNvPr id="884" name="Google Shape;884;p24"/>
          <p:cNvSpPr/>
          <p:nvPr/>
        </p:nvSpPr>
        <p:spPr>
          <a:xfrm>
            <a:off x="14902948" y="1053303"/>
            <a:ext cx="3069431" cy="6705410"/>
          </a:xfrm>
          <a:custGeom>
            <a:rect b="b" l="l" r="r" t="t"/>
            <a:pathLst>
              <a:path extrusionOk="0" h="8940546" w="4092575">
                <a:moveTo>
                  <a:pt x="33909" y="0"/>
                </a:moveTo>
                <a:lnTo>
                  <a:pt x="4058666" y="0"/>
                </a:lnTo>
                <a:cubicBezTo>
                  <a:pt x="4077335" y="0"/>
                  <a:pt x="4092575" y="15113"/>
                  <a:pt x="4092575" y="33909"/>
                </a:cubicBezTo>
                <a:lnTo>
                  <a:pt x="4092575" y="8906637"/>
                </a:lnTo>
                <a:cubicBezTo>
                  <a:pt x="4092575" y="8925306"/>
                  <a:pt x="4077462" y="8940546"/>
                  <a:pt x="4058666" y="8940546"/>
                </a:cubicBezTo>
                <a:lnTo>
                  <a:pt x="33909" y="8940546"/>
                </a:lnTo>
                <a:cubicBezTo>
                  <a:pt x="15240" y="8940546"/>
                  <a:pt x="0" y="8925433"/>
                  <a:pt x="0" y="8906637"/>
                </a:cubicBezTo>
                <a:lnTo>
                  <a:pt x="0" y="33909"/>
                </a:lnTo>
                <a:cubicBezTo>
                  <a:pt x="0" y="15113"/>
                  <a:pt x="15113" y="0"/>
                  <a:pt x="33909" y="0"/>
                </a:cubicBezTo>
                <a:moveTo>
                  <a:pt x="33909" y="67691"/>
                </a:moveTo>
                <a:lnTo>
                  <a:pt x="33909" y="33909"/>
                </a:lnTo>
                <a:lnTo>
                  <a:pt x="67691" y="33909"/>
                </a:lnTo>
                <a:lnTo>
                  <a:pt x="67691" y="8906637"/>
                </a:lnTo>
                <a:lnTo>
                  <a:pt x="33909" y="8906637"/>
                </a:lnTo>
                <a:lnTo>
                  <a:pt x="33909" y="8872728"/>
                </a:lnTo>
                <a:lnTo>
                  <a:pt x="4058666" y="8872728"/>
                </a:lnTo>
                <a:lnTo>
                  <a:pt x="4058666" y="8906637"/>
                </a:lnTo>
                <a:lnTo>
                  <a:pt x="4024757" y="8906637"/>
                </a:lnTo>
                <a:lnTo>
                  <a:pt x="4024757" y="33909"/>
                </a:lnTo>
                <a:lnTo>
                  <a:pt x="4058666" y="33909"/>
                </a:lnTo>
                <a:lnTo>
                  <a:pt x="4058666"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4"/>
          <p:cNvSpPr txBox="1"/>
          <p:nvPr/>
        </p:nvSpPr>
        <p:spPr>
          <a:xfrm>
            <a:off x="14953755" y="1085050"/>
            <a:ext cx="2967800" cy="662284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CUSTOMER</a:t>
            </a:r>
            <a:endParaRPr/>
          </a:p>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SEGMENTS</a:t>
            </a:r>
            <a:endParaRPr/>
          </a:p>
        </p:txBody>
      </p:sp>
      <p:sp>
        <p:nvSpPr>
          <p:cNvPr id="886" name="Google Shape;886;p24"/>
          <p:cNvSpPr/>
          <p:nvPr/>
        </p:nvSpPr>
        <p:spPr>
          <a:xfrm>
            <a:off x="9144752" y="7757255"/>
            <a:ext cx="8827008" cy="2440686"/>
          </a:xfrm>
          <a:custGeom>
            <a:rect b="b" l="l" r="r" t="t"/>
            <a:pathLst>
              <a:path extrusionOk="0" h="3254248" w="11769344">
                <a:moveTo>
                  <a:pt x="33909" y="0"/>
                </a:moveTo>
                <a:lnTo>
                  <a:pt x="11735435" y="0"/>
                </a:lnTo>
                <a:cubicBezTo>
                  <a:pt x="11754103" y="0"/>
                  <a:pt x="11769344" y="15113"/>
                  <a:pt x="11769344" y="33909"/>
                </a:cubicBezTo>
                <a:lnTo>
                  <a:pt x="11769344" y="3220339"/>
                </a:lnTo>
                <a:cubicBezTo>
                  <a:pt x="11769344" y="3239008"/>
                  <a:pt x="11754231" y="3254248"/>
                  <a:pt x="11735435" y="3254248"/>
                </a:cubicBezTo>
                <a:lnTo>
                  <a:pt x="33909" y="3254248"/>
                </a:lnTo>
                <a:cubicBezTo>
                  <a:pt x="15240" y="3254248"/>
                  <a:pt x="0" y="3239135"/>
                  <a:pt x="0" y="3220339"/>
                </a:cubicBezTo>
                <a:lnTo>
                  <a:pt x="0" y="33909"/>
                </a:lnTo>
                <a:cubicBezTo>
                  <a:pt x="0" y="15113"/>
                  <a:pt x="15113" y="0"/>
                  <a:pt x="33909" y="0"/>
                </a:cubicBezTo>
                <a:moveTo>
                  <a:pt x="33909" y="67691"/>
                </a:moveTo>
                <a:lnTo>
                  <a:pt x="33909" y="33909"/>
                </a:lnTo>
                <a:lnTo>
                  <a:pt x="67691" y="33909"/>
                </a:lnTo>
                <a:lnTo>
                  <a:pt x="67691" y="3220339"/>
                </a:lnTo>
                <a:lnTo>
                  <a:pt x="33909" y="3220339"/>
                </a:lnTo>
                <a:lnTo>
                  <a:pt x="33909" y="3186430"/>
                </a:lnTo>
                <a:lnTo>
                  <a:pt x="11735435" y="3186430"/>
                </a:lnTo>
                <a:lnTo>
                  <a:pt x="11735435" y="3220339"/>
                </a:lnTo>
                <a:lnTo>
                  <a:pt x="11701526" y="3220339"/>
                </a:lnTo>
                <a:lnTo>
                  <a:pt x="11701526" y="33909"/>
                </a:lnTo>
                <a:lnTo>
                  <a:pt x="11735435" y="33909"/>
                </a:lnTo>
                <a:lnTo>
                  <a:pt x="11735435"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4"/>
          <p:cNvSpPr txBox="1"/>
          <p:nvPr/>
        </p:nvSpPr>
        <p:spPr>
          <a:xfrm>
            <a:off x="9195549" y="7789002"/>
            <a:ext cx="8725395" cy="235804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       REVENUE STREAMS</a:t>
            </a:r>
            <a:endParaRPr/>
          </a:p>
        </p:txBody>
      </p:sp>
      <p:sp>
        <p:nvSpPr>
          <p:cNvPr id="888" name="Google Shape;888;p24"/>
          <p:cNvSpPr/>
          <p:nvPr/>
        </p:nvSpPr>
        <p:spPr>
          <a:xfrm>
            <a:off x="365246" y="7757255"/>
            <a:ext cx="8830628" cy="2440686"/>
          </a:xfrm>
          <a:custGeom>
            <a:rect b="b" l="l" r="r" t="t"/>
            <a:pathLst>
              <a:path extrusionOk="0" h="3254248" w="11774170">
                <a:moveTo>
                  <a:pt x="33909" y="0"/>
                </a:moveTo>
                <a:lnTo>
                  <a:pt x="11740261" y="0"/>
                </a:lnTo>
                <a:cubicBezTo>
                  <a:pt x="11758930" y="0"/>
                  <a:pt x="11774170" y="15113"/>
                  <a:pt x="11774170" y="33909"/>
                </a:cubicBezTo>
                <a:lnTo>
                  <a:pt x="11774170" y="3220339"/>
                </a:lnTo>
                <a:cubicBezTo>
                  <a:pt x="11774170" y="3239008"/>
                  <a:pt x="11759057" y="3254248"/>
                  <a:pt x="11740261" y="3254248"/>
                </a:cubicBezTo>
                <a:lnTo>
                  <a:pt x="33909" y="3254248"/>
                </a:lnTo>
                <a:cubicBezTo>
                  <a:pt x="15240" y="3254248"/>
                  <a:pt x="0" y="3239135"/>
                  <a:pt x="0" y="3220339"/>
                </a:cubicBezTo>
                <a:lnTo>
                  <a:pt x="0" y="33909"/>
                </a:lnTo>
                <a:cubicBezTo>
                  <a:pt x="0" y="15113"/>
                  <a:pt x="15113" y="0"/>
                  <a:pt x="33909" y="0"/>
                </a:cubicBezTo>
                <a:moveTo>
                  <a:pt x="33909" y="67691"/>
                </a:moveTo>
                <a:lnTo>
                  <a:pt x="33909" y="33909"/>
                </a:lnTo>
                <a:lnTo>
                  <a:pt x="67691" y="33909"/>
                </a:lnTo>
                <a:lnTo>
                  <a:pt x="67691" y="3220339"/>
                </a:lnTo>
                <a:lnTo>
                  <a:pt x="33909" y="3220339"/>
                </a:lnTo>
                <a:lnTo>
                  <a:pt x="33909" y="3186430"/>
                </a:lnTo>
                <a:lnTo>
                  <a:pt x="11740261" y="3186430"/>
                </a:lnTo>
                <a:lnTo>
                  <a:pt x="11740261" y="3220339"/>
                </a:lnTo>
                <a:lnTo>
                  <a:pt x="11706352" y="3220339"/>
                </a:lnTo>
                <a:lnTo>
                  <a:pt x="11706352" y="33909"/>
                </a:lnTo>
                <a:lnTo>
                  <a:pt x="11740261" y="33909"/>
                </a:lnTo>
                <a:lnTo>
                  <a:pt x="11740261"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txBox="1"/>
          <p:nvPr/>
        </p:nvSpPr>
        <p:spPr>
          <a:xfrm>
            <a:off x="416052" y="7789002"/>
            <a:ext cx="8728996" cy="235804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          COST STRUCTURE</a:t>
            </a:r>
            <a:endParaRPr/>
          </a:p>
        </p:txBody>
      </p:sp>
      <p:sp>
        <p:nvSpPr>
          <p:cNvPr id="890" name="Google Shape;890;p24"/>
          <p:cNvSpPr/>
          <p:nvPr/>
        </p:nvSpPr>
        <p:spPr>
          <a:xfrm>
            <a:off x="365246" y="1053303"/>
            <a:ext cx="3209830" cy="6705410"/>
          </a:xfrm>
          <a:custGeom>
            <a:rect b="b" l="l" r="r" t="t"/>
            <a:pathLst>
              <a:path extrusionOk="0" h="8940546" w="4279773">
                <a:moveTo>
                  <a:pt x="33909" y="0"/>
                </a:moveTo>
                <a:lnTo>
                  <a:pt x="4245864" y="0"/>
                </a:lnTo>
                <a:cubicBezTo>
                  <a:pt x="4264533" y="0"/>
                  <a:pt x="4279773" y="15113"/>
                  <a:pt x="4279773" y="33909"/>
                </a:cubicBezTo>
                <a:lnTo>
                  <a:pt x="4279773" y="8906637"/>
                </a:lnTo>
                <a:cubicBezTo>
                  <a:pt x="4279773" y="8925306"/>
                  <a:pt x="4264660" y="8940546"/>
                  <a:pt x="4245864" y="8940546"/>
                </a:cubicBezTo>
                <a:lnTo>
                  <a:pt x="33909" y="8940546"/>
                </a:lnTo>
                <a:cubicBezTo>
                  <a:pt x="15240" y="8940546"/>
                  <a:pt x="0" y="8925433"/>
                  <a:pt x="0" y="8906637"/>
                </a:cubicBezTo>
                <a:lnTo>
                  <a:pt x="0" y="33909"/>
                </a:lnTo>
                <a:cubicBezTo>
                  <a:pt x="0" y="15113"/>
                  <a:pt x="15113" y="0"/>
                  <a:pt x="33909" y="0"/>
                </a:cubicBezTo>
                <a:moveTo>
                  <a:pt x="33909" y="67691"/>
                </a:moveTo>
                <a:lnTo>
                  <a:pt x="33909" y="33909"/>
                </a:lnTo>
                <a:lnTo>
                  <a:pt x="67691" y="33909"/>
                </a:lnTo>
                <a:lnTo>
                  <a:pt x="67691" y="8906637"/>
                </a:lnTo>
                <a:lnTo>
                  <a:pt x="33909" y="8906637"/>
                </a:lnTo>
                <a:lnTo>
                  <a:pt x="33909" y="8872728"/>
                </a:lnTo>
                <a:lnTo>
                  <a:pt x="4245864" y="8872728"/>
                </a:lnTo>
                <a:lnTo>
                  <a:pt x="4245864" y="8906637"/>
                </a:lnTo>
                <a:lnTo>
                  <a:pt x="4211955" y="8906637"/>
                </a:lnTo>
                <a:lnTo>
                  <a:pt x="4211955" y="33909"/>
                </a:lnTo>
                <a:lnTo>
                  <a:pt x="4245864" y="33909"/>
                </a:lnTo>
                <a:lnTo>
                  <a:pt x="4245864"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txBox="1"/>
          <p:nvPr/>
        </p:nvSpPr>
        <p:spPr>
          <a:xfrm>
            <a:off x="416052" y="1085050"/>
            <a:ext cx="3108198" cy="662284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KEY</a:t>
            </a:r>
            <a:endParaRPr/>
          </a:p>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PARTNERS</a:t>
            </a:r>
            <a:endParaRPr/>
          </a:p>
        </p:txBody>
      </p:sp>
      <p:sp>
        <p:nvSpPr>
          <p:cNvPr id="892" name="Google Shape;892;p24"/>
          <p:cNvSpPr/>
          <p:nvPr/>
        </p:nvSpPr>
        <p:spPr>
          <a:xfrm>
            <a:off x="14909606" y="1078687"/>
            <a:ext cx="1106043" cy="1009650"/>
          </a:xfrm>
          <a:custGeom>
            <a:rect b="b" l="l" r="r" t="t"/>
            <a:pathLst>
              <a:path extrusionOk="0" h="1346200" w="1474724">
                <a:moveTo>
                  <a:pt x="0" y="0"/>
                </a:moveTo>
                <a:lnTo>
                  <a:pt x="1474724" y="0"/>
                </a:lnTo>
                <a:lnTo>
                  <a:pt x="1474724" y="1346200"/>
                </a:lnTo>
                <a:lnTo>
                  <a:pt x="0" y="1346200"/>
                </a:lnTo>
                <a:lnTo>
                  <a:pt x="0" y="0"/>
                </a:lnTo>
                <a:close/>
              </a:path>
            </a:pathLst>
          </a:custGeom>
          <a:blipFill rotWithShape="1">
            <a:blip r:embed="rId3">
              <a:alphaModFix/>
            </a:blip>
            <a:stretch>
              <a:fillRect b="-15727" l="0" r="0" t="-15727"/>
            </a:stretch>
          </a:blipFill>
          <a:ln>
            <a:noFill/>
          </a:ln>
        </p:spPr>
      </p:sp>
      <p:sp>
        <p:nvSpPr>
          <p:cNvPr id="893" name="Google Shape;893;p24"/>
          <p:cNvSpPr/>
          <p:nvPr/>
        </p:nvSpPr>
        <p:spPr>
          <a:xfrm>
            <a:off x="7467352" y="976293"/>
            <a:ext cx="999839" cy="795338"/>
          </a:xfrm>
          <a:custGeom>
            <a:rect b="b" l="l" r="r" t="t"/>
            <a:pathLst>
              <a:path extrusionOk="0" h="1060450" w="1333119">
                <a:moveTo>
                  <a:pt x="0" y="0"/>
                </a:moveTo>
                <a:lnTo>
                  <a:pt x="1333119" y="0"/>
                </a:lnTo>
                <a:lnTo>
                  <a:pt x="1333119" y="1060450"/>
                </a:lnTo>
                <a:lnTo>
                  <a:pt x="0" y="1060450"/>
                </a:lnTo>
                <a:lnTo>
                  <a:pt x="0" y="0"/>
                </a:lnTo>
                <a:close/>
              </a:path>
            </a:pathLst>
          </a:custGeom>
          <a:blipFill rotWithShape="1">
            <a:blip r:embed="rId4">
              <a:alphaModFix/>
            </a:blip>
            <a:stretch>
              <a:fillRect b="-15431" l="0" r="0" t="-15431"/>
            </a:stretch>
          </a:blipFill>
          <a:ln>
            <a:noFill/>
          </a:ln>
        </p:spPr>
      </p:sp>
      <p:sp>
        <p:nvSpPr>
          <p:cNvPr id="894" name="Google Shape;894;p24"/>
          <p:cNvSpPr/>
          <p:nvPr/>
        </p:nvSpPr>
        <p:spPr>
          <a:xfrm>
            <a:off x="10947902" y="912000"/>
            <a:ext cx="1099756" cy="859631"/>
          </a:xfrm>
          <a:custGeom>
            <a:rect b="b" l="l" r="r" t="t"/>
            <a:pathLst>
              <a:path extrusionOk="0" h="1146175" w="1466342">
                <a:moveTo>
                  <a:pt x="0" y="0"/>
                </a:moveTo>
                <a:lnTo>
                  <a:pt x="1466342" y="0"/>
                </a:lnTo>
                <a:lnTo>
                  <a:pt x="1466342" y="1146175"/>
                </a:lnTo>
                <a:lnTo>
                  <a:pt x="0" y="1146175"/>
                </a:lnTo>
                <a:lnTo>
                  <a:pt x="0" y="0"/>
                </a:lnTo>
                <a:close/>
              </a:path>
            </a:pathLst>
          </a:custGeom>
          <a:blipFill rotWithShape="1">
            <a:blip r:embed="rId5">
              <a:alphaModFix/>
            </a:blip>
            <a:stretch>
              <a:fillRect b="-15877" l="0" r="0" t="-15875"/>
            </a:stretch>
          </a:blipFill>
          <a:ln>
            <a:noFill/>
          </a:ln>
        </p:spPr>
      </p:sp>
      <p:sp>
        <p:nvSpPr>
          <p:cNvPr id="895" name="Google Shape;895;p24"/>
          <p:cNvSpPr/>
          <p:nvPr/>
        </p:nvSpPr>
        <p:spPr>
          <a:xfrm>
            <a:off x="9313859" y="8415338"/>
            <a:ext cx="890492" cy="859631"/>
          </a:xfrm>
          <a:custGeom>
            <a:rect b="b" l="l" r="r" t="t"/>
            <a:pathLst>
              <a:path extrusionOk="0" h="1146175" w="1187323">
                <a:moveTo>
                  <a:pt x="0" y="0"/>
                </a:moveTo>
                <a:lnTo>
                  <a:pt x="1187323" y="0"/>
                </a:lnTo>
                <a:lnTo>
                  <a:pt x="1187323" y="1146175"/>
                </a:lnTo>
                <a:lnTo>
                  <a:pt x="0" y="1146175"/>
                </a:lnTo>
                <a:lnTo>
                  <a:pt x="0" y="0"/>
                </a:lnTo>
                <a:close/>
              </a:path>
            </a:pathLst>
          </a:custGeom>
          <a:blipFill rotWithShape="1">
            <a:blip r:embed="rId6">
              <a:alphaModFix/>
            </a:blip>
            <a:stretch>
              <a:fillRect b="-8587" l="0" r="0" t="-8588"/>
            </a:stretch>
          </a:blipFill>
          <a:ln>
            <a:noFill/>
          </a:ln>
        </p:spPr>
      </p:sp>
      <p:sp>
        <p:nvSpPr>
          <p:cNvPr id="896" name="Google Shape;896;p24"/>
          <p:cNvSpPr/>
          <p:nvPr/>
        </p:nvSpPr>
        <p:spPr>
          <a:xfrm>
            <a:off x="-37079311" y="-23066026"/>
            <a:ext cx="3890391" cy="3304318"/>
          </a:xfrm>
          <a:custGeom>
            <a:rect b="b" l="l" r="r" t="t"/>
            <a:pathLst>
              <a:path extrusionOk="0" h="4405757" w="5187188">
                <a:moveTo>
                  <a:pt x="33909" y="0"/>
                </a:moveTo>
                <a:lnTo>
                  <a:pt x="5153279" y="0"/>
                </a:lnTo>
                <a:cubicBezTo>
                  <a:pt x="5171948" y="0"/>
                  <a:pt x="5187188" y="15113"/>
                  <a:pt x="5187188" y="33909"/>
                </a:cubicBezTo>
                <a:lnTo>
                  <a:pt x="5187188" y="4371848"/>
                </a:lnTo>
                <a:cubicBezTo>
                  <a:pt x="5187188" y="4390517"/>
                  <a:pt x="5172075" y="4405757"/>
                  <a:pt x="5153279" y="4405757"/>
                </a:cubicBezTo>
                <a:lnTo>
                  <a:pt x="33909" y="4405757"/>
                </a:lnTo>
                <a:cubicBezTo>
                  <a:pt x="15240" y="4405757"/>
                  <a:pt x="0" y="4390644"/>
                  <a:pt x="0" y="4371848"/>
                </a:cubicBezTo>
                <a:lnTo>
                  <a:pt x="0" y="33909"/>
                </a:lnTo>
                <a:cubicBezTo>
                  <a:pt x="0" y="15113"/>
                  <a:pt x="15113" y="0"/>
                  <a:pt x="33909" y="0"/>
                </a:cubicBezTo>
                <a:moveTo>
                  <a:pt x="33909" y="67691"/>
                </a:moveTo>
                <a:lnTo>
                  <a:pt x="33909" y="33909"/>
                </a:lnTo>
                <a:lnTo>
                  <a:pt x="67691" y="33909"/>
                </a:lnTo>
                <a:lnTo>
                  <a:pt x="67691" y="4371848"/>
                </a:lnTo>
                <a:lnTo>
                  <a:pt x="33909" y="4371848"/>
                </a:lnTo>
                <a:lnTo>
                  <a:pt x="33909" y="4337939"/>
                </a:lnTo>
                <a:lnTo>
                  <a:pt x="5153279" y="4337939"/>
                </a:lnTo>
                <a:lnTo>
                  <a:pt x="5153279" y="4371848"/>
                </a:lnTo>
                <a:lnTo>
                  <a:pt x="5119370" y="4371848"/>
                </a:lnTo>
                <a:lnTo>
                  <a:pt x="5119370" y="33909"/>
                </a:lnTo>
                <a:lnTo>
                  <a:pt x="5153279" y="33909"/>
                </a:lnTo>
                <a:lnTo>
                  <a:pt x="5153279"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txBox="1"/>
          <p:nvPr/>
        </p:nvSpPr>
        <p:spPr>
          <a:xfrm>
            <a:off x="-34780614" y="-22993066"/>
            <a:ext cx="85008600" cy="541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KEY</a:t>
            </a:r>
            <a:endParaRPr/>
          </a:p>
          <a:p>
            <a:pPr indent="0" lvl="0" marL="0" marR="0" rtl="0" algn="ctr">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RESOURCES</a:t>
            </a:r>
            <a:endParaRPr/>
          </a:p>
        </p:txBody>
      </p:sp>
      <p:sp>
        <p:nvSpPr>
          <p:cNvPr id="898" name="Google Shape;898;p24"/>
          <p:cNvSpPr/>
          <p:nvPr/>
        </p:nvSpPr>
        <p:spPr>
          <a:xfrm>
            <a:off x="3539947" y="4486361"/>
            <a:ext cx="1247870" cy="811149"/>
          </a:xfrm>
          <a:custGeom>
            <a:rect b="b" l="l" r="r" t="t"/>
            <a:pathLst>
              <a:path extrusionOk="0" h="1081532" w="1663827">
                <a:moveTo>
                  <a:pt x="0" y="0"/>
                </a:moveTo>
                <a:lnTo>
                  <a:pt x="1663827" y="0"/>
                </a:lnTo>
                <a:lnTo>
                  <a:pt x="1663827" y="1081532"/>
                </a:lnTo>
                <a:lnTo>
                  <a:pt x="0" y="1081532"/>
                </a:lnTo>
                <a:lnTo>
                  <a:pt x="0" y="0"/>
                </a:lnTo>
                <a:close/>
              </a:path>
            </a:pathLst>
          </a:custGeom>
          <a:blipFill rotWithShape="1">
            <a:blip r:embed="rId7">
              <a:alphaModFix/>
            </a:blip>
            <a:stretch>
              <a:fillRect b="-22647" l="0" r="0" t="-22647"/>
            </a:stretch>
          </a:blipFill>
          <a:ln>
            <a:noFill/>
          </a:ln>
        </p:spPr>
      </p:sp>
      <p:sp>
        <p:nvSpPr>
          <p:cNvPr id="899" name="Google Shape;899;p24"/>
          <p:cNvSpPr/>
          <p:nvPr/>
        </p:nvSpPr>
        <p:spPr>
          <a:xfrm>
            <a:off x="-37251923" y="-27992765"/>
            <a:ext cx="3906393" cy="3483483"/>
          </a:xfrm>
          <a:custGeom>
            <a:rect b="b" l="l" r="r" t="t"/>
            <a:pathLst>
              <a:path extrusionOk="0" h="4644644" w="5208524">
                <a:moveTo>
                  <a:pt x="33909" y="0"/>
                </a:moveTo>
                <a:lnTo>
                  <a:pt x="5174615" y="0"/>
                </a:lnTo>
                <a:cubicBezTo>
                  <a:pt x="5193284" y="0"/>
                  <a:pt x="5208524" y="15113"/>
                  <a:pt x="5208524" y="33909"/>
                </a:cubicBezTo>
                <a:lnTo>
                  <a:pt x="5208524" y="4610735"/>
                </a:lnTo>
                <a:cubicBezTo>
                  <a:pt x="5208524" y="4629404"/>
                  <a:pt x="5193411" y="4644644"/>
                  <a:pt x="5174615" y="4644644"/>
                </a:cubicBezTo>
                <a:lnTo>
                  <a:pt x="33909" y="4644644"/>
                </a:lnTo>
                <a:cubicBezTo>
                  <a:pt x="15240" y="4644644"/>
                  <a:pt x="0" y="4629531"/>
                  <a:pt x="0" y="4610735"/>
                </a:cubicBezTo>
                <a:lnTo>
                  <a:pt x="0" y="33909"/>
                </a:lnTo>
                <a:cubicBezTo>
                  <a:pt x="0" y="15113"/>
                  <a:pt x="15113" y="0"/>
                  <a:pt x="33909" y="0"/>
                </a:cubicBezTo>
                <a:moveTo>
                  <a:pt x="33909" y="67691"/>
                </a:moveTo>
                <a:lnTo>
                  <a:pt x="33909" y="33909"/>
                </a:lnTo>
                <a:lnTo>
                  <a:pt x="67691" y="33909"/>
                </a:lnTo>
                <a:lnTo>
                  <a:pt x="67691" y="4610735"/>
                </a:lnTo>
                <a:lnTo>
                  <a:pt x="33909" y="4610735"/>
                </a:lnTo>
                <a:lnTo>
                  <a:pt x="33909" y="4576826"/>
                </a:lnTo>
                <a:lnTo>
                  <a:pt x="5174615" y="4576826"/>
                </a:lnTo>
                <a:lnTo>
                  <a:pt x="5174615" y="4610735"/>
                </a:lnTo>
                <a:lnTo>
                  <a:pt x="5140706" y="4610735"/>
                </a:lnTo>
                <a:lnTo>
                  <a:pt x="5140706" y="33909"/>
                </a:lnTo>
                <a:lnTo>
                  <a:pt x="5174615" y="33909"/>
                </a:lnTo>
                <a:lnTo>
                  <a:pt x="5174615" y="67691"/>
                </a:lnTo>
                <a:lnTo>
                  <a:pt x="33909" y="67691"/>
                </a:lnTo>
                <a:close/>
              </a:path>
            </a:pathLst>
          </a:cu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txBox="1"/>
          <p:nvPr/>
        </p:nvSpPr>
        <p:spPr>
          <a:xfrm>
            <a:off x="-35354451" y="-27962980"/>
            <a:ext cx="85363200" cy="541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	KEY</a:t>
            </a:r>
            <a:endParaRPr/>
          </a:p>
          <a:p>
            <a:pPr indent="0" lvl="0" marL="0" marR="0" rtl="0" algn="l">
              <a:lnSpc>
                <a:spcPct val="120000"/>
              </a:lnSpc>
              <a:spcBef>
                <a:spcPts val="0"/>
              </a:spcBef>
              <a:spcAft>
                <a:spcPts val="0"/>
              </a:spcAft>
              <a:buNone/>
            </a:pPr>
            <a:r>
              <a:rPr b="1" lang="en-US" sz="1600">
                <a:solidFill>
                  <a:srgbClr val="595959"/>
                </a:solidFill>
                <a:latin typeface="Helvetica Neue"/>
                <a:ea typeface="Helvetica Neue"/>
                <a:cs typeface="Helvetica Neue"/>
                <a:sym typeface="Helvetica Neue"/>
              </a:rPr>
              <a:t>	ACTIVITIES</a:t>
            </a:r>
            <a:endParaRPr/>
          </a:p>
        </p:txBody>
      </p:sp>
      <p:sp>
        <p:nvSpPr>
          <p:cNvPr id="901" name="Google Shape;901;p24"/>
          <p:cNvSpPr/>
          <p:nvPr/>
        </p:nvSpPr>
        <p:spPr>
          <a:xfrm>
            <a:off x="421891" y="1021537"/>
            <a:ext cx="943546" cy="740569"/>
          </a:xfrm>
          <a:custGeom>
            <a:rect b="b" l="l" r="r" t="t"/>
            <a:pathLst>
              <a:path extrusionOk="0" h="987425" w="1258062">
                <a:moveTo>
                  <a:pt x="0" y="0"/>
                </a:moveTo>
                <a:lnTo>
                  <a:pt x="1258062" y="0"/>
                </a:lnTo>
                <a:lnTo>
                  <a:pt x="1258062" y="987425"/>
                </a:lnTo>
                <a:lnTo>
                  <a:pt x="0" y="987425"/>
                </a:lnTo>
                <a:lnTo>
                  <a:pt x="0" y="0"/>
                </a:lnTo>
                <a:close/>
              </a:path>
            </a:pathLst>
          </a:custGeom>
          <a:blipFill rotWithShape="1">
            <a:blip r:embed="rId8">
              <a:alphaModFix/>
            </a:blip>
            <a:stretch>
              <a:fillRect b="-15920" l="0" r="0" t="-15920"/>
            </a:stretch>
          </a:blipFill>
          <a:ln>
            <a:noFill/>
          </a:ln>
        </p:spPr>
      </p:sp>
      <p:sp>
        <p:nvSpPr>
          <p:cNvPr id="902" name="Google Shape;902;p24"/>
          <p:cNvSpPr/>
          <p:nvPr/>
        </p:nvSpPr>
        <p:spPr>
          <a:xfrm>
            <a:off x="390649" y="8389144"/>
            <a:ext cx="1052894" cy="773906"/>
          </a:xfrm>
          <a:custGeom>
            <a:rect b="b" l="l" r="r" t="t"/>
            <a:pathLst>
              <a:path extrusionOk="0" h="1031875" w="1403858">
                <a:moveTo>
                  <a:pt x="0" y="0"/>
                </a:moveTo>
                <a:lnTo>
                  <a:pt x="1403858" y="0"/>
                </a:lnTo>
                <a:lnTo>
                  <a:pt x="1403858" y="1031875"/>
                </a:lnTo>
                <a:lnTo>
                  <a:pt x="0" y="1031875"/>
                </a:lnTo>
                <a:lnTo>
                  <a:pt x="0" y="0"/>
                </a:lnTo>
                <a:close/>
              </a:path>
            </a:pathLst>
          </a:custGeom>
          <a:blipFill rotWithShape="1">
            <a:blip r:embed="rId9">
              <a:alphaModFix/>
            </a:blip>
            <a:stretch>
              <a:fillRect b="-16546" l="0" r="0" t="-16544"/>
            </a:stretch>
          </a:blipFill>
          <a:ln>
            <a:noFill/>
          </a:ln>
        </p:spPr>
      </p:sp>
      <p:grpSp>
        <p:nvGrpSpPr>
          <p:cNvPr id="903" name="Google Shape;903;p24"/>
          <p:cNvGrpSpPr/>
          <p:nvPr/>
        </p:nvGrpSpPr>
        <p:grpSpPr>
          <a:xfrm>
            <a:off x="3839708" y="-112890"/>
            <a:ext cx="10712282" cy="1351379"/>
            <a:chOff x="0" y="0"/>
            <a:chExt cx="14283042" cy="1801840"/>
          </a:xfrm>
        </p:grpSpPr>
        <p:sp>
          <p:nvSpPr>
            <p:cNvPr id="904" name="Google Shape;904;p24"/>
            <p:cNvSpPr/>
            <p:nvPr/>
          </p:nvSpPr>
          <p:spPr>
            <a:xfrm>
              <a:off x="0" y="0"/>
              <a:ext cx="14283037" cy="1801840"/>
            </a:xfrm>
            <a:custGeom>
              <a:rect b="b" l="l" r="r" t="t"/>
              <a:pathLst>
                <a:path extrusionOk="0" h="1801840" w="14283037">
                  <a:moveTo>
                    <a:pt x="0" y="0"/>
                  </a:moveTo>
                  <a:lnTo>
                    <a:pt x="14283037" y="0"/>
                  </a:lnTo>
                  <a:lnTo>
                    <a:pt x="14283037" y="1801840"/>
                  </a:lnTo>
                  <a:lnTo>
                    <a:pt x="0" y="1801840"/>
                  </a:lnTo>
                  <a:close/>
                </a:path>
              </a:pathLst>
            </a:custGeom>
            <a:blipFill rotWithShape="1">
              <a:blip r:embed="rId10">
                <a:alphaModFix amt="0"/>
              </a:blip>
              <a:stretch>
                <a:fillRect b="-104454" l="0" r="0" t="-104454"/>
              </a:stretch>
            </a:blipFill>
            <a:ln>
              <a:noFill/>
            </a:ln>
          </p:spPr>
        </p:sp>
        <p:sp>
          <p:nvSpPr>
            <p:cNvPr id="905" name="Google Shape;905;p24"/>
            <p:cNvSpPr txBox="1"/>
            <p:nvPr/>
          </p:nvSpPr>
          <p:spPr>
            <a:xfrm>
              <a:off x="0" y="9525"/>
              <a:ext cx="14283042" cy="17923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5200">
                  <a:solidFill>
                    <a:srgbClr val="000000"/>
                  </a:solidFill>
                  <a:latin typeface="Catamaran"/>
                  <a:ea typeface="Catamaran"/>
                  <a:cs typeface="Catamaran"/>
                  <a:sym typeface="Catamaran"/>
                </a:rPr>
                <a:t>Business Model Canvas</a:t>
              </a:r>
              <a:endParaRPr/>
            </a:p>
          </p:txBody>
        </p:sp>
      </p:grpSp>
      <p:sp>
        <p:nvSpPr>
          <p:cNvPr id="906" name="Google Shape;906;p24"/>
          <p:cNvSpPr/>
          <p:nvPr/>
        </p:nvSpPr>
        <p:spPr>
          <a:xfrm>
            <a:off x="3539947" y="1021537"/>
            <a:ext cx="3927443" cy="3506819"/>
          </a:xfrm>
          <a:custGeom>
            <a:rect b="b" l="l" r="r" t="t"/>
            <a:pathLst>
              <a:path extrusionOk="0" h="4675759" w="5236591">
                <a:moveTo>
                  <a:pt x="0" y="0"/>
                </a:moveTo>
                <a:lnTo>
                  <a:pt x="5236591" y="0"/>
                </a:lnTo>
                <a:lnTo>
                  <a:pt x="5236591" y="4675759"/>
                </a:lnTo>
                <a:lnTo>
                  <a:pt x="0" y="4675759"/>
                </a:lnTo>
                <a:lnTo>
                  <a:pt x="0" y="0"/>
                </a:lnTo>
                <a:close/>
              </a:path>
            </a:pathLst>
          </a:custGeom>
          <a:blipFill rotWithShape="1">
            <a:blip r:embed="rId11">
              <a:alphaModFix/>
            </a:blip>
            <a:stretch>
              <a:fillRect b="-1269" l="0" r="0" t="-1269"/>
            </a:stretch>
          </a:blipFill>
          <a:ln>
            <a:noFill/>
          </a:ln>
        </p:spPr>
      </p:sp>
      <p:sp>
        <p:nvSpPr>
          <p:cNvPr id="907" name="Google Shape;907;p24"/>
          <p:cNvSpPr/>
          <p:nvPr/>
        </p:nvSpPr>
        <p:spPr>
          <a:xfrm>
            <a:off x="3497570" y="4445565"/>
            <a:ext cx="3953827" cy="3385375"/>
          </a:xfrm>
          <a:custGeom>
            <a:rect b="b" l="l" r="r" t="t"/>
            <a:pathLst>
              <a:path extrusionOk="0" h="4513834" w="5271770">
                <a:moveTo>
                  <a:pt x="0" y="0"/>
                </a:moveTo>
                <a:lnTo>
                  <a:pt x="5271770" y="0"/>
                </a:lnTo>
                <a:lnTo>
                  <a:pt x="5271770" y="4513834"/>
                </a:lnTo>
                <a:lnTo>
                  <a:pt x="0" y="4513834"/>
                </a:lnTo>
                <a:lnTo>
                  <a:pt x="0" y="0"/>
                </a:lnTo>
                <a:close/>
              </a:path>
            </a:pathLst>
          </a:custGeom>
          <a:blipFill rotWithShape="1">
            <a:blip r:embed="rId12">
              <a:alphaModFix/>
            </a:blip>
            <a:stretch>
              <a:fillRect b="0" l="0" r="-1" t="0"/>
            </a:stretch>
          </a:blipFill>
          <a:ln>
            <a:noFill/>
          </a:ln>
        </p:spPr>
      </p:sp>
      <p:sp>
        <p:nvSpPr>
          <p:cNvPr id="908" name="Google Shape;908;p24"/>
          <p:cNvSpPr/>
          <p:nvPr/>
        </p:nvSpPr>
        <p:spPr>
          <a:xfrm>
            <a:off x="10895581" y="4811562"/>
            <a:ext cx="1279683" cy="852393"/>
          </a:xfrm>
          <a:custGeom>
            <a:rect b="b" l="l" r="r" t="t"/>
            <a:pathLst>
              <a:path extrusionOk="0" h="1136523" w="1706245">
                <a:moveTo>
                  <a:pt x="0" y="0"/>
                </a:moveTo>
                <a:lnTo>
                  <a:pt x="1706245" y="0"/>
                </a:lnTo>
                <a:lnTo>
                  <a:pt x="1706245" y="1136523"/>
                </a:lnTo>
                <a:lnTo>
                  <a:pt x="0" y="1136523"/>
                </a:lnTo>
                <a:lnTo>
                  <a:pt x="0" y="0"/>
                </a:lnTo>
                <a:close/>
              </a:path>
            </a:pathLst>
          </a:custGeom>
          <a:blipFill rotWithShape="1">
            <a:blip r:embed="rId13">
              <a:alphaModFix/>
            </a:blip>
            <a:stretch>
              <a:fillRect b="-8174" l="0" r="0" t="-8176"/>
            </a:stretch>
          </a:blipFill>
          <a:ln>
            <a:noFill/>
          </a:ln>
        </p:spPr>
      </p:sp>
      <p:sp>
        <p:nvSpPr>
          <p:cNvPr id="909" name="Google Shape;909;p24"/>
          <p:cNvSpPr txBox="1"/>
          <p:nvPr/>
        </p:nvSpPr>
        <p:spPr>
          <a:xfrm>
            <a:off x="7439869" y="2088325"/>
            <a:ext cx="3373500" cy="3934200"/>
          </a:xfrm>
          <a:prstGeom prst="rect">
            <a:avLst/>
          </a:prstGeom>
          <a:noFill/>
          <a:ln>
            <a:noFill/>
          </a:ln>
        </p:spPr>
        <p:txBody>
          <a:bodyPr anchorCtr="0" anchor="t" bIns="0" lIns="0" spcFirstLastPara="1" rIns="0" wrap="square" tIns="0">
            <a:spAutoFit/>
          </a:bodyPr>
          <a:lstStyle/>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Converts visual STEM concepts into tactile learning</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Enables blind students to feel graphs, shapes and diagrams</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Combines tactile hardware + mobile app + audio guidance</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Affordable compared to premium tactile display.</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Portable, modular, and self repairable</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Improves independent learning and classroom participation.</a:t>
            </a:r>
            <a:endParaRPr sz="1800">
              <a:latin typeface="Calibri"/>
              <a:ea typeface="Calibri"/>
              <a:cs typeface="Calibri"/>
              <a:sym typeface="Calibri"/>
            </a:endParaRPr>
          </a:p>
        </p:txBody>
      </p:sp>
      <p:sp>
        <p:nvSpPr>
          <p:cNvPr id="910" name="Google Shape;910;p24"/>
          <p:cNvSpPr txBox="1"/>
          <p:nvPr/>
        </p:nvSpPr>
        <p:spPr>
          <a:xfrm>
            <a:off x="3954245" y="7860500"/>
            <a:ext cx="5093100" cy="2270700"/>
          </a:xfrm>
          <a:prstGeom prst="rect">
            <a:avLst/>
          </a:prstGeom>
          <a:noFill/>
          <a:ln>
            <a:noFill/>
          </a:ln>
        </p:spPr>
        <p:txBody>
          <a:bodyPr anchorCtr="0" anchor="t" bIns="0" lIns="0" spcFirstLastPara="1" rIns="0" wrap="square" tIns="0">
            <a:spAutoFit/>
          </a:bodyPr>
          <a:lstStyle/>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Hardware components</a:t>
            </a:r>
            <a:endParaRPr sz="1799">
              <a:latin typeface="Calibri"/>
              <a:ea typeface="Calibri"/>
              <a:cs typeface="Calibri"/>
              <a:sym typeface="Calibri"/>
            </a:endParaRPr>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manufacturing/ 3D printing</a:t>
            </a:r>
            <a:endParaRPr sz="1300"/>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a:t>
            </a:r>
            <a:r>
              <a:rPr b="0" i="0" lang="en-US" sz="1799" u="none" cap="none" strike="noStrike">
                <a:solidFill>
                  <a:srgbClr val="000000"/>
                </a:solidFill>
                <a:latin typeface="Calibri"/>
                <a:ea typeface="Calibri"/>
                <a:cs typeface="Calibri"/>
                <a:sym typeface="Calibri"/>
              </a:rPr>
              <a:t>Software platform </a:t>
            </a:r>
            <a:r>
              <a:rPr lang="en-US" sz="1799">
                <a:latin typeface="Calibri"/>
                <a:ea typeface="Calibri"/>
                <a:cs typeface="Calibri"/>
                <a:sym typeface="Calibri"/>
              </a:rPr>
              <a:t>development</a:t>
            </a:r>
            <a:endParaRPr sz="1300"/>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Cloud hosting</a:t>
            </a:r>
            <a:endParaRPr sz="1300"/>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a:t>
            </a:r>
            <a:r>
              <a:rPr b="0" i="0" lang="en-US" sz="1799" u="none" cap="none" strike="noStrike">
                <a:solidFill>
                  <a:srgbClr val="000000"/>
                </a:solidFill>
                <a:latin typeface="Calibri"/>
                <a:ea typeface="Calibri"/>
                <a:cs typeface="Calibri"/>
                <a:sym typeface="Calibri"/>
              </a:rPr>
              <a:t>Maintenance </a:t>
            </a:r>
            <a:r>
              <a:rPr lang="en-US" sz="1799">
                <a:latin typeface="Calibri"/>
                <a:ea typeface="Calibri"/>
                <a:cs typeface="Calibri"/>
                <a:sym typeface="Calibri"/>
              </a:rPr>
              <a:t>and repair</a:t>
            </a:r>
            <a:endParaRPr sz="1799">
              <a:latin typeface="Calibri"/>
              <a:ea typeface="Calibri"/>
              <a:cs typeface="Calibri"/>
              <a:sym typeface="Calibri"/>
            </a:endParaRPr>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Sales, partnerships and demonstrations</a:t>
            </a:r>
            <a:endParaRPr sz="1300"/>
          </a:p>
          <a:p>
            <a:pPr indent="-127828" lvl="2" marL="402535" marR="0" rtl="0" algn="l">
              <a:lnSpc>
                <a:spcPct val="120010"/>
              </a:lnSpc>
              <a:spcBef>
                <a:spcPts val="0"/>
              </a:spcBef>
              <a:spcAft>
                <a:spcPts val="0"/>
              </a:spcAft>
              <a:buClr>
                <a:srgbClr val="000000"/>
              </a:buClr>
              <a:buSzPts val="1799"/>
              <a:buFont typeface="Arial"/>
              <a:buChar char="⚬"/>
            </a:pPr>
            <a:r>
              <a:rPr lang="en-US" sz="1799">
                <a:latin typeface="Calibri"/>
                <a:ea typeface="Calibri"/>
                <a:cs typeface="Calibri"/>
                <a:sym typeface="Calibri"/>
              </a:rPr>
              <a:t> Training and onboarding for schools</a:t>
            </a:r>
            <a:endParaRPr sz="1300"/>
          </a:p>
        </p:txBody>
      </p:sp>
      <p:sp>
        <p:nvSpPr>
          <p:cNvPr id="911" name="Google Shape;911;p24"/>
          <p:cNvSpPr txBox="1"/>
          <p:nvPr/>
        </p:nvSpPr>
        <p:spPr>
          <a:xfrm>
            <a:off x="203552" y="2361950"/>
            <a:ext cx="3209700" cy="4863900"/>
          </a:xfrm>
          <a:prstGeom prst="rect">
            <a:avLst/>
          </a:prstGeom>
          <a:noFill/>
          <a:ln>
            <a:noFill/>
          </a:ln>
        </p:spPr>
        <p:txBody>
          <a:bodyPr anchorCtr="0" anchor="t" bIns="0" lIns="0" spcFirstLastPara="1" rIns="0" wrap="square" tIns="0">
            <a:spAutoFit/>
          </a:bodyPr>
          <a:lstStyle/>
          <a:p>
            <a:pPr indent="-143030" lvl="2" marL="46719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Blind educational institutions</a:t>
            </a:r>
            <a:endParaRPr sz="1600"/>
          </a:p>
          <a:p>
            <a:pPr indent="-186357" lvl="3" marL="79623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Sai Netraheen Sewa Sanstha, New Delhi</a:t>
            </a:r>
            <a:endParaRPr sz="1600"/>
          </a:p>
          <a:p>
            <a:pPr indent="-186357" lvl="3" marL="79623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National Blind School, New Delhi</a:t>
            </a:r>
            <a:endParaRPr sz="1600"/>
          </a:p>
          <a:p>
            <a:pPr indent="-143030" lvl="2" marL="467190" marR="0" rtl="0" algn="l">
              <a:lnSpc>
                <a:spcPct val="120000"/>
              </a:lnSpc>
              <a:spcBef>
                <a:spcPts val="0"/>
              </a:spcBef>
              <a:spcAft>
                <a:spcPts val="0"/>
              </a:spcAft>
              <a:buClr>
                <a:srgbClr val="000000"/>
              </a:buClr>
              <a:buSzPts val="1600"/>
              <a:buFont typeface="Arial"/>
              <a:buChar char="⚬"/>
            </a:pPr>
            <a:r>
              <a:rPr lang="en-US" sz="1500"/>
              <a:t>CSR foundations</a:t>
            </a:r>
            <a:endParaRPr sz="1500"/>
          </a:p>
          <a:p>
            <a:pPr indent="-143030" lvl="2" marL="467190" marR="0" rtl="0" algn="l">
              <a:lnSpc>
                <a:spcPct val="120000"/>
              </a:lnSpc>
              <a:spcBef>
                <a:spcPts val="0"/>
              </a:spcBef>
              <a:spcAft>
                <a:spcPts val="0"/>
              </a:spcAft>
              <a:buSzPts val="1600"/>
              <a:buChar char="⚬"/>
            </a:pPr>
            <a:r>
              <a:rPr lang="en-US" sz="1500"/>
              <a:t>Assistive technology distributors</a:t>
            </a:r>
            <a:endParaRPr sz="1500"/>
          </a:p>
          <a:p>
            <a:pPr indent="-136680" lvl="2" marL="467190" marR="0" rtl="0" algn="l">
              <a:lnSpc>
                <a:spcPct val="120000"/>
              </a:lnSpc>
              <a:spcBef>
                <a:spcPts val="0"/>
              </a:spcBef>
              <a:spcAft>
                <a:spcPts val="0"/>
              </a:spcAft>
              <a:buSzPts val="1500"/>
              <a:buChar char="⚬"/>
            </a:pPr>
            <a:r>
              <a:rPr lang="en-US" sz="1500"/>
              <a:t>Government education departments</a:t>
            </a:r>
            <a:endParaRPr sz="1500"/>
          </a:p>
          <a:p>
            <a:pPr indent="-136680" lvl="2" marL="467190" marR="0" rtl="0" algn="l">
              <a:lnSpc>
                <a:spcPct val="120000"/>
              </a:lnSpc>
              <a:spcBef>
                <a:spcPts val="0"/>
              </a:spcBef>
              <a:spcAft>
                <a:spcPts val="0"/>
              </a:spcAft>
              <a:buSzPts val="1500"/>
              <a:buChar char="⚬"/>
            </a:pPr>
            <a:r>
              <a:rPr lang="en-US" sz="1500"/>
              <a:t>Special educators and curriculum experts</a:t>
            </a:r>
            <a:endParaRPr sz="1500"/>
          </a:p>
          <a:p>
            <a:pPr indent="-136680" lvl="2" marL="467190" marR="0" rtl="0" algn="l">
              <a:lnSpc>
                <a:spcPct val="120000"/>
              </a:lnSpc>
              <a:spcBef>
                <a:spcPts val="0"/>
              </a:spcBef>
              <a:spcAft>
                <a:spcPts val="0"/>
              </a:spcAft>
              <a:buSzPts val="1500"/>
              <a:buChar char="⚬"/>
            </a:pPr>
            <a:r>
              <a:rPr lang="en-US" sz="1500"/>
              <a:t>3D printing and PCB </a:t>
            </a:r>
            <a:r>
              <a:rPr lang="en-US" sz="1500"/>
              <a:t>manufacturers</a:t>
            </a:r>
            <a:endParaRPr sz="1500"/>
          </a:p>
          <a:p>
            <a:pPr indent="-143030" lvl="2" marL="46719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NGOs</a:t>
            </a:r>
            <a:endParaRPr sz="1600"/>
          </a:p>
          <a:p>
            <a:pPr indent="-186357" lvl="3" marL="79623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GirlUpFoundation, NYC</a:t>
            </a:r>
            <a:endParaRPr sz="1600"/>
          </a:p>
          <a:p>
            <a:pPr indent="-186357" lvl="3" marL="796230" marR="0" rtl="0" algn="l">
              <a:lnSpc>
                <a:spcPct val="12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Voice of Specially Abled People</a:t>
            </a:r>
            <a:endParaRPr sz="1600"/>
          </a:p>
        </p:txBody>
      </p:sp>
      <p:sp>
        <p:nvSpPr>
          <p:cNvPr id="912" name="Google Shape;912;p24"/>
          <p:cNvSpPr txBox="1"/>
          <p:nvPr/>
        </p:nvSpPr>
        <p:spPr>
          <a:xfrm>
            <a:off x="10306892" y="8125482"/>
            <a:ext cx="7578600" cy="1939500"/>
          </a:xfrm>
          <a:prstGeom prst="rect">
            <a:avLst/>
          </a:prstGeom>
          <a:noFill/>
          <a:ln>
            <a:noFill/>
          </a:ln>
        </p:spPr>
        <p:txBody>
          <a:bodyPr anchorCtr="0" anchor="t" bIns="0" lIns="0" spcFirstLastPara="1" rIns="0" wrap="square" tIns="0">
            <a:spAutoFit/>
          </a:bodyPr>
          <a:lstStyle/>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Average number of blind people using our software per year: 500</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Average software </a:t>
            </a:r>
            <a:r>
              <a:rPr lang="en-US" sz="1800">
                <a:latin typeface="Calibri"/>
                <a:ea typeface="Calibri"/>
                <a:cs typeface="Calibri"/>
                <a:sym typeface="Calibri"/>
              </a:rPr>
              <a:t>subscriptions</a:t>
            </a:r>
            <a:r>
              <a:rPr b="0" i="0" lang="en-US" sz="1800" u="none" cap="none" strike="noStrike">
                <a:solidFill>
                  <a:srgbClr val="000000"/>
                </a:solidFill>
                <a:latin typeface="Calibri"/>
                <a:ea typeface="Calibri"/>
                <a:cs typeface="Calibri"/>
                <a:sym typeface="Calibri"/>
              </a:rPr>
              <a:t>: INR </a:t>
            </a:r>
            <a:r>
              <a:rPr lang="en-US" sz="1800">
                <a:latin typeface="Calibri"/>
                <a:ea typeface="Calibri"/>
                <a:cs typeface="Calibri"/>
                <a:sym typeface="Calibri"/>
              </a:rPr>
              <a:t>300 - 500</a:t>
            </a:r>
            <a:r>
              <a:rPr b="0" i="0" lang="en-US" sz="1800" u="none" cap="none" strike="noStrike">
                <a:solidFill>
                  <a:srgbClr val="000000"/>
                </a:solidFill>
                <a:latin typeface="Calibri"/>
                <a:ea typeface="Calibri"/>
                <a:cs typeface="Calibri"/>
                <a:sym typeface="Calibri"/>
              </a:rPr>
              <a:t> per month</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Hardware </a:t>
            </a:r>
            <a:r>
              <a:rPr lang="en-US" sz="1800">
                <a:latin typeface="Calibri"/>
                <a:ea typeface="Calibri"/>
                <a:cs typeface="Calibri"/>
                <a:sym typeface="Calibri"/>
              </a:rPr>
              <a:t>sales</a:t>
            </a:r>
            <a:r>
              <a:rPr b="0" i="0" lang="en-US" sz="1800" u="none" cap="none" strike="noStrike">
                <a:solidFill>
                  <a:srgbClr val="000000"/>
                </a:solidFill>
                <a:latin typeface="Calibri"/>
                <a:ea typeface="Calibri"/>
                <a:cs typeface="Calibri"/>
                <a:sym typeface="Calibri"/>
              </a:rPr>
              <a:t> (one-time): INR </a:t>
            </a:r>
            <a:r>
              <a:rPr lang="en-US" sz="1800">
                <a:latin typeface="Calibri"/>
                <a:ea typeface="Calibri"/>
                <a:cs typeface="Calibri"/>
                <a:sym typeface="Calibri"/>
              </a:rPr>
              <a:t>40,</a:t>
            </a:r>
            <a:r>
              <a:rPr b="0" i="0" lang="en-US" sz="1800" u="none" cap="none" strike="noStrike">
                <a:solidFill>
                  <a:srgbClr val="000000"/>
                </a:solidFill>
                <a:latin typeface="Calibri"/>
                <a:ea typeface="Calibri"/>
                <a:cs typeface="Calibri"/>
                <a:sym typeface="Calibri"/>
              </a:rPr>
              <a:t>000/ unit</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Average number of hardware units sold: </a:t>
            </a:r>
            <a:r>
              <a:rPr lang="en-US" sz="1800">
                <a:latin typeface="Calibri"/>
                <a:ea typeface="Calibri"/>
                <a:cs typeface="Calibri"/>
                <a:sym typeface="Calibri"/>
              </a:rPr>
              <a:t>5</a:t>
            </a:r>
            <a:r>
              <a:rPr b="0" i="0" lang="en-US" sz="1800" u="none" cap="none" strike="noStrike">
                <a:solidFill>
                  <a:srgbClr val="000000"/>
                </a:solidFill>
                <a:latin typeface="Calibri"/>
                <a:ea typeface="Calibri"/>
                <a:cs typeface="Calibri"/>
                <a:sym typeface="Calibri"/>
              </a:rPr>
              <a:t>00 units</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Total income per year: 500*(</a:t>
            </a:r>
            <a:r>
              <a:rPr lang="en-US" sz="1800">
                <a:latin typeface="Calibri"/>
                <a:ea typeface="Calibri"/>
                <a:cs typeface="Calibri"/>
                <a:sym typeface="Calibri"/>
              </a:rPr>
              <a:t>5</a:t>
            </a:r>
            <a:r>
              <a:rPr b="0" i="0" lang="en-US" sz="1800" u="none" cap="none" strike="noStrike">
                <a:solidFill>
                  <a:srgbClr val="000000"/>
                </a:solidFill>
                <a:latin typeface="Calibri"/>
                <a:ea typeface="Calibri"/>
                <a:cs typeface="Calibri"/>
                <a:sym typeface="Calibri"/>
              </a:rPr>
              <a:t>00*12)+</a:t>
            </a:r>
            <a:r>
              <a:rPr lang="en-US" sz="1800">
                <a:latin typeface="Calibri"/>
                <a:ea typeface="Calibri"/>
                <a:cs typeface="Calibri"/>
                <a:sym typeface="Calibri"/>
              </a:rPr>
              <a:t>40</a:t>
            </a:r>
            <a:r>
              <a:rPr b="0" i="0" lang="en-US" sz="1800" u="none" cap="none" strike="noStrike">
                <a:solidFill>
                  <a:srgbClr val="000000"/>
                </a:solidFill>
                <a:latin typeface="Calibri"/>
                <a:ea typeface="Calibri"/>
                <a:cs typeface="Calibri"/>
                <a:sym typeface="Calibri"/>
              </a:rPr>
              <a:t>000*</a:t>
            </a:r>
            <a:r>
              <a:rPr lang="en-US" sz="1800">
                <a:latin typeface="Calibri"/>
                <a:ea typeface="Calibri"/>
                <a:cs typeface="Calibri"/>
                <a:sym typeface="Calibri"/>
              </a:rPr>
              <a:t>5</a:t>
            </a:r>
            <a:r>
              <a:rPr b="0" i="0" lang="en-US" sz="1800" u="none" cap="none" strike="noStrike">
                <a:solidFill>
                  <a:srgbClr val="000000"/>
                </a:solidFill>
                <a:latin typeface="Calibri"/>
                <a:ea typeface="Calibri"/>
                <a:cs typeface="Calibri"/>
                <a:sym typeface="Calibri"/>
              </a:rPr>
              <a:t>00= </a:t>
            </a:r>
            <a:r>
              <a:rPr lang="en-US" sz="1800">
                <a:latin typeface="Calibri"/>
                <a:ea typeface="Calibri"/>
                <a:cs typeface="Calibri"/>
                <a:sym typeface="Calibri"/>
              </a:rPr>
              <a:t>2.3 crores</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After removing expenditure, estimated profit = </a:t>
            </a:r>
            <a:r>
              <a:rPr lang="en-US" sz="1800">
                <a:latin typeface="Calibri"/>
                <a:ea typeface="Calibri"/>
                <a:cs typeface="Calibri"/>
                <a:sym typeface="Calibri"/>
              </a:rPr>
              <a:t>INR 35-45 Lakhs </a:t>
            </a:r>
            <a:r>
              <a:rPr b="0" i="0" lang="en-US" sz="1800" u="none" cap="none" strike="noStrike">
                <a:solidFill>
                  <a:srgbClr val="000000"/>
                </a:solidFill>
                <a:latin typeface="Calibri"/>
                <a:ea typeface="Calibri"/>
                <a:cs typeface="Calibri"/>
                <a:sym typeface="Calibri"/>
              </a:rPr>
              <a:t>per annum</a:t>
            </a:r>
            <a:endParaRPr/>
          </a:p>
        </p:txBody>
      </p:sp>
      <p:sp>
        <p:nvSpPr>
          <p:cNvPr id="913" name="Google Shape;913;p24"/>
          <p:cNvSpPr txBox="1"/>
          <p:nvPr/>
        </p:nvSpPr>
        <p:spPr>
          <a:xfrm>
            <a:off x="3476925" y="5516975"/>
            <a:ext cx="3828300" cy="2210400"/>
          </a:xfrm>
          <a:prstGeom prst="rect">
            <a:avLst/>
          </a:prstGeom>
          <a:noFill/>
          <a:ln>
            <a:noFill/>
          </a:ln>
        </p:spPr>
        <p:txBody>
          <a:bodyPr anchorCtr="0" anchor="t" bIns="0" lIns="0" spcFirstLastPara="1" rIns="0" wrap="square" tIns="0">
            <a:spAutoFit/>
          </a:bodyPr>
          <a:lstStyle/>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Tactile hardware prototype</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Mobile app &amp; software platform</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Team expertise in hardware, software, and accessibility.</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User feedback data</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STEM learning content</a:t>
            </a:r>
            <a:endParaRPr sz="1800">
              <a:latin typeface="Calibri"/>
              <a:ea typeface="Calibri"/>
              <a:cs typeface="Calibri"/>
              <a:sym typeface="Calibri"/>
            </a:endParaRPr>
          </a:p>
          <a:p>
            <a:pPr indent="0" lvl="0" marL="1371600" marR="0" rtl="0" algn="l">
              <a:lnSpc>
                <a:spcPct val="120000"/>
              </a:lnSpc>
              <a:spcBef>
                <a:spcPts val="0"/>
              </a:spcBef>
              <a:spcAft>
                <a:spcPts val="0"/>
              </a:spcAft>
              <a:buNone/>
            </a:pPr>
            <a:r>
              <a:t/>
            </a:r>
            <a:endParaRPr/>
          </a:p>
        </p:txBody>
      </p:sp>
      <p:sp>
        <p:nvSpPr>
          <p:cNvPr id="914" name="Google Shape;914;p24"/>
          <p:cNvSpPr txBox="1"/>
          <p:nvPr/>
        </p:nvSpPr>
        <p:spPr>
          <a:xfrm>
            <a:off x="10906586" y="2048125"/>
            <a:ext cx="3828300" cy="2604300"/>
          </a:xfrm>
          <a:prstGeom prst="rect">
            <a:avLst/>
          </a:prstGeom>
          <a:noFill/>
          <a:ln>
            <a:noFill/>
          </a:ln>
        </p:spPr>
        <p:txBody>
          <a:bodyPr anchorCtr="0" anchor="t" bIns="0" lIns="0" spcFirstLastPara="1" rIns="0" wrap="square" tIns="0">
            <a:spAutoFit/>
          </a:bodyPr>
          <a:lstStyle/>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Demo-based onboarding</a:t>
            </a:r>
            <a:endParaRPr sz="1800">
              <a:latin typeface="Calibri"/>
              <a:ea typeface="Calibri"/>
              <a:cs typeface="Calibri"/>
              <a:sym typeface="Calibri"/>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Training for teachers and institutions</a:t>
            </a:r>
            <a:endParaRPr sz="1800">
              <a:latin typeface="Calibri"/>
              <a:ea typeface="Calibri"/>
              <a:cs typeface="Calibri"/>
              <a:sym typeface="Calibri"/>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Feedback-driven product improvement </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Maintenance and repair support</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Long-term institutional support plans</a:t>
            </a:r>
            <a:endParaRPr sz="1800">
              <a:latin typeface="Calibri"/>
              <a:ea typeface="Calibri"/>
              <a:cs typeface="Calibri"/>
              <a:sym typeface="Calibri"/>
            </a:endParaRPr>
          </a:p>
        </p:txBody>
      </p:sp>
      <p:sp>
        <p:nvSpPr>
          <p:cNvPr id="915" name="Google Shape;915;p24"/>
          <p:cNvSpPr txBox="1"/>
          <p:nvPr/>
        </p:nvSpPr>
        <p:spPr>
          <a:xfrm>
            <a:off x="10613300" y="5804500"/>
            <a:ext cx="4340400" cy="2227500"/>
          </a:xfrm>
          <a:prstGeom prst="rect">
            <a:avLst/>
          </a:prstGeom>
          <a:noFill/>
          <a:ln>
            <a:noFill/>
          </a:ln>
        </p:spPr>
        <p:txBody>
          <a:bodyPr anchorCtr="0" anchor="t" bIns="0" lIns="0" spcFirstLastPara="1" rIns="0" wrap="square" tIns="0">
            <a:spAutoFit/>
          </a:bodyPr>
          <a:lstStyle/>
          <a:p>
            <a:pPr indent="-231719" lvl="2" marL="695159" marR="0" rtl="0" algn="l">
              <a:lnSpc>
                <a:spcPct val="115000"/>
              </a:lnSpc>
              <a:spcBef>
                <a:spcPts val="0"/>
              </a:spcBef>
              <a:spcAft>
                <a:spcPts val="0"/>
              </a:spcAft>
              <a:buClr>
                <a:srgbClr val="0D0D0D"/>
              </a:buClr>
              <a:buSzPts val="1599"/>
              <a:buFont typeface="Arial"/>
              <a:buChar char="⚬"/>
            </a:pPr>
            <a:r>
              <a:rPr lang="en-US" sz="1599">
                <a:solidFill>
                  <a:srgbClr val="0D0D0D"/>
                </a:solidFill>
                <a:latin typeface="Roboto"/>
                <a:ea typeface="Roboto"/>
                <a:cs typeface="Roboto"/>
                <a:sym typeface="Roboto"/>
              </a:rPr>
              <a:t>Direct sales to blind schools and inclusive schools.</a:t>
            </a:r>
            <a:endParaRPr sz="1599">
              <a:solidFill>
                <a:srgbClr val="0D0D0D"/>
              </a:solidFill>
              <a:latin typeface="Roboto"/>
              <a:ea typeface="Roboto"/>
              <a:cs typeface="Roboto"/>
              <a:sym typeface="Roboto"/>
            </a:endParaRPr>
          </a:p>
          <a:p>
            <a:pPr indent="-231719" lvl="2" marL="695159" marR="0" rtl="0" algn="l">
              <a:lnSpc>
                <a:spcPct val="115000"/>
              </a:lnSpc>
              <a:spcBef>
                <a:spcPts val="0"/>
              </a:spcBef>
              <a:spcAft>
                <a:spcPts val="0"/>
              </a:spcAft>
              <a:buClr>
                <a:srgbClr val="0D0D0D"/>
              </a:buClr>
              <a:buSzPts val="1599"/>
              <a:buFont typeface="Roboto"/>
              <a:buChar char="⚬"/>
            </a:pPr>
            <a:r>
              <a:rPr lang="en-US" sz="1599">
                <a:solidFill>
                  <a:srgbClr val="0D0D0D"/>
                </a:solidFill>
                <a:latin typeface="Roboto"/>
                <a:ea typeface="Roboto"/>
                <a:cs typeface="Roboto"/>
                <a:sym typeface="Roboto"/>
              </a:rPr>
              <a:t>School demos and teacher workshops</a:t>
            </a:r>
            <a:endParaRPr sz="1599">
              <a:solidFill>
                <a:srgbClr val="0D0D0D"/>
              </a:solidFill>
              <a:latin typeface="Roboto"/>
              <a:ea typeface="Roboto"/>
              <a:cs typeface="Roboto"/>
              <a:sym typeface="Roboto"/>
            </a:endParaRPr>
          </a:p>
          <a:p>
            <a:pPr indent="-231719" lvl="2" marL="695159" marR="0" rtl="0" algn="l">
              <a:lnSpc>
                <a:spcPct val="115000"/>
              </a:lnSpc>
              <a:spcBef>
                <a:spcPts val="0"/>
              </a:spcBef>
              <a:spcAft>
                <a:spcPts val="0"/>
              </a:spcAft>
              <a:buClr>
                <a:srgbClr val="0D0D0D"/>
              </a:buClr>
              <a:buSzPts val="1599"/>
              <a:buFont typeface="Roboto"/>
              <a:buChar char="⚬"/>
            </a:pPr>
            <a:r>
              <a:rPr lang="en-US" sz="1599">
                <a:solidFill>
                  <a:srgbClr val="0D0D0D"/>
                </a:solidFill>
                <a:latin typeface="Roboto"/>
                <a:ea typeface="Roboto"/>
                <a:cs typeface="Roboto"/>
                <a:sym typeface="Roboto"/>
              </a:rPr>
              <a:t>Assistive technology exhibitions</a:t>
            </a:r>
            <a:endParaRPr sz="1599">
              <a:solidFill>
                <a:srgbClr val="0D0D0D"/>
              </a:solidFill>
              <a:latin typeface="Roboto"/>
              <a:ea typeface="Roboto"/>
              <a:cs typeface="Roboto"/>
              <a:sym typeface="Roboto"/>
            </a:endParaRPr>
          </a:p>
          <a:p>
            <a:pPr indent="-231719" lvl="2" marL="695159" marR="0" rtl="0" algn="l">
              <a:lnSpc>
                <a:spcPct val="115000"/>
              </a:lnSpc>
              <a:spcBef>
                <a:spcPts val="0"/>
              </a:spcBef>
              <a:spcAft>
                <a:spcPts val="0"/>
              </a:spcAft>
              <a:buClr>
                <a:srgbClr val="0D0D0D"/>
              </a:buClr>
              <a:buSzPts val="1599"/>
              <a:buFont typeface="Roboto"/>
              <a:buChar char="⚬"/>
            </a:pPr>
            <a:r>
              <a:rPr lang="en-US" sz="1599">
                <a:solidFill>
                  <a:srgbClr val="0D0D0D"/>
                </a:solidFill>
                <a:latin typeface="Roboto"/>
                <a:ea typeface="Roboto"/>
                <a:cs typeface="Roboto"/>
                <a:sym typeface="Roboto"/>
              </a:rPr>
              <a:t>NGO and CSR partnerships</a:t>
            </a:r>
            <a:endParaRPr sz="1599">
              <a:solidFill>
                <a:srgbClr val="0D0D0D"/>
              </a:solidFill>
              <a:latin typeface="Roboto"/>
              <a:ea typeface="Roboto"/>
              <a:cs typeface="Roboto"/>
              <a:sym typeface="Roboto"/>
            </a:endParaRPr>
          </a:p>
          <a:p>
            <a:pPr indent="-231719" lvl="2" marL="695159" marR="0" rtl="0" algn="l">
              <a:lnSpc>
                <a:spcPct val="115000"/>
              </a:lnSpc>
              <a:spcBef>
                <a:spcPts val="0"/>
              </a:spcBef>
              <a:spcAft>
                <a:spcPts val="0"/>
              </a:spcAft>
              <a:buClr>
                <a:srgbClr val="0D0D0D"/>
              </a:buClr>
              <a:buSzPts val="1599"/>
              <a:buFont typeface="Roboto"/>
              <a:buChar char="⚬"/>
            </a:pPr>
            <a:r>
              <a:rPr lang="en-US" sz="1599">
                <a:solidFill>
                  <a:srgbClr val="0D0D0D"/>
                </a:solidFill>
                <a:latin typeface="Roboto"/>
                <a:ea typeface="Roboto"/>
                <a:cs typeface="Roboto"/>
                <a:sym typeface="Roboto"/>
              </a:rPr>
              <a:t>Government education tenders</a:t>
            </a:r>
            <a:endParaRPr sz="1599">
              <a:solidFill>
                <a:srgbClr val="0D0D0D"/>
              </a:solidFill>
              <a:latin typeface="Roboto"/>
              <a:ea typeface="Roboto"/>
              <a:cs typeface="Roboto"/>
              <a:sym typeface="Roboto"/>
            </a:endParaRPr>
          </a:p>
          <a:p>
            <a:pPr indent="0" lvl="0" marL="1371600" marR="0" rtl="0" algn="l">
              <a:lnSpc>
                <a:spcPct val="115000"/>
              </a:lnSpc>
              <a:spcBef>
                <a:spcPts val="0"/>
              </a:spcBef>
              <a:spcAft>
                <a:spcPts val="0"/>
              </a:spcAft>
              <a:buNone/>
            </a:pPr>
            <a:r>
              <a:t/>
            </a:r>
            <a:endParaRPr sz="1599">
              <a:solidFill>
                <a:srgbClr val="0D0D0D"/>
              </a:solidFill>
              <a:latin typeface="Roboto"/>
              <a:ea typeface="Roboto"/>
              <a:cs typeface="Roboto"/>
              <a:sym typeface="Roboto"/>
            </a:endParaRPr>
          </a:p>
          <a:p>
            <a:pPr indent="-231720" lvl="2" marL="695159" marR="0" rtl="0" algn="l">
              <a:lnSpc>
                <a:spcPct val="210006"/>
              </a:lnSpc>
              <a:spcBef>
                <a:spcPts val="0"/>
              </a:spcBef>
              <a:spcAft>
                <a:spcPts val="0"/>
              </a:spcAft>
              <a:buNone/>
            </a:pPr>
            <a:r>
              <a:t/>
            </a:r>
            <a:endParaRPr b="0" i="0" sz="1599" u="none" cap="none" strike="noStrike">
              <a:solidFill>
                <a:srgbClr val="0D0D0D"/>
              </a:solidFill>
              <a:latin typeface="Roboto"/>
              <a:ea typeface="Roboto"/>
              <a:cs typeface="Roboto"/>
              <a:sym typeface="Roboto"/>
            </a:endParaRPr>
          </a:p>
        </p:txBody>
      </p:sp>
      <p:sp>
        <p:nvSpPr>
          <p:cNvPr id="916" name="Google Shape;916;p24"/>
          <p:cNvSpPr txBox="1"/>
          <p:nvPr/>
        </p:nvSpPr>
        <p:spPr>
          <a:xfrm>
            <a:off x="14892850" y="2270475"/>
            <a:ext cx="3209700" cy="5264100"/>
          </a:xfrm>
          <a:prstGeom prst="rect">
            <a:avLst/>
          </a:prstGeom>
          <a:noFill/>
          <a:ln>
            <a:noFill/>
          </a:ln>
        </p:spPr>
        <p:txBody>
          <a:bodyPr anchorCtr="0" anchor="t" bIns="0" lIns="0" spcFirstLastPara="1" rIns="0" wrap="square" tIns="0">
            <a:spAutoFit/>
          </a:bodyPr>
          <a:lstStyle/>
          <a:p>
            <a:pPr indent="-317500" lvl="0" marL="457200" marR="0" rtl="0" algn="l">
              <a:lnSpc>
                <a:spcPct val="120000"/>
              </a:lnSpc>
              <a:spcBef>
                <a:spcPts val="0"/>
              </a:spcBef>
              <a:spcAft>
                <a:spcPts val="0"/>
              </a:spcAft>
              <a:buSzPts val="1400"/>
              <a:buChar char="●"/>
            </a:pPr>
            <a:r>
              <a:rPr lang="en-US" sz="1800">
                <a:latin typeface="Calibri"/>
                <a:ea typeface="Calibri"/>
                <a:cs typeface="Calibri"/>
                <a:sym typeface="Calibri"/>
              </a:rPr>
              <a:t>Primary customer</a:t>
            </a:r>
            <a:endParaRPr sz="1800">
              <a:latin typeface="Calibri"/>
              <a:ea typeface="Calibri"/>
              <a:cs typeface="Calibri"/>
              <a:sym typeface="Calibri"/>
            </a:endParaRPr>
          </a:p>
          <a:p>
            <a:pPr indent="-342900" lvl="1" marL="914400" rtl="0" algn="l">
              <a:lnSpc>
                <a:spcPct val="12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Blind schools and inclusive schools</a:t>
            </a:r>
            <a:endParaRPr sz="1800">
              <a:solidFill>
                <a:schemeClr val="dk1"/>
              </a:solidFill>
              <a:latin typeface="Calibri"/>
              <a:ea typeface="Calibri"/>
              <a:cs typeface="Calibri"/>
              <a:sym typeface="Calibri"/>
            </a:endParaRPr>
          </a:p>
          <a:p>
            <a:pPr indent="-342900" lvl="1" marL="914400" rtl="0" algn="l">
              <a:lnSpc>
                <a:spcPct val="12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NGOs working in disability education</a:t>
            </a:r>
            <a:endParaRPr sz="1800">
              <a:solidFill>
                <a:schemeClr val="dk1"/>
              </a:solidFill>
              <a:latin typeface="Calibri"/>
              <a:ea typeface="Calibri"/>
              <a:cs typeface="Calibri"/>
              <a:sym typeface="Calibri"/>
            </a:endParaRPr>
          </a:p>
          <a:p>
            <a:pPr indent="-342900" lvl="1" marL="914400" rtl="0" algn="l">
              <a:lnSpc>
                <a:spcPct val="12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CSR foundations</a:t>
            </a:r>
            <a:endParaRPr sz="1800">
              <a:solidFill>
                <a:schemeClr val="dk1"/>
              </a:solidFill>
              <a:latin typeface="Calibri"/>
              <a:ea typeface="Calibri"/>
              <a:cs typeface="Calibri"/>
              <a:sym typeface="Calibri"/>
            </a:endParaRPr>
          </a:p>
          <a:p>
            <a:pPr indent="-342900" lvl="1" marL="914400" rtl="0" algn="l">
              <a:lnSpc>
                <a:spcPct val="12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Government inclusive education programs</a:t>
            </a:r>
            <a:endParaRPr sz="1800">
              <a:solidFill>
                <a:schemeClr val="dk1"/>
              </a:solidFill>
              <a:latin typeface="Calibri"/>
              <a:ea typeface="Calibri"/>
              <a:cs typeface="Calibri"/>
              <a:sym typeface="Calibri"/>
            </a:endParaRPr>
          </a:p>
          <a:p>
            <a:pPr indent="-342900" lvl="1" marL="914400" rtl="0" algn="l">
              <a:lnSpc>
                <a:spcPct val="12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Accessibility labs/ special education centers.</a:t>
            </a:r>
            <a:endParaRPr sz="1800">
              <a:solidFill>
                <a:schemeClr val="dk1"/>
              </a:solidFill>
              <a:latin typeface="Calibri"/>
              <a:ea typeface="Calibri"/>
              <a:cs typeface="Calibri"/>
              <a:sym typeface="Calibri"/>
            </a:endParaRPr>
          </a:p>
          <a:p>
            <a:pPr indent="-311150" lvl="0" marL="457200" marR="0" rtl="0" algn="l">
              <a:lnSpc>
                <a:spcPct val="120000"/>
              </a:lnSpc>
              <a:spcBef>
                <a:spcPts val="0"/>
              </a:spcBef>
              <a:spcAft>
                <a:spcPts val="0"/>
              </a:spcAft>
              <a:buSzPts val="1300"/>
              <a:buFont typeface="Calibri"/>
              <a:buChar char="●"/>
            </a:pPr>
            <a:r>
              <a:rPr lang="en-US" sz="1800">
                <a:latin typeface="Calibri"/>
                <a:ea typeface="Calibri"/>
                <a:cs typeface="Calibri"/>
                <a:sym typeface="Calibri"/>
              </a:rPr>
              <a:t>End users</a:t>
            </a:r>
            <a:endParaRPr sz="1800">
              <a:latin typeface="Calibri"/>
              <a:ea typeface="Calibri"/>
              <a:cs typeface="Calibri"/>
              <a:sym typeface="Calibri"/>
            </a:endParaRPr>
          </a:p>
          <a:p>
            <a:pPr indent="-342900" lvl="1" marL="914400"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Visually impaired students aged 8-24.</a:t>
            </a:r>
            <a:endParaRPr sz="1800">
              <a:latin typeface="Calibri"/>
              <a:ea typeface="Calibri"/>
              <a:cs typeface="Calibri"/>
              <a:sym typeface="Calibri"/>
            </a:endParaRPr>
          </a:p>
          <a:p>
            <a:pPr indent="-342900" lvl="1" marL="914400"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STEM teachers and special educators.</a:t>
            </a:r>
            <a:endParaRPr sz="1800">
              <a:latin typeface="Calibri"/>
              <a:ea typeface="Calibri"/>
              <a:cs typeface="Calibri"/>
              <a:sym typeface="Calibri"/>
            </a:endParaRPr>
          </a:p>
        </p:txBody>
      </p:sp>
      <p:sp>
        <p:nvSpPr>
          <p:cNvPr id="917" name="Google Shape;917;p24"/>
          <p:cNvSpPr txBox="1"/>
          <p:nvPr/>
        </p:nvSpPr>
        <p:spPr>
          <a:xfrm>
            <a:off x="3411417" y="2152654"/>
            <a:ext cx="4156200" cy="1939500"/>
          </a:xfrm>
          <a:prstGeom prst="rect">
            <a:avLst/>
          </a:prstGeom>
          <a:noFill/>
          <a:ln>
            <a:noFill/>
          </a:ln>
        </p:spPr>
        <p:txBody>
          <a:bodyPr anchorCtr="0" anchor="t" bIns="0" lIns="0" spcFirstLastPara="1" rIns="0" wrap="square" tIns="0">
            <a:spAutoFit/>
          </a:bodyPr>
          <a:lstStyle/>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STEM content creation</a:t>
            </a:r>
            <a:endParaRPr sz="1800">
              <a:latin typeface="Calibri"/>
              <a:ea typeface="Calibri"/>
              <a:cs typeface="Calibri"/>
              <a:sym typeface="Calibri"/>
            </a:endParaRPr>
          </a:p>
          <a:p>
            <a:pPr indent="-127155" lvl="2" marL="381464" marR="0" rtl="0" algn="l">
              <a:lnSpc>
                <a:spcPct val="120000"/>
              </a:lnSpc>
              <a:spcBef>
                <a:spcPts val="0"/>
              </a:spcBef>
              <a:spcAft>
                <a:spcPts val="0"/>
              </a:spcAft>
              <a:buSzPts val="1800"/>
              <a:buFont typeface="Calibri"/>
              <a:buChar char="⚬"/>
            </a:pPr>
            <a:r>
              <a:rPr lang="en-US" sz="1800">
                <a:latin typeface="Calibri"/>
                <a:ea typeface="Calibri"/>
                <a:cs typeface="Calibri"/>
                <a:sym typeface="Calibri"/>
              </a:rPr>
              <a:t> School onboarding /  teacher training</a:t>
            </a:r>
            <a:endParaRPr sz="1800">
              <a:latin typeface="Calibri"/>
              <a:ea typeface="Calibri"/>
              <a:cs typeface="Calibri"/>
              <a:sym typeface="Calibri"/>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Hardware </a:t>
            </a:r>
            <a:r>
              <a:rPr lang="en-US" sz="1800">
                <a:latin typeface="Calibri"/>
                <a:ea typeface="Calibri"/>
                <a:cs typeface="Calibri"/>
                <a:sym typeface="Calibri"/>
              </a:rPr>
              <a:t>manufacturing &amp; assembly</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Software Development</a:t>
            </a:r>
            <a:endParaRPr/>
          </a:p>
          <a:p>
            <a:pPr indent="-127155" lvl="2" marL="381464" marR="0" rtl="0" algn="l">
              <a:lnSpc>
                <a:spcPct val="120000"/>
              </a:lnSpc>
              <a:spcBef>
                <a:spcPts val="0"/>
              </a:spcBef>
              <a:spcAft>
                <a:spcPts val="0"/>
              </a:spcAft>
              <a:buClr>
                <a:srgbClr val="000000"/>
              </a:buClr>
              <a:buSzPts val="1800"/>
              <a:buFont typeface="Arial"/>
              <a:buChar char="⚬"/>
            </a:pPr>
            <a:r>
              <a:rPr lang="en-US" sz="1800">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Sales &amp; Marketing with after-sales support and repair</a:t>
            </a:r>
            <a:endParaRPr/>
          </a:p>
        </p:txBody>
      </p:sp>
      <p:sp>
        <p:nvSpPr>
          <p:cNvPr id="918" name="Google Shape;918;p24"/>
          <p:cNvSpPr/>
          <p:nvPr/>
        </p:nvSpPr>
        <p:spPr>
          <a:xfrm>
            <a:off x="15872117" y="48454"/>
            <a:ext cx="1988439" cy="1121569"/>
          </a:xfrm>
          <a:custGeom>
            <a:rect b="b" l="l" r="r" t="t"/>
            <a:pathLst>
              <a:path extrusionOk="0" h="1495425" w="2651252">
                <a:moveTo>
                  <a:pt x="0" y="0"/>
                </a:moveTo>
                <a:lnTo>
                  <a:pt x="2651252" y="0"/>
                </a:lnTo>
                <a:lnTo>
                  <a:pt x="2651252" y="1495425"/>
                </a:lnTo>
                <a:lnTo>
                  <a:pt x="0" y="1495425"/>
                </a:lnTo>
                <a:lnTo>
                  <a:pt x="0" y="0"/>
                </a:lnTo>
                <a:close/>
              </a:path>
            </a:pathLst>
          </a:custGeom>
          <a:blipFill rotWithShape="1">
            <a:blip r:embed="rId14">
              <a:alphaModFix/>
            </a:blip>
            <a:stretch>
              <a:fillRect b="-84" l="0" r="0" t="-85"/>
            </a:stretch>
          </a:blipFill>
          <a:ln>
            <a:noFill/>
          </a:ln>
        </p:spPr>
      </p:sp>
      <p:sp>
        <p:nvSpPr>
          <p:cNvPr id="919" name="Google Shape;919;p24"/>
          <p:cNvSpPr/>
          <p:nvPr/>
        </p:nvSpPr>
        <p:spPr>
          <a:xfrm>
            <a:off x="13942047" y="8544"/>
            <a:ext cx="1891474" cy="1092422"/>
          </a:xfrm>
          <a:custGeom>
            <a:rect b="b" l="l" r="r" t="t"/>
            <a:pathLst>
              <a:path extrusionOk="0" h="1456563" w="2521966">
                <a:moveTo>
                  <a:pt x="0" y="0"/>
                </a:moveTo>
                <a:lnTo>
                  <a:pt x="2521966" y="0"/>
                </a:lnTo>
                <a:lnTo>
                  <a:pt x="2521966" y="1456563"/>
                </a:lnTo>
                <a:lnTo>
                  <a:pt x="0" y="1456563"/>
                </a:lnTo>
                <a:lnTo>
                  <a:pt x="0" y="0"/>
                </a:lnTo>
                <a:close/>
              </a:path>
            </a:pathLst>
          </a:custGeom>
          <a:blipFill rotWithShape="1">
            <a:blip r:embed="rId15">
              <a:alphaModFix/>
            </a:blip>
            <a:stretch>
              <a:fillRect b="-217" l="0" r="1" t="-215"/>
            </a:stretch>
          </a:blipFill>
          <a:ln>
            <a:noFill/>
          </a:ln>
        </p:spPr>
      </p:sp>
      <p:sp>
        <p:nvSpPr>
          <p:cNvPr id="920" name="Google Shape;920;p24"/>
          <p:cNvSpPr/>
          <p:nvPr/>
        </p:nvSpPr>
        <p:spPr>
          <a:xfrm>
            <a:off x="67589" y="133655"/>
            <a:ext cx="538515" cy="719785"/>
          </a:xfrm>
          <a:custGeom>
            <a:rect b="b" l="l" r="r" t="t"/>
            <a:pathLst>
              <a:path extrusionOk="0" h="719785" w="538515">
                <a:moveTo>
                  <a:pt x="0" y="0"/>
                </a:moveTo>
                <a:lnTo>
                  <a:pt x="538515" y="0"/>
                </a:lnTo>
                <a:lnTo>
                  <a:pt x="538515" y="719785"/>
                </a:lnTo>
                <a:lnTo>
                  <a:pt x="0" y="719785"/>
                </a:lnTo>
                <a:lnTo>
                  <a:pt x="0" y="0"/>
                </a:lnTo>
                <a:close/>
              </a:path>
            </a:pathLst>
          </a:custGeom>
          <a:blipFill rotWithShape="1">
            <a:blip r:embed="rId16">
              <a:alphaModFix/>
            </a:blip>
            <a:stretch>
              <a:fillRect b="0" l="0" r="0" t="0"/>
            </a:stretch>
          </a:blipFill>
          <a:ln>
            <a:noFill/>
          </a:ln>
        </p:spPr>
      </p:sp>
      <p:sp>
        <p:nvSpPr>
          <p:cNvPr id="921" name="Google Shape;921;p24"/>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25"/>
          <p:cNvSpPr/>
          <p:nvPr/>
        </p:nvSpPr>
        <p:spPr>
          <a:xfrm>
            <a:off x="12183342" y="7620"/>
            <a:ext cx="6095999" cy="1492631"/>
          </a:xfrm>
          <a:custGeom>
            <a:rect b="b" l="l" r="r" t="t"/>
            <a:pathLst>
              <a:path extrusionOk="0" h="1492634" w="6096002">
                <a:moveTo>
                  <a:pt x="0" y="0"/>
                </a:moveTo>
                <a:lnTo>
                  <a:pt x="0" y="1492634"/>
                </a:lnTo>
                <a:lnTo>
                  <a:pt x="6096002" y="1492634"/>
                </a:lnTo>
                <a:lnTo>
                  <a:pt x="6096002" y="0"/>
                </a:lnTo>
                <a:close/>
              </a:path>
            </a:pathLst>
          </a:custGeom>
          <a:solidFill>
            <a:srgbClr val="FFFFFF"/>
          </a:solidFill>
          <a:ln>
            <a:noFill/>
          </a:ln>
        </p:spPr>
      </p:sp>
      <p:sp>
        <p:nvSpPr>
          <p:cNvPr id="927" name="Google Shape;927;p25"/>
          <p:cNvSpPr/>
          <p:nvPr/>
        </p:nvSpPr>
        <p:spPr>
          <a:xfrm>
            <a:off x="15961547" y="317906"/>
            <a:ext cx="1611726" cy="494823"/>
          </a:xfrm>
          <a:custGeom>
            <a:rect b="b" l="l" r="r" t="t"/>
            <a:pathLst>
              <a:path extrusionOk="0" h="659765" w="2148967">
                <a:moveTo>
                  <a:pt x="0" y="0"/>
                </a:moveTo>
                <a:lnTo>
                  <a:pt x="2148967" y="0"/>
                </a:lnTo>
                <a:lnTo>
                  <a:pt x="2148967" y="659765"/>
                </a:lnTo>
                <a:lnTo>
                  <a:pt x="0" y="659765"/>
                </a:lnTo>
                <a:lnTo>
                  <a:pt x="0" y="0"/>
                </a:lnTo>
                <a:close/>
              </a:path>
            </a:pathLst>
          </a:custGeom>
          <a:blipFill rotWithShape="1">
            <a:blip r:embed="rId3">
              <a:alphaModFix/>
            </a:blip>
            <a:stretch>
              <a:fillRect b="-773" l="0" r="-12" t="0"/>
            </a:stretch>
          </a:blipFill>
          <a:ln>
            <a:noFill/>
          </a:ln>
        </p:spPr>
      </p:sp>
      <p:sp>
        <p:nvSpPr>
          <p:cNvPr id="928" name="Google Shape;928;p25"/>
          <p:cNvSpPr/>
          <p:nvPr/>
        </p:nvSpPr>
        <p:spPr>
          <a:xfrm>
            <a:off x="13713323" y="39119"/>
            <a:ext cx="1812036" cy="989552"/>
          </a:xfrm>
          <a:custGeom>
            <a:rect b="b" l="l" r="r" t="t"/>
            <a:pathLst>
              <a:path extrusionOk="0" h="1319403" w="2416048">
                <a:moveTo>
                  <a:pt x="0" y="0"/>
                </a:moveTo>
                <a:lnTo>
                  <a:pt x="2416048" y="0"/>
                </a:lnTo>
                <a:lnTo>
                  <a:pt x="2416048" y="1319403"/>
                </a:lnTo>
                <a:lnTo>
                  <a:pt x="0" y="1319403"/>
                </a:lnTo>
                <a:lnTo>
                  <a:pt x="0" y="0"/>
                </a:lnTo>
                <a:close/>
              </a:path>
            </a:pathLst>
          </a:custGeom>
          <a:blipFill rotWithShape="1">
            <a:blip r:embed="rId4">
              <a:alphaModFix/>
            </a:blip>
            <a:stretch>
              <a:fillRect b="-393" l="0" r="-49" t="0"/>
            </a:stretch>
          </a:blipFill>
          <a:ln>
            <a:noFill/>
          </a:ln>
        </p:spPr>
      </p:sp>
      <p:sp>
        <p:nvSpPr>
          <p:cNvPr id="929" name="Google Shape;929;p25"/>
          <p:cNvSpPr/>
          <p:nvPr/>
        </p:nvSpPr>
        <p:spPr>
          <a:xfrm>
            <a:off x="11791064" y="1493339"/>
            <a:ext cx="1466850" cy="1866900"/>
          </a:xfrm>
          <a:custGeom>
            <a:rect b="b" l="l" r="r" t="t"/>
            <a:pathLst>
              <a:path extrusionOk="0" h="2489200" w="1955800">
                <a:moveTo>
                  <a:pt x="0" y="0"/>
                </a:moveTo>
                <a:lnTo>
                  <a:pt x="1955800" y="0"/>
                </a:lnTo>
                <a:lnTo>
                  <a:pt x="1955800" y="2489200"/>
                </a:lnTo>
                <a:lnTo>
                  <a:pt x="0" y="2489200"/>
                </a:lnTo>
                <a:lnTo>
                  <a:pt x="0" y="0"/>
                </a:lnTo>
                <a:close/>
              </a:path>
            </a:pathLst>
          </a:custGeom>
          <a:blipFill rotWithShape="1">
            <a:blip r:embed="rId5">
              <a:alphaModFix/>
            </a:blip>
            <a:stretch>
              <a:fillRect b="0" l="0" r="0" t="0"/>
            </a:stretch>
          </a:blipFill>
          <a:ln>
            <a:noFill/>
          </a:ln>
        </p:spPr>
      </p:sp>
      <p:sp>
        <p:nvSpPr>
          <p:cNvPr id="930" name="Google Shape;930;p25"/>
          <p:cNvSpPr/>
          <p:nvPr/>
        </p:nvSpPr>
        <p:spPr>
          <a:xfrm>
            <a:off x="12629483" y="3456013"/>
            <a:ext cx="1647825" cy="1676400"/>
          </a:xfrm>
          <a:custGeom>
            <a:rect b="b" l="l" r="r" t="t"/>
            <a:pathLst>
              <a:path extrusionOk="0" h="2235200" w="2197100">
                <a:moveTo>
                  <a:pt x="0" y="0"/>
                </a:moveTo>
                <a:lnTo>
                  <a:pt x="2197100" y="0"/>
                </a:lnTo>
                <a:lnTo>
                  <a:pt x="2197100" y="2235200"/>
                </a:lnTo>
                <a:lnTo>
                  <a:pt x="0" y="2235200"/>
                </a:lnTo>
                <a:lnTo>
                  <a:pt x="0" y="0"/>
                </a:lnTo>
                <a:close/>
              </a:path>
            </a:pathLst>
          </a:custGeom>
          <a:blipFill rotWithShape="1">
            <a:blip r:embed="rId6">
              <a:alphaModFix/>
            </a:blip>
            <a:stretch>
              <a:fillRect b="0" l="0" r="0" t="0"/>
            </a:stretch>
          </a:blipFill>
          <a:ln>
            <a:noFill/>
          </a:ln>
        </p:spPr>
      </p:sp>
      <p:grpSp>
        <p:nvGrpSpPr>
          <p:cNvPr id="931" name="Google Shape;931;p25"/>
          <p:cNvGrpSpPr/>
          <p:nvPr/>
        </p:nvGrpSpPr>
        <p:grpSpPr>
          <a:xfrm>
            <a:off x="14410959" y="1585198"/>
            <a:ext cx="1415902" cy="1112268"/>
            <a:chOff x="63432" y="63246"/>
            <a:chExt cx="1415894" cy="1112268"/>
          </a:xfrm>
        </p:grpSpPr>
        <p:sp>
          <p:nvSpPr>
            <p:cNvPr id="932" name="Google Shape;932;p25"/>
            <p:cNvSpPr/>
            <p:nvPr/>
          </p:nvSpPr>
          <p:spPr>
            <a:xfrm>
              <a:off x="914524" y="461773"/>
              <a:ext cx="114554" cy="196723"/>
            </a:xfrm>
            <a:custGeom>
              <a:rect b="b" l="l" r="r" t="t"/>
              <a:pathLst>
                <a:path extrusionOk="0" h="196723" w="114554">
                  <a:moveTo>
                    <a:pt x="33528" y="0"/>
                  </a:moveTo>
                  <a:lnTo>
                    <a:pt x="81026" y="0"/>
                  </a:lnTo>
                  <a:cubicBezTo>
                    <a:pt x="85471" y="0"/>
                    <a:pt x="89789" y="889"/>
                    <a:pt x="93853" y="2540"/>
                  </a:cubicBezTo>
                  <a:cubicBezTo>
                    <a:pt x="97917" y="4191"/>
                    <a:pt x="101600" y="6731"/>
                    <a:pt x="104775" y="9779"/>
                  </a:cubicBezTo>
                  <a:cubicBezTo>
                    <a:pt x="107950" y="12827"/>
                    <a:pt x="110363" y="16637"/>
                    <a:pt x="112014" y="20701"/>
                  </a:cubicBezTo>
                  <a:cubicBezTo>
                    <a:pt x="113665" y="24765"/>
                    <a:pt x="114554" y="29083"/>
                    <a:pt x="114554" y="33528"/>
                  </a:cubicBezTo>
                  <a:lnTo>
                    <a:pt x="114554" y="163195"/>
                  </a:lnTo>
                  <a:cubicBezTo>
                    <a:pt x="114554" y="167640"/>
                    <a:pt x="113665" y="171958"/>
                    <a:pt x="112014" y="176022"/>
                  </a:cubicBezTo>
                  <a:cubicBezTo>
                    <a:pt x="110363" y="180086"/>
                    <a:pt x="107823" y="183769"/>
                    <a:pt x="104775" y="186944"/>
                  </a:cubicBezTo>
                  <a:cubicBezTo>
                    <a:pt x="101727" y="190119"/>
                    <a:pt x="97917" y="192532"/>
                    <a:pt x="93853" y="194183"/>
                  </a:cubicBezTo>
                  <a:cubicBezTo>
                    <a:pt x="89789" y="195834"/>
                    <a:pt x="85471" y="196723"/>
                    <a:pt x="81026" y="196723"/>
                  </a:cubicBezTo>
                  <a:lnTo>
                    <a:pt x="33528" y="196723"/>
                  </a:lnTo>
                  <a:cubicBezTo>
                    <a:pt x="29083" y="196723"/>
                    <a:pt x="24765" y="195834"/>
                    <a:pt x="20701" y="194183"/>
                  </a:cubicBezTo>
                  <a:cubicBezTo>
                    <a:pt x="16637" y="192532"/>
                    <a:pt x="12954" y="189992"/>
                    <a:pt x="9779" y="186944"/>
                  </a:cubicBezTo>
                  <a:cubicBezTo>
                    <a:pt x="6604" y="183896"/>
                    <a:pt x="4191" y="180086"/>
                    <a:pt x="2540" y="176022"/>
                  </a:cubicBezTo>
                  <a:cubicBezTo>
                    <a:pt x="889" y="171958"/>
                    <a:pt x="0" y="167640"/>
                    <a:pt x="0" y="163195"/>
                  </a:cubicBezTo>
                  <a:lnTo>
                    <a:pt x="0" y="33655"/>
                  </a:lnTo>
                  <a:cubicBezTo>
                    <a:pt x="0" y="29210"/>
                    <a:pt x="889" y="24892"/>
                    <a:pt x="2540" y="20828"/>
                  </a:cubicBezTo>
                  <a:cubicBezTo>
                    <a:pt x="4191" y="16764"/>
                    <a:pt x="6731" y="13081"/>
                    <a:pt x="9779" y="9906"/>
                  </a:cubicBezTo>
                  <a:cubicBezTo>
                    <a:pt x="12827" y="6731"/>
                    <a:pt x="16637" y="4318"/>
                    <a:pt x="20701" y="2667"/>
                  </a:cubicBezTo>
                  <a:cubicBezTo>
                    <a:pt x="24765" y="1016"/>
                    <a:pt x="29083" y="127"/>
                    <a:pt x="33528" y="127"/>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5"/>
            <p:cNvSpPr/>
            <p:nvPr/>
          </p:nvSpPr>
          <p:spPr>
            <a:xfrm>
              <a:off x="397890" y="186690"/>
              <a:ext cx="747139" cy="747015"/>
            </a:xfrm>
            <a:custGeom>
              <a:rect b="b" l="l" r="r" t="t"/>
              <a:pathLst>
                <a:path extrusionOk="0" h="747015" w="747139">
                  <a:moveTo>
                    <a:pt x="373505" y="0"/>
                  </a:moveTo>
                  <a:cubicBezTo>
                    <a:pt x="167512" y="0"/>
                    <a:pt x="0" y="167514"/>
                    <a:pt x="0" y="373508"/>
                  </a:cubicBezTo>
                  <a:cubicBezTo>
                    <a:pt x="0" y="579502"/>
                    <a:pt x="167512" y="747015"/>
                    <a:pt x="373505" y="747015"/>
                  </a:cubicBezTo>
                  <a:cubicBezTo>
                    <a:pt x="579499" y="747015"/>
                    <a:pt x="747138" y="579502"/>
                    <a:pt x="747138" y="373508"/>
                  </a:cubicBezTo>
                  <a:cubicBezTo>
                    <a:pt x="747138" y="167514"/>
                    <a:pt x="579499" y="0"/>
                    <a:pt x="373505" y="0"/>
                  </a:cubicBezTo>
                  <a:close/>
                  <a:moveTo>
                    <a:pt x="240029" y="486919"/>
                  </a:moveTo>
                  <a:cubicBezTo>
                    <a:pt x="240029" y="493777"/>
                    <a:pt x="235457" y="499746"/>
                    <a:pt x="228726" y="501397"/>
                  </a:cubicBezTo>
                  <a:cubicBezTo>
                    <a:pt x="227456" y="501651"/>
                    <a:pt x="226313" y="501905"/>
                    <a:pt x="225043" y="501905"/>
                  </a:cubicBezTo>
                  <a:cubicBezTo>
                    <a:pt x="219582" y="501905"/>
                    <a:pt x="214502" y="498984"/>
                    <a:pt x="211962" y="494158"/>
                  </a:cubicBezTo>
                  <a:lnTo>
                    <a:pt x="115950" y="318771"/>
                  </a:lnTo>
                  <a:lnTo>
                    <a:pt x="115950" y="486919"/>
                  </a:lnTo>
                  <a:cubicBezTo>
                    <a:pt x="115950" y="495174"/>
                    <a:pt x="109219" y="501905"/>
                    <a:pt x="100964" y="501905"/>
                  </a:cubicBezTo>
                  <a:cubicBezTo>
                    <a:pt x="92709" y="501905"/>
                    <a:pt x="85978" y="495174"/>
                    <a:pt x="85978" y="486919"/>
                  </a:cubicBezTo>
                  <a:lnTo>
                    <a:pt x="85978" y="260097"/>
                  </a:lnTo>
                  <a:cubicBezTo>
                    <a:pt x="85978" y="253239"/>
                    <a:pt x="90550" y="247270"/>
                    <a:pt x="97281" y="245619"/>
                  </a:cubicBezTo>
                  <a:cubicBezTo>
                    <a:pt x="104012" y="243968"/>
                    <a:pt x="110870" y="246889"/>
                    <a:pt x="114172" y="252985"/>
                  </a:cubicBezTo>
                  <a:lnTo>
                    <a:pt x="210184" y="428245"/>
                  </a:lnTo>
                  <a:lnTo>
                    <a:pt x="210184" y="260097"/>
                  </a:lnTo>
                  <a:cubicBezTo>
                    <a:pt x="210184" y="251842"/>
                    <a:pt x="216915" y="245111"/>
                    <a:pt x="225170" y="245111"/>
                  </a:cubicBezTo>
                  <a:cubicBezTo>
                    <a:pt x="233425" y="245111"/>
                    <a:pt x="240156" y="251842"/>
                    <a:pt x="240156" y="260097"/>
                  </a:cubicBezTo>
                  <a:lnTo>
                    <a:pt x="240156" y="486919"/>
                  </a:lnTo>
                  <a:close/>
                  <a:moveTo>
                    <a:pt x="450721" y="332106"/>
                  </a:moveTo>
                  <a:cubicBezTo>
                    <a:pt x="450721" y="340361"/>
                    <a:pt x="443990" y="347092"/>
                    <a:pt x="435735" y="347092"/>
                  </a:cubicBezTo>
                  <a:cubicBezTo>
                    <a:pt x="427480" y="347092"/>
                    <a:pt x="420749" y="340361"/>
                    <a:pt x="420749" y="332106"/>
                  </a:cubicBezTo>
                  <a:lnTo>
                    <a:pt x="420749" y="315215"/>
                  </a:lnTo>
                  <a:cubicBezTo>
                    <a:pt x="420749" y="293117"/>
                    <a:pt x="402715" y="275083"/>
                    <a:pt x="380617" y="275083"/>
                  </a:cubicBezTo>
                  <a:lnTo>
                    <a:pt x="331469" y="275083"/>
                  </a:lnTo>
                  <a:cubicBezTo>
                    <a:pt x="317372" y="275083"/>
                    <a:pt x="305942" y="286513"/>
                    <a:pt x="305942" y="300610"/>
                  </a:cubicBezTo>
                  <a:lnTo>
                    <a:pt x="305942" y="431801"/>
                  </a:lnTo>
                  <a:cubicBezTo>
                    <a:pt x="305942" y="453899"/>
                    <a:pt x="323976" y="471933"/>
                    <a:pt x="346074" y="471933"/>
                  </a:cubicBezTo>
                  <a:lnTo>
                    <a:pt x="395222" y="471933"/>
                  </a:lnTo>
                  <a:cubicBezTo>
                    <a:pt x="409319" y="471933"/>
                    <a:pt x="420749" y="460503"/>
                    <a:pt x="420749" y="446406"/>
                  </a:cubicBezTo>
                  <a:lnTo>
                    <a:pt x="420749" y="397003"/>
                  </a:lnTo>
                  <a:lnTo>
                    <a:pt x="363345" y="397003"/>
                  </a:lnTo>
                  <a:cubicBezTo>
                    <a:pt x="355090" y="397003"/>
                    <a:pt x="348360" y="390272"/>
                    <a:pt x="348360" y="382017"/>
                  </a:cubicBezTo>
                  <a:cubicBezTo>
                    <a:pt x="348360" y="373762"/>
                    <a:pt x="355090" y="367031"/>
                    <a:pt x="363345" y="367031"/>
                  </a:cubicBezTo>
                  <a:lnTo>
                    <a:pt x="435735" y="367031"/>
                  </a:lnTo>
                  <a:cubicBezTo>
                    <a:pt x="443990" y="367031"/>
                    <a:pt x="450721" y="373762"/>
                    <a:pt x="450721" y="382017"/>
                  </a:cubicBezTo>
                  <a:lnTo>
                    <a:pt x="450721" y="446406"/>
                  </a:lnTo>
                  <a:cubicBezTo>
                    <a:pt x="450721" y="477013"/>
                    <a:pt x="425829" y="502032"/>
                    <a:pt x="395095" y="502032"/>
                  </a:cubicBezTo>
                  <a:lnTo>
                    <a:pt x="346074" y="502032"/>
                  </a:lnTo>
                  <a:cubicBezTo>
                    <a:pt x="307339" y="502032"/>
                    <a:pt x="275970" y="470536"/>
                    <a:pt x="275970" y="431928"/>
                  </a:cubicBezTo>
                  <a:lnTo>
                    <a:pt x="275970" y="300737"/>
                  </a:lnTo>
                  <a:cubicBezTo>
                    <a:pt x="275970" y="270130"/>
                    <a:pt x="300862" y="245111"/>
                    <a:pt x="331596" y="245111"/>
                  </a:cubicBezTo>
                  <a:lnTo>
                    <a:pt x="380744" y="245111"/>
                  </a:lnTo>
                  <a:cubicBezTo>
                    <a:pt x="419479" y="245111"/>
                    <a:pt x="450848" y="276607"/>
                    <a:pt x="450848" y="315215"/>
                  </a:cubicBezTo>
                  <a:lnTo>
                    <a:pt x="450848" y="332106"/>
                  </a:lnTo>
                  <a:close/>
                  <a:moveTo>
                    <a:pt x="597660" y="501905"/>
                  </a:moveTo>
                  <a:lnTo>
                    <a:pt x="550162" y="501905"/>
                  </a:lnTo>
                  <a:cubicBezTo>
                    <a:pt x="515110" y="501905"/>
                    <a:pt x="486535" y="473330"/>
                    <a:pt x="486535" y="438278"/>
                  </a:cubicBezTo>
                  <a:lnTo>
                    <a:pt x="486535" y="308738"/>
                  </a:lnTo>
                  <a:cubicBezTo>
                    <a:pt x="486535" y="273686"/>
                    <a:pt x="515110" y="245111"/>
                    <a:pt x="550162" y="245111"/>
                  </a:cubicBezTo>
                  <a:lnTo>
                    <a:pt x="597660" y="245111"/>
                  </a:lnTo>
                  <a:cubicBezTo>
                    <a:pt x="632712" y="245111"/>
                    <a:pt x="661287" y="273686"/>
                    <a:pt x="661287" y="308738"/>
                  </a:cubicBezTo>
                  <a:lnTo>
                    <a:pt x="661287" y="438278"/>
                  </a:lnTo>
                  <a:cubicBezTo>
                    <a:pt x="661287" y="473330"/>
                    <a:pt x="632712" y="501905"/>
                    <a:pt x="597660" y="501905"/>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5"/>
            <p:cNvSpPr/>
            <p:nvPr/>
          </p:nvSpPr>
          <p:spPr>
            <a:xfrm>
              <a:off x="63432" y="63500"/>
              <a:ext cx="615598" cy="1112014"/>
            </a:xfrm>
            <a:custGeom>
              <a:rect b="b" l="l" r="r" t="t"/>
              <a:pathLst>
                <a:path extrusionOk="0" h="1112014" w="615598">
                  <a:moveTo>
                    <a:pt x="282261" y="0"/>
                  </a:moveTo>
                  <a:cubicBezTo>
                    <a:pt x="281626" y="0"/>
                    <a:pt x="280864" y="0"/>
                    <a:pt x="280229" y="127"/>
                  </a:cubicBezTo>
                  <a:cubicBezTo>
                    <a:pt x="275911" y="762"/>
                    <a:pt x="271974" y="3302"/>
                    <a:pt x="269561" y="7112"/>
                  </a:cubicBezTo>
                  <a:cubicBezTo>
                    <a:pt x="245558" y="45974"/>
                    <a:pt x="220031" y="130429"/>
                    <a:pt x="285055" y="185674"/>
                  </a:cubicBezTo>
                  <a:cubicBezTo>
                    <a:pt x="266386" y="213995"/>
                    <a:pt x="250130" y="244094"/>
                    <a:pt x="236795" y="275337"/>
                  </a:cubicBezTo>
                  <a:cubicBezTo>
                    <a:pt x="229429" y="230251"/>
                    <a:pt x="207204" y="163576"/>
                    <a:pt x="140783" y="137160"/>
                  </a:cubicBezTo>
                  <a:cubicBezTo>
                    <a:pt x="139005" y="136398"/>
                    <a:pt x="137100" y="136144"/>
                    <a:pt x="135195" y="136144"/>
                  </a:cubicBezTo>
                  <a:cubicBezTo>
                    <a:pt x="132782" y="136144"/>
                    <a:pt x="130242" y="136779"/>
                    <a:pt x="128083" y="137922"/>
                  </a:cubicBezTo>
                  <a:cubicBezTo>
                    <a:pt x="124146" y="140081"/>
                    <a:pt x="121479" y="143764"/>
                    <a:pt x="120463" y="148209"/>
                  </a:cubicBezTo>
                  <a:cubicBezTo>
                    <a:pt x="119828" y="151511"/>
                    <a:pt x="105096" y="228600"/>
                    <a:pt x="142434" y="283846"/>
                  </a:cubicBezTo>
                  <a:cubicBezTo>
                    <a:pt x="159325" y="308865"/>
                    <a:pt x="184090" y="325248"/>
                    <a:pt x="215840" y="332614"/>
                  </a:cubicBezTo>
                  <a:cubicBezTo>
                    <a:pt x="201743" y="378588"/>
                    <a:pt x="193615" y="426594"/>
                    <a:pt x="191710" y="475616"/>
                  </a:cubicBezTo>
                  <a:cubicBezTo>
                    <a:pt x="173041" y="432182"/>
                    <a:pt x="125924" y="351664"/>
                    <a:pt x="31818" y="346457"/>
                  </a:cubicBezTo>
                  <a:cubicBezTo>
                    <a:pt x="31437" y="346457"/>
                    <a:pt x="31183" y="346457"/>
                    <a:pt x="30802" y="346457"/>
                  </a:cubicBezTo>
                  <a:cubicBezTo>
                    <a:pt x="26738" y="346457"/>
                    <a:pt x="22674" y="348235"/>
                    <a:pt x="19880" y="351283"/>
                  </a:cubicBezTo>
                  <a:cubicBezTo>
                    <a:pt x="16832" y="354585"/>
                    <a:pt x="15435" y="359030"/>
                    <a:pt x="16070" y="363475"/>
                  </a:cubicBezTo>
                  <a:cubicBezTo>
                    <a:pt x="16578" y="367285"/>
                    <a:pt x="29405" y="458471"/>
                    <a:pt x="89856" y="502032"/>
                  </a:cubicBezTo>
                  <a:cubicBezTo>
                    <a:pt x="110557" y="517018"/>
                    <a:pt x="134433" y="524511"/>
                    <a:pt x="160722" y="524511"/>
                  </a:cubicBezTo>
                  <a:cubicBezTo>
                    <a:pt x="170120" y="524511"/>
                    <a:pt x="179899" y="523495"/>
                    <a:pt x="190059" y="521590"/>
                  </a:cubicBezTo>
                  <a:cubicBezTo>
                    <a:pt x="190694" y="521463"/>
                    <a:pt x="191202" y="521209"/>
                    <a:pt x="191710" y="521082"/>
                  </a:cubicBezTo>
                  <a:cubicBezTo>
                    <a:pt x="193488" y="564262"/>
                    <a:pt x="200219" y="606553"/>
                    <a:pt x="211522" y="647447"/>
                  </a:cubicBezTo>
                  <a:cubicBezTo>
                    <a:pt x="179772" y="618110"/>
                    <a:pt x="127956" y="582296"/>
                    <a:pt x="63695" y="582296"/>
                  </a:cubicBezTo>
                  <a:cubicBezTo>
                    <a:pt x="46804" y="582296"/>
                    <a:pt x="29024" y="584836"/>
                    <a:pt x="10482" y="590551"/>
                  </a:cubicBezTo>
                  <a:cubicBezTo>
                    <a:pt x="6164" y="591821"/>
                    <a:pt x="2735" y="594996"/>
                    <a:pt x="1084" y="599187"/>
                  </a:cubicBezTo>
                  <a:cubicBezTo>
                    <a:pt x="-567" y="603378"/>
                    <a:pt x="-313" y="607950"/>
                    <a:pt x="1719" y="612014"/>
                  </a:cubicBezTo>
                  <a:cubicBezTo>
                    <a:pt x="3751" y="616078"/>
                    <a:pt x="54424" y="708407"/>
                    <a:pt x="134306" y="728219"/>
                  </a:cubicBezTo>
                  <a:cubicBezTo>
                    <a:pt x="144339" y="730632"/>
                    <a:pt x="154245" y="731902"/>
                    <a:pt x="164278" y="731902"/>
                  </a:cubicBezTo>
                  <a:cubicBezTo>
                    <a:pt x="187646" y="731902"/>
                    <a:pt x="210760" y="725044"/>
                    <a:pt x="233493" y="711582"/>
                  </a:cubicBezTo>
                  <a:cubicBezTo>
                    <a:pt x="247209" y="744729"/>
                    <a:pt x="264100" y="776606"/>
                    <a:pt x="284039" y="806959"/>
                  </a:cubicBezTo>
                  <a:cubicBezTo>
                    <a:pt x="259274" y="798069"/>
                    <a:pt x="224857" y="789179"/>
                    <a:pt x="187138" y="789179"/>
                  </a:cubicBezTo>
                  <a:cubicBezTo>
                    <a:pt x="142053" y="789179"/>
                    <a:pt x="92142" y="801879"/>
                    <a:pt x="47820" y="842773"/>
                  </a:cubicBezTo>
                  <a:cubicBezTo>
                    <a:pt x="44518" y="845821"/>
                    <a:pt x="42740" y="850139"/>
                    <a:pt x="42994" y="854711"/>
                  </a:cubicBezTo>
                  <a:cubicBezTo>
                    <a:pt x="43248" y="859283"/>
                    <a:pt x="45534" y="863347"/>
                    <a:pt x="49090" y="866014"/>
                  </a:cubicBezTo>
                  <a:cubicBezTo>
                    <a:pt x="52646" y="868681"/>
                    <a:pt x="127067" y="922276"/>
                    <a:pt x="204537" y="922276"/>
                  </a:cubicBezTo>
                  <a:cubicBezTo>
                    <a:pt x="215459" y="922276"/>
                    <a:pt x="226381" y="921133"/>
                    <a:pt x="237303" y="918846"/>
                  </a:cubicBezTo>
                  <a:cubicBezTo>
                    <a:pt x="272101" y="911099"/>
                    <a:pt x="300422" y="890652"/>
                    <a:pt x="321758" y="858013"/>
                  </a:cubicBezTo>
                  <a:cubicBezTo>
                    <a:pt x="343983" y="884683"/>
                    <a:pt x="368621" y="909194"/>
                    <a:pt x="395163" y="931293"/>
                  </a:cubicBezTo>
                  <a:cubicBezTo>
                    <a:pt x="334966" y="939548"/>
                    <a:pt x="223841" y="971298"/>
                    <a:pt x="183709" y="1091440"/>
                  </a:cubicBezTo>
                  <a:cubicBezTo>
                    <a:pt x="182312" y="1095758"/>
                    <a:pt x="182820" y="1100330"/>
                    <a:pt x="185233" y="1104140"/>
                  </a:cubicBezTo>
                  <a:cubicBezTo>
                    <a:pt x="187646" y="1107950"/>
                    <a:pt x="191583" y="1110490"/>
                    <a:pt x="196155" y="1110998"/>
                  </a:cubicBezTo>
                  <a:cubicBezTo>
                    <a:pt x="197044" y="1111125"/>
                    <a:pt x="200981" y="1111633"/>
                    <a:pt x="207204" y="1112014"/>
                  </a:cubicBezTo>
                  <a:lnTo>
                    <a:pt x="264608" y="1112014"/>
                  </a:lnTo>
                  <a:cubicBezTo>
                    <a:pt x="308931" y="1108839"/>
                    <a:pt x="365573" y="1097155"/>
                    <a:pt x="404688" y="1061341"/>
                  </a:cubicBezTo>
                  <a:cubicBezTo>
                    <a:pt x="430215" y="1038100"/>
                    <a:pt x="445074" y="1007747"/>
                    <a:pt x="448884" y="970790"/>
                  </a:cubicBezTo>
                  <a:cubicBezTo>
                    <a:pt x="494477" y="1000508"/>
                    <a:pt x="544134" y="1023876"/>
                    <a:pt x="596331" y="1039243"/>
                  </a:cubicBezTo>
                  <a:cubicBezTo>
                    <a:pt x="597728" y="1039624"/>
                    <a:pt x="599252" y="1039878"/>
                    <a:pt x="600649" y="1039878"/>
                  </a:cubicBezTo>
                  <a:cubicBezTo>
                    <a:pt x="607126" y="1039878"/>
                    <a:pt x="613095" y="1035687"/>
                    <a:pt x="615000" y="1029083"/>
                  </a:cubicBezTo>
                  <a:cubicBezTo>
                    <a:pt x="617286" y="1021209"/>
                    <a:pt x="612841" y="1012827"/>
                    <a:pt x="604840" y="1010414"/>
                  </a:cubicBezTo>
                  <a:cubicBezTo>
                    <a:pt x="379035" y="943485"/>
                    <a:pt x="221301" y="732283"/>
                    <a:pt x="221301" y="496825"/>
                  </a:cubicBezTo>
                  <a:cubicBezTo>
                    <a:pt x="221301" y="323343"/>
                    <a:pt x="306137" y="159893"/>
                    <a:pt x="448376" y="59309"/>
                  </a:cubicBezTo>
                  <a:cubicBezTo>
                    <a:pt x="455107" y="54483"/>
                    <a:pt x="456758" y="45085"/>
                    <a:pt x="451932" y="38481"/>
                  </a:cubicBezTo>
                  <a:cubicBezTo>
                    <a:pt x="449011" y="34290"/>
                    <a:pt x="444312" y="32131"/>
                    <a:pt x="439613" y="32131"/>
                  </a:cubicBezTo>
                  <a:cubicBezTo>
                    <a:pt x="436565" y="32131"/>
                    <a:pt x="433644" y="33020"/>
                    <a:pt x="430977" y="34925"/>
                  </a:cubicBezTo>
                  <a:cubicBezTo>
                    <a:pt x="394274" y="60960"/>
                    <a:pt x="361128" y="90932"/>
                    <a:pt x="332045" y="124079"/>
                  </a:cubicBezTo>
                  <a:cubicBezTo>
                    <a:pt x="334966" y="85344"/>
                    <a:pt x="328997" y="37084"/>
                    <a:pt x="292167" y="4064"/>
                  </a:cubicBezTo>
                  <a:cubicBezTo>
                    <a:pt x="289373" y="1651"/>
                    <a:pt x="285817" y="254"/>
                    <a:pt x="282134" y="254"/>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5"/>
            <p:cNvSpPr/>
            <p:nvPr/>
          </p:nvSpPr>
          <p:spPr>
            <a:xfrm>
              <a:off x="863770" y="63246"/>
              <a:ext cx="615556" cy="1111887"/>
            </a:xfrm>
            <a:custGeom>
              <a:rect b="b" l="l" r="r" t="t"/>
              <a:pathLst>
                <a:path extrusionOk="0" h="1111887" w="615556">
                  <a:moveTo>
                    <a:pt x="333328" y="254"/>
                  </a:moveTo>
                  <a:cubicBezTo>
                    <a:pt x="329645" y="254"/>
                    <a:pt x="326089" y="1524"/>
                    <a:pt x="323295" y="4064"/>
                  </a:cubicBezTo>
                  <a:cubicBezTo>
                    <a:pt x="286465" y="37084"/>
                    <a:pt x="280623" y="85217"/>
                    <a:pt x="283417" y="124079"/>
                  </a:cubicBezTo>
                  <a:cubicBezTo>
                    <a:pt x="254334" y="90932"/>
                    <a:pt x="221187" y="60960"/>
                    <a:pt x="184485" y="34925"/>
                  </a:cubicBezTo>
                  <a:cubicBezTo>
                    <a:pt x="181818" y="33020"/>
                    <a:pt x="178770" y="32131"/>
                    <a:pt x="175849" y="32131"/>
                  </a:cubicBezTo>
                  <a:cubicBezTo>
                    <a:pt x="171150" y="32131"/>
                    <a:pt x="166578" y="34290"/>
                    <a:pt x="163657" y="38481"/>
                  </a:cubicBezTo>
                  <a:cubicBezTo>
                    <a:pt x="158831" y="45212"/>
                    <a:pt x="160482" y="54610"/>
                    <a:pt x="167213" y="59309"/>
                  </a:cubicBezTo>
                  <a:cubicBezTo>
                    <a:pt x="309325" y="159893"/>
                    <a:pt x="394288" y="323470"/>
                    <a:pt x="394288" y="496825"/>
                  </a:cubicBezTo>
                  <a:cubicBezTo>
                    <a:pt x="394288" y="732283"/>
                    <a:pt x="236554" y="943485"/>
                    <a:pt x="10749" y="1010414"/>
                  </a:cubicBezTo>
                  <a:cubicBezTo>
                    <a:pt x="2875" y="1012700"/>
                    <a:pt x="-1697" y="1021082"/>
                    <a:pt x="589" y="1029083"/>
                  </a:cubicBezTo>
                  <a:cubicBezTo>
                    <a:pt x="2494" y="1035687"/>
                    <a:pt x="8463" y="1039878"/>
                    <a:pt x="14940" y="1039878"/>
                  </a:cubicBezTo>
                  <a:cubicBezTo>
                    <a:pt x="16337" y="1039878"/>
                    <a:pt x="17734" y="1039751"/>
                    <a:pt x="19258" y="1039243"/>
                  </a:cubicBezTo>
                  <a:cubicBezTo>
                    <a:pt x="71328" y="1023749"/>
                    <a:pt x="120985" y="1000508"/>
                    <a:pt x="166705" y="970790"/>
                  </a:cubicBezTo>
                  <a:cubicBezTo>
                    <a:pt x="170641" y="1007620"/>
                    <a:pt x="185374" y="1037973"/>
                    <a:pt x="210900" y="1061341"/>
                  </a:cubicBezTo>
                  <a:cubicBezTo>
                    <a:pt x="249762" y="1096901"/>
                    <a:pt x="305896" y="1108712"/>
                    <a:pt x="350092" y="1111887"/>
                  </a:cubicBezTo>
                  <a:lnTo>
                    <a:pt x="408766" y="1111887"/>
                  </a:lnTo>
                  <a:cubicBezTo>
                    <a:pt x="414735" y="1111379"/>
                    <a:pt x="418545" y="1110998"/>
                    <a:pt x="419307" y="1110871"/>
                  </a:cubicBezTo>
                  <a:cubicBezTo>
                    <a:pt x="423752" y="1110363"/>
                    <a:pt x="427816" y="1107823"/>
                    <a:pt x="430229" y="1104013"/>
                  </a:cubicBezTo>
                  <a:cubicBezTo>
                    <a:pt x="432642" y="1100203"/>
                    <a:pt x="433150" y="1095504"/>
                    <a:pt x="431753" y="1091313"/>
                  </a:cubicBezTo>
                  <a:cubicBezTo>
                    <a:pt x="391494" y="971171"/>
                    <a:pt x="280623" y="939548"/>
                    <a:pt x="220298" y="931166"/>
                  </a:cubicBezTo>
                  <a:cubicBezTo>
                    <a:pt x="246841" y="909067"/>
                    <a:pt x="271606" y="884556"/>
                    <a:pt x="293704" y="857886"/>
                  </a:cubicBezTo>
                  <a:cubicBezTo>
                    <a:pt x="315040" y="890525"/>
                    <a:pt x="343361" y="910972"/>
                    <a:pt x="378159" y="918719"/>
                  </a:cubicBezTo>
                  <a:cubicBezTo>
                    <a:pt x="388954" y="921133"/>
                    <a:pt x="400003" y="922149"/>
                    <a:pt x="410925" y="922149"/>
                  </a:cubicBezTo>
                  <a:cubicBezTo>
                    <a:pt x="488394" y="922149"/>
                    <a:pt x="562816" y="868554"/>
                    <a:pt x="566372" y="865887"/>
                  </a:cubicBezTo>
                  <a:cubicBezTo>
                    <a:pt x="569928" y="863220"/>
                    <a:pt x="572214" y="859156"/>
                    <a:pt x="572468" y="854584"/>
                  </a:cubicBezTo>
                  <a:cubicBezTo>
                    <a:pt x="572722" y="850012"/>
                    <a:pt x="570944" y="845821"/>
                    <a:pt x="567642" y="842646"/>
                  </a:cubicBezTo>
                  <a:cubicBezTo>
                    <a:pt x="523319" y="801879"/>
                    <a:pt x="473282" y="789052"/>
                    <a:pt x="428197" y="789052"/>
                  </a:cubicBezTo>
                  <a:cubicBezTo>
                    <a:pt x="390478" y="789052"/>
                    <a:pt x="356188" y="797942"/>
                    <a:pt x="331423" y="806832"/>
                  </a:cubicBezTo>
                  <a:cubicBezTo>
                    <a:pt x="351489" y="776479"/>
                    <a:pt x="368380" y="744602"/>
                    <a:pt x="381969" y="711455"/>
                  </a:cubicBezTo>
                  <a:cubicBezTo>
                    <a:pt x="404702" y="724917"/>
                    <a:pt x="427816" y="731775"/>
                    <a:pt x="451184" y="731775"/>
                  </a:cubicBezTo>
                  <a:cubicBezTo>
                    <a:pt x="461090" y="731775"/>
                    <a:pt x="471123" y="730505"/>
                    <a:pt x="481156" y="728092"/>
                  </a:cubicBezTo>
                  <a:cubicBezTo>
                    <a:pt x="560911" y="708280"/>
                    <a:pt x="611584" y="615697"/>
                    <a:pt x="613743" y="611887"/>
                  </a:cubicBezTo>
                  <a:cubicBezTo>
                    <a:pt x="615902" y="608077"/>
                    <a:pt x="616156" y="603251"/>
                    <a:pt x="614378" y="599060"/>
                  </a:cubicBezTo>
                  <a:cubicBezTo>
                    <a:pt x="612600" y="594869"/>
                    <a:pt x="609171" y="591694"/>
                    <a:pt x="604980" y="590424"/>
                  </a:cubicBezTo>
                  <a:lnTo>
                    <a:pt x="604980" y="590297"/>
                  </a:lnTo>
                  <a:cubicBezTo>
                    <a:pt x="586438" y="584582"/>
                    <a:pt x="568658" y="582042"/>
                    <a:pt x="551767" y="582042"/>
                  </a:cubicBezTo>
                  <a:cubicBezTo>
                    <a:pt x="487506" y="582042"/>
                    <a:pt x="435690" y="617856"/>
                    <a:pt x="403940" y="647320"/>
                  </a:cubicBezTo>
                  <a:cubicBezTo>
                    <a:pt x="415243" y="606426"/>
                    <a:pt x="421974" y="564135"/>
                    <a:pt x="423752" y="520955"/>
                  </a:cubicBezTo>
                  <a:cubicBezTo>
                    <a:pt x="424260" y="521082"/>
                    <a:pt x="424768" y="521336"/>
                    <a:pt x="425403" y="521463"/>
                  </a:cubicBezTo>
                  <a:cubicBezTo>
                    <a:pt x="435436" y="523368"/>
                    <a:pt x="445215" y="524384"/>
                    <a:pt x="454740" y="524384"/>
                  </a:cubicBezTo>
                  <a:cubicBezTo>
                    <a:pt x="481029" y="524384"/>
                    <a:pt x="504777" y="516891"/>
                    <a:pt x="525605" y="501905"/>
                  </a:cubicBezTo>
                  <a:cubicBezTo>
                    <a:pt x="586057" y="458344"/>
                    <a:pt x="598884" y="367158"/>
                    <a:pt x="599392" y="363348"/>
                  </a:cubicBezTo>
                  <a:cubicBezTo>
                    <a:pt x="600027" y="358903"/>
                    <a:pt x="598503" y="354458"/>
                    <a:pt x="595582" y="351156"/>
                  </a:cubicBezTo>
                  <a:cubicBezTo>
                    <a:pt x="592788" y="348108"/>
                    <a:pt x="588851" y="346330"/>
                    <a:pt x="584660" y="346330"/>
                  </a:cubicBezTo>
                  <a:cubicBezTo>
                    <a:pt x="584279" y="346330"/>
                    <a:pt x="584025" y="346330"/>
                    <a:pt x="583644" y="346330"/>
                  </a:cubicBezTo>
                  <a:cubicBezTo>
                    <a:pt x="489665" y="351537"/>
                    <a:pt x="442548" y="431928"/>
                    <a:pt x="423879" y="475489"/>
                  </a:cubicBezTo>
                  <a:cubicBezTo>
                    <a:pt x="421974" y="426594"/>
                    <a:pt x="413846" y="378588"/>
                    <a:pt x="399749" y="332487"/>
                  </a:cubicBezTo>
                  <a:cubicBezTo>
                    <a:pt x="431499" y="324994"/>
                    <a:pt x="456264" y="308738"/>
                    <a:pt x="473155" y="283719"/>
                  </a:cubicBezTo>
                  <a:cubicBezTo>
                    <a:pt x="510492" y="228473"/>
                    <a:pt x="495760" y="151384"/>
                    <a:pt x="495125" y="148082"/>
                  </a:cubicBezTo>
                  <a:cubicBezTo>
                    <a:pt x="494236" y="143764"/>
                    <a:pt x="491569" y="139954"/>
                    <a:pt x="487506" y="137795"/>
                  </a:cubicBezTo>
                  <a:cubicBezTo>
                    <a:pt x="485220" y="136652"/>
                    <a:pt x="482807" y="136017"/>
                    <a:pt x="480267" y="136017"/>
                  </a:cubicBezTo>
                  <a:cubicBezTo>
                    <a:pt x="478362" y="136017"/>
                    <a:pt x="476584" y="136398"/>
                    <a:pt x="474806" y="137033"/>
                  </a:cubicBezTo>
                  <a:cubicBezTo>
                    <a:pt x="408385" y="163449"/>
                    <a:pt x="386160" y="230124"/>
                    <a:pt x="378794" y="275210"/>
                  </a:cubicBezTo>
                  <a:cubicBezTo>
                    <a:pt x="365459" y="243967"/>
                    <a:pt x="349330" y="213995"/>
                    <a:pt x="330534" y="185547"/>
                  </a:cubicBezTo>
                  <a:cubicBezTo>
                    <a:pt x="395431" y="130302"/>
                    <a:pt x="370031" y="45847"/>
                    <a:pt x="346028" y="6985"/>
                  </a:cubicBezTo>
                  <a:cubicBezTo>
                    <a:pt x="343742" y="3175"/>
                    <a:pt x="339805" y="635"/>
                    <a:pt x="335360" y="0"/>
                  </a:cubicBezTo>
                  <a:cubicBezTo>
                    <a:pt x="334725" y="254"/>
                    <a:pt x="334090" y="254"/>
                    <a:pt x="333328" y="254"/>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6" name="Google Shape;936;p25"/>
          <p:cNvSpPr/>
          <p:nvPr/>
        </p:nvSpPr>
        <p:spPr>
          <a:xfrm>
            <a:off x="14828777" y="3085033"/>
            <a:ext cx="2381250" cy="1971675"/>
          </a:xfrm>
          <a:custGeom>
            <a:rect b="b" l="l" r="r" t="t"/>
            <a:pathLst>
              <a:path extrusionOk="0" h="2628900" w="3175000">
                <a:moveTo>
                  <a:pt x="0" y="0"/>
                </a:moveTo>
                <a:lnTo>
                  <a:pt x="3175000" y="0"/>
                </a:lnTo>
                <a:lnTo>
                  <a:pt x="3175000" y="2628900"/>
                </a:lnTo>
                <a:lnTo>
                  <a:pt x="0" y="2628900"/>
                </a:lnTo>
                <a:lnTo>
                  <a:pt x="0" y="0"/>
                </a:lnTo>
                <a:close/>
              </a:path>
            </a:pathLst>
          </a:custGeom>
          <a:blipFill rotWithShape="1">
            <a:blip r:embed="rId7">
              <a:alphaModFix/>
            </a:blip>
            <a:stretch>
              <a:fillRect b="0" l="0" r="0" t="0"/>
            </a:stretch>
          </a:blipFill>
          <a:ln>
            <a:noFill/>
          </a:ln>
        </p:spPr>
      </p:sp>
      <p:sp>
        <p:nvSpPr>
          <p:cNvPr id="937" name="Google Shape;937;p25"/>
          <p:cNvSpPr/>
          <p:nvPr/>
        </p:nvSpPr>
        <p:spPr>
          <a:xfrm>
            <a:off x="1232249" y="6247524"/>
            <a:ext cx="3294002" cy="2708272"/>
          </a:xfrm>
          <a:custGeom>
            <a:rect b="b" l="l" r="r" t="t"/>
            <a:pathLst>
              <a:path extrusionOk="0" h="2708272" w="3294002">
                <a:moveTo>
                  <a:pt x="0" y="0"/>
                </a:moveTo>
                <a:lnTo>
                  <a:pt x="3294002" y="0"/>
                </a:lnTo>
                <a:lnTo>
                  <a:pt x="3294002" y="2708272"/>
                </a:lnTo>
                <a:lnTo>
                  <a:pt x="0" y="2708272"/>
                </a:lnTo>
                <a:lnTo>
                  <a:pt x="0" y="0"/>
                </a:lnTo>
                <a:close/>
              </a:path>
            </a:pathLst>
          </a:custGeom>
          <a:blipFill rotWithShape="1">
            <a:blip r:embed="rId8">
              <a:alphaModFix/>
            </a:blip>
            <a:stretch>
              <a:fillRect b="0" l="0" r="0" t="0"/>
            </a:stretch>
          </a:blipFill>
          <a:ln>
            <a:noFill/>
          </a:ln>
        </p:spPr>
      </p:sp>
      <p:sp>
        <p:nvSpPr>
          <p:cNvPr id="938" name="Google Shape;938;p25"/>
          <p:cNvSpPr/>
          <p:nvPr/>
        </p:nvSpPr>
        <p:spPr>
          <a:xfrm>
            <a:off x="6369368" y="6176010"/>
            <a:ext cx="4352925" cy="2903982"/>
          </a:xfrm>
          <a:custGeom>
            <a:rect b="b" l="l" r="r" t="t"/>
            <a:pathLst>
              <a:path extrusionOk="0" h="3871976" w="5803900">
                <a:moveTo>
                  <a:pt x="241300" y="0"/>
                </a:moveTo>
                <a:cubicBezTo>
                  <a:pt x="108077" y="0"/>
                  <a:pt x="0" y="108077"/>
                  <a:pt x="0" y="241300"/>
                </a:cubicBezTo>
                <a:lnTo>
                  <a:pt x="0" y="3630676"/>
                </a:lnTo>
                <a:cubicBezTo>
                  <a:pt x="0" y="3763899"/>
                  <a:pt x="108077" y="3871976"/>
                  <a:pt x="241300" y="3871976"/>
                </a:cubicBezTo>
                <a:lnTo>
                  <a:pt x="5566664" y="3871976"/>
                </a:lnTo>
                <a:cubicBezTo>
                  <a:pt x="5684774" y="3871976"/>
                  <a:pt x="5783199" y="3787013"/>
                  <a:pt x="5803900" y="3674872"/>
                </a:cubicBezTo>
                <a:lnTo>
                  <a:pt x="5803900" y="197104"/>
                </a:lnTo>
                <a:cubicBezTo>
                  <a:pt x="5783199" y="84963"/>
                  <a:pt x="5684774" y="0"/>
                  <a:pt x="5566664" y="0"/>
                </a:cubicBezTo>
                <a:close/>
              </a:path>
            </a:pathLst>
          </a:custGeom>
          <a:blipFill rotWithShape="1">
            <a:blip r:embed="rId9">
              <a:alphaModFix/>
            </a:blip>
            <a:stretch>
              <a:fillRect b="-39"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5"/>
          <p:cNvSpPr/>
          <p:nvPr/>
        </p:nvSpPr>
        <p:spPr>
          <a:xfrm>
            <a:off x="12322607" y="6311017"/>
            <a:ext cx="4572000" cy="2657475"/>
          </a:xfrm>
          <a:custGeom>
            <a:rect b="b" l="l" r="r" t="t"/>
            <a:pathLst>
              <a:path extrusionOk="0" h="3543300" w="6096000">
                <a:moveTo>
                  <a:pt x="0" y="0"/>
                </a:moveTo>
                <a:lnTo>
                  <a:pt x="6096000" y="0"/>
                </a:lnTo>
                <a:lnTo>
                  <a:pt x="6096000" y="3543300"/>
                </a:lnTo>
                <a:lnTo>
                  <a:pt x="0" y="3543300"/>
                </a:lnTo>
                <a:lnTo>
                  <a:pt x="0" y="0"/>
                </a:lnTo>
                <a:close/>
              </a:path>
            </a:pathLst>
          </a:custGeom>
          <a:blipFill rotWithShape="1">
            <a:blip r:embed="rId10">
              <a:alphaModFix/>
            </a:blip>
            <a:stretch>
              <a:fillRect b="0" l="0" r="0" t="0"/>
            </a:stretch>
          </a:blipFill>
          <a:ln>
            <a:noFill/>
          </a:ln>
        </p:spPr>
      </p:sp>
      <p:grpSp>
        <p:nvGrpSpPr>
          <p:cNvPr id="940" name="Google Shape;940;p25"/>
          <p:cNvGrpSpPr/>
          <p:nvPr/>
        </p:nvGrpSpPr>
        <p:grpSpPr>
          <a:xfrm>
            <a:off x="131089" y="197155"/>
            <a:ext cx="411477" cy="592837"/>
            <a:chOff x="63500" y="63500"/>
            <a:chExt cx="411479" cy="592837"/>
          </a:xfrm>
        </p:grpSpPr>
        <p:sp>
          <p:nvSpPr>
            <p:cNvPr id="941" name="Google Shape;941;p25"/>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5"/>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5"/>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5"/>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5"/>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5"/>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5"/>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sp>
        <p:nvSpPr>
          <p:cNvPr id="948" name="Google Shape;948;p25"/>
          <p:cNvSpPr/>
          <p:nvPr/>
        </p:nvSpPr>
        <p:spPr>
          <a:xfrm>
            <a:off x="1293343" y="6311017"/>
            <a:ext cx="3171064" cy="2582927"/>
          </a:xfrm>
          <a:custGeom>
            <a:rect b="b" l="l" r="r" t="t"/>
            <a:pathLst>
              <a:path extrusionOk="0" h="2582927" w="3171068">
                <a:moveTo>
                  <a:pt x="0" y="2582927"/>
                </a:moveTo>
                <a:lnTo>
                  <a:pt x="3171068" y="2582927"/>
                </a:lnTo>
                <a:lnTo>
                  <a:pt x="3171068" y="0"/>
                </a:lnTo>
                <a:lnTo>
                  <a:pt x="0" y="0"/>
                </a:lnTo>
                <a:close/>
              </a:path>
            </a:pathLst>
          </a:custGeom>
          <a:solidFill>
            <a:srgbClr val="000000">
              <a:alpha val="0"/>
            </a:srgbClr>
          </a:solidFill>
          <a:ln>
            <a:noFill/>
          </a:ln>
        </p:spPr>
      </p:sp>
      <p:sp>
        <p:nvSpPr>
          <p:cNvPr id="949" name="Google Shape;949;p25"/>
          <p:cNvSpPr/>
          <p:nvPr/>
        </p:nvSpPr>
        <p:spPr>
          <a:xfrm>
            <a:off x="4723511" y="7236079"/>
            <a:ext cx="985901" cy="729742"/>
          </a:xfrm>
          <a:custGeom>
            <a:rect b="b" l="l" r="r" t="t"/>
            <a:pathLst>
              <a:path extrusionOk="0" h="729742" w="985901">
                <a:moveTo>
                  <a:pt x="565658" y="0"/>
                </a:moveTo>
                <a:lnTo>
                  <a:pt x="655955" y="226187"/>
                </a:lnTo>
                <a:lnTo>
                  <a:pt x="0" y="238252"/>
                </a:lnTo>
                <a:lnTo>
                  <a:pt x="5080" y="512572"/>
                </a:lnTo>
                <a:lnTo>
                  <a:pt x="661035" y="500507"/>
                </a:lnTo>
                <a:lnTo>
                  <a:pt x="579247" y="729742"/>
                </a:lnTo>
                <a:lnTo>
                  <a:pt x="985901" y="357251"/>
                </a:lnTo>
                <a:lnTo>
                  <a:pt x="565658" y="0"/>
                </a:lnTo>
                <a:close/>
              </a:path>
            </a:pathLst>
          </a:custGeom>
          <a:solidFill>
            <a:srgbClr val="FF7755"/>
          </a:solidFill>
          <a:ln>
            <a:noFill/>
          </a:ln>
        </p:spPr>
      </p:sp>
      <p:sp>
        <p:nvSpPr>
          <p:cNvPr id="950" name="Google Shape;950;p25"/>
          <p:cNvSpPr/>
          <p:nvPr/>
        </p:nvSpPr>
        <p:spPr>
          <a:xfrm>
            <a:off x="11088878" y="7236079"/>
            <a:ext cx="985901" cy="729742"/>
          </a:xfrm>
          <a:custGeom>
            <a:rect b="b" l="l" r="r" t="t"/>
            <a:pathLst>
              <a:path extrusionOk="0" h="729742" w="985901">
                <a:moveTo>
                  <a:pt x="565658" y="0"/>
                </a:moveTo>
                <a:lnTo>
                  <a:pt x="655955" y="226187"/>
                </a:lnTo>
                <a:lnTo>
                  <a:pt x="0" y="238252"/>
                </a:lnTo>
                <a:lnTo>
                  <a:pt x="5080" y="512572"/>
                </a:lnTo>
                <a:lnTo>
                  <a:pt x="661035" y="500507"/>
                </a:lnTo>
                <a:lnTo>
                  <a:pt x="579247" y="729742"/>
                </a:lnTo>
                <a:lnTo>
                  <a:pt x="985901" y="357251"/>
                </a:lnTo>
                <a:lnTo>
                  <a:pt x="565658" y="0"/>
                </a:lnTo>
                <a:close/>
              </a:path>
            </a:pathLst>
          </a:custGeom>
          <a:solidFill>
            <a:srgbClr val="FF7755"/>
          </a:solidFill>
          <a:ln>
            <a:noFill/>
          </a:ln>
        </p:spPr>
      </p:sp>
      <p:grpSp>
        <p:nvGrpSpPr>
          <p:cNvPr id="951" name="Google Shape;951;p25"/>
          <p:cNvGrpSpPr/>
          <p:nvPr/>
        </p:nvGrpSpPr>
        <p:grpSpPr>
          <a:xfrm>
            <a:off x="12183339" y="7617"/>
            <a:ext cx="6095997" cy="2692778"/>
            <a:chOff x="63500" y="63500"/>
            <a:chExt cx="6096000" cy="2692784"/>
          </a:xfrm>
        </p:grpSpPr>
        <p:sp>
          <p:nvSpPr>
            <p:cNvPr id="952" name="Google Shape;952;p25"/>
            <p:cNvSpPr/>
            <p:nvPr/>
          </p:nvSpPr>
          <p:spPr>
            <a:xfrm>
              <a:off x="63500" y="63500"/>
              <a:ext cx="6096000" cy="1492633"/>
            </a:xfrm>
            <a:custGeom>
              <a:rect b="b" l="l" r="r" t="t"/>
              <a:pathLst>
                <a:path extrusionOk="0" h="1492633" w="6096000">
                  <a:moveTo>
                    <a:pt x="0" y="1492633"/>
                  </a:moveTo>
                  <a:lnTo>
                    <a:pt x="6096000" y="1492633"/>
                  </a:lnTo>
                  <a:lnTo>
                    <a:pt x="6096000" y="0"/>
                  </a:lnTo>
                  <a:lnTo>
                    <a:pt x="0" y="0"/>
                  </a:lnTo>
                  <a:close/>
                </a:path>
              </a:pathLst>
            </a:custGeom>
            <a:solidFill>
              <a:srgbClr val="000000">
                <a:alpha val="0"/>
              </a:srgbClr>
            </a:solidFill>
            <a:ln>
              <a:noFill/>
            </a:ln>
          </p:spPr>
        </p:sp>
        <p:sp>
          <p:nvSpPr>
            <p:cNvPr id="953" name="Google Shape;953;p25"/>
            <p:cNvSpPr/>
            <p:nvPr/>
          </p:nvSpPr>
          <p:spPr>
            <a:xfrm>
              <a:off x="2290318" y="1638683"/>
              <a:ext cx="1417066" cy="1117601"/>
            </a:xfrm>
            <a:custGeom>
              <a:rect b="b" l="l" r="r" t="t"/>
              <a:pathLst>
                <a:path extrusionOk="0" h="1117601" w="1417066">
                  <a:moveTo>
                    <a:pt x="0" y="1117601"/>
                  </a:moveTo>
                  <a:lnTo>
                    <a:pt x="1417066" y="1117601"/>
                  </a:lnTo>
                  <a:lnTo>
                    <a:pt x="1417066" y="0"/>
                  </a:lnTo>
                  <a:lnTo>
                    <a:pt x="0" y="0"/>
                  </a:lnTo>
                  <a:close/>
                </a:path>
              </a:pathLst>
            </a:custGeom>
            <a:solidFill>
              <a:srgbClr val="000000">
                <a:alpha val="0"/>
              </a:srgbClr>
            </a:solidFill>
            <a:ln>
              <a:noFill/>
            </a:ln>
          </p:spPr>
        </p:sp>
      </p:grpSp>
      <p:sp>
        <p:nvSpPr>
          <p:cNvPr id="954" name="Google Shape;954;p25"/>
          <p:cNvSpPr txBox="1"/>
          <p:nvPr/>
        </p:nvSpPr>
        <p:spPr>
          <a:xfrm>
            <a:off x="6706295" y="260242"/>
            <a:ext cx="4186009"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099">
                <a:solidFill>
                  <a:srgbClr val="424242"/>
                </a:solidFill>
                <a:latin typeface="Calibri"/>
                <a:ea typeface="Calibri"/>
                <a:cs typeface="Calibri"/>
                <a:sym typeface="Calibri"/>
              </a:rPr>
              <a:t>Social Impact &amp; Schedule</a:t>
            </a:r>
            <a:endParaRPr/>
          </a:p>
        </p:txBody>
      </p:sp>
      <p:sp>
        <p:nvSpPr>
          <p:cNvPr id="955" name="Google Shape;955;p25"/>
          <p:cNvSpPr txBox="1"/>
          <p:nvPr/>
        </p:nvSpPr>
        <p:spPr>
          <a:xfrm>
            <a:off x="800852" y="1437180"/>
            <a:ext cx="4708160" cy="900960"/>
          </a:xfrm>
          <a:prstGeom prst="rect">
            <a:avLst/>
          </a:prstGeom>
          <a:noFill/>
          <a:ln>
            <a:noFill/>
          </a:ln>
        </p:spPr>
        <p:txBody>
          <a:bodyPr anchorCtr="0" anchor="t" bIns="0" lIns="0" spcFirstLastPara="1" rIns="0" wrap="square" tIns="0">
            <a:spAutoFit/>
          </a:bodyPr>
          <a:lstStyle/>
          <a:p>
            <a:pPr indent="0" lvl="0" marL="0" marR="0" rtl="0" algn="l">
              <a:lnSpc>
                <a:spcPct val="139987"/>
              </a:lnSpc>
              <a:spcBef>
                <a:spcPts val="0"/>
              </a:spcBef>
              <a:spcAft>
                <a:spcPts val="0"/>
              </a:spcAft>
              <a:buNone/>
            </a:pPr>
            <a:r>
              <a:rPr b="1" lang="en-US" sz="4799">
                <a:solidFill>
                  <a:srgbClr val="E69138"/>
                </a:solidFill>
                <a:latin typeface="Calibri"/>
                <a:ea typeface="Calibri"/>
                <a:cs typeface="Calibri"/>
                <a:sym typeface="Calibri"/>
              </a:rPr>
              <a:t>Who is Benefited?</a:t>
            </a:r>
            <a:endParaRPr/>
          </a:p>
        </p:txBody>
      </p:sp>
      <p:sp>
        <p:nvSpPr>
          <p:cNvPr id="956" name="Google Shape;956;p25"/>
          <p:cNvSpPr txBox="1"/>
          <p:nvPr/>
        </p:nvSpPr>
        <p:spPr>
          <a:xfrm>
            <a:off x="800852" y="5107905"/>
            <a:ext cx="5450596" cy="900960"/>
          </a:xfrm>
          <a:prstGeom prst="rect">
            <a:avLst/>
          </a:prstGeom>
          <a:noFill/>
          <a:ln>
            <a:noFill/>
          </a:ln>
        </p:spPr>
        <p:txBody>
          <a:bodyPr anchorCtr="0" anchor="t" bIns="0" lIns="0" spcFirstLastPara="1" rIns="0" wrap="square" tIns="0">
            <a:spAutoFit/>
          </a:bodyPr>
          <a:lstStyle/>
          <a:p>
            <a:pPr indent="0" lvl="0" marL="0" marR="0" rtl="0" algn="l">
              <a:lnSpc>
                <a:spcPct val="139987"/>
              </a:lnSpc>
              <a:spcBef>
                <a:spcPts val="0"/>
              </a:spcBef>
              <a:spcAft>
                <a:spcPts val="0"/>
              </a:spcAft>
              <a:buNone/>
            </a:pPr>
            <a:r>
              <a:rPr b="1" lang="en-US" sz="4799">
                <a:solidFill>
                  <a:srgbClr val="E69138"/>
                </a:solidFill>
                <a:latin typeface="Calibri"/>
                <a:ea typeface="Calibri"/>
                <a:cs typeface="Calibri"/>
                <a:sym typeface="Calibri"/>
              </a:rPr>
              <a:t>Real World Use Case:</a:t>
            </a:r>
            <a:endParaRPr/>
          </a:p>
        </p:txBody>
      </p:sp>
      <p:sp>
        <p:nvSpPr>
          <p:cNvPr id="957" name="Google Shape;957;p25"/>
          <p:cNvSpPr txBox="1"/>
          <p:nvPr/>
        </p:nvSpPr>
        <p:spPr>
          <a:xfrm>
            <a:off x="876900" y="2632415"/>
            <a:ext cx="141039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1" lang="en-US" sz="2700">
                <a:solidFill>
                  <a:srgbClr val="000000"/>
                </a:solidFill>
                <a:latin typeface="Calibri"/>
                <a:ea typeface="Calibri"/>
                <a:cs typeface="Calibri"/>
                <a:sym typeface="Calibri"/>
              </a:rPr>
              <a:t>Primary - </a:t>
            </a:r>
            <a:endParaRPr/>
          </a:p>
        </p:txBody>
      </p:sp>
      <p:sp>
        <p:nvSpPr>
          <p:cNvPr id="958" name="Google Shape;958;p25"/>
          <p:cNvSpPr txBox="1"/>
          <p:nvPr/>
        </p:nvSpPr>
        <p:spPr>
          <a:xfrm>
            <a:off x="2625157" y="2667486"/>
            <a:ext cx="9094565" cy="861060"/>
          </a:xfrm>
          <a:prstGeom prst="rect">
            <a:avLst/>
          </a:prstGeom>
          <a:noFill/>
          <a:ln>
            <a:noFill/>
          </a:ln>
        </p:spPr>
        <p:txBody>
          <a:bodyPr anchorCtr="0" anchor="t" bIns="0" lIns="0" spcFirstLastPara="1" rIns="0" wrap="square" tIns="0">
            <a:spAutoFit/>
          </a:bodyPr>
          <a:lstStyle/>
          <a:p>
            <a:pPr indent="0" lvl="0" marL="0" marR="0" rtl="0" algn="l">
              <a:lnSpc>
                <a:spcPct val="119370"/>
              </a:lnSpc>
              <a:spcBef>
                <a:spcPts val="0"/>
              </a:spcBef>
              <a:spcAft>
                <a:spcPts val="0"/>
              </a:spcAft>
              <a:buNone/>
            </a:pPr>
            <a:r>
              <a:rPr lang="en-US" sz="2700">
                <a:solidFill>
                  <a:srgbClr val="000000"/>
                </a:solidFill>
                <a:latin typeface="Calibri"/>
                <a:ea typeface="Calibri"/>
                <a:cs typeface="Calibri"/>
                <a:sym typeface="Calibri"/>
              </a:rPr>
              <a:t>Visually impaired / blind students (especially in under-resourced schools)</a:t>
            </a:r>
            <a:endParaRPr/>
          </a:p>
        </p:txBody>
      </p:sp>
      <p:sp>
        <p:nvSpPr>
          <p:cNvPr id="959" name="Google Shape;959;p25"/>
          <p:cNvSpPr txBox="1"/>
          <p:nvPr/>
        </p:nvSpPr>
        <p:spPr>
          <a:xfrm>
            <a:off x="876900" y="3802971"/>
            <a:ext cx="10744200" cy="511664"/>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1" lang="en-US" sz="2700">
                <a:solidFill>
                  <a:srgbClr val="000000"/>
                </a:solidFill>
                <a:latin typeface="Calibri"/>
                <a:ea typeface="Calibri"/>
                <a:cs typeface="Calibri"/>
                <a:sym typeface="Calibri"/>
              </a:rPr>
              <a:t>Secondary - </a:t>
            </a:r>
            <a:r>
              <a:rPr lang="en-US" sz="2700">
                <a:solidFill>
                  <a:srgbClr val="000000"/>
                </a:solidFill>
                <a:latin typeface="Calibri"/>
                <a:ea typeface="Calibri"/>
                <a:cs typeface="Calibri"/>
                <a:sym typeface="Calibri"/>
              </a:rPr>
              <a:t>Teachers, special educators, schools, parents/caregivers, NGOs</a:t>
            </a:r>
            <a:endParaRPr/>
          </a:p>
        </p:txBody>
      </p:sp>
      <p:sp>
        <p:nvSpPr>
          <p:cNvPr id="960" name="Google Shape;960;p25"/>
          <p:cNvSpPr txBox="1"/>
          <p:nvPr/>
        </p:nvSpPr>
        <p:spPr>
          <a:xfrm>
            <a:off x="2722912" y="4212546"/>
            <a:ext cx="4171645" cy="4991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lang="en-US" sz="2700">
                <a:solidFill>
                  <a:srgbClr val="000000"/>
                </a:solidFill>
                <a:latin typeface="Calibri"/>
                <a:ea typeface="Calibri"/>
                <a:cs typeface="Calibri"/>
                <a:sym typeface="Calibri"/>
              </a:rPr>
              <a:t>working in disability inclusion</a:t>
            </a:r>
            <a:endParaRPr/>
          </a:p>
        </p:txBody>
      </p:sp>
      <p:sp>
        <p:nvSpPr>
          <p:cNvPr id="961" name="Google Shape;961;p25"/>
          <p:cNvSpPr txBox="1"/>
          <p:nvPr/>
        </p:nvSpPr>
        <p:spPr>
          <a:xfrm>
            <a:off x="742779" y="9224010"/>
            <a:ext cx="4505430" cy="65913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424242"/>
                </a:solidFill>
                <a:latin typeface="Calibri"/>
                <a:ea typeface="Calibri"/>
                <a:cs typeface="Calibri"/>
                <a:sym typeface="Calibri"/>
              </a:rPr>
              <a:t>Teacher introduces topic (e.g., triangles / graphs / coordinate geometry)</a:t>
            </a:r>
            <a:endParaRPr/>
          </a:p>
        </p:txBody>
      </p:sp>
      <p:sp>
        <p:nvSpPr>
          <p:cNvPr id="962" name="Google Shape;962;p25"/>
          <p:cNvSpPr txBox="1"/>
          <p:nvPr/>
        </p:nvSpPr>
        <p:spPr>
          <a:xfrm>
            <a:off x="6337059" y="9276664"/>
            <a:ext cx="4508887" cy="65913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424242"/>
                </a:solidFill>
                <a:latin typeface="Calibri"/>
                <a:ea typeface="Calibri"/>
                <a:cs typeface="Calibri"/>
                <a:sym typeface="Calibri"/>
              </a:rPr>
              <a:t>Student uses the tool to feel the diagram (tactile output) + hear guidance (audio)</a:t>
            </a:r>
            <a:endParaRPr/>
          </a:p>
        </p:txBody>
      </p:sp>
      <p:sp>
        <p:nvSpPr>
          <p:cNvPr id="963" name="Google Shape;963;p25"/>
          <p:cNvSpPr txBox="1"/>
          <p:nvPr/>
        </p:nvSpPr>
        <p:spPr>
          <a:xfrm>
            <a:off x="12806648" y="9276664"/>
            <a:ext cx="3679898" cy="65913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424242"/>
                </a:solidFill>
                <a:latin typeface="Calibri"/>
                <a:ea typeface="Calibri"/>
                <a:cs typeface="Calibri"/>
                <a:sym typeface="Calibri"/>
              </a:rPr>
              <a:t>Student solves practice questions independently, gets feedback</a:t>
            </a:r>
            <a:endParaRPr/>
          </a:p>
        </p:txBody>
      </p:sp>
      <p:sp>
        <p:nvSpPr>
          <p:cNvPr id="964" name="Google Shape;964;p25"/>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26"/>
          <p:cNvSpPr/>
          <p:nvPr/>
        </p:nvSpPr>
        <p:spPr>
          <a:xfrm>
            <a:off x="15403468" y="183388"/>
            <a:ext cx="9525" cy="763524"/>
          </a:xfrm>
          <a:custGeom>
            <a:rect b="b" l="l" r="r" t="t"/>
            <a:pathLst>
              <a:path extrusionOk="0" h="763524" w="9525">
                <a:moveTo>
                  <a:pt x="0" y="0"/>
                </a:moveTo>
                <a:lnTo>
                  <a:pt x="0" y="763524"/>
                </a:lnTo>
                <a:lnTo>
                  <a:pt x="9525" y="763524"/>
                </a:lnTo>
                <a:lnTo>
                  <a:pt x="9525" y="0"/>
                </a:lnTo>
                <a:close/>
              </a:path>
            </a:pathLst>
          </a:custGeom>
          <a:solidFill>
            <a:srgbClr val="000000"/>
          </a:solidFill>
          <a:ln>
            <a:noFill/>
          </a:ln>
        </p:spPr>
      </p:sp>
      <p:sp>
        <p:nvSpPr>
          <p:cNvPr id="970" name="Google Shape;970;p26"/>
          <p:cNvSpPr/>
          <p:nvPr/>
        </p:nvSpPr>
        <p:spPr>
          <a:xfrm>
            <a:off x="15839694" y="241230"/>
            <a:ext cx="1611726" cy="494823"/>
          </a:xfrm>
          <a:custGeom>
            <a:rect b="b" l="l" r="r" t="t"/>
            <a:pathLst>
              <a:path extrusionOk="0" h="659765" w="2148967">
                <a:moveTo>
                  <a:pt x="0" y="0"/>
                </a:moveTo>
                <a:lnTo>
                  <a:pt x="2148967" y="0"/>
                </a:lnTo>
                <a:lnTo>
                  <a:pt x="2148967" y="659765"/>
                </a:lnTo>
                <a:lnTo>
                  <a:pt x="0" y="659765"/>
                </a:lnTo>
                <a:lnTo>
                  <a:pt x="0" y="0"/>
                </a:lnTo>
                <a:close/>
              </a:path>
            </a:pathLst>
          </a:custGeom>
          <a:blipFill rotWithShape="1">
            <a:blip r:embed="rId3">
              <a:alphaModFix/>
            </a:blip>
            <a:stretch>
              <a:fillRect b="-773" l="0" r="-12" t="0"/>
            </a:stretch>
          </a:blipFill>
          <a:ln>
            <a:noFill/>
          </a:ln>
        </p:spPr>
      </p:sp>
      <p:sp>
        <p:nvSpPr>
          <p:cNvPr id="971" name="Google Shape;971;p26"/>
          <p:cNvSpPr/>
          <p:nvPr/>
        </p:nvSpPr>
        <p:spPr>
          <a:xfrm>
            <a:off x="13591461" y="0"/>
            <a:ext cx="1812036" cy="952024"/>
          </a:xfrm>
          <a:custGeom>
            <a:rect b="b" l="l" r="r" t="t"/>
            <a:pathLst>
              <a:path extrusionOk="0" h="1269365" w="2416048">
                <a:moveTo>
                  <a:pt x="0" y="0"/>
                </a:moveTo>
                <a:lnTo>
                  <a:pt x="2416048" y="0"/>
                </a:lnTo>
                <a:lnTo>
                  <a:pt x="2416048" y="1269365"/>
                </a:lnTo>
                <a:lnTo>
                  <a:pt x="0" y="1269365"/>
                </a:lnTo>
                <a:lnTo>
                  <a:pt x="0" y="0"/>
                </a:lnTo>
                <a:close/>
              </a:path>
            </a:pathLst>
          </a:custGeom>
          <a:blipFill rotWithShape="1">
            <a:blip r:embed="rId4">
              <a:alphaModFix/>
            </a:blip>
            <a:stretch>
              <a:fillRect b="-405" l="0" r="-49" t="-3945"/>
            </a:stretch>
          </a:blipFill>
          <a:ln>
            <a:noFill/>
          </a:ln>
        </p:spPr>
      </p:sp>
      <p:grpSp>
        <p:nvGrpSpPr>
          <p:cNvPr id="972" name="Google Shape;972;p26"/>
          <p:cNvGrpSpPr/>
          <p:nvPr/>
        </p:nvGrpSpPr>
        <p:grpSpPr>
          <a:xfrm>
            <a:off x="758825" y="1203785"/>
            <a:ext cx="9284843" cy="8930001"/>
            <a:chOff x="63500" y="63500"/>
            <a:chExt cx="9284846" cy="8930001"/>
          </a:xfrm>
        </p:grpSpPr>
        <p:sp>
          <p:nvSpPr>
            <p:cNvPr id="973" name="Google Shape;973;p26"/>
            <p:cNvSpPr/>
            <p:nvPr/>
          </p:nvSpPr>
          <p:spPr>
            <a:xfrm>
              <a:off x="63500" y="82550"/>
              <a:ext cx="2425701" cy="886714"/>
            </a:xfrm>
            <a:custGeom>
              <a:rect b="b" l="l" r="r" t="t"/>
              <a:pathLst>
                <a:path extrusionOk="0" h="886714" w="2425701">
                  <a:moveTo>
                    <a:pt x="19050" y="19050"/>
                  </a:moveTo>
                  <a:lnTo>
                    <a:pt x="19050" y="886714"/>
                  </a:lnTo>
                  <a:moveTo>
                    <a:pt x="0" y="0"/>
                  </a:moveTo>
                  <a:lnTo>
                    <a:pt x="2425701" y="0"/>
                  </a:lnTo>
                </a:path>
              </a:pathLst>
            </a:custGeom>
            <a:solidFill>
              <a:srgbClr val="000000"/>
            </a:solidFill>
            <a:ln>
              <a:noFill/>
            </a:ln>
          </p:spPr>
        </p:sp>
        <p:sp>
          <p:nvSpPr>
            <p:cNvPr id="974" name="Google Shape;974;p26"/>
            <p:cNvSpPr/>
            <p:nvPr/>
          </p:nvSpPr>
          <p:spPr>
            <a:xfrm>
              <a:off x="63500" y="63500"/>
              <a:ext cx="2425701" cy="905764"/>
            </a:xfrm>
            <a:custGeom>
              <a:rect b="b" l="l" r="r" t="t"/>
              <a:pathLst>
                <a:path extrusionOk="0" h="905764" w="2425701">
                  <a:moveTo>
                    <a:pt x="38100" y="38100"/>
                  </a:moveTo>
                  <a:lnTo>
                    <a:pt x="38100" y="905764"/>
                  </a:lnTo>
                  <a:lnTo>
                    <a:pt x="0" y="905764"/>
                  </a:lnTo>
                  <a:lnTo>
                    <a:pt x="0" y="38100"/>
                  </a:lnTo>
                  <a:close/>
                  <a:moveTo>
                    <a:pt x="0" y="0"/>
                  </a:moveTo>
                  <a:lnTo>
                    <a:pt x="2425701" y="0"/>
                  </a:lnTo>
                  <a:lnTo>
                    <a:pt x="2425701" y="38100"/>
                  </a:lnTo>
                  <a:lnTo>
                    <a:pt x="0" y="38100"/>
                  </a:lnTo>
                  <a:close/>
                </a:path>
              </a:pathLst>
            </a:custGeom>
            <a:solidFill>
              <a:srgbClr val="FF7755"/>
            </a:solidFill>
            <a:ln>
              <a:noFill/>
            </a:ln>
          </p:spPr>
        </p:sp>
        <p:sp>
          <p:nvSpPr>
            <p:cNvPr id="975" name="Google Shape;975;p26"/>
            <p:cNvSpPr/>
            <p:nvPr/>
          </p:nvSpPr>
          <p:spPr>
            <a:xfrm>
              <a:off x="63500" y="82550"/>
              <a:ext cx="9284846" cy="8891901"/>
            </a:xfrm>
            <a:custGeom>
              <a:rect b="b" l="l" r="r" t="t"/>
              <a:pathLst>
                <a:path extrusionOk="0" h="8891901" w="9284846">
                  <a:moveTo>
                    <a:pt x="19050" y="924814"/>
                  </a:moveTo>
                  <a:lnTo>
                    <a:pt x="19050" y="8872851"/>
                  </a:lnTo>
                  <a:moveTo>
                    <a:pt x="2444751" y="19050"/>
                  </a:moveTo>
                  <a:lnTo>
                    <a:pt x="2444751" y="8872851"/>
                  </a:lnTo>
                  <a:moveTo>
                    <a:pt x="5700523" y="19050"/>
                  </a:moveTo>
                  <a:lnTo>
                    <a:pt x="5700523" y="8872851"/>
                  </a:lnTo>
                  <a:moveTo>
                    <a:pt x="9265796" y="19050"/>
                  </a:moveTo>
                  <a:lnTo>
                    <a:pt x="9265796" y="8872851"/>
                  </a:lnTo>
                  <a:moveTo>
                    <a:pt x="2425701" y="0"/>
                  </a:moveTo>
                  <a:lnTo>
                    <a:pt x="9284846" y="0"/>
                  </a:lnTo>
                  <a:moveTo>
                    <a:pt x="0" y="905764"/>
                  </a:moveTo>
                  <a:lnTo>
                    <a:pt x="9284846" y="905764"/>
                  </a:lnTo>
                  <a:moveTo>
                    <a:pt x="0" y="2848990"/>
                  </a:moveTo>
                  <a:lnTo>
                    <a:pt x="9284846" y="2848990"/>
                  </a:lnTo>
                  <a:moveTo>
                    <a:pt x="0" y="4897753"/>
                  </a:moveTo>
                  <a:lnTo>
                    <a:pt x="9284846" y="4897753"/>
                  </a:lnTo>
                  <a:moveTo>
                    <a:pt x="0" y="6941690"/>
                  </a:moveTo>
                  <a:lnTo>
                    <a:pt x="9284846" y="6941690"/>
                  </a:lnTo>
                  <a:moveTo>
                    <a:pt x="0" y="8891901"/>
                  </a:moveTo>
                  <a:lnTo>
                    <a:pt x="9284846" y="8891901"/>
                  </a:lnTo>
                </a:path>
              </a:pathLst>
            </a:custGeom>
            <a:solidFill>
              <a:srgbClr val="000000"/>
            </a:solidFill>
            <a:ln>
              <a:noFill/>
            </a:ln>
          </p:spPr>
        </p:sp>
        <p:sp>
          <p:nvSpPr>
            <p:cNvPr id="976" name="Google Shape;976;p26"/>
            <p:cNvSpPr/>
            <p:nvPr/>
          </p:nvSpPr>
          <p:spPr>
            <a:xfrm>
              <a:off x="63500" y="63500"/>
              <a:ext cx="9284846" cy="8930001"/>
            </a:xfrm>
            <a:custGeom>
              <a:rect b="b" l="l" r="r" t="t"/>
              <a:pathLst>
                <a:path extrusionOk="0" h="8930001" w="9284846">
                  <a:moveTo>
                    <a:pt x="38100" y="943864"/>
                  </a:moveTo>
                  <a:lnTo>
                    <a:pt x="38100" y="8891901"/>
                  </a:lnTo>
                  <a:lnTo>
                    <a:pt x="0" y="8891901"/>
                  </a:lnTo>
                  <a:lnTo>
                    <a:pt x="0" y="943864"/>
                  </a:lnTo>
                  <a:close/>
                  <a:moveTo>
                    <a:pt x="2463801" y="38100"/>
                  </a:moveTo>
                  <a:lnTo>
                    <a:pt x="2463801" y="8891901"/>
                  </a:lnTo>
                  <a:lnTo>
                    <a:pt x="2425701" y="8891901"/>
                  </a:lnTo>
                  <a:lnTo>
                    <a:pt x="2425701" y="38100"/>
                  </a:lnTo>
                  <a:close/>
                  <a:moveTo>
                    <a:pt x="5719573" y="38100"/>
                  </a:moveTo>
                  <a:lnTo>
                    <a:pt x="5719573" y="8891901"/>
                  </a:lnTo>
                  <a:lnTo>
                    <a:pt x="5681473" y="8891901"/>
                  </a:lnTo>
                  <a:lnTo>
                    <a:pt x="5681473" y="38100"/>
                  </a:lnTo>
                  <a:close/>
                  <a:moveTo>
                    <a:pt x="9284846" y="38100"/>
                  </a:moveTo>
                  <a:lnTo>
                    <a:pt x="9284846" y="8891901"/>
                  </a:lnTo>
                  <a:lnTo>
                    <a:pt x="9246746" y="8891901"/>
                  </a:lnTo>
                  <a:lnTo>
                    <a:pt x="9246746" y="38100"/>
                  </a:lnTo>
                  <a:close/>
                  <a:moveTo>
                    <a:pt x="2425701" y="0"/>
                  </a:moveTo>
                  <a:lnTo>
                    <a:pt x="9284846" y="0"/>
                  </a:lnTo>
                  <a:lnTo>
                    <a:pt x="9284846" y="38100"/>
                  </a:lnTo>
                  <a:lnTo>
                    <a:pt x="2425701" y="38100"/>
                  </a:lnTo>
                  <a:close/>
                  <a:moveTo>
                    <a:pt x="0" y="905764"/>
                  </a:moveTo>
                  <a:lnTo>
                    <a:pt x="9284846" y="905764"/>
                  </a:lnTo>
                  <a:lnTo>
                    <a:pt x="9284846" y="943864"/>
                  </a:lnTo>
                  <a:lnTo>
                    <a:pt x="0" y="943864"/>
                  </a:lnTo>
                  <a:close/>
                  <a:moveTo>
                    <a:pt x="0" y="2848990"/>
                  </a:moveTo>
                  <a:lnTo>
                    <a:pt x="9284846" y="2848990"/>
                  </a:lnTo>
                  <a:lnTo>
                    <a:pt x="9284846" y="2887090"/>
                  </a:lnTo>
                  <a:lnTo>
                    <a:pt x="0" y="2887090"/>
                  </a:lnTo>
                  <a:close/>
                  <a:moveTo>
                    <a:pt x="0" y="4897753"/>
                  </a:moveTo>
                  <a:lnTo>
                    <a:pt x="9284846" y="4897753"/>
                  </a:lnTo>
                  <a:lnTo>
                    <a:pt x="9284846" y="4935853"/>
                  </a:lnTo>
                  <a:lnTo>
                    <a:pt x="0" y="4935853"/>
                  </a:lnTo>
                  <a:close/>
                  <a:moveTo>
                    <a:pt x="0" y="6941690"/>
                  </a:moveTo>
                  <a:lnTo>
                    <a:pt x="9284846" y="6941690"/>
                  </a:lnTo>
                  <a:lnTo>
                    <a:pt x="9284846" y="6979790"/>
                  </a:lnTo>
                  <a:lnTo>
                    <a:pt x="0" y="6979790"/>
                  </a:lnTo>
                  <a:close/>
                  <a:moveTo>
                    <a:pt x="0" y="8891901"/>
                  </a:moveTo>
                  <a:lnTo>
                    <a:pt x="9284846" y="8891901"/>
                  </a:lnTo>
                  <a:lnTo>
                    <a:pt x="9284846" y="8930001"/>
                  </a:lnTo>
                  <a:lnTo>
                    <a:pt x="0" y="8930001"/>
                  </a:lnTo>
                  <a:close/>
                </a:path>
              </a:pathLst>
            </a:custGeom>
            <a:solidFill>
              <a:srgbClr val="FD7607"/>
            </a:solidFill>
            <a:ln>
              <a:noFill/>
            </a:ln>
          </p:spPr>
        </p:sp>
      </p:grpSp>
      <p:sp>
        <p:nvSpPr>
          <p:cNvPr id="977" name="Google Shape;977;p26"/>
          <p:cNvSpPr/>
          <p:nvPr/>
        </p:nvSpPr>
        <p:spPr>
          <a:xfrm>
            <a:off x="988781" y="2267312"/>
            <a:ext cx="2000250" cy="1619250"/>
          </a:xfrm>
          <a:custGeom>
            <a:rect b="b" l="l" r="r" t="t"/>
            <a:pathLst>
              <a:path extrusionOk="0" h="2159000" w="2667000">
                <a:moveTo>
                  <a:pt x="0" y="0"/>
                </a:moveTo>
                <a:lnTo>
                  <a:pt x="2667000" y="0"/>
                </a:lnTo>
                <a:lnTo>
                  <a:pt x="2667000" y="2159000"/>
                </a:lnTo>
                <a:lnTo>
                  <a:pt x="0" y="2159000"/>
                </a:lnTo>
                <a:lnTo>
                  <a:pt x="0" y="0"/>
                </a:lnTo>
                <a:close/>
              </a:path>
            </a:pathLst>
          </a:custGeom>
          <a:blipFill rotWithShape="1">
            <a:blip r:embed="rId5">
              <a:alphaModFix/>
            </a:blip>
            <a:stretch>
              <a:fillRect b="-31163" l="0" r="-9523" t="-4129"/>
            </a:stretch>
          </a:blipFill>
          <a:ln>
            <a:noFill/>
          </a:ln>
        </p:spPr>
      </p:sp>
      <p:sp>
        <p:nvSpPr>
          <p:cNvPr id="978" name="Google Shape;978;p26"/>
          <p:cNvSpPr/>
          <p:nvPr/>
        </p:nvSpPr>
        <p:spPr>
          <a:xfrm>
            <a:off x="988781" y="4244359"/>
            <a:ext cx="2028825" cy="1762125"/>
          </a:xfrm>
          <a:custGeom>
            <a:rect b="b" l="l" r="r" t="t"/>
            <a:pathLst>
              <a:path extrusionOk="0" h="2349500" w="2705100">
                <a:moveTo>
                  <a:pt x="0" y="0"/>
                </a:moveTo>
                <a:lnTo>
                  <a:pt x="2705100" y="0"/>
                </a:lnTo>
                <a:lnTo>
                  <a:pt x="2705100" y="2349500"/>
                </a:lnTo>
                <a:lnTo>
                  <a:pt x="0" y="2349500"/>
                </a:lnTo>
                <a:lnTo>
                  <a:pt x="0" y="0"/>
                </a:lnTo>
                <a:close/>
              </a:path>
            </a:pathLst>
          </a:custGeom>
          <a:blipFill rotWithShape="1">
            <a:blip r:embed="rId6">
              <a:alphaModFix/>
            </a:blip>
            <a:stretch>
              <a:fillRect b="-7583" l="0" r="0" t="-7550"/>
            </a:stretch>
          </a:blipFill>
          <a:ln>
            <a:noFill/>
          </a:ln>
        </p:spPr>
      </p:sp>
      <p:sp>
        <p:nvSpPr>
          <p:cNvPr id="979" name="Google Shape;979;p26"/>
          <p:cNvSpPr/>
          <p:nvPr/>
        </p:nvSpPr>
        <p:spPr>
          <a:xfrm>
            <a:off x="988781" y="6242456"/>
            <a:ext cx="2047875" cy="1800225"/>
          </a:xfrm>
          <a:custGeom>
            <a:rect b="b" l="l" r="r" t="t"/>
            <a:pathLst>
              <a:path extrusionOk="0" h="2400300" w="2730500">
                <a:moveTo>
                  <a:pt x="0" y="0"/>
                </a:moveTo>
                <a:lnTo>
                  <a:pt x="2730500" y="0"/>
                </a:lnTo>
                <a:lnTo>
                  <a:pt x="2730500" y="2400300"/>
                </a:lnTo>
                <a:lnTo>
                  <a:pt x="0" y="2400300"/>
                </a:lnTo>
                <a:lnTo>
                  <a:pt x="0" y="0"/>
                </a:lnTo>
                <a:close/>
              </a:path>
            </a:pathLst>
          </a:custGeom>
          <a:blipFill rotWithShape="1">
            <a:blip r:embed="rId7">
              <a:alphaModFix/>
            </a:blip>
            <a:stretch>
              <a:fillRect b="-11119" l="0" r="0" t="-2635"/>
            </a:stretch>
          </a:blipFill>
          <a:ln>
            <a:noFill/>
          </a:ln>
        </p:spPr>
      </p:sp>
      <p:sp>
        <p:nvSpPr>
          <p:cNvPr id="980" name="Google Shape;980;p26"/>
          <p:cNvSpPr/>
          <p:nvPr/>
        </p:nvSpPr>
        <p:spPr>
          <a:xfrm>
            <a:off x="1044292" y="8278940"/>
            <a:ext cx="1943100" cy="1704975"/>
          </a:xfrm>
          <a:custGeom>
            <a:rect b="b" l="l" r="r" t="t"/>
            <a:pathLst>
              <a:path extrusionOk="0" h="2273300" w="2590800">
                <a:moveTo>
                  <a:pt x="0" y="0"/>
                </a:moveTo>
                <a:lnTo>
                  <a:pt x="2590800" y="0"/>
                </a:lnTo>
                <a:lnTo>
                  <a:pt x="2590800" y="2273300"/>
                </a:lnTo>
                <a:lnTo>
                  <a:pt x="0" y="2273300"/>
                </a:lnTo>
                <a:lnTo>
                  <a:pt x="0" y="0"/>
                </a:lnTo>
                <a:close/>
              </a:path>
            </a:pathLst>
          </a:custGeom>
          <a:blipFill rotWithShape="1">
            <a:blip r:embed="rId8">
              <a:alphaModFix/>
            </a:blip>
            <a:stretch>
              <a:fillRect b="-6980" l="0" r="0" t="-6986"/>
            </a:stretch>
          </a:blipFill>
          <a:ln>
            <a:noFill/>
          </a:ln>
        </p:spPr>
      </p:sp>
      <p:sp>
        <p:nvSpPr>
          <p:cNvPr id="981" name="Google Shape;981;p26"/>
          <p:cNvSpPr/>
          <p:nvPr/>
        </p:nvSpPr>
        <p:spPr>
          <a:xfrm>
            <a:off x="15211377" y="1061456"/>
            <a:ext cx="1000125" cy="942975"/>
          </a:xfrm>
          <a:custGeom>
            <a:rect b="b" l="l" r="r" t="t"/>
            <a:pathLst>
              <a:path extrusionOk="0" h="1257300" w="1333500">
                <a:moveTo>
                  <a:pt x="0" y="0"/>
                </a:moveTo>
                <a:lnTo>
                  <a:pt x="1333500" y="0"/>
                </a:lnTo>
                <a:lnTo>
                  <a:pt x="1333500" y="1257300"/>
                </a:lnTo>
                <a:lnTo>
                  <a:pt x="0" y="1257300"/>
                </a:lnTo>
                <a:lnTo>
                  <a:pt x="0" y="0"/>
                </a:lnTo>
                <a:close/>
              </a:path>
            </a:pathLst>
          </a:custGeom>
          <a:blipFill rotWithShape="1">
            <a:blip r:embed="rId9">
              <a:alphaModFix/>
            </a:blip>
            <a:stretch>
              <a:fillRect b="0" l="0" r="0" t="0"/>
            </a:stretch>
          </a:blipFill>
          <a:ln>
            <a:noFill/>
          </a:ln>
        </p:spPr>
      </p:sp>
      <p:grpSp>
        <p:nvGrpSpPr>
          <p:cNvPr id="982" name="Google Shape;982;p26"/>
          <p:cNvGrpSpPr/>
          <p:nvPr/>
        </p:nvGrpSpPr>
        <p:grpSpPr>
          <a:xfrm>
            <a:off x="131089" y="197155"/>
            <a:ext cx="411477" cy="592837"/>
            <a:chOff x="63500" y="63500"/>
            <a:chExt cx="411479" cy="592837"/>
          </a:xfrm>
        </p:grpSpPr>
        <p:sp>
          <p:nvSpPr>
            <p:cNvPr id="983" name="Google Shape;983;p26"/>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6"/>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6"/>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6"/>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6"/>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6"/>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6"/>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990" name="Google Shape;990;p26"/>
          <p:cNvGrpSpPr/>
          <p:nvPr/>
        </p:nvGrpSpPr>
        <p:grpSpPr>
          <a:xfrm>
            <a:off x="10629468" y="6012249"/>
            <a:ext cx="239013" cy="243839"/>
            <a:chOff x="63500" y="63500"/>
            <a:chExt cx="239013" cy="243839"/>
          </a:xfrm>
        </p:grpSpPr>
        <p:sp>
          <p:nvSpPr>
            <p:cNvPr id="991" name="Google Shape;991;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6"/>
                    <a:pt x="119379" y="238886"/>
                  </a:cubicBezTo>
                  <a:cubicBezTo>
                    <a:pt x="180847" y="238886"/>
                    <a:pt x="231392" y="192404"/>
                    <a:pt x="238123" y="132714"/>
                  </a:cubicBezTo>
                  <a:lnTo>
                    <a:pt x="238123" y="106044"/>
                  </a:lnTo>
                  <a:cubicBezTo>
                    <a:pt x="233932" y="68325"/>
                    <a:pt x="212215" y="35941"/>
                    <a:pt x="181355" y="17272"/>
                  </a:cubicBezTo>
                  <a:cubicBezTo>
                    <a:pt x="208151" y="35433"/>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6"/>
            <p:cNvSpPr/>
            <p:nvPr/>
          </p:nvSpPr>
          <p:spPr>
            <a:xfrm>
              <a:off x="109346" y="63500"/>
              <a:ext cx="179831" cy="183641"/>
            </a:xfrm>
            <a:custGeom>
              <a:rect b="b" l="l" r="r" t="t"/>
              <a:pathLst>
                <a:path extrusionOk="0" h="183641" w="179831">
                  <a:moveTo>
                    <a:pt x="0" y="102107"/>
                  </a:moveTo>
                  <a:cubicBezTo>
                    <a:pt x="22987" y="117093"/>
                    <a:pt x="38354" y="137413"/>
                    <a:pt x="46355" y="152780"/>
                  </a:cubicBezTo>
                  <a:cubicBezTo>
                    <a:pt x="46355" y="152780"/>
                    <a:pt x="82550" y="28067"/>
                    <a:pt x="179831" y="0"/>
                  </a:cubicBezTo>
                  <a:cubicBezTo>
                    <a:pt x="179831" y="69468"/>
                    <a:pt x="179831" y="69468"/>
                    <a:pt x="179831" y="69468"/>
                  </a:cubicBezTo>
                  <a:cubicBezTo>
                    <a:pt x="136779" y="61721"/>
                    <a:pt x="66802" y="152780"/>
                    <a:pt x="65024" y="183641"/>
                  </a:cubicBezTo>
                  <a:lnTo>
                    <a:pt x="35179" y="183641"/>
                  </a:lnTo>
                  <a:cubicBezTo>
                    <a:pt x="29845" y="152399"/>
                    <a:pt x="21717" y="125475"/>
                    <a:pt x="0" y="10198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6"/>
            <p:cNvSpPr/>
            <p:nvPr/>
          </p:nvSpPr>
          <p:spPr>
            <a:xfrm>
              <a:off x="63500" y="63500"/>
              <a:ext cx="239013" cy="243839"/>
            </a:xfrm>
            <a:custGeom>
              <a:rect b="b" l="l" r="r" t="t"/>
              <a:pathLst>
                <a:path extrusionOk="0" h="243839" w="239013">
                  <a:moveTo>
                    <a:pt x="0" y="243839"/>
                  </a:moveTo>
                  <a:lnTo>
                    <a:pt x="239012" y="243839"/>
                  </a:lnTo>
                  <a:lnTo>
                    <a:pt x="239012" y="0"/>
                  </a:lnTo>
                  <a:lnTo>
                    <a:pt x="0" y="0"/>
                  </a:lnTo>
                  <a:close/>
                </a:path>
              </a:pathLst>
            </a:custGeom>
            <a:solidFill>
              <a:srgbClr val="000000">
                <a:alpha val="0"/>
              </a:srgbClr>
            </a:solidFill>
            <a:ln>
              <a:noFill/>
            </a:ln>
          </p:spPr>
        </p:sp>
      </p:grpSp>
      <p:grpSp>
        <p:nvGrpSpPr>
          <p:cNvPr id="994" name="Google Shape;994;p26"/>
          <p:cNvGrpSpPr/>
          <p:nvPr/>
        </p:nvGrpSpPr>
        <p:grpSpPr>
          <a:xfrm>
            <a:off x="10629468" y="6539970"/>
            <a:ext cx="239013" cy="243839"/>
            <a:chOff x="63500" y="63500"/>
            <a:chExt cx="239013" cy="243839"/>
          </a:xfrm>
        </p:grpSpPr>
        <p:sp>
          <p:nvSpPr>
            <p:cNvPr id="995" name="Google Shape;995;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6"/>
                    <a:pt x="119379" y="238886"/>
                  </a:cubicBezTo>
                  <a:cubicBezTo>
                    <a:pt x="180847" y="238886"/>
                    <a:pt x="231392" y="192404"/>
                    <a:pt x="238123" y="132714"/>
                  </a:cubicBezTo>
                  <a:lnTo>
                    <a:pt x="238123" y="106044"/>
                  </a:lnTo>
                  <a:cubicBezTo>
                    <a:pt x="233932" y="68325"/>
                    <a:pt x="212215" y="35941"/>
                    <a:pt x="181355" y="17272"/>
                  </a:cubicBezTo>
                  <a:cubicBezTo>
                    <a:pt x="208151" y="35433"/>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6"/>
            <p:cNvSpPr/>
            <p:nvPr/>
          </p:nvSpPr>
          <p:spPr>
            <a:xfrm>
              <a:off x="109346" y="63500"/>
              <a:ext cx="179831" cy="183641"/>
            </a:xfrm>
            <a:custGeom>
              <a:rect b="b" l="l" r="r" t="t"/>
              <a:pathLst>
                <a:path extrusionOk="0" h="183641" w="179831">
                  <a:moveTo>
                    <a:pt x="0" y="102107"/>
                  </a:moveTo>
                  <a:cubicBezTo>
                    <a:pt x="22987" y="117093"/>
                    <a:pt x="38354" y="137413"/>
                    <a:pt x="46355" y="152780"/>
                  </a:cubicBezTo>
                  <a:cubicBezTo>
                    <a:pt x="46355" y="152780"/>
                    <a:pt x="82550" y="28067"/>
                    <a:pt x="179831" y="0"/>
                  </a:cubicBezTo>
                  <a:cubicBezTo>
                    <a:pt x="179831" y="69468"/>
                    <a:pt x="179831" y="69468"/>
                    <a:pt x="179831" y="69468"/>
                  </a:cubicBezTo>
                  <a:cubicBezTo>
                    <a:pt x="136779" y="61721"/>
                    <a:pt x="66802" y="152780"/>
                    <a:pt x="65024" y="183641"/>
                  </a:cubicBezTo>
                  <a:lnTo>
                    <a:pt x="35179" y="183641"/>
                  </a:lnTo>
                  <a:cubicBezTo>
                    <a:pt x="29845" y="152399"/>
                    <a:pt x="21717" y="125475"/>
                    <a:pt x="0" y="10198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6"/>
            <p:cNvSpPr/>
            <p:nvPr/>
          </p:nvSpPr>
          <p:spPr>
            <a:xfrm>
              <a:off x="63500" y="63500"/>
              <a:ext cx="239013" cy="243839"/>
            </a:xfrm>
            <a:custGeom>
              <a:rect b="b" l="l" r="r" t="t"/>
              <a:pathLst>
                <a:path extrusionOk="0" h="243839" w="239013">
                  <a:moveTo>
                    <a:pt x="0" y="243839"/>
                  </a:moveTo>
                  <a:lnTo>
                    <a:pt x="239012" y="243839"/>
                  </a:lnTo>
                  <a:lnTo>
                    <a:pt x="239012" y="0"/>
                  </a:lnTo>
                  <a:lnTo>
                    <a:pt x="0" y="0"/>
                  </a:lnTo>
                  <a:close/>
                </a:path>
              </a:pathLst>
            </a:custGeom>
            <a:solidFill>
              <a:srgbClr val="000000">
                <a:alpha val="0"/>
              </a:srgbClr>
            </a:solidFill>
            <a:ln>
              <a:noFill/>
            </a:ln>
          </p:spPr>
        </p:sp>
      </p:grpSp>
      <p:grpSp>
        <p:nvGrpSpPr>
          <p:cNvPr id="998" name="Google Shape;998;p26"/>
          <p:cNvGrpSpPr/>
          <p:nvPr/>
        </p:nvGrpSpPr>
        <p:grpSpPr>
          <a:xfrm>
            <a:off x="10629468" y="7062439"/>
            <a:ext cx="239013" cy="243839"/>
            <a:chOff x="63500" y="63500"/>
            <a:chExt cx="239013" cy="243839"/>
          </a:xfrm>
        </p:grpSpPr>
        <p:sp>
          <p:nvSpPr>
            <p:cNvPr id="999" name="Google Shape;999;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5"/>
                    <a:pt x="119379" y="238885"/>
                  </a:cubicBezTo>
                  <a:cubicBezTo>
                    <a:pt x="180847" y="238885"/>
                    <a:pt x="231392" y="192404"/>
                    <a:pt x="238123" y="132714"/>
                  </a:cubicBezTo>
                  <a:lnTo>
                    <a:pt x="238123" y="106044"/>
                  </a:lnTo>
                  <a:cubicBezTo>
                    <a:pt x="233932" y="68325"/>
                    <a:pt x="212215" y="35940"/>
                    <a:pt x="181355" y="17272"/>
                  </a:cubicBezTo>
                  <a:cubicBezTo>
                    <a:pt x="208151" y="35432"/>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6"/>
            <p:cNvSpPr/>
            <p:nvPr/>
          </p:nvSpPr>
          <p:spPr>
            <a:xfrm>
              <a:off x="109346" y="63500"/>
              <a:ext cx="179831" cy="183641"/>
            </a:xfrm>
            <a:custGeom>
              <a:rect b="b" l="l" r="r" t="t"/>
              <a:pathLst>
                <a:path extrusionOk="0" h="183641" w="179831">
                  <a:moveTo>
                    <a:pt x="0" y="102107"/>
                  </a:moveTo>
                  <a:cubicBezTo>
                    <a:pt x="22987" y="117093"/>
                    <a:pt x="38354" y="137413"/>
                    <a:pt x="46355" y="152780"/>
                  </a:cubicBezTo>
                  <a:cubicBezTo>
                    <a:pt x="46355" y="152780"/>
                    <a:pt x="82550" y="28067"/>
                    <a:pt x="179831" y="0"/>
                  </a:cubicBezTo>
                  <a:cubicBezTo>
                    <a:pt x="179831" y="69468"/>
                    <a:pt x="179831" y="69468"/>
                    <a:pt x="179831" y="69468"/>
                  </a:cubicBezTo>
                  <a:cubicBezTo>
                    <a:pt x="136779" y="61721"/>
                    <a:pt x="66802" y="152780"/>
                    <a:pt x="65024" y="183641"/>
                  </a:cubicBezTo>
                  <a:lnTo>
                    <a:pt x="35179" y="183641"/>
                  </a:lnTo>
                  <a:cubicBezTo>
                    <a:pt x="29845" y="152399"/>
                    <a:pt x="21717" y="125475"/>
                    <a:pt x="0" y="10198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6"/>
            <p:cNvSpPr/>
            <p:nvPr/>
          </p:nvSpPr>
          <p:spPr>
            <a:xfrm>
              <a:off x="63500" y="63500"/>
              <a:ext cx="239013" cy="243839"/>
            </a:xfrm>
            <a:custGeom>
              <a:rect b="b" l="l" r="r" t="t"/>
              <a:pathLst>
                <a:path extrusionOk="0" h="243839" w="239013">
                  <a:moveTo>
                    <a:pt x="0" y="243838"/>
                  </a:moveTo>
                  <a:lnTo>
                    <a:pt x="239012" y="243838"/>
                  </a:lnTo>
                  <a:lnTo>
                    <a:pt x="239012" y="0"/>
                  </a:lnTo>
                  <a:lnTo>
                    <a:pt x="0" y="0"/>
                  </a:lnTo>
                  <a:close/>
                </a:path>
              </a:pathLst>
            </a:custGeom>
            <a:solidFill>
              <a:srgbClr val="000000">
                <a:alpha val="0"/>
              </a:srgbClr>
            </a:solidFill>
            <a:ln>
              <a:noFill/>
            </a:ln>
          </p:spPr>
        </p:sp>
      </p:grpSp>
      <p:grpSp>
        <p:nvGrpSpPr>
          <p:cNvPr id="1002" name="Google Shape;1002;p26"/>
          <p:cNvGrpSpPr/>
          <p:nvPr/>
        </p:nvGrpSpPr>
        <p:grpSpPr>
          <a:xfrm>
            <a:off x="10629468" y="8170662"/>
            <a:ext cx="239013" cy="243839"/>
            <a:chOff x="63500" y="63500"/>
            <a:chExt cx="239013" cy="243839"/>
          </a:xfrm>
        </p:grpSpPr>
        <p:sp>
          <p:nvSpPr>
            <p:cNvPr id="1003" name="Google Shape;1003;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5"/>
                    <a:pt x="119379" y="238885"/>
                  </a:cubicBezTo>
                  <a:cubicBezTo>
                    <a:pt x="180847" y="238885"/>
                    <a:pt x="231392" y="192404"/>
                    <a:pt x="238123" y="132714"/>
                  </a:cubicBezTo>
                  <a:lnTo>
                    <a:pt x="238123" y="106044"/>
                  </a:lnTo>
                  <a:cubicBezTo>
                    <a:pt x="233932" y="68325"/>
                    <a:pt x="212215" y="35940"/>
                    <a:pt x="181355" y="17272"/>
                  </a:cubicBezTo>
                  <a:cubicBezTo>
                    <a:pt x="208151" y="35432"/>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6"/>
            <p:cNvSpPr/>
            <p:nvPr/>
          </p:nvSpPr>
          <p:spPr>
            <a:xfrm>
              <a:off x="109346" y="63500"/>
              <a:ext cx="179958" cy="183768"/>
            </a:xfrm>
            <a:custGeom>
              <a:rect b="b" l="l" r="r" t="t"/>
              <a:pathLst>
                <a:path extrusionOk="0" h="183768" w="179958">
                  <a:moveTo>
                    <a:pt x="179831" y="0"/>
                  </a:moveTo>
                  <a:cubicBezTo>
                    <a:pt x="82550" y="28067"/>
                    <a:pt x="46355" y="152780"/>
                    <a:pt x="46355" y="152780"/>
                  </a:cubicBezTo>
                  <a:cubicBezTo>
                    <a:pt x="38481" y="137413"/>
                    <a:pt x="22987" y="117093"/>
                    <a:pt x="0" y="102107"/>
                  </a:cubicBezTo>
                  <a:cubicBezTo>
                    <a:pt x="21590" y="125602"/>
                    <a:pt x="29845" y="152399"/>
                    <a:pt x="35179" y="183768"/>
                  </a:cubicBezTo>
                  <a:lnTo>
                    <a:pt x="65024" y="183768"/>
                  </a:lnTo>
                  <a:cubicBezTo>
                    <a:pt x="66802" y="154177"/>
                    <a:pt x="131191" y="69087"/>
                    <a:pt x="174497" y="69087"/>
                  </a:cubicBezTo>
                  <a:cubicBezTo>
                    <a:pt x="176275" y="69087"/>
                    <a:pt x="178180" y="69214"/>
                    <a:pt x="179958" y="69595"/>
                  </a:cubicBezTo>
                  <a:cubicBezTo>
                    <a:pt x="179958" y="69595"/>
                    <a:pt x="179958" y="69595"/>
                    <a:pt x="179958" y="127"/>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6"/>
            <p:cNvSpPr/>
            <p:nvPr/>
          </p:nvSpPr>
          <p:spPr>
            <a:xfrm>
              <a:off x="63500" y="63500"/>
              <a:ext cx="239013" cy="243839"/>
            </a:xfrm>
            <a:custGeom>
              <a:rect b="b" l="l" r="r" t="t"/>
              <a:pathLst>
                <a:path extrusionOk="0" h="243839" w="239013">
                  <a:moveTo>
                    <a:pt x="0" y="243838"/>
                  </a:moveTo>
                  <a:lnTo>
                    <a:pt x="239012" y="243838"/>
                  </a:lnTo>
                  <a:lnTo>
                    <a:pt x="239012" y="0"/>
                  </a:lnTo>
                  <a:lnTo>
                    <a:pt x="0" y="0"/>
                  </a:lnTo>
                  <a:close/>
                </a:path>
              </a:pathLst>
            </a:custGeom>
            <a:solidFill>
              <a:srgbClr val="000000">
                <a:alpha val="0"/>
              </a:srgbClr>
            </a:solidFill>
            <a:ln>
              <a:noFill/>
            </a:ln>
          </p:spPr>
        </p:sp>
      </p:grpSp>
      <p:grpSp>
        <p:nvGrpSpPr>
          <p:cNvPr id="1006" name="Google Shape;1006;p26"/>
          <p:cNvGrpSpPr/>
          <p:nvPr/>
        </p:nvGrpSpPr>
        <p:grpSpPr>
          <a:xfrm>
            <a:off x="10629468" y="8697461"/>
            <a:ext cx="239013" cy="243839"/>
            <a:chOff x="63500" y="63500"/>
            <a:chExt cx="239013" cy="243839"/>
          </a:xfrm>
        </p:grpSpPr>
        <p:sp>
          <p:nvSpPr>
            <p:cNvPr id="1007" name="Google Shape;1007;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5"/>
                    <a:pt x="119379" y="238885"/>
                  </a:cubicBezTo>
                  <a:cubicBezTo>
                    <a:pt x="180847" y="238885"/>
                    <a:pt x="231392" y="192404"/>
                    <a:pt x="238123" y="132714"/>
                  </a:cubicBezTo>
                  <a:lnTo>
                    <a:pt x="238123" y="106044"/>
                  </a:lnTo>
                  <a:cubicBezTo>
                    <a:pt x="233932" y="68325"/>
                    <a:pt x="212215" y="35940"/>
                    <a:pt x="181355" y="17272"/>
                  </a:cubicBezTo>
                  <a:cubicBezTo>
                    <a:pt x="208151" y="35432"/>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6"/>
            <p:cNvSpPr/>
            <p:nvPr/>
          </p:nvSpPr>
          <p:spPr>
            <a:xfrm>
              <a:off x="109346" y="63500"/>
              <a:ext cx="179958" cy="183768"/>
            </a:xfrm>
            <a:custGeom>
              <a:rect b="b" l="l" r="r" t="t"/>
              <a:pathLst>
                <a:path extrusionOk="0" h="183768" w="179958">
                  <a:moveTo>
                    <a:pt x="179831" y="0"/>
                  </a:moveTo>
                  <a:cubicBezTo>
                    <a:pt x="82550" y="28067"/>
                    <a:pt x="46355" y="152780"/>
                    <a:pt x="46355" y="152780"/>
                  </a:cubicBezTo>
                  <a:cubicBezTo>
                    <a:pt x="38481" y="137413"/>
                    <a:pt x="22987" y="117093"/>
                    <a:pt x="0" y="102107"/>
                  </a:cubicBezTo>
                  <a:cubicBezTo>
                    <a:pt x="21590" y="125602"/>
                    <a:pt x="29845" y="152399"/>
                    <a:pt x="35179" y="183768"/>
                  </a:cubicBezTo>
                  <a:lnTo>
                    <a:pt x="65024" y="183768"/>
                  </a:lnTo>
                  <a:cubicBezTo>
                    <a:pt x="66802" y="154177"/>
                    <a:pt x="131191" y="69087"/>
                    <a:pt x="174497" y="69087"/>
                  </a:cubicBezTo>
                  <a:cubicBezTo>
                    <a:pt x="176275" y="69087"/>
                    <a:pt x="178180" y="69214"/>
                    <a:pt x="179958" y="69595"/>
                  </a:cubicBezTo>
                  <a:cubicBezTo>
                    <a:pt x="179958" y="69595"/>
                    <a:pt x="179958" y="69595"/>
                    <a:pt x="179958" y="127"/>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6"/>
            <p:cNvSpPr/>
            <p:nvPr/>
          </p:nvSpPr>
          <p:spPr>
            <a:xfrm>
              <a:off x="63500" y="63500"/>
              <a:ext cx="239013" cy="243839"/>
            </a:xfrm>
            <a:custGeom>
              <a:rect b="b" l="l" r="r" t="t"/>
              <a:pathLst>
                <a:path extrusionOk="0" h="243839" w="239013">
                  <a:moveTo>
                    <a:pt x="0" y="243838"/>
                  </a:moveTo>
                  <a:lnTo>
                    <a:pt x="239012" y="243838"/>
                  </a:lnTo>
                  <a:lnTo>
                    <a:pt x="239012" y="0"/>
                  </a:lnTo>
                  <a:lnTo>
                    <a:pt x="0" y="0"/>
                  </a:lnTo>
                  <a:close/>
                </a:path>
              </a:pathLst>
            </a:custGeom>
            <a:solidFill>
              <a:srgbClr val="000000">
                <a:alpha val="0"/>
              </a:srgbClr>
            </a:solidFill>
            <a:ln>
              <a:noFill/>
            </a:ln>
          </p:spPr>
        </p:sp>
      </p:grpSp>
      <p:grpSp>
        <p:nvGrpSpPr>
          <p:cNvPr id="1010" name="Google Shape;1010;p26"/>
          <p:cNvGrpSpPr/>
          <p:nvPr/>
        </p:nvGrpSpPr>
        <p:grpSpPr>
          <a:xfrm>
            <a:off x="10629468" y="9260366"/>
            <a:ext cx="239013" cy="487685"/>
            <a:chOff x="63500" y="63500"/>
            <a:chExt cx="239013" cy="487685"/>
          </a:xfrm>
        </p:grpSpPr>
        <p:sp>
          <p:nvSpPr>
            <p:cNvPr id="1011" name="Google Shape;1011;p26"/>
            <p:cNvSpPr/>
            <p:nvPr/>
          </p:nvSpPr>
          <p:spPr>
            <a:xfrm>
              <a:off x="63500" y="68326"/>
              <a:ext cx="238124" cy="238886"/>
            </a:xfrm>
            <a:custGeom>
              <a:rect b="b" l="l" r="r" t="t"/>
              <a:pathLst>
                <a:path extrusionOk="0" h="238886" w="238124">
                  <a:moveTo>
                    <a:pt x="119379" y="127"/>
                  </a:moveTo>
                  <a:cubicBezTo>
                    <a:pt x="53466" y="127"/>
                    <a:pt x="0" y="53593"/>
                    <a:pt x="0" y="119506"/>
                  </a:cubicBezTo>
                  <a:cubicBezTo>
                    <a:pt x="0" y="185419"/>
                    <a:pt x="53466" y="238885"/>
                    <a:pt x="119379" y="238885"/>
                  </a:cubicBezTo>
                  <a:cubicBezTo>
                    <a:pt x="180847" y="238885"/>
                    <a:pt x="231392" y="192404"/>
                    <a:pt x="238123" y="132714"/>
                  </a:cubicBezTo>
                  <a:lnTo>
                    <a:pt x="238123" y="106044"/>
                  </a:lnTo>
                  <a:cubicBezTo>
                    <a:pt x="233932" y="68325"/>
                    <a:pt x="212215" y="35940"/>
                    <a:pt x="181355" y="17272"/>
                  </a:cubicBezTo>
                  <a:cubicBezTo>
                    <a:pt x="208151" y="35432"/>
                    <a:pt x="225677" y="66039"/>
                    <a:pt x="225677" y="100837"/>
                  </a:cubicBezTo>
                  <a:cubicBezTo>
                    <a:pt x="225677" y="156590"/>
                    <a:pt x="180466" y="201802"/>
                    <a:pt x="124713" y="201802"/>
                  </a:cubicBezTo>
                  <a:cubicBezTo>
                    <a:pt x="68960" y="201802"/>
                    <a:pt x="23749" y="156590"/>
                    <a:pt x="23749" y="100837"/>
                  </a:cubicBezTo>
                  <a:cubicBezTo>
                    <a:pt x="23749" y="46227"/>
                    <a:pt x="67055" y="1778"/>
                    <a:pt x="121284" y="0"/>
                  </a:cubicBezTo>
                  <a:cubicBezTo>
                    <a:pt x="120649" y="0"/>
                    <a:pt x="120014" y="0"/>
                    <a:pt x="119379" y="0"/>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6"/>
            <p:cNvSpPr/>
            <p:nvPr/>
          </p:nvSpPr>
          <p:spPr>
            <a:xfrm>
              <a:off x="109346" y="63500"/>
              <a:ext cx="179958" cy="183768"/>
            </a:xfrm>
            <a:custGeom>
              <a:rect b="b" l="l" r="r" t="t"/>
              <a:pathLst>
                <a:path extrusionOk="0" h="183768" w="179958">
                  <a:moveTo>
                    <a:pt x="179831" y="0"/>
                  </a:moveTo>
                  <a:cubicBezTo>
                    <a:pt x="82550" y="28067"/>
                    <a:pt x="46355" y="152780"/>
                    <a:pt x="46355" y="152780"/>
                  </a:cubicBezTo>
                  <a:cubicBezTo>
                    <a:pt x="38481" y="137413"/>
                    <a:pt x="22987" y="117093"/>
                    <a:pt x="0" y="102107"/>
                  </a:cubicBezTo>
                  <a:cubicBezTo>
                    <a:pt x="21590" y="125602"/>
                    <a:pt x="29845" y="152399"/>
                    <a:pt x="35179" y="183768"/>
                  </a:cubicBezTo>
                  <a:lnTo>
                    <a:pt x="65024" y="183768"/>
                  </a:lnTo>
                  <a:cubicBezTo>
                    <a:pt x="66802" y="154177"/>
                    <a:pt x="131191" y="69087"/>
                    <a:pt x="174497" y="69087"/>
                  </a:cubicBezTo>
                  <a:cubicBezTo>
                    <a:pt x="176275" y="69087"/>
                    <a:pt x="178180" y="69214"/>
                    <a:pt x="179958" y="69595"/>
                  </a:cubicBezTo>
                  <a:cubicBezTo>
                    <a:pt x="179958" y="69595"/>
                    <a:pt x="179958" y="69595"/>
                    <a:pt x="179958" y="127"/>
                  </a:cubicBezTo>
                  <a:close/>
                </a:path>
              </a:pathLst>
            </a:custGeom>
            <a:solidFill>
              <a:srgbClr val="CA37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6"/>
            <p:cNvSpPr/>
            <p:nvPr/>
          </p:nvSpPr>
          <p:spPr>
            <a:xfrm>
              <a:off x="63500" y="307346"/>
              <a:ext cx="239013" cy="243839"/>
            </a:xfrm>
            <a:custGeom>
              <a:rect b="b" l="l" r="r" t="t"/>
              <a:pathLst>
                <a:path extrusionOk="0" h="243839" w="239013">
                  <a:moveTo>
                    <a:pt x="0" y="243838"/>
                  </a:moveTo>
                  <a:lnTo>
                    <a:pt x="239012" y="243838"/>
                  </a:lnTo>
                  <a:lnTo>
                    <a:pt x="239012" y="0"/>
                  </a:lnTo>
                  <a:lnTo>
                    <a:pt x="0" y="0"/>
                  </a:lnTo>
                  <a:close/>
                </a:path>
              </a:pathLst>
            </a:custGeom>
            <a:solidFill>
              <a:srgbClr val="000000">
                <a:alpha val="0"/>
              </a:srgbClr>
            </a:solidFill>
            <a:ln>
              <a:noFill/>
            </a:ln>
          </p:spPr>
        </p:sp>
      </p:grpSp>
      <p:sp>
        <p:nvSpPr>
          <p:cNvPr id="1014" name="Google Shape;1014;p26"/>
          <p:cNvSpPr/>
          <p:nvPr/>
        </p:nvSpPr>
        <p:spPr>
          <a:xfrm>
            <a:off x="15403468" y="178584"/>
            <a:ext cx="9525" cy="773430"/>
          </a:xfrm>
          <a:custGeom>
            <a:rect b="b" l="l" r="r" t="t"/>
            <a:pathLst>
              <a:path extrusionOk="0" h="773430" w="9525">
                <a:moveTo>
                  <a:pt x="0" y="773430"/>
                </a:moveTo>
                <a:lnTo>
                  <a:pt x="9525" y="773430"/>
                </a:lnTo>
                <a:lnTo>
                  <a:pt x="9525" y="0"/>
                </a:lnTo>
                <a:lnTo>
                  <a:pt x="0" y="0"/>
                </a:lnTo>
                <a:close/>
              </a:path>
            </a:pathLst>
          </a:custGeom>
          <a:solidFill>
            <a:srgbClr val="000000">
              <a:alpha val="0"/>
            </a:srgbClr>
          </a:solidFill>
          <a:ln>
            <a:noFill/>
          </a:ln>
        </p:spPr>
      </p:sp>
      <p:sp>
        <p:nvSpPr>
          <p:cNvPr id="1015" name="Google Shape;1015;p26"/>
          <p:cNvSpPr/>
          <p:nvPr/>
        </p:nvSpPr>
        <p:spPr>
          <a:xfrm>
            <a:off x="11316891" y="2103882"/>
            <a:ext cx="5659279" cy="3829717"/>
          </a:xfrm>
          <a:custGeom>
            <a:rect b="b" l="l" r="r" t="t"/>
            <a:pathLst>
              <a:path extrusionOk="0" h="3829717" w="5659279">
                <a:moveTo>
                  <a:pt x="0" y="0"/>
                </a:moveTo>
                <a:lnTo>
                  <a:pt x="5659278" y="0"/>
                </a:lnTo>
                <a:lnTo>
                  <a:pt x="5659278" y="3829717"/>
                </a:lnTo>
                <a:lnTo>
                  <a:pt x="0" y="3829717"/>
                </a:lnTo>
                <a:lnTo>
                  <a:pt x="0" y="0"/>
                </a:lnTo>
                <a:close/>
              </a:path>
            </a:pathLst>
          </a:custGeom>
          <a:blipFill rotWithShape="1">
            <a:blip r:embed="rId10">
              <a:alphaModFix/>
            </a:blip>
            <a:stretch>
              <a:fillRect b="0" l="0" r="0" t="0"/>
            </a:stretch>
          </a:blipFill>
          <a:ln>
            <a:noFill/>
          </a:ln>
        </p:spPr>
      </p:sp>
      <p:sp>
        <p:nvSpPr>
          <p:cNvPr id="1016" name="Google Shape;1016;p26"/>
          <p:cNvSpPr txBox="1"/>
          <p:nvPr/>
        </p:nvSpPr>
        <p:spPr>
          <a:xfrm>
            <a:off x="6584442" y="183566"/>
            <a:ext cx="4186009" cy="57654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lang="en-US" sz="3099">
                <a:solidFill>
                  <a:srgbClr val="424242"/>
                </a:solidFill>
                <a:latin typeface="Calibri"/>
                <a:ea typeface="Calibri"/>
                <a:cs typeface="Calibri"/>
                <a:sym typeface="Calibri"/>
              </a:rPr>
              <a:t>Social Impact &amp; Schedule</a:t>
            </a:r>
            <a:endParaRPr/>
          </a:p>
        </p:txBody>
      </p:sp>
      <p:sp>
        <p:nvSpPr>
          <p:cNvPr id="1017" name="Google Shape;1017;p26"/>
          <p:cNvSpPr txBox="1"/>
          <p:nvPr/>
        </p:nvSpPr>
        <p:spPr>
          <a:xfrm>
            <a:off x="11827840" y="1202160"/>
            <a:ext cx="3215097" cy="707317"/>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lang="en-US" sz="3799">
                <a:solidFill>
                  <a:srgbClr val="C51D2A"/>
                </a:solidFill>
                <a:latin typeface="Calibri"/>
                <a:ea typeface="Calibri"/>
                <a:cs typeface="Calibri"/>
                <a:sym typeface="Calibri"/>
              </a:rPr>
              <a:t>Estimated Scale</a:t>
            </a:r>
            <a:endParaRPr/>
          </a:p>
        </p:txBody>
      </p:sp>
      <p:sp>
        <p:nvSpPr>
          <p:cNvPr id="1018" name="Google Shape;1018;p26"/>
          <p:cNvSpPr txBox="1"/>
          <p:nvPr/>
        </p:nvSpPr>
        <p:spPr>
          <a:xfrm>
            <a:off x="11232718" y="5073520"/>
            <a:ext cx="4668755" cy="707317"/>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lang="en-US" sz="3799">
                <a:solidFill>
                  <a:srgbClr val="C51D2A"/>
                </a:solidFill>
                <a:latin typeface="Calibri"/>
                <a:ea typeface="Calibri"/>
                <a:cs typeface="Calibri"/>
                <a:sym typeface="Calibri"/>
              </a:rPr>
              <a:t>Measurable outcomes </a:t>
            </a:r>
            <a:endParaRPr/>
          </a:p>
        </p:txBody>
      </p:sp>
      <p:sp>
        <p:nvSpPr>
          <p:cNvPr id="1019" name="Google Shape;1019;p26"/>
          <p:cNvSpPr txBox="1"/>
          <p:nvPr/>
        </p:nvSpPr>
        <p:spPr>
          <a:xfrm>
            <a:off x="11646656" y="2483110"/>
            <a:ext cx="2214629" cy="2026510"/>
          </a:xfrm>
          <a:prstGeom prst="rect">
            <a:avLst/>
          </a:prstGeom>
          <a:noFill/>
          <a:ln>
            <a:noFill/>
          </a:ln>
        </p:spPr>
        <p:txBody>
          <a:bodyPr anchorCtr="0" anchor="t" bIns="0" lIns="0" spcFirstLastPara="1" rIns="0" wrap="square" tIns="0">
            <a:spAutoFit/>
          </a:bodyPr>
          <a:lstStyle/>
          <a:p>
            <a:pPr indent="0" lvl="0" marL="0" marR="0" rtl="0" algn="ctr">
              <a:lnSpc>
                <a:spcPct val="119008"/>
              </a:lnSpc>
              <a:spcBef>
                <a:spcPts val="0"/>
              </a:spcBef>
              <a:spcAft>
                <a:spcPts val="0"/>
              </a:spcAft>
              <a:buNone/>
            </a:pPr>
            <a:r>
              <a:rPr b="1" lang="en-US" sz="2199">
                <a:solidFill>
                  <a:srgbClr val="C51D2A"/>
                </a:solidFill>
                <a:latin typeface="Calibri"/>
                <a:ea typeface="Calibri"/>
                <a:cs typeface="Calibri"/>
                <a:sym typeface="Calibri"/>
              </a:rPr>
              <a:t>Pilot target</a:t>
            </a:r>
            <a:endParaRPr/>
          </a:p>
          <a:p>
            <a:pPr indent="0" lvl="0" marL="0" marR="0" rtl="0" algn="ctr">
              <a:lnSpc>
                <a:spcPct val="119008"/>
              </a:lnSpc>
              <a:spcBef>
                <a:spcPts val="0"/>
              </a:spcBef>
              <a:spcAft>
                <a:spcPts val="0"/>
              </a:spcAft>
              <a:buNone/>
            </a:pPr>
            <a:r>
              <a:rPr b="1" lang="en-US" sz="2199">
                <a:solidFill>
                  <a:srgbClr val="C51D2A"/>
                </a:solidFill>
                <a:latin typeface="Calibri"/>
                <a:ea typeface="Calibri"/>
                <a:cs typeface="Calibri"/>
                <a:sym typeface="Calibri"/>
              </a:rPr>
              <a:t> (first deployment)</a:t>
            </a:r>
            <a:endParaRPr/>
          </a:p>
          <a:p>
            <a:pPr indent="0" lvl="0" marL="0" marR="0" rtl="0" algn="ctr">
              <a:lnSpc>
                <a:spcPct val="119000"/>
              </a:lnSpc>
              <a:spcBef>
                <a:spcPts val="0"/>
              </a:spcBef>
              <a:spcAft>
                <a:spcPts val="0"/>
              </a:spcAft>
              <a:buNone/>
            </a:pPr>
            <a:r>
              <a:rPr lang="en-US" sz="2400">
                <a:solidFill>
                  <a:srgbClr val="000000"/>
                </a:solidFill>
                <a:latin typeface="Calibri"/>
                <a:ea typeface="Calibri"/>
                <a:cs typeface="Calibri"/>
                <a:sym typeface="Calibri"/>
              </a:rPr>
              <a:t>3–5 schools / 50–150</a:t>
            </a:r>
            <a:endParaRPr/>
          </a:p>
          <a:p>
            <a:pPr indent="0" lvl="0" marL="0" marR="0" rtl="0" algn="ctr">
              <a:lnSpc>
                <a:spcPct val="119000"/>
              </a:lnSpc>
              <a:spcBef>
                <a:spcPts val="0"/>
              </a:spcBef>
              <a:spcAft>
                <a:spcPts val="0"/>
              </a:spcAft>
              <a:buNone/>
            </a:pPr>
            <a:r>
              <a:rPr lang="en-US" sz="2400">
                <a:solidFill>
                  <a:srgbClr val="000000"/>
                </a:solidFill>
                <a:latin typeface="Calibri"/>
                <a:ea typeface="Calibri"/>
                <a:cs typeface="Calibri"/>
                <a:sym typeface="Calibri"/>
              </a:rPr>
              <a:t>students</a:t>
            </a:r>
            <a:endParaRPr/>
          </a:p>
        </p:txBody>
      </p:sp>
      <p:sp>
        <p:nvSpPr>
          <p:cNvPr id="1020" name="Google Shape;1020;p26"/>
          <p:cNvSpPr txBox="1"/>
          <p:nvPr/>
        </p:nvSpPr>
        <p:spPr>
          <a:xfrm>
            <a:off x="14662909" y="2483110"/>
            <a:ext cx="1845278" cy="702269"/>
          </a:xfrm>
          <a:prstGeom prst="rect">
            <a:avLst/>
          </a:prstGeom>
          <a:noFill/>
          <a:ln>
            <a:noFill/>
          </a:ln>
        </p:spPr>
        <p:txBody>
          <a:bodyPr anchorCtr="0" anchor="t" bIns="0" lIns="0" spcFirstLastPara="1" rIns="0" wrap="square" tIns="0">
            <a:spAutoFit/>
          </a:bodyPr>
          <a:lstStyle/>
          <a:p>
            <a:pPr indent="0" lvl="0" marL="0" marR="0" rtl="0" algn="ctr">
              <a:lnSpc>
                <a:spcPct val="119326"/>
              </a:lnSpc>
              <a:spcBef>
                <a:spcPts val="0"/>
              </a:spcBef>
              <a:spcAft>
                <a:spcPts val="0"/>
              </a:spcAft>
              <a:buNone/>
            </a:pPr>
            <a:r>
              <a:rPr b="1" lang="en-US" sz="2199">
                <a:solidFill>
                  <a:srgbClr val="E455F6"/>
                </a:solidFill>
                <a:latin typeface="Calibri"/>
                <a:ea typeface="Calibri"/>
                <a:cs typeface="Calibri"/>
                <a:sym typeface="Calibri"/>
              </a:rPr>
              <a:t>Post-pilot (after iteration)</a:t>
            </a:r>
            <a:endParaRPr/>
          </a:p>
        </p:txBody>
      </p:sp>
      <p:sp>
        <p:nvSpPr>
          <p:cNvPr id="1021" name="Google Shape;1021;p26"/>
          <p:cNvSpPr txBox="1"/>
          <p:nvPr/>
        </p:nvSpPr>
        <p:spPr>
          <a:xfrm>
            <a:off x="14688636" y="3441878"/>
            <a:ext cx="1792662" cy="1112520"/>
          </a:xfrm>
          <a:prstGeom prst="rect">
            <a:avLst/>
          </a:prstGeom>
          <a:noFill/>
          <a:ln>
            <a:noFill/>
          </a:ln>
        </p:spPr>
        <p:txBody>
          <a:bodyPr anchorCtr="0" anchor="t" bIns="0" lIns="0" spcFirstLastPara="1" rIns="0" wrap="square" tIns="0">
            <a:spAutoFit/>
          </a:bodyPr>
          <a:lstStyle/>
          <a:p>
            <a:pPr indent="0" lvl="0" marL="0" marR="0" rtl="0" algn="ctr">
              <a:lnSpc>
                <a:spcPct val="118791"/>
              </a:lnSpc>
              <a:spcBef>
                <a:spcPts val="0"/>
              </a:spcBef>
              <a:spcAft>
                <a:spcPts val="0"/>
              </a:spcAft>
              <a:buNone/>
            </a:pPr>
            <a:r>
              <a:rPr lang="en-US" sz="2400">
                <a:solidFill>
                  <a:srgbClr val="000000"/>
                </a:solidFill>
                <a:latin typeface="Calibri"/>
                <a:ea typeface="Calibri"/>
                <a:cs typeface="Calibri"/>
                <a:sym typeface="Calibri"/>
              </a:rPr>
              <a:t>10–20 schools / 300–800 students</a:t>
            </a:r>
            <a:endParaRPr/>
          </a:p>
        </p:txBody>
      </p:sp>
      <p:sp>
        <p:nvSpPr>
          <p:cNvPr id="1022" name="Google Shape;1022;p26"/>
          <p:cNvSpPr txBox="1"/>
          <p:nvPr/>
        </p:nvSpPr>
        <p:spPr>
          <a:xfrm>
            <a:off x="11040628" y="5889889"/>
            <a:ext cx="7302600" cy="3694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400">
                <a:solidFill>
                  <a:srgbClr val="CA3734"/>
                </a:solidFill>
                <a:latin typeface="Calibri"/>
                <a:ea typeface="Calibri"/>
                <a:cs typeface="Calibri"/>
                <a:sym typeface="Calibri"/>
              </a:rPr>
              <a:t>Learning gain:</a:t>
            </a:r>
            <a:r>
              <a:rPr lang="en-US" sz="2400">
                <a:solidFill>
                  <a:srgbClr val="CA3734"/>
                </a:solidFill>
                <a:latin typeface="Calibri"/>
                <a:ea typeface="Calibri"/>
                <a:cs typeface="Calibri"/>
                <a:sym typeface="Calibri"/>
              </a:rPr>
              <a:t> pre/post concept test improvement (%) </a:t>
            </a:r>
            <a:r>
              <a:rPr b="1" lang="en-US" sz="2400">
                <a:solidFill>
                  <a:srgbClr val="CA3734"/>
                </a:solidFill>
                <a:latin typeface="Calibri"/>
                <a:ea typeface="Calibri"/>
                <a:cs typeface="Calibri"/>
                <a:sym typeface="Calibri"/>
              </a:rPr>
              <a:t>Independence: </a:t>
            </a:r>
            <a:r>
              <a:rPr lang="en-US" sz="2400">
                <a:solidFill>
                  <a:srgbClr val="CA3734"/>
                </a:solidFill>
                <a:latin typeface="Calibri"/>
                <a:ea typeface="Calibri"/>
                <a:cs typeface="Calibri"/>
                <a:sym typeface="Calibri"/>
              </a:rPr>
              <a:t>% tasks completed without assistance </a:t>
            </a:r>
            <a:r>
              <a:rPr b="1" lang="en-US" sz="2400">
                <a:solidFill>
                  <a:srgbClr val="CA3734"/>
                </a:solidFill>
                <a:latin typeface="Calibri"/>
                <a:ea typeface="Calibri"/>
                <a:cs typeface="Calibri"/>
                <a:sym typeface="Calibri"/>
              </a:rPr>
              <a:t>Time efficiency: </a:t>
            </a:r>
            <a:r>
              <a:rPr lang="en-US" sz="2400">
                <a:solidFill>
                  <a:srgbClr val="CA3734"/>
                </a:solidFill>
                <a:latin typeface="Calibri"/>
                <a:ea typeface="Calibri"/>
                <a:cs typeface="Calibri"/>
                <a:sym typeface="Calibri"/>
              </a:rPr>
              <a:t>time to complete diagram-based</a:t>
            </a:r>
            <a:endParaRPr/>
          </a:p>
          <a:p>
            <a:pPr indent="0" lvl="0" marL="0" marR="0" rtl="0" algn="l">
              <a:lnSpc>
                <a:spcPct val="150000"/>
              </a:lnSpc>
              <a:spcBef>
                <a:spcPts val="0"/>
              </a:spcBef>
              <a:spcAft>
                <a:spcPts val="0"/>
              </a:spcAft>
              <a:buNone/>
            </a:pPr>
            <a:r>
              <a:rPr lang="en-US" sz="2400">
                <a:solidFill>
                  <a:srgbClr val="CA3734"/>
                </a:solidFill>
                <a:latin typeface="Calibri"/>
                <a:ea typeface="Calibri"/>
                <a:cs typeface="Calibri"/>
                <a:sym typeface="Calibri"/>
              </a:rPr>
              <a:t>problems</a:t>
            </a:r>
            <a:endParaRPr sz="2400">
              <a:solidFill>
                <a:srgbClr val="CA3734"/>
              </a:solidFill>
              <a:latin typeface="Calibri"/>
              <a:ea typeface="Calibri"/>
              <a:cs typeface="Calibri"/>
              <a:sym typeface="Calibri"/>
            </a:endParaRPr>
          </a:p>
          <a:p>
            <a:pPr indent="0" lvl="0" marL="0" marR="0" rtl="0" algn="l">
              <a:lnSpc>
                <a:spcPct val="150000"/>
              </a:lnSpc>
              <a:spcBef>
                <a:spcPts val="0"/>
              </a:spcBef>
              <a:spcAft>
                <a:spcPts val="0"/>
              </a:spcAft>
              <a:buNone/>
            </a:pPr>
            <a:r>
              <a:rPr b="1" lang="en-US" sz="2400">
                <a:solidFill>
                  <a:srgbClr val="CA3734"/>
                </a:solidFill>
                <a:latin typeface="Calibri"/>
                <a:ea typeface="Calibri"/>
                <a:cs typeface="Calibri"/>
                <a:sym typeface="Calibri"/>
              </a:rPr>
              <a:t>Teacher adoption: </a:t>
            </a:r>
            <a:r>
              <a:rPr lang="en-US" sz="2400">
                <a:solidFill>
                  <a:srgbClr val="CA3734"/>
                </a:solidFill>
                <a:latin typeface="Calibri"/>
                <a:ea typeface="Calibri"/>
                <a:cs typeface="Calibri"/>
                <a:sym typeface="Calibri"/>
              </a:rPr>
              <a:t>weekly class sessions using tool</a:t>
            </a:r>
            <a:endParaRPr/>
          </a:p>
          <a:p>
            <a:pPr indent="0" lvl="0" marL="0" marR="0" rtl="0" algn="l">
              <a:lnSpc>
                <a:spcPct val="150000"/>
              </a:lnSpc>
              <a:spcBef>
                <a:spcPts val="0"/>
              </a:spcBef>
              <a:spcAft>
                <a:spcPts val="0"/>
              </a:spcAft>
              <a:buNone/>
            </a:pPr>
            <a:r>
              <a:rPr b="1" lang="en-US" sz="2400">
                <a:solidFill>
                  <a:srgbClr val="CA3734"/>
                </a:solidFill>
                <a:latin typeface="Calibri"/>
                <a:ea typeface="Calibri"/>
                <a:cs typeface="Calibri"/>
                <a:sym typeface="Calibri"/>
              </a:rPr>
              <a:t>Retention rate: </a:t>
            </a:r>
            <a:r>
              <a:rPr lang="en-US" sz="2400">
                <a:solidFill>
                  <a:srgbClr val="CA3734"/>
                </a:solidFill>
                <a:latin typeface="Calibri"/>
                <a:ea typeface="Calibri"/>
                <a:cs typeface="Calibri"/>
                <a:sym typeface="Calibri"/>
              </a:rPr>
              <a:t>attendance or participation proxy</a:t>
            </a:r>
            <a:endParaRPr/>
          </a:p>
          <a:p>
            <a:pPr indent="0" lvl="0" marL="0" marR="0" rtl="0" algn="l">
              <a:lnSpc>
                <a:spcPct val="150000"/>
              </a:lnSpc>
              <a:spcBef>
                <a:spcPts val="0"/>
              </a:spcBef>
              <a:spcAft>
                <a:spcPts val="0"/>
              </a:spcAft>
              <a:buNone/>
            </a:pPr>
            <a:r>
              <a:rPr b="1" lang="en-US" sz="2400">
                <a:solidFill>
                  <a:srgbClr val="CA3734"/>
                </a:solidFill>
                <a:latin typeface="Calibri"/>
                <a:ea typeface="Calibri"/>
                <a:cs typeface="Calibri"/>
                <a:sym typeface="Calibri"/>
              </a:rPr>
              <a:t>Cost proxy: r</a:t>
            </a:r>
            <a:r>
              <a:rPr lang="en-US" sz="2400">
                <a:solidFill>
                  <a:srgbClr val="CA3734"/>
                </a:solidFill>
                <a:latin typeface="Calibri"/>
                <a:ea typeface="Calibri"/>
                <a:cs typeface="Calibri"/>
                <a:sym typeface="Calibri"/>
              </a:rPr>
              <a:t>eduction in material dependence per learner</a:t>
            </a:r>
            <a:endParaRPr/>
          </a:p>
        </p:txBody>
      </p:sp>
      <p:sp>
        <p:nvSpPr>
          <p:cNvPr id="1023" name="Google Shape;1023;p26"/>
          <p:cNvSpPr txBox="1"/>
          <p:nvPr/>
        </p:nvSpPr>
        <p:spPr>
          <a:xfrm>
            <a:off x="1539211" y="1420835"/>
            <a:ext cx="969674" cy="644452"/>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E69138"/>
                </a:solidFill>
                <a:latin typeface="Calibri"/>
                <a:ea typeface="Calibri"/>
                <a:cs typeface="Calibri"/>
                <a:sym typeface="Calibri"/>
              </a:rPr>
              <a:t>SDGs</a:t>
            </a:r>
            <a:endParaRPr/>
          </a:p>
        </p:txBody>
      </p:sp>
      <p:sp>
        <p:nvSpPr>
          <p:cNvPr id="1024" name="Google Shape;1024;p26"/>
          <p:cNvSpPr txBox="1"/>
          <p:nvPr/>
        </p:nvSpPr>
        <p:spPr>
          <a:xfrm>
            <a:off x="3487369" y="1397022"/>
            <a:ext cx="2539136" cy="644452"/>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E69138"/>
                </a:solidFill>
                <a:latin typeface="Calibri"/>
                <a:ea typeface="Calibri"/>
                <a:cs typeface="Calibri"/>
                <a:sym typeface="Calibri"/>
              </a:rPr>
              <a:t>Direct Impact</a:t>
            </a:r>
            <a:endParaRPr/>
          </a:p>
        </p:txBody>
      </p:sp>
      <p:sp>
        <p:nvSpPr>
          <p:cNvPr id="1025" name="Google Shape;1025;p26"/>
          <p:cNvSpPr txBox="1"/>
          <p:nvPr/>
        </p:nvSpPr>
        <p:spPr>
          <a:xfrm>
            <a:off x="6713306" y="1397022"/>
            <a:ext cx="2860738" cy="644452"/>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3499">
                <a:solidFill>
                  <a:srgbClr val="E69138"/>
                </a:solidFill>
                <a:latin typeface="Calibri"/>
                <a:ea typeface="Calibri"/>
                <a:cs typeface="Calibri"/>
                <a:sym typeface="Calibri"/>
              </a:rPr>
              <a:t>Indirect Impact</a:t>
            </a:r>
            <a:endParaRPr/>
          </a:p>
        </p:txBody>
      </p:sp>
      <p:sp>
        <p:nvSpPr>
          <p:cNvPr id="1026" name="Google Shape;1026;p26"/>
          <p:cNvSpPr txBox="1"/>
          <p:nvPr/>
        </p:nvSpPr>
        <p:spPr>
          <a:xfrm>
            <a:off x="3346323" y="2455109"/>
            <a:ext cx="2990700" cy="14154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lang="en-US" sz="1999">
                <a:solidFill>
                  <a:srgbClr val="D16A46"/>
                </a:solidFill>
                <a:latin typeface="Calibri"/>
                <a:ea typeface="Calibri"/>
                <a:cs typeface="Calibri"/>
                <a:sym typeface="Calibri"/>
              </a:rPr>
              <a:t>Accessible STEM via tactile + audio learning; improves concept understanding and confidence</a:t>
            </a:r>
            <a:endParaRPr/>
          </a:p>
        </p:txBody>
      </p:sp>
      <p:sp>
        <p:nvSpPr>
          <p:cNvPr id="1027" name="Google Shape;1027;p26"/>
          <p:cNvSpPr txBox="1"/>
          <p:nvPr/>
        </p:nvSpPr>
        <p:spPr>
          <a:xfrm>
            <a:off x="6557334" y="2455109"/>
            <a:ext cx="3230700" cy="14154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lang="en-US" sz="1999">
                <a:solidFill>
                  <a:srgbClr val="D16A46"/>
                </a:solidFill>
                <a:latin typeface="Calibri"/>
                <a:ea typeface="Calibri"/>
                <a:cs typeface="Calibri"/>
                <a:sym typeface="Calibri"/>
              </a:rPr>
              <a:t>Teacher enablement + curriculum integration for inclusive STEM classrooms and assessments.</a:t>
            </a:r>
            <a:endParaRPr/>
          </a:p>
        </p:txBody>
      </p:sp>
      <p:sp>
        <p:nvSpPr>
          <p:cNvPr id="1028" name="Google Shape;1028;p26"/>
          <p:cNvSpPr txBox="1"/>
          <p:nvPr/>
        </p:nvSpPr>
        <p:spPr>
          <a:xfrm>
            <a:off x="3785478" y="4177213"/>
            <a:ext cx="2108100" cy="184710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STEM readiness → pathways to higher studies, skills development, and employability.</a:t>
            </a:r>
            <a:endParaRPr/>
          </a:p>
        </p:txBody>
      </p:sp>
      <p:sp>
        <p:nvSpPr>
          <p:cNvPr id="1029" name="Google Shape;1029;p26"/>
          <p:cNvSpPr txBox="1"/>
          <p:nvPr/>
        </p:nvSpPr>
        <p:spPr>
          <a:xfrm>
            <a:off x="3453717" y="6492345"/>
            <a:ext cx="2771613" cy="128778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Affordable assistive-tech learning infrastructure (device + app ecosystem) for learners.</a:t>
            </a:r>
            <a:endParaRPr/>
          </a:p>
        </p:txBody>
      </p:sp>
      <p:sp>
        <p:nvSpPr>
          <p:cNvPr id="1030" name="Google Shape;1030;p26"/>
          <p:cNvSpPr txBox="1"/>
          <p:nvPr/>
        </p:nvSpPr>
        <p:spPr>
          <a:xfrm>
            <a:off x="3334331" y="8526732"/>
            <a:ext cx="3015091" cy="128778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Cuts disability-based learning barriers; supports equal participation without constant assistance.</a:t>
            </a:r>
            <a:endParaRPr/>
          </a:p>
        </p:txBody>
      </p:sp>
      <p:sp>
        <p:nvSpPr>
          <p:cNvPr id="1031" name="Google Shape;1031;p26"/>
          <p:cNvSpPr txBox="1"/>
          <p:nvPr/>
        </p:nvSpPr>
        <p:spPr>
          <a:xfrm>
            <a:off x="6824062" y="4378797"/>
            <a:ext cx="2909400" cy="146610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Long-term economic inclusion by reducing dependency and widening career opportunities.</a:t>
            </a:r>
            <a:endParaRPr/>
          </a:p>
        </p:txBody>
      </p:sp>
      <p:sp>
        <p:nvSpPr>
          <p:cNvPr id="1032" name="Google Shape;1032;p26"/>
          <p:cNvSpPr txBox="1"/>
          <p:nvPr/>
        </p:nvSpPr>
        <p:spPr>
          <a:xfrm>
            <a:off x="6629676" y="8526732"/>
            <a:ext cx="3305718" cy="128778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Scales access through schools/NGOs to underserved communities and low-income learners.</a:t>
            </a:r>
            <a:endParaRPr/>
          </a:p>
        </p:txBody>
      </p:sp>
      <p:sp>
        <p:nvSpPr>
          <p:cNvPr id="1033" name="Google Shape;1033;p26"/>
          <p:cNvSpPr txBox="1"/>
          <p:nvPr/>
        </p:nvSpPr>
        <p:spPr>
          <a:xfrm>
            <a:off x="6678178" y="6492345"/>
            <a:ext cx="3207029" cy="1287780"/>
          </a:xfrm>
          <a:prstGeom prst="rect">
            <a:avLst/>
          </a:prstGeom>
          <a:noFill/>
          <a:ln>
            <a:noFill/>
          </a:ln>
        </p:spPr>
        <p:txBody>
          <a:bodyPr anchorCtr="0" anchor="t" bIns="0" lIns="0" spcFirstLastPara="1" rIns="0" wrap="square" tIns="0">
            <a:spAutoFit/>
          </a:bodyPr>
          <a:lstStyle/>
          <a:p>
            <a:pPr indent="0" lvl="0" marL="0" marR="0" rtl="0" algn="ctr">
              <a:lnSpc>
                <a:spcPct val="117857"/>
              </a:lnSpc>
              <a:spcBef>
                <a:spcPts val="0"/>
              </a:spcBef>
              <a:spcAft>
                <a:spcPts val="0"/>
              </a:spcAft>
              <a:buNone/>
            </a:pPr>
            <a:r>
              <a:rPr lang="en-US" sz="2100">
                <a:solidFill>
                  <a:srgbClr val="D16A46"/>
                </a:solidFill>
                <a:latin typeface="Calibri"/>
                <a:ea typeface="Calibri"/>
                <a:cs typeface="Calibri"/>
                <a:sym typeface="Calibri"/>
              </a:rPr>
              <a:t>Modular design supports scalable manufacturing, local repair, and sustainable deployment.</a:t>
            </a:r>
            <a:endParaRPr/>
          </a:p>
        </p:txBody>
      </p:sp>
      <p:sp>
        <p:nvSpPr>
          <p:cNvPr id="1034" name="Google Shape;1034;p26"/>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27"/>
          <p:cNvSpPr/>
          <p:nvPr/>
        </p:nvSpPr>
        <p:spPr>
          <a:xfrm>
            <a:off x="16465848" y="254479"/>
            <a:ext cx="1586865" cy="487204"/>
          </a:xfrm>
          <a:custGeom>
            <a:rect b="b" l="l" r="r" t="t"/>
            <a:pathLst>
              <a:path extrusionOk="0" h="649605" w="2115820">
                <a:moveTo>
                  <a:pt x="0" y="0"/>
                </a:moveTo>
                <a:lnTo>
                  <a:pt x="2115820" y="0"/>
                </a:lnTo>
                <a:lnTo>
                  <a:pt x="2115820" y="649605"/>
                </a:lnTo>
                <a:lnTo>
                  <a:pt x="0" y="649605"/>
                </a:lnTo>
                <a:lnTo>
                  <a:pt x="0" y="0"/>
                </a:lnTo>
                <a:close/>
              </a:path>
            </a:pathLst>
          </a:custGeom>
          <a:blipFill rotWithShape="1">
            <a:blip r:embed="rId3">
              <a:alphaModFix/>
            </a:blip>
            <a:stretch>
              <a:fillRect b="-776" l="0" r="-17" t="0"/>
            </a:stretch>
          </a:blipFill>
          <a:ln>
            <a:noFill/>
          </a:ln>
        </p:spPr>
      </p:sp>
      <p:sp>
        <p:nvSpPr>
          <p:cNvPr id="1040" name="Google Shape;1040;p27"/>
          <p:cNvSpPr/>
          <p:nvPr/>
        </p:nvSpPr>
        <p:spPr>
          <a:xfrm>
            <a:off x="16269719" y="110236"/>
            <a:ext cx="9525" cy="763524"/>
          </a:xfrm>
          <a:custGeom>
            <a:rect b="b" l="l" r="r" t="t"/>
            <a:pathLst>
              <a:path extrusionOk="0" h="763524" w="9525">
                <a:moveTo>
                  <a:pt x="0" y="0"/>
                </a:moveTo>
                <a:lnTo>
                  <a:pt x="0" y="763524"/>
                </a:lnTo>
                <a:lnTo>
                  <a:pt x="9525" y="763524"/>
                </a:lnTo>
                <a:lnTo>
                  <a:pt x="9525" y="0"/>
                </a:lnTo>
                <a:close/>
              </a:path>
            </a:pathLst>
          </a:custGeom>
          <a:solidFill>
            <a:srgbClr val="000000"/>
          </a:solidFill>
          <a:ln>
            <a:noFill/>
          </a:ln>
        </p:spPr>
      </p:sp>
      <p:sp>
        <p:nvSpPr>
          <p:cNvPr id="1041" name="Google Shape;1041;p27"/>
          <p:cNvSpPr/>
          <p:nvPr/>
        </p:nvSpPr>
        <p:spPr>
          <a:xfrm>
            <a:off x="14480543" y="105413"/>
            <a:ext cx="1437990" cy="785337"/>
          </a:xfrm>
          <a:custGeom>
            <a:rect b="b" l="l" r="r" t="t"/>
            <a:pathLst>
              <a:path extrusionOk="0" h="1047115" w="1917319">
                <a:moveTo>
                  <a:pt x="0" y="0"/>
                </a:moveTo>
                <a:lnTo>
                  <a:pt x="1917319" y="0"/>
                </a:lnTo>
                <a:lnTo>
                  <a:pt x="1917319" y="1047115"/>
                </a:lnTo>
                <a:lnTo>
                  <a:pt x="0" y="1047115"/>
                </a:lnTo>
                <a:lnTo>
                  <a:pt x="0" y="0"/>
                </a:lnTo>
                <a:close/>
              </a:path>
            </a:pathLst>
          </a:custGeom>
          <a:blipFill rotWithShape="1">
            <a:blip r:embed="rId4">
              <a:alphaModFix/>
            </a:blip>
            <a:stretch>
              <a:fillRect b="-386" l="0" r="-49" t="0"/>
            </a:stretch>
          </a:blipFill>
          <a:ln>
            <a:noFill/>
          </a:ln>
        </p:spPr>
      </p:sp>
      <p:grpSp>
        <p:nvGrpSpPr>
          <p:cNvPr id="1042" name="Google Shape;1042;p27"/>
          <p:cNvGrpSpPr/>
          <p:nvPr/>
        </p:nvGrpSpPr>
        <p:grpSpPr>
          <a:xfrm>
            <a:off x="131089" y="197155"/>
            <a:ext cx="411477" cy="592837"/>
            <a:chOff x="63500" y="63500"/>
            <a:chExt cx="411479" cy="592837"/>
          </a:xfrm>
        </p:grpSpPr>
        <p:sp>
          <p:nvSpPr>
            <p:cNvPr id="1043" name="Google Shape;1043;p27"/>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7"/>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7"/>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7"/>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7"/>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7"/>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7"/>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sp>
        <p:nvSpPr>
          <p:cNvPr id="1050" name="Google Shape;1050;p27"/>
          <p:cNvSpPr/>
          <p:nvPr/>
        </p:nvSpPr>
        <p:spPr>
          <a:xfrm>
            <a:off x="16269719" y="105413"/>
            <a:ext cx="9525" cy="773430"/>
          </a:xfrm>
          <a:custGeom>
            <a:rect b="b" l="l" r="r" t="t"/>
            <a:pathLst>
              <a:path extrusionOk="0" h="773430" w="9525">
                <a:moveTo>
                  <a:pt x="0" y="773430"/>
                </a:moveTo>
                <a:lnTo>
                  <a:pt x="9525" y="773430"/>
                </a:lnTo>
                <a:lnTo>
                  <a:pt x="9525" y="0"/>
                </a:lnTo>
                <a:lnTo>
                  <a:pt x="0" y="0"/>
                </a:lnTo>
                <a:close/>
              </a:path>
            </a:pathLst>
          </a:custGeom>
          <a:solidFill>
            <a:srgbClr val="000000">
              <a:alpha val="0"/>
            </a:srgbClr>
          </a:solidFill>
          <a:ln>
            <a:noFill/>
          </a:ln>
        </p:spPr>
      </p:sp>
      <p:sp>
        <p:nvSpPr>
          <p:cNvPr id="1051" name="Google Shape;1051;p27"/>
          <p:cNvSpPr txBox="1"/>
          <p:nvPr/>
        </p:nvSpPr>
        <p:spPr>
          <a:xfrm>
            <a:off x="7125033" y="200025"/>
            <a:ext cx="4191000" cy="561975"/>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lang="en-US" sz="2820" u="none" strike="noStrike">
                <a:solidFill>
                  <a:srgbClr val="424242"/>
                </a:solidFill>
                <a:latin typeface="Calibri"/>
                <a:ea typeface="Calibri"/>
                <a:cs typeface="Calibri"/>
                <a:sym typeface="Calibri"/>
              </a:rPr>
              <a:t>Why We Should Be Selected</a:t>
            </a:r>
            <a:endParaRPr/>
          </a:p>
        </p:txBody>
      </p:sp>
      <p:sp>
        <p:nvSpPr>
          <p:cNvPr id="1052" name="Google Shape;1052;p27"/>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cxnSp>
        <p:nvCxnSpPr>
          <p:cNvPr id="1053" name="Google Shape;1053;p27"/>
          <p:cNvCxnSpPr/>
          <p:nvPr/>
        </p:nvCxnSpPr>
        <p:spPr>
          <a:xfrm>
            <a:off x="1028700" y="8362416"/>
            <a:ext cx="9048750" cy="0"/>
          </a:xfrm>
          <a:prstGeom prst="straightConnector1">
            <a:avLst/>
          </a:prstGeom>
          <a:noFill/>
          <a:ln cap="flat" cmpd="sng" w="19050">
            <a:solidFill>
              <a:srgbClr val="FD7607"/>
            </a:solidFill>
            <a:prstDash val="solid"/>
            <a:round/>
            <a:headEnd len="sm" w="sm" type="none"/>
            <a:tailEnd len="sm" w="sm" type="none"/>
          </a:ln>
        </p:spPr>
      </p:cxnSp>
      <p:sp>
        <p:nvSpPr>
          <p:cNvPr id="1054" name="Google Shape;1054;p27"/>
          <p:cNvSpPr/>
          <p:nvPr/>
        </p:nvSpPr>
        <p:spPr>
          <a:xfrm>
            <a:off x="11545490" y="2409291"/>
            <a:ext cx="5238750" cy="4762500"/>
          </a:xfrm>
          <a:custGeom>
            <a:rect b="b" l="l" r="r" t="t"/>
            <a:pathLst>
              <a:path extrusionOk="0" h="6350000" w="6985000">
                <a:moveTo>
                  <a:pt x="635000" y="0"/>
                </a:moveTo>
                <a:lnTo>
                  <a:pt x="6350000" y="0"/>
                </a:lnTo>
                <a:cubicBezTo>
                  <a:pt x="6700701" y="0"/>
                  <a:pt x="6985000" y="284299"/>
                  <a:pt x="6985000" y="635000"/>
                </a:cubicBezTo>
                <a:lnTo>
                  <a:pt x="6985000" y="5715000"/>
                </a:lnTo>
                <a:cubicBezTo>
                  <a:pt x="6985000" y="6065701"/>
                  <a:pt x="6700701" y="6350000"/>
                  <a:pt x="6350000" y="6350000"/>
                </a:cubicBezTo>
                <a:lnTo>
                  <a:pt x="635000" y="6350000"/>
                </a:lnTo>
                <a:cubicBezTo>
                  <a:pt x="284299" y="6350000"/>
                  <a:pt x="0" y="6065701"/>
                  <a:pt x="0" y="5715000"/>
                </a:cubicBezTo>
                <a:lnTo>
                  <a:pt x="0" y="635000"/>
                </a:lnTo>
                <a:cubicBezTo>
                  <a:pt x="0" y="284299"/>
                  <a:pt x="284299" y="0"/>
                  <a:pt x="635000" y="0"/>
                </a:cubicBezTo>
                <a:close/>
              </a:path>
            </a:pathLst>
          </a:cu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5" name="Google Shape;1055;p27"/>
          <p:cNvGrpSpPr/>
          <p:nvPr/>
        </p:nvGrpSpPr>
        <p:grpSpPr>
          <a:xfrm>
            <a:off x="1028700" y="8548154"/>
            <a:ext cx="8842450" cy="788352"/>
            <a:chOff x="0" y="-133350"/>
            <a:chExt cx="11789933" cy="1051137"/>
          </a:xfrm>
        </p:grpSpPr>
        <p:sp>
          <p:nvSpPr>
            <p:cNvPr id="1056" name="Google Shape;1056;p27"/>
            <p:cNvSpPr txBox="1"/>
            <p:nvPr/>
          </p:nvSpPr>
          <p:spPr>
            <a:xfrm>
              <a:off x="9144000" y="577850"/>
              <a:ext cx="2540000" cy="33993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400" u="none" strike="noStrike">
                  <a:solidFill>
                    <a:srgbClr val="424242"/>
                  </a:solidFill>
                  <a:latin typeface="Calibri"/>
                  <a:ea typeface="Calibri"/>
                  <a:cs typeface="Calibri"/>
                  <a:sym typeface="Calibri"/>
                </a:rPr>
                <a:t>To Deploy</a:t>
              </a:r>
              <a:endParaRPr/>
            </a:p>
          </p:txBody>
        </p:sp>
        <p:sp>
          <p:nvSpPr>
            <p:cNvPr id="1057" name="Google Shape;1057;p27"/>
            <p:cNvSpPr txBox="1"/>
            <p:nvPr/>
          </p:nvSpPr>
          <p:spPr>
            <a:xfrm>
              <a:off x="9249833" y="-133350"/>
              <a:ext cx="2540100" cy="738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00">
                  <a:solidFill>
                    <a:srgbClr val="FD7607"/>
                  </a:solidFill>
                  <a:latin typeface="Calibri"/>
                  <a:ea typeface="Calibri"/>
                  <a:cs typeface="Calibri"/>
                  <a:sym typeface="Calibri"/>
                </a:rPr>
                <a:t>6</a:t>
              </a:r>
              <a:r>
                <a:rPr b="1" lang="en-US" sz="3600" u="none" strike="noStrike">
                  <a:solidFill>
                    <a:srgbClr val="FD7607"/>
                  </a:solidFill>
                  <a:latin typeface="Calibri"/>
                  <a:ea typeface="Calibri"/>
                  <a:cs typeface="Calibri"/>
                  <a:sym typeface="Calibri"/>
                </a:rPr>
                <a:t> Month</a:t>
              </a:r>
              <a:endParaRPr/>
            </a:p>
          </p:txBody>
        </p:sp>
        <p:sp>
          <p:nvSpPr>
            <p:cNvPr id="1058" name="Google Shape;1058;p27"/>
            <p:cNvSpPr txBox="1"/>
            <p:nvPr/>
          </p:nvSpPr>
          <p:spPr>
            <a:xfrm>
              <a:off x="6096000" y="577850"/>
              <a:ext cx="2540000" cy="33993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400" u="none" strike="noStrike">
                  <a:solidFill>
                    <a:srgbClr val="424242"/>
                  </a:solidFill>
                  <a:latin typeface="Calibri"/>
                  <a:ea typeface="Calibri"/>
                  <a:cs typeface="Calibri"/>
                  <a:sym typeface="Calibri"/>
                </a:rPr>
                <a:t>Per Unit Cost</a:t>
              </a:r>
              <a:endParaRPr/>
            </a:p>
          </p:txBody>
        </p:sp>
        <p:sp>
          <p:nvSpPr>
            <p:cNvPr id="1059" name="Google Shape;1059;p27"/>
            <p:cNvSpPr txBox="1"/>
            <p:nvPr/>
          </p:nvSpPr>
          <p:spPr>
            <a:xfrm>
              <a:off x="6096000" y="-133350"/>
              <a:ext cx="2540000" cy="8623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00" u="none" strike="noStrike">
                  <a:solidFill>
                    <a:srgbClr val="FD7607"/>
                  </a:solidFill>
                  <a:latin typeface="Calibri"/>
                  <a:ea typeface="Calibri"/>
                  <a:cs typeface="Calibri"/>
                  <a:sym typeface="Calibri"/>
                </a:rPr>
                <a:t>&lt;$1000</a:t>
              </a:r>
              <a:endParaRPr/>
            </a:p>
          </p:txBody>
        </p:sp>
        <p:sp>
          <p:nvSpPr>
            <p:cNvPr id="1060" name="Google Shape;1060;p27"/>
            <p:cNvSpPr txBox="1"/>
            <p:nvPr/>
          </p:nvSpPr>
          <p:spPr>
            <a:xfrm>
              <a:off x="3048000" y="577850"/>
              <a:ext cx="2540000" cy="33993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400" u="none" strike="noStrike">
                  <a:solidFill>
                    <a:srgbClr val="424242"/>
                  </a:solidFill>
                  <a:latin typeface="Calibri"/>
                  <a:ea typeface="Calibri"/>
                  <a:cs typeface="Calibri"/>
                  <a:sym typeface="Calibri"/>
                </a:rPr>
                <a:t>Pilot Satisfaction</a:t>
              </a:r>
              <a:endParaRPr/>
            </a:p>
          </p:txBody>
        </p:sp>
        <p:sp>
          <p:nvSpPr>
            <p:cNvPr id="1061" name="Google Shape;1061;p27"/>
            <p:cNvSpPr txBox="1"/>
            <p:nvPr/>
          </p:nvSpPr>
          <p:spPr>
            <a:xfrm>
              <a:off x="3048000" y="-133350"/>
              <a:ext cx="2540000" cy="8623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00" u="none" strike="noStrike">
                  <a:solidFill>
                    <a:srgbClr val="FD7607"/>
                  </a:solidFill>
                  <a:latin typeface="Calibri"/>
                  <a:ea typeface="Calibri"/>
                  <a:cs typeface="Calibri"/>
                  <a:sym typeface="Calibri"/>
                </a:rPr>
                <a:t>95%</a:t>
              </a:r>
              <a:endParaRPr/>
            </a:p>
          </p:txBody>
        </p:sp>
        <p:sp>
          <p:nvSpPr>
            <p:cNvPr id="1062" name="Google Shape;1062;p27"/>
            <p:cNvSpPr txBox="1"/>
            <p:nvPr/>
          </p:nvSpPr>
          <p:spPr>
            <a:xfrm>
              <a:off x="0" y="577850"/>
              <a:ext cx="2540000" cy="33993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400" u="none" strike="noStrike">
                  <a:solidFill>
                    <a:srgbClr val="424242"/>
                  </a:solidFill>
                  <a:latin typeface="Calibri"/>
                  <a:ea typeface="Calibri"/>
                  <a:cs typeface="Calibri"/>
                  <a:sym typeface="Calibri"/>
                </a:rPr>
                <a:t>Lives Impacted</a:t>
              </a:r>
              <a:endParaRPr/>
            </a:p>
          </p:txBody>
        </p:sp>
        <p:sp>
          <p:nvSpPr>
            <p:cNvPr id="1063" name="Google Shape;1063;p27"/>
            <p:cNvSpPr txBox="1"/>
            <p:nvPr/>
          </p:nvSpPr>
          <p:spPr>
            <a:xfrm>
              <a:off x="0" y="-133350"/>
              <a:ext cx="2540000" cy="8623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00" u="none" strike="noStrike">
                  <a:solidFill>
                    <a:srgbClr val="FD7607"/>
                  </a:solidFill>
                  <a:latin typeface="Calibri"/>
                  <a:ea typeface="Calibri"/>
                  <a:cs typeface="Calibri"/>
                  <a:sym typeface="Calibri"/>
                </a:rPr>
                <a:t>39M+</a:t>
              </a:r>
              <a:endParaRPr/>
            </a:p>
          </p:txBody>
        </p:sp>
      </p:grpSp>
      <p:sp>
        <p:nvSpPr>
          <p:cNvPr id="1064" name="Google Shape;1064;p27"/>
          <p:cNvSpPr txBox="1"/>
          <p:nvPr/>
        </p:nvSpPr>
        <p:spPr>
          <a:xfrm>
            <a:off x="1733550" y="7176872"/>
            <a:ext cx="7226678" cy="83693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lang="en-US" sz="2299" u="none" strike="noStrike">
                <a:solidFill>
                  <a:srgbClr val="555555"/>
                </a:solidFill>
                <a:latin typeface="Calibri"/>
                <a:ea typeface="Calibri"/>
                <a:cs typeface="Calibri"/>
                <a:sym typeface="Calibri"/>
              </a:rPr>
              <a:t>Cross-functional team with deep expertise in assistive tech, embedded systems, and inclusive education design.</a:t>
            </a:r>
            <a:endParaRPr/>
          </a:p>
        </p:txBody>
      </p:sp>
      <p:sp>
        <p:nvSpPr>
          <p:cNvPr id="1065" name="Google Shape;1065;p27"/>
          <p:cNvSpPr txBox="1"/>
          <p:nvPr/>
        </p:nvSpPr>
        <p:spPr>
          <a:xfrm>
            <a:off x="1733550" y="6571716"/>
            <a:ext cx="6667500" cy="54800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799" u="none" strike="noStrike">
                <a:solidFill>
                  <a:srgbClr val="222222"/>
                </a:solidFill>
                <a:latin typeface="Calibri"/>
                <a:ea typeface="Calibri"/>
                <a:cs typeface="Calibri"/>
                <a:sym typeface="Calibri"/>
              </a:rPr>
              <a:t>Strong Execution Team</a:t>
            </a:r>
            <a:endParaRPr/>
          </a:p>
        </p:txBody>
      </p:sp>
      <p:sp>
        <p:nvSpPr>
          <p:cNvPr id="1066" name="Google Shape;1066;p27"/>
          <p:cNvSpPr txBox="1"/>
          <p:nvPr/>
        </p:nvSpPr>
        <p:spPr>
          <a:xfrm>
            <a:off x="1028700" y="6228816"/>
            <a:ext cx="476250" cy="605571"/>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3158" u="none" strike="noStrike">
                <a:solidFill>
                  <a:srgbClr val="FFFFFF"/>
                </a:solidFill>
                <a:latin typeface="Calibri"/>
                <a:ea typeface="Calibri"/>
                <a:cs typeface="Calibri"/>
                <a:sym typeface="Calibri"/>
              </a:rPr>
              <a:t>3</a:t>
            </a:r>
            <a:endParaRPr/>
          </a:p>
        </p:txBody>
      </p:sp>
      <p:sp>
        <p:nvSpPr>
          <p:cNvPr id="1067" name="Google Shape;1067;p27"/>
          <p:cNvSpPr txBox="1"/>
          <p:nvPr/>
        </p:nvSpPr>
        <p:spPr>
          <a:xfrm>
            <a:off x="1733550" y="5125186"/>
            <a:ext cx="6667500" cy="1236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300" u="none" strike="noStrike">
                <a:solidFill>
                  <a:srgbClr val="555555"/>
                </a:solidFill>
                <a:latin typeface="Calibri"/>
                <a:ea typeface="Calibri"/>
                <a:cs typeface="Calibri"/>
                <a:sym typeface="Calibri"/>
              </a:rPr>
              <a:t>Modular hardware + mobile app architecture enables rapid deployment at &lt;$1000/unit, making it accessible for NGOs and schools.</a:t>
            </a:r>
            <a:endParaRPr/>
          </a:p>
        </p:txBody>
      </p:sp>
      <p:sp>
        <p:nvSpPr>
          <p:cNvPr id="1068" name="Google Shape;1068;p27"/>
          <p:cNvSpPr txBox="1"/>
          <p:nvPr/>
        </p:nvSpPr>
        <p:spPr>
          <a:xfrm>
            <a:off x="1733550" y="4523841"/>
            <a:ext cx="6667500" cy="54800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799" u="none" strike="noStrike">
                <a:solidFill>
                  <a:srgbClr val="222222"/>
                </a:solidFill>
                <a:latin typeface="Calibri"/>
                <a:ea typeface="Calibri"/>
                <a:cs typeface="Calibri"/>
                <a:sym typeface="Calibri"/>
              </a:rPr>
              <a:t>Scalable &amp; Affordable</a:t>
            </a:r>
            <a:endParaRPr/>
          </a:p>
        </p:txBody>
      </p:sp>
      <p:sp>
        <p:nvSpPr>
          <p:cNvPr id="1069" name="Google Shape;1069;p27"/>
          <p:cNvSpPr txBox="1"/>
          <p:nvPr/>
        </p:nvSpPr>
        <p:spPr>
          <a:xfrm>
            <a:off x="1028700" y="4514316"/>
            <a:ext cx="476250" cy="605571"/>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3158" u="none" strike="noStrike">
                <a:solidFill>
                  <a:srgbClr val="FFFFFF"/>
                </a:solidFill>
                <a:latin typeface="Calibri"/>
                <a:ea typeface="Calibri"/>
                <a:cs typeface="Calibri"/>
                <a:sym typeface="Calibri"/>
              </a:rPr>
              <a:t>2</a:t>
            </a:r>
            <a:endParaRPr/>
          </a:p>
        </p:txBody>
      </p:sp>
      <p:sp>
        <p:nvSpPr>
          <p:cNvPr id="1070" name="Google Shape;1070;p27"/>
          <p:cNvSpPr txBox="1"/>
          <p:nvPr/>
        </p:nvSpPr>
        <p:spPr>
          <a:xfrm>
            <a:off x="1733550" y="3074027"/>
            <a:ext cx="6667500" cy="1236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300" u="none" strike="noStrike">
                <a:solidFill>
                  <a:srgbClr val="555555"/>
                </a:solidFill>
                <a:latin typeface="Calibri"/>
                <a:ea typeface="Calibri"/>
                <a:cs typeface="Calibri"/>
                <a:sym typeface="Calibri"/>
              </a:rPr>
              <a:t>Our solution directly addresses the learning gap for 39M+ visually impaired individuals, with measurable outcomes in pilot testing.</a:t>
            </a:r>
            <a:endParaRPr/>
          </a:p>
        </p:txBody>
      </p:sp>
      <p:sp>
        <p:nvSpPr>
          <p:cNvPr id="1071" name="Google Shape;1071;p27"/>
          <p:cNvSpPr txBox="1"/>
          <p:nvPr/>
        </p:nvSpPr>
        <p:spPr>
          <a:xfrm>
            <a:off x="1733550" y="2530843"/>
            <a:ext cx="6667500" cy="54800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799" u="none" strike="noStrike">
                <a:solidFill>
                  <a:srgbClr val="222222"/>
                </a:solidFill>
                <a:latin typeface="Calibri"/>
                <a:ea typeface="Calibri"/>
                <a:cs typeface="Calibri"/>
                <a:sym typeface="Calibri"/>
              </a:rPr>
              <a:t>Proven Impact</a:t>
            </a:r>
            <a:endParaRPr/>
          </a:p>
        </p:txBody>
      </p:sp>
      <p:sp>
        <p:nvSpPr>
          <p:cNvPr id="1072" name="Google Shape;1072;p27"/>
          <p:cNvSpPr txBox="1"/>
          <p:nvPr/>
        </p:nvSpPr>
        <p:spPr>
          <a:xfrm>
            <a:off x="1028700" y="2799816"/>
            <a:ext cx="476250" cy="605571"/>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3158" u="none" strike="noStrike">
                <a:solidFill>
                  <a:srgbClr val="FFFFFF"/>
                </a:solidFill>
                <a:latin typeface="Calibri"/>
                <a:ea typeface="Calibri"/>
                <a:cs typeface="Calibri"/>
                <a:sym typeface="Calibri"/>
              </a:rPr>
              <a:t>1</a:t>
            </a:r>
            <a:endParaRPr/>
          </a:p>
        </p:txBody>
      </p:sp>
      <p:sp>
        <p:nvSpPr>
          <p:cNvPr id="1073" name="Google Shape;1073;p27"/>
          <p:cNvSpPr/>
          <p:nvPr/>
        </p:nvSpPr>
        <p:spPr>
          <a:xfrm>
            <a:off x="1252163" y="2631116"/>
            <a:ext cx="296863" cy="338138"/>
          </a:xfrm>
          <a:custGeom>
            <a:rect b="b" l="l" r="r" t="t"/>
            <a:pathLst>
              <a:path extrusionOk="0" h="635000" w="635000">
                <a:moveTo>
                  <a:pt x="63500" y="0"/>
                </a:moveTo>
                <a:lnTo>
                  <a:pt x="571500" y="0"/>
                </a:lnTo>
                <a:cubicBezTo>
                  <a:pt x="606570" y="0"/>
                  <a:pt x="635000" y="28430"/>
                  <a:pt x="635000" y="63500"/>
                </a:cubicBezTo>
                <a:lnTo>
                  <a:pt x="635000" y="571500"/>
                </a:lnTo>
                <a:cubicBezTo>
                  <a:pt x="635000" y="606570"/>
                  <a:pt x="606570" y="635000"/>
                  <a:pt x="571500" y="635000"/>
                </a:cubicBezTo>
                <a:lnTo>
                  <a:pt x="63500" y="635000"/>
                </a:lnTo>
                <a:cubicBezTo>
                  <a:pt x="28430" y="635000"/>
                  <a:pt x="0" y="606570"/>
                  <a:pt x="0" y="571500"/>
                </a:cubicBezTo>
                <a:lnTo>
                  <a:pt x="0" y="63500"/>
                </a:lnTo>
                <a:cubicBezTo>
                  <a:pt x="0" y="28430"/>
                  <a:pt x="28430" y="0"/>
                  <a:pt x="63500" y="0"/>
                </a:cubicBezTo>
                <a:close/>
              </a:path>
            </a:pathLst>
          </a:custGeom>
          <a:solidFill>
            <a:srgbClr val="FD76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7"/>
          <p:cNvSpPr txBox="1"/>
          <p:nvPr/>
        </p:nvSpPr>
        <p:spPr>
          <a:xfrm>
            <a:off x="1028700" y="1760321"/>
            <a:ext cx="6667500" cy="3384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US" sz="2199" u="none" strike="noStrike">
                <a:solidFill>
                  <a:schemeClr val="dk1"/>
                </a:solidFill>
                <a:latin typeface="Calibri"/>
                <a:ea typeface="Calibri"/>
                <a:cs typeface="Calibri"/>
                <a:sym typeface="Calibri"/>
              </a:rPr>
              <a:t>Key reasons that make VIISAR the right choice</a:t>
            </a:r>
            <a:endParaRPr b="1">
              <a:solidFill>
                <a:schemeClr val="dk1"/>
              </a:solidFill>
            </a:endParaRPr>
          </a:p>
        </p:txBody>
      </p:sp>
      <p:sp>
        <p:nvSpPr>
          <p:cNvPr id="1075" name="Google Shape;1075;p27"/>
          <p:cNvSpPr/>
          <p:nvPr/>
        </p:nvSpPr>
        <p:spPr>
          <a:xfrm>
            <a:off x="1252163" y="4648027"/>
            <a:ext cx="296863" cy="338138"/>
          </a:xfrm>
          <a:custGeom>
            <a:rect b="b" l="l" r="r" t="t"/>
            <a:pathLst>
              <a:path extrusionOk="0" h="635000" w="635000">
                <a:moveTo>
                  <a:pt x="63500" y="0"/>
                </a:moveTo>
                <a:lnTo>
                  <a:pt x="571500" y="0"/>
                </a:lnTo>
                <a:cubicBezTo>
                  <a:pt x="606570" y="0"/>
                  <a:pt x="635000" y="28430"/>
                  <a:pt x="635000" y="63500"/>
                </a:cubicBezTo>
                <a:lnTo>
                  <a:pt x="635000" y="571500"/>
                </a:lnTo>
                <a:cubicBezTo>
                  <a:pt x="635000" y="606570"/>
                  <a:pt x="606570" y="635000"/>
                  <a:pt x="571500" y="635000"/>
                </a:cubicBezTo>
                <a:lnTo>
                  <a:pt x="63500" y="635000"/>
                </a:lnTo>
                <a:cubicBezTo>
                  <a:pt x="28430" y="635000"/>
                  <a:pt x="0" y="606570"/>
                  <a:pt x="0" y="571500"/>
                </a:cubicBezTo>
                <a:lnTo>
                  <a:pt x="0" y="63500"/>
                </a:lnTo>
                <a:cubicBezTo>
                  <a:pt x="0" y="28430"/>
                  <a:pt x="28430" y="0"/>
                  <a:pt x="63500" y="0"/>
                </a:cubicBezTo>
                <a:close/>
              </a:path>
            </a:pathLst>
          </a:custGeom>
          <a:solidFill>
            <a:srgbClr val="FD76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7"/>
          <p:cNvSpPr/>
          <p:nvPr/>
        </p:nvSpPr>
        <p:spPr>
          <a:xfrm>
            <a:off x="1252163" y="6664940"/>
            <a:ext cx="296863" cy="338138"/>
          </a:xfrm>
          <a:custGeom>
            <a:rect b="b" l="l" r="r" t="t"/>
            <a:pathLst>
              <a:path extrusionOk="0" h="635000" w="635000">
                <a:moveTo>
                  <a:pt x="63500" y="0"/>
                </a:moveTo>
                <a:lnTo>
                  <a:pt x="571500" y="0"/>
                </a:lnTo>
                <a:cubicBezTo>
                  <a:pt x="606570" y="0"/>
                  <a:pt x="635000" y="28430"/>
                  <a:pt x="635000" y="63500"/>
                </a:cubicBezTo>
                <a:lnTo>
                  <a:pt x="635000" y="571500"/>
                </a:lnTo>
                <a:cubicBezTo>
                  <a:pt x="635000" y="606570"/>
                  <a:pt x="606570" y="635000"/>
                  <a:pt x="571500" y="635000"/>
                </a:cubicBezTo>
                <a:lnTo>
                  <a:pt x="63500" y="635000"/>
                </a:lnTo>
                <a:cubicBezTo>
                  <a:pt x="28430" y="635000"/>
                  <a:pt x="0" y="606570"/>
                  <a:pt x="0" y="571500"/>
                </a:cubicBezTo>
                <a:lnTo>
                  <a:pt x="0" y="63500"/>
                </a:lnTo>
                <a:cubicBezTo>
                  <a:pt x="0" y="28430"/>
                  <a:pt x="28430" y="0"/>
                  <a:pt x="63500" y="0"/>
                </a:cubicBezTo>
                <a:close/>
              </a:path>
            </a:pathLst>
          </a:custGeom>
          <a:solidFill>
            <a:srgbClr val="FD76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28"/>
          <p:cNvSpPr/>
          <p:nvPr/>
        </p:nvSpPr>
        <p:spPr>
          <a:xfrm>
            <a:off x="5138275" y="1287502"/>
            <a:ext cx="18288000" cy="8622411"/>
          </a:xfrm>
          <a:custGeom>
            <a:rect b="b" l="l" r="r" t="t"/>
            <a:pathLst>
              <a:path extrusionOk="0" h="11496548" w="24384000">
                <a:moveTo>
                  <a:pt x="0" y="0"/>
                </a:moveTo>
                <a:lnTo>
                  <a:pt x="24384000" y="0"/>
                </a:lnTo>
                <a:lnTo>
                  <a:pt x="24384000" y="11496548"/>
                </a:lnTo>
                <a:lnTo>
                  <a:pt x="0" y="11496548"/>
                </a:lnTo>
                <a:lnTo>
                  <a:pt x="0" y="0"/>
                </a:lnTo>
                <a:close/>
              </a:path>
            </a:pathLst>
          </a:custGeom>
          <a:blipFill rotWithShape="1">
            <a:blip r:embed="rId3">
              <a:alphaModFix/>
            </a:blip>
            <a:stretch>
              <a:fillRect b="-19305" l="-6330" r="-6324" t="0"/>
            </a:stretch>
          </a:blipFill>
          <a:ln>
            <a:noFill/>
          </a:ln>
        </p:spPr>
      </p:sp>
      <p:sp>
        <p:nvSpPr>
          <p:cNvPr id="1082" name="Google Shape;1082;p28"/>
          <p:cNvSpPr/>
          <p:nvPr/>
        </p:nvSpPr>
        <p:spPr>
          <a:xfrm>
            <a:off x="2160489" y="3397101"/>
            <a:ext cx="4357306" cy="2606802"/>
          </a:xfrm>
          <a:custGeom>
            <a:rect b="b" l="l" r="r" t="t"/>
            <a:pathLst>
              <a:path extrusionOk="0" h="3475736" w="5809742">
                <a:moveTo>
                  <a:pt x="0" y="0"/>
                </a:moveTo>
                <a:lnTo>
                  <a:pt x="5809742" y="0"/>
                </a:lnTo>
                <a:lnTo>
                  <a:pt x="5809742" y="3475736"/>
                </a:lnTo>
                <a:lnTo>
                  <a:pt x="0" y="3475736"/>
                </a:lnTo>
                <a:lnTo>
                  <a:pt x="0" y="0"/>
                </a:lnTo>
                <a:close/>
              </a:path>
            </a:pathLst>
          </a:custGeom>
          <a:blipFill rotWithShape="1">
            <a:blip r:embed="rId4">
              <a:alphaModFix/>
            </a:blip>
            <a:stretch>
              <a:fillRect b="-5485" l="0" r="0" t="-5462"/>
            </a:stretch>
          </a:blipFill>
          <a:ln>
            <a:noFill/>
          </a:ln>
        </p:spPr>
      </p:sp>
      <p:sp>
        <p:nvSpPr>
          <p:cNvPr id="1083" name="Google Shape;1083;p28"/>
          <p:cNvSpPr/>
          <p:nvPr/>
        </p:nvSpPr>
        <p:spPr>
          <a:xfrm>
            <a:off x="11481121" y="3396024"/>
            <a:ext cx="5023294" cy="2606802"/>
          </a:xfrm>
          <a:custGeom>
            <a:rect b="b" l="l" r="r" t="t"/>
            <a:pathLst>
              <a:path extrusionOk="0" h="3475736" w="6697726">
                <a:moveTo>
                  <a:pt x="0" y="0"/>
                </a:moveTo>
                <a:lnTo>
                  <a:pt x="6697726" y="0"/>
                </a:lnTo>
                <a:lnTo>
                  <a:pt x="6697726" y="3475736"/>
                </a:lnTo>
                <a:lnTo>
                  <a:pt x="0" y="3475736"/>
                </a:lnTo>
                <a:lnTo>
                  <a:pt x="0" y="0"/>
                </a:lnTo>
                <a:close/>
              </a:path>
            </a:pathLst>
          </a:custGeom>
          <a:blipFill rotWithShape="1">
            <a:blip r:embed="rId5">
              <a:alphaModFix/>
            </a:blip>
            <a:stretch>
              <a:fillRect b="-2991" l="0" r="0" t="-2847"/>
            </a:stretch>
          </a:blipFill>
          <a:ln>
            <a:noFill/>
          </a:ln>
        </p:spPr>
      </p:sp>
      <p:sp>
        <p:nvSpPr>
          <p:cNvPr id="1084" name="Google Shape;1084;p28"/>
          <p:cNvSpPr/>
          <p:nvPr/>
        </p:nvSpPr>
        <p:spPr>
          <a:xfrm>
            <a:off x="2148764" y="6025477"/>
            <a:ext cx="4307205" cy="2510218"/>
          </a:xfrm>
          <a:custGeom>
            <a:rect b="b" l="l" r="r" t="t"/>
            <a:pathLst>
              <a:path extrusionOk="0" h="3346958" w="5742940">
                <a:moveTo>
                  <a:pt x="0" y="0"/>
                </a:moveTo>
                <a:lnTo>
                  <a:pt x="5742940" y="0"/>
                </a:lnTo>
                <a:lnTo>
                  <a:pt x="5742940" y="3346958"/>
                </a:lnTo>
                <a:lnTo>
                  <a:pt x="0" y="3346958"/>
                </a:lnTo>
                <a:lnTo>
                  <a:pt x="0" y="0"/>
                </a:lnTo>
                <a:close/>
              </a:path>
            </a:pathLst>
          </a:custGeom>
          <a:blipFill rotWithShape="1">
            <a:blip r:embed="rId6">
              <a:alphaModFix/>
            </a:blip>
            <a:stretch>
              <a:fillRect b="-5514" l="0" r="0" t="-5468"/>
            </a:stretch>
          </a:blipFill>
          <a:ln>
            <a:noFill/>
          </a:ln>
        </p:spPr>
      </p:sp>
      <p:sp>
        <p:nvSpPr>
          <p:cNvPr id="1085" name="Google Shape;1085;p28"/>
          <p:cNvSpPr/>
          <p:nvPr/>
        </p:nvSpPr>
        <p:spPr>
          <a:xfrm>
            <a:off x="6508652" y="3397110"/>
            <a:ext cx="4972431" cy="2833307"/>
          </a:xfrm>
          <a:custGeom>
            <a:rect b="b" l="l" r="r" t="t"/>
            <a:pathLst>
              <a:path extrusionOk="0" h="3777742" w="6629908">
                <a:moveTo>
                  <a:pt x="0" y="0"/>
                </a:moveTo>
                <a:lnTo>
                  <a:pt x="6629908" y="0"/>
                </a:lnTo>
                <a:lnTo>
                  <a:pt x="6629908" y="3777742"/>
                </a:lnTo>
                <a:lnTo>
                  <a:pt x="0" y="3777742"/>
                </a:lnTo>
                <a:lnTo>
                  <a:pt x="0" y="0"/>
                </a:lnTo>
                <a:close/>
              </a:path>
            </a:pathLst>
          </a:custGeom>
          <a:blipFill rotWithShape="1">
            <a:blip r:embed="rId7">
              <a:alphaModFix/>
            </a:blip>
            <a:stretch>
              <a:fillRect b="-5606" l="0" r="0" t="-5465"/>
            </a:stretch>
          </a:blipFill>
          <a:ln>
            <a:noFill/>
          </a:ln>
        </p:spPr>
      </p:sp>
      <p:sp>
        <p:nvSpPr>
          <p:cNvPr id="1086" name="Google Shape;1086;p28"/>
          <p:cNvSpPr/>
          <p:nvPr/>
        </p:nvSpPr>
        <p:spPr>
          <a:xfrm>
            <a:off x="11227479" y="6003903"/>
            <a:ext cx="5278755" cy="2558510"/>
          </a:xfrm>
          <a:custGeom>
            <a:rect b="b" l="l" r="r" t="t"/>
            <a:pathLst>
              <a:path extrusionOk="0" h="3411347" w="7038340">
                <a:moveTo>
                  <a:pt x="0" y="0"/>
                </a:moveTo>
                <a:lnTo>
                  <a:pt x="7038340" y="0"/>
                </a:lnTo>
                <a:lnTo>
                  <a:pt x="7038340" y="3411347"/>
                </a:lnTo>
                <a:lnTo>
                  <a:pt x="0" y="3411347"/>
                </a:lnTo>
                <a:lnTo>
                  <a:pt x="0" y="0"/>
                </a:lnTo>
                <a:close/>
              </a:path>
            </a:pathLst>
          </a:custGeom>
          <a:blipFill rotWithShape="1">
            <a:blip r:embed="rId8">
              <a:alphaModFix/>
            </a:blip>
            <a:stretch>
              <a:fillRect b="-5407" l="0" r="0" t="-5374"/>
            </a:stretch>
          </a:blipFill>
          <a:ln>
            <a:noFill/>
          </a:ln>
        </p:spPr>
      </p:sp>
      <p:sp>
        <p:nvSpPr>
          <p:cNvPr id="1087" name="Google Shape;1087;p28"/>
          <p:cNvSpPr/>
          <p:nvPr/>
        </p:nvSpPr>
        <p:spPr>
          <a:xfrm>
            <a:off x="6508652" y="6003903"/>
            <a:ext cx="4972431" cy="2557558"/>
          </a:xfrm>
          <a:custGeom>
            <a:rect b="b" l="l" r="r" t="t"/>
            <a:pathLst>
              <a:path extrusionOk="0" h="3410077" w="6629908">
                <a:moveTo>
                  <a:pt x="0" y="0"/>
                </a:moveTo>
                <a:lnTo>
                  <a:pt x="6629908" y="0"/>
                </a:lnTo>
                <a:lnTo>
                  <a:pt x="6629908" y="3410077"/>
                </a:lnTo>
                <a:lnTo>
                  <a:pt x="0" y="3410077"/>
                </a:lnTo>
                <a:lnTo>
                  <a:pt x="0" y="0"/>
                </a:lnTo>
                <a:close/>
              </a:path>
            </a:pathLst>
          </a:custGeom>
          <a:blipFill rotWithShape="1">
            <a:blip r:embed="rId9">
              <a:alphaModFix/>
            </a:blip>
            <a:stretch>
              <a:fillRect b="-5474" l="0" r="0" t="-5305"/>
            </a:stretch>
          </a:blipFill>
          <a:ln>
            <a:noFill/>
          </a:ln>
        </p:spPr>
      </p:sp>
      <p:grpSp>
        <p:nvGrpSpPr>
          <p:cNvPr id="1088" name="Google Shape;1088;p28"/>
          <p:cNvGrpSpPr/>
          <p:nvPr/>
        </p:nvGrpSpPr>
        <p:grpSpPr>
          <a:xfrm>
            <a:off x="2134613" y="3397107"/>
            <a:ext cx="14357474" cy="5229606"/>
            <a:chOff x="64516" y="63500"/>
            <a:chExt cx="14357477" cy="5229606"/>
          </a:xfrm>
        </p:grpSpPr>
        <p:sp>
          <p:nvSpPr>
            <p:cNvPr id="1089" name="Google Shape;1089;p28"/>
            <p:cNvSpPr/>
            <p:nvPr/>
          </p:nvSpPr>
          <p:spPr>
            <a:xfrm>
              <a:off x="4371594" y="63500"/>
              <a:ext cx="89789" cy="5229606"/>
            </a:xfrm>
            <a:custGeom>
              <a:rect b="b" l="l" r="r" t="t"/>
              <a:pathLst>
                <a:path extrusionOk="0" h="5229606" w="89789">
                  <a:moveTo>
                    <a:pt x="0" y="0"/>
                  </a:moveTo>
                  <a:lnTo>
                    <a:pt x="0" y="5229606"/>
                  </a:lnTo>
                  <a:lnTo>
                    <a:pt x="89789" y="5229606"/>
                  </a:lnTo>
                  <a:lnTo>
                    <a:pt x="89789" y="0"/>
                  </a:lnTo>
                  <a:close/>
                </a:path>
              </a:pathLst>
            </a:custGeom>
            <a:solidFill>
              <a:srgbClr val="FFFFFF"/>
            </a:solidFill>
            <a:ln>
              <a:noFill/>
            </a:ln>
          </p:spPr>
        </p:sp>
        <p:sp>
          <p:nvSpPr>
            <p:cNvPr id="1090" name="Google Shape;1090;p28"/>
            <p:cNvSpPr/>
            <p:nvPr/>
          </p:nvSpPr>
          <p:spPr>
            <a:xfrm>
              <a:off x="9368409" y="63500"/>
              <a:ext cx="89789" cy="5229606"/>
            </a:xfrm>
            <a:custGeom>
              <a:rect b="b" l="l" r="r" t="t"/>
              <a:pathLst>
                <a:path extrusionOk="0" h="5229606" w="89789">
                  <a:moveTo>
                    <a:pt x="0" y="0"/>
                  </a:moveTo>
                  <a:lnTo>
                    <a:pt x="0" y="5229606"/>
                  </a:lnTo>
                  <a:lnTo>
                    <a:pt x="89789" y="5229606"/>
                  </a:lnTo>
                  <a:lnTo>
                    <a:pt x="89789" y="0"/>
                  </a:lnTo>
                  <a:close/>
                </a:path>
              </a:pathLst>
            </a:custGeom>
            <a:solidFill>
              <a:srgbClr val="FFFFFF"/>
            </a:solidFill>
            <a:ln>
              <a:noFill/>
            </a:ln>
          </p:spPr>
        </p:sp>
        <p:sp>
          <p:nvSpPr>
            <p:cNvPr id="1091" name="Google Shape;1091;p28"/>
            <p:cNvSpPr/>
            <p:nvPr/>
          </p:nvSpPr>
          <p:spPr>
            <a:xfrm>
              <a:off x="64516" y="2627122"/>
              <a:ext cx="14357477" cy="61849"/>
            </a:xfrm>
            <a:custGeom>
              <a:rect b="b" l="l" r="r" t="t"/>
              <a:pathLst>
                <a:path extrusionOk="0" h="61849" w="14357477">
                  <a:moveTo>
                    <a:pt x="0" y="0"/>
                  </a:moveTo>
                  <a:lnTo>
                    <a:pt x="0" y="57912"/>
                  </a:lnTo>
                  <a:lnTo>
                    <a:pt x="14357477" y="61849"/>
                  </a:lnTo>
                  <a:lnTo>
                    <a:pt x="14357477" y="3937"/>
                  </a:lnTo>
                  <a:lnTo>
                    <a:pt x="0" y="0"/>
                  </a:lnTo>
                  <a:close/>
                </a:path>
              </a:pathLst>
            </a:custGeom>
            <a:solidFill>
              <a:srgbClr val="FFFFFF"/>
            </a:solidFill>
            <a:ln>
              <a:noFill/>
            </a:ln>
          </p:spPr>
        </p:sp>
      </p:grpSp>
      <p:sp>
        <p:nvSpPr>
          <p:cNvPr id="1092" name="Google Shape;1092;p28"/>
          <p:cNvSpPr/>
          <p:nvPr/>
        </p:nvSpPr>
        <p:spPr>
          <a:xfrm>
            <a:off x="15421632" y="137112"/>
            <a:ext cx="2708338" cy="1527524"/>
          </a:xfrm>
          <a:custGeom>
            <a:rect b="b" l="l" r="r" t="t"/>
            <a:pathLst>
              <a:path extrusionOk="0" h="2036699" w="3611118">
                <a:moveTo>
                  <a:pt x="0" y="0"/>
                </a:moveTo>
                <a:lnTo>
                  <a:pt x="3611118" y="0"/>
                </a:lnTo>
                <a:lnTo>
                  <a:pt x="3611118" y="2036699"/>
                </a:lnTo>
                <a:lnTo>
                  <a:pt x="0" y="2036699"/>
                </a:lnTo>
                <a:lnTo>
                  <a:pt x="0" y="0"/>
                </a:lnTo>
                <a:close/>
              </a:path>
            </a:pathLst>
          </a:custGeom>
          <a:blipFill rotWithShape="1">
            <a:blip r:embed="rId10">
              <a:alphaModFix/>
            </a:blip>
            <a:stretch>
              <a:fillRect b="0" l="0" r="-23" t="0"/>
            </a:stretch>
          </a:blipFill>
          <a:ln>
            <a:noFill/>
          </a:ln>
        </p:spPr>
      </p:sp>
      <p:sp>
        <p:nvSpPr>
          <p:cNvPr id="1093" name="Google Shape;1093;p28"/>
          <p:cNvSpPr/>
          <p:nvPr/>
        </p:nvSpPr>
        <p:spPr>
          <a:xfrm>
            <a:off x="15202071" y="415147"/>
            <a:ext cx="32566" cy="787079"/>
          </a:xfrm>
          <a:custGeom>
            <a:rect b="b" l="l" r="r" t="t"/>
            <a:pathLst>
              <a:path extrusionOk="0" h="787079" w="32566">
                <a:moveTo>
                  <a:pt x="0" y="0"/>
                </a:moveTo>
                <a:lnTo>
                  <a:pt x="32566" y="0"/>
                </a:lnTo>
                <a:lnTo>
                  <a:pt x="32566" y="787079"/>
                </a:lnTo>
                <a:lnTo>
                  <a:pt x="0" y="787079"/>
                </a:lnTo>
                <a:lnTo>
                  <a:pt x="0" y="0"/>
                </a:lnTo>
                <a:close/>
              </a:path>
            </a:pathLst>
          </a:custGeom>
          <a:blipFill rotWithShape="1">
            <a:blip r:embed="rId11">
              <a:alphaModFix/>
            </a:blip>
            <a:stretch>
              <a:fillRect b="0" l="0" r="0" t="0"/>
            </a:stretch>
          </a:blipFill>
          <a:ln>
            <a:noFill/>
          </a:ln>
        </p:spPr>
      </p:sp>
      <p:sp>
        <p:nvSpPr>
          <p:cNvPr id="1094" name="Google Shape;1094;p28"/>
          <p:cNvSpPr/>
          <p:nvPr/>
        </p:nvSpPr>
        <p:spPr>
          <a:xfrm>
            <a:off x="12792942" y="82706"/>
            <a:ext cx="2574417" cy="1487710"/>
          </a:xfrm>
          <a:custGeom>
            <a:rect b="b" l="l" r="r" t="t"/>
            <a:pathLst>
              <a:path extrusionOk="0" h="1983613" w="3432556">
                <a:moveTo>
                  <a:pt x="0" y="0"/>
                </a:moveTo>
                <a:lnTo>
                  <a:pt x="3432556" y="0"/>
                </a:lnTo>
                <a:lnTo>
                  <a:pt x="3432556" y="1983613"/>
                </a:lnTo>
                <a:lnTo>
                  <a:pt x="0" y="1983613"/>
                </a:lnTo>
                <a:lnTo>
                  <a:pt x="0" y="0"/>
                </a:lnTo>
                <a:close/>
              </a:path>
            </a:pathLst>
          </a:custGeom>
          <a:blipFill rotWithShape="1">
            <a:blip r:embed="rId12">
              <a:alphaModFix/>
            </a:blip>
            <a:stretch>
              <a:fillRect b="-288" l="0" r="0" t="-102"/>
            </a:stretch>
          </a:blipFill>
          <a:ln>
            <a:noFill/>
          </a:ln>
        </p:spPr>
      </p:sp>
      <p:grpSp>
        <p:nvGrpSpPr>
          <p:cNvPr id="1095" name="Google Shape;1095;p28"/>
          <p:cNvGrpSpPr/>
          <p:nvPr/>
        </p:nvGrpSpPr>
        <p:grpSpPr>
          <a:xfrm>
            <a:off x="131089" y="197155"/>
            <a:ext cx="411477" cy="592837"/>
            <a:chOff x="63500" y="63500"/>
            <a:chExt cx="411479" cy="592837"/>
          </a:xfrm>
        </p:grpSpPr>
        <p:sp>
          <p:nvSpPr>
            <p:cNvPr id="1096" name="Google Shape;1096;p28"/>
            <p:cNvSpPr/>
            <p:nvPr/>
          </p:nvSpPr>
          <p:spPr>
            <a:xfrm>
              <a:off x="63500" y="63500"/>
              <a:ext cx="180467" cy="170815"/>
            </a:xfrm>
            <a:custGeom>
              <a:rect b="b" l="l" r="r" t="t"/>
              <a:pathLst>
                <a:path extrusionOk="0" h="170815" w="180467">
                  <a:moveTo>
                    <a:pt x="180466" y="85471"/>
                  </a:moveTo>
                  <a:cubicBezTo>
                    <a:pt x="180466" y="91059"/>
                    <a:pt x="179831" y="96647"/>
                    <a:pt x="178688" y="102108"/>
                  </a:cubicBezTo>
                  <a:cubicBezTo>
                    <a:pt x="177545" y="107569"/>
                    <a:pt x="175767" y="112903"/>
                    <a:pt x="173608" y="118110"/>
                  </a:cubicBezTo>
                  <a:cubicBezTo>
                    <a:pt x="171449" y="123317"/>
                    <a:pt x="168528" y="128270"/>
                    <a:pt x="165226" y="132842"/>
                  </a:cubicBezTo>
                  <a:cubicBezTo>
                    <a:pt x="161924" y="137414"/>
                    <a:pt x="158241" y="141859"/>
                    <a:pt x="154050" y="145796"/>
                  </a:cubicBezTo>
                  <a:cubicBezTo>
                    <a:pt x="149859" y="149733"/>
                    <a:pt x="145287" y="153289"/>
                    <a:pt x="140335" y="156464"/>
                  </a:cubicBezTo>
                  <a:cubicBezTo>
                    <a:pt x="135382" y="159639"/>
                    <a:pt x="130175" y="162179"/>
                    <a:pt x="124714" y="164338"/>
                  </a:cubicBezTo>
                  <a:cubicBezTo>
                    <a:pt x="119253" y="166497"/>
                    <a:pt x="113538" y="168148"/>
                    <a:pt x="107823" y="169164"/>
                  </a:cubicBezTo>
                  <a:cubicBezTo>
                    <a:pt x="102108" y="170180"/>
                    <a:pt x="96139" y="170815"/>
                    <a:pt x="90170" y="170815"/>
                  </a:cubicBezTo>
                  <a:cubicBezTo>
                    <a:pt x="84201" y="170815"/>
                    <a:pt x="78359" y="170307"/>
                    <a:pt x="72517" y="169164"/>
                  </a:cubicBezTo>
                  <a:cubicBezTo>
                    <a:pt x="66675" y="168021"/>
                    <a:pt x="61087" y="166497"/>
                    <a:pt x="55626" y="164338"/>
                  </a:cubicBezTo>
                  <a:cubicBezTo>
                    <a:pt x="50165" y="162179"/>
                    <a:pt x="44958" y="159512"/>
                    <a:pt x="40005" y="156464"/>
                  </a:cubicBezTo>
                  <a:cubicBezTo>
                    <a:pt x="35052" y="153416"/>
                    <a:pt x="30480" y="149860"/>
                    <a:pt x="26289" y="145796"/>
                  </a:cubicBezTo>
                  <a:cubicBezTo>
                    <a:pt x="22098" y="141732"/>
                    <a:pt x="18415" y="137541"/>
                    <a:pt x="15113" y="132842"/>
                  </a:cubicBezTo>
                  <a:cubicBezTo>
                    <a:pt x="11811" y="128143"/>
                    <a:pt x="9017" y="123317"/>
                    <a:pt x="6731" y="118110"/>
                  </a:cubicBezTo>
                  <a:cubicBezTo>
                    <a:pt x="4445" y="112903"/>
                    <a:pt x="2794" y="107569"/>
                    <a:pt x="1651" y="102108"/>
                  </a:cubicBezTo>
                  <a:cubicBezTo>
                    <a:pt x="508" y="96647"/>
                    <a:pt x="0" y="91059"/>
                    <a:pt x="0" y="85471"/>
                  </a:cubicBezTo>
                  <a:cubicBezTo>
                    <a:pt x="0" y="79883"/>
                    <a:pt x="635" y="74295"/>
                    <a:pt x="1778" y="68834"/>
                  </a:cubicBezTo>
                  <a:cubicBezTo>
                    <a:pt x="2921" y="63373"/>
                    <a:pt x="4699" y="58039"/>
                    <a:pt x="6858" y="52832"/>
                  </a:cubicBezTo>
                  <a:cubicBezTo>
                    <a:pt x="9017" y="47625"/>
                    <a:pt x="11938" y="42672"/>
                    <a:pt x="15240" y="38100"/>
                  </a:cubicBezTo>
                  <a:cubicBezTo>
                    <a:pt x="18542" y="33528"/>
                    <a:pt x="22225" y="29083"/>
                    <a:pt x="26416" y="25146"/>
                  </a:cubicBezTo>
                  <a:cubicBezTo>
                    <a:pt x="30607" y="21209"/>
                    <a:pt x="35179" y="17653"/>
                    <a:pt x="40132" y="14478"/>
                  </a:cubicBezTo>
                  <a:cubicBezTo>
                    <a:pt x="45085" y="11303"/>
                    <a:pt x="50292" y="8763"/>
                    <a:pt x="55753" y="6604"/>
                  </a:cubicBezTo>
                  <a:cubicBezTo>
                    <a:pt x="61214" y="4445"/>
                    <a:pt x="66929" y="2794"/>
                    <a:pt x="72644" y="1778"/>
                  </a:cubicBezTo>
                  <a:cubicBezTo>
                    <a:pt x="78359" y="762"/>
                    <a:pt x="84328" y="0"/>
                    <a:pt x="90170" y="0"/>
                  </a:cubicBezTo>
                  <a:cubicBezTo>
                    <a:pt x="96012" y="0"/>
                    <a:pt x="101981" y="508"/>
                    <a:pt x="107823" y="1651"/>
                  </a:cubicBezTo>
                  <a:cubicBezTo>
                    <a:pt x="113665" y="2794"/>
                    <a:pt x="119253" y="4318"/>
                    <a:pt x="124714" y="6477"/>
                  </a:cubicBezTo>
                  <a:cubicBezTo>
                    <a:pt x="130175" y="8636"/>
                    <a:pt x="135382" y="11303"/>
                    <a:pt x="140335" y="14351"/>
                  </a:cubicBezTo>
                  <a:cubicBezTo>
                    <a:pt x="145288" y="17399"/>
                    <a:pt x="149860" y="20955"/>
                    <a:pt x="154051" y="25019"/>
                  </a:cubicBezTo>
                  <a:cubicBezTo>
                    <a:pt x="158241" y="29083"/>
                    <a:pt x="161924" y="33274"/>
                    <a:pt x="165226" y="37973"/>
                  </a:cubicBezTo>
                  <a:cubicBezTo>
                    <a:pt x="168528" y="42672"/>
                    <a:pt x="171322" y="47498"/>
                    <a:pt x="173608" y="52705"/>
                  </a:cubicBezTo>
                  <a:cubicBezTo>
                    <a:pt x="175894" y="57912"/>
                    <a:pt x="177545" y="63246"/>
                    <a:pt x="178688" y="68707"/>
                  </a:cubicBezTo>
                  <a:cubicBezTo>
                    <a:pt x="179831" y="74168"/>
                    <a:pt x="180466" y="79756"/>
                    <a:pt x="180466"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8"/>
            <p:cNvSpPr/>
            <p:nvPr/>
          </p:nvSpPr>
          <p:spPr>
            <a:xfrm>
              <a:off x="292607" y="63500"/>
              <a:ext cx="180594" cy="170688"/>
            </a:xfrm>
            <a:custGeom>
              <a:rect b="b" l="l" r="r" t="t"/>
              <a:pathLst>
                <a:path extrusionOk="0" h="170688" w="180594">
                  <a:moveTo>
                    <a:pt x="90297" y="0"/>
                  </a:moveTo>
                  <a:cubicBezTo>
                    <a:pt x="84328" y="0"/>
                    <a:pt x="78486" y="508"/>
                    <a:pt x="72644" y="1651"/>
                  </a:cubicBezTo>
                  <a:cubicBezTo>
                    <a:pt x="66802" y="2794"/>
                    <a:pt x="61214" y="4318"/>
                    <a:pt x="55753" y="6477"/>
                  </a:cubicBezTo>
                  <a:cubicBezTo>
                    <a:pt x="50292" y="8636"/>
                    <a:pt x="45085" y="11303"/>
                    <a:pt x="40132" y="14351"/>
                  </a:cubicBezTo>
                  <a:cubicBezTo>
                    <a:pt x="35179" y="17399"/>
                    <a:pt x="30607" y="20955"/>
                    <a:pt x="26416" y="25019"/>
                  </a:cubicBezTo>
                  <a:cubicBezTo>
                    <a:pt x="22225" y="29083"/>
                    <a:pt x="18542" y="33274"/>
                    <a:pt x="15240" y="37973"/>
                  </a:cubicBezTo>
                  <a:cubicBezTo>
                    <a:pt x="11938" y="42672"/>
                    <a:pt x="9144" y="47498"/>
                    <a:pt x="6858" y="52705"/>
                  </a:cubicBezTo>
                  <a:cubicBezTo>
                    <a:pt x="4572" y="57912"/>
                    <a:pt x="2921" y="63246"/>
                    <a:pt x="1778" y="68707"/>
                  </a:cubicBezTo>
                  <a:cubicBezTo>
                    <a:pt x="635" y="74168"/>
                    <a:pt x="0" y="79756"/>
                    <a:pt x="0" y="85344"/>
                  </a:cubicBezTo>
                  <a:cubicBezTo>
                    <a:pt x="0" y="90932"/>
                    <a:pt x="635" y="96520"/>
                    <a:pt x="1778" y="101981"/>
                  </a:cubicBezTo>
                  <a:cubicBezTo>
                    <a:pt x="2921" y="107442"/>
                    <a:pt x="4699" y="112776"/>
                    <a:pt x="6858" y="117983"/>
                  </a:cubicBezTo>
                  <a:cubicBezTo>
                    <a:pt x="9017" y="123190"/>
                    <a:pt x="11938" y="128143"/>
                    <a:pt x="15240" y="132715"/>
                  </a:cubicBezTo>
                  <a:cubicBezTo>
                    <a:pt x="18542" y="137287"/>
                    <a:pt x="22225" y="141732"/>
                    <a:pt x="26416" y="145669"/>
                  </a:cubicBezTo>
                  <a:cubicBezTo>
                    <a:pt x="30607" y="149606"/>
                    <a:pt x="35179" y="153162"/>
                    <a:pt x="40132" y="156337"/>
                  </a:cubicBezTo>
                  <a:cubicBezTo>
                    <a:pt x="45085" y="159512"/>
                    <a:pt x="50292" y="162052"/>
                    <a:pt x="55753" y="164211"/>
                  </a:cubicBezTo>
                  <a:cubicBezTo>
                    <a:pt x="61214" y="166370"/>
                    <a:pt x="66929" y="168021"/>
                    <a:pt x="72644" y="169037"/>
                  </a:cubicBezTo>
                  <a:cubicBezTo>
                    <a:pt x="78359" y="170053"/>
                    <a:pt x="84328" y="170688"/>
                    <a:pt x="90297" y="170688"/>
                  </a:cubicBezTo>
                  <a:cubicBezTo>
                    <a:pt x="96266" y="170688"/>
                    <a:pt x="102108" y="170180"/>
                    <a:pt x="107950" y="169037"/>
                  </a:cubicBezTo>
                  <a:cubicBezTo>
                    <a:pt x="113792" y="167894"/>
                    <a:pt x="119380" y="166370"/>
                    <a:pt x="124841" y="164211"/>
                  </a:cubicBezTo>
                  <a:cubicBezTo>
                    <a:pt x="130302" y="162052"/>
                    <a:pt x="135509" y="159385"/>
                    <a:pt x="140462" y="156337"/>
                  </a:cubicBezTo>
                  <a:cubicBezTo>
                    <a:pt x="145415" y="153289"/>
                    <a:pt x="149987" y="149733"/>
                    <a:pt x="154178" y="145669"/>
                  </a:cubicBezTo>
                  <a:cubicBezTo>
                    <a:pt x="158369" y="141605"/>
                    <a:pt x="162052" y="137414"/>
                    <a:pt x="165354" y="132715"/>
                  </a:cubicBezTo>
                  <a:cubicBezTo>
                    <a:pt x="168656" y="128016"/>
                    <a:pt x="171450" y="123190"/>
                    <a:pt x="173736" y="117983"/>
                  </a:cubicBezTo>
                  <a:cubicBezTo>
                    <a:pt x="176022" y="112776"/>
                    <a:pt x="177673" y="107442"/>
                    <a:pt x="178816" y="101981"/>
                  </a:cubicBezTo>
                  <a:cubicBezTo>
                    <a:pt x="179959" y="96520"/>
                    <a:pt x="180594" y="90932"/>
                    <a:pt x="180594" y="85344"/>
                  </a:cubicBezTo>
                  <a:lnTo>
                    <a:pt x="180594" y="85217"/>
                  </a:lnTo>
                  <a:cubicBezTo>
                    <a:pt x="180594" y="79629"/>
                    <a:pt x="179959" y="74041"/>
                    <a:pt x="178816" y="68580"/>
                  </a:cubicBezTo>
                  <a:cubicBezTo>
                    <a:pt x="177673" y="63119"/>
                    <a:pt x="175895" y="57785"/>
                    <a:pt x="173736" y="52578"/>
                  </a:cubicBezTo>
                  <a:cubicBezTo>
                    <a:pt x="171577" y="47371"/>
                    <a:pt x="168656" y="42418"/>
                    <a:pt x="165354" y="37846"/>
                  </a:cubicBezTo>
                  <a:cubicBezTo>
                    <a:pt x="162052" y="33274"/>
                    <a:pt x="158369" y="28829"/>
                    <a:pt x="154178" y="24892"/>
                  </a:cubicBezTo>
                  <a:cubicBezTo>
                    <a:pt x="149987" y="20955"/>
                    <a:pt x="145415" y="17399"/>
                    <a:pt x="140462" y="14224"/>
                  </a:cubicBezTo>
                  <a:cubicBezTo>
                    <a:pt x="135509" y="11049"/>
                    <a:pt x="130302" y="8509"/>
                    <a:pt x="124841" y="6350"/>
                  </a:cubicBezTo>
                  <a:cubicBezTo>
                    <a:pt x="119380" y="4191"/>
                    <a:pt x="113665" y="2540"/>
                    <a:pt x="107950" y="1524"/>
                  </a:cubicBezTo>
                  <a:cubicBezTo>
                    <a:pt x="102235" y="508"/>
                    <a:pt x="96139" y="0"/>
                    <a:pt x="90297" y="0"/>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8"/>
            <p:cNvSpPr/>
            <p:nvPr/>
          </p:nvSpPr>
          <p:spPr>
            <a:xfrm>
              <a:off x="287654" y="273431"/>
              <a:ext cx="180594" cy="170688"/>
            </a:xfrm>
            <a:custGeom>
              <a:rect b="b" l="l" r="r" t="t"/>
              <a:pathLst>
                <a:path extrusionOk="0" h="170688" w="180594">
                  <a:moveTo>
                    <a:pt x="180594" y="85345"/>
                  </a:moveTo>
                  <a:cubicBezTo>
                    <a:pt x="180594" y="90933"/>
                    <a:pt x="179959" y="96521"/>
                    <a:pt x="178816" y="101982"/>
                  </a:cubicBezTo>
                  <a:cubicBezTo>
                    <a:pt x="177673" y="107443"/>
                    <a:pt x="175895" y="112777"/>
                    <a:pt x="173736" y="117984"/>
                  </a:cubicBezTo>
                  <a:cubicBezTo>
                    <a:pt x="171577" y="123191"/>
                    <a:pt x="168656" y="128144"/>
                    <a:pt x="165354" y="132716"/>
                  </a:cubicBezTo>
                  <a:cubicBezTo>
                    <a:pt x="162052" y="137288"/>
                    <a:pt x="158369" y="141733"/>
                    <a:pt x="154178" y="145670"/>
                  </a:cubicBezTo>
                  <a:cubicBezTo>
                    <a:pt x="149987" y="149607"/>
                    <a:pt x="145415" y="153163"/>
                    <a:pt x="140462" y="156338"/>
                  </a:cubicBezTo>
                  <a:cubicBezTo>
                    <a:pt x="135509" y="159513"/>
                    <a:pt x="130302" y="162053"/>
                    <a:pt x="124841" y="164212"/>
                  </a:cubicBezTo>
                  <a:cubicBezTo>
                    <a:pt x="119380" y="166371"/>
                    <a:pt x="113665" y="168022"/>
                    <a:pt x="107950" y="169038"/>
                  </a:cubicBezTo>
                  <a:cubicBezTo>
                    <a:pt x="102235" y="170054"/>
                    <a:pt x="96266" y="170689"/>
                    <a:pt x="90297" y="170689"/>
                  </a:cubicBezTo>
                  <a:cubicBezTo>
                    <a:pt x="84328" y="170689"/>
                    <a:pt x="78486" y="170181"/>
                    <a:pt x="72644" y="169038"/>
                  </a:cubicBezTo>
                  <a:cubicBezTo>
                    <a:pt x="66802" y="167895"/>
                    <a:pt x="61214" y="166371"/>
                    <a:pt x="55753" y="164212"/>
                  </a:cubicBezTo>
                  <a:cubicBezTo>
                    <a:pt x="50292" y="162053"/>
                    <a:pt x="45085" y="159386"/>
                    <a:pt x="40132" y="156338"/>
                  </a:cubicBezTo>
                  <a:cubicBezTo>
                    <a:pt x="35179" y="153290"/>
                    <a:pt x="30607" y="149734"/>
                    <a:pt x="26416" y="145670"/>
                  </a:cubicBezTo>
                  <a:cubicBezTo>
                    <a:pt x="22225" y="141606"/>
                    <a:pt x="18542" y="137415"/>
                    <a:pt x="15240" y="132716"/>
                  </a:cubicBezTo>
                  <a:cubicBezTo>
                    <a:pt x="11938" y="128017"/>
                    <a:pt x="9144" y="123191"/>
                    <a:pt x="6858" y="117984"/>
                  </a:cubicBezTo>
                  <a:cubicBezTo>
                    <a:pt x="4572" y="112777"/>
                    <a:pt x="2921" y="107443"/>
                    <a:pt x="1778" y="101982"/>
                  </a:cubicBezTo>
                  <a:cubicBezTo>
                    <a:pt x="635"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6"/>
                    <a:pt x="154178" y="25020"/>
                  </a:cubicBezTo>
                  <a:cubicBezTo>
                    <a:pt x="158369" y="29084"/>
                    <a:pt x="162052" y="33275"/>
                    <a:pt x="165354" y="37974"/>
                  </a:cubicBezTo>
                  <a:cubicBezTo>
                    <a:pt x="168656" y="42673"/>
                    <a:pt x="171450" y="47499"/>
                    <a:pt x="173736" y="52706"/>
                  </a:cubicBezTo>
                  <a:cubicBezTo>
                    <a:pt x="176022" y="57913"/>
                    <a:pt x="177673" y="63247"/>
                    <a:pt x="178816" y="68708"/>
                  </a:cubicBezTo>
                  <a:cubicBezTo>
                    <a:pt x="179959" y="74169"/>
                    <a:pt x="180594" y="79757"/>
                    <a:pt x="180594" y="85345"/>
                  </a:cubicBezTo>
                  <a:close/>
                </a:path>
              </a:pathLst>
            </a:custGeom>
            <a:solidFill>
              <a:srgbClr val="1E1E1E">
                <a:alpha val="5921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8"/>
            <p:cNvSpPr/>
            <p:nvPr/>
          </p:nvSpPr>
          <p:spPr>
            <a:xfrm>
              <a:off x="63500" y="483236"/>
              <a:ext cx="180594" cy="170688"/>
            </a:xfrm>
            <a:custGeom>
              <a:rect b="b" l="l" r="r" t="t"/>
              <a:pathLst>
                <a:path extrusionOk="0" h="170688" w="180594">
                  <a:moveTo>
                    <a:pt x="180466" y="85344"/>
                  </a:moveTo>
                  <a:cubicBezTo>
                    <a:pt x="180466" y="90932"/>
                    <a:pt x="179831" y="96520"/>
                    <a:pt x="178688" y="101981"/>
                  </a:cubicBezTo>
                  <a:cubicBezTo>
                    <a:pt x="177545" y="107442"/>
                    <a:pt x="175767" y="112776"/>
                    <a:pt x="173608" y="117983"/>
                  </a:cubicBezTo>
                  <a:cubicBezTo>
                    <a:pt x="171449" y="123190"/>
                    <a:pt x="168528" y="128143"/>
                    <a:pt x="165226" y="132715"/>
                  </a:cubicBezTo>
                  <a:cubicBezTo>
                    <a:pt x="161924" y="137287"/>
                    <a:pt x="158241" y="141732"/>
                    <a:pt x="154050" y="145669"/>
                  </a:cubicBezTo>
                  <a:cubicBezTo>
                    <a:pt x="149859" y="149606"/>
                    <a:pt x="145287" y="153162"/>
                    <a:pt x="140335" y="156337"/>
                  </a:cubicBezTo>
                  <a:cubicBezTo>
                    <a:pt x="135382" y="159512"/>
                    <a:pt x="130175" y="162052"/>
                    <a:pt x="124714" y="164211"/>
                  </a:cubicBezTo>
                  <a:cubicBezTo>
                    <a:pt x="119253" y="166370"/>
                    <a:pt x="113538" y="168021"/>
                    <a:pt x="107823" y="169037"/>
                  </a:cubicBezTo>
                  <a:cubicBezTo>
                    <a:pt x="102108" y="170053"/>
                    <a:pt x="96139" y="170688"/>
                    <a:pt x="90170" y="170688"/>
                  </a:cubicBezTo>
                  <a:cubicBezTo>
                    <a:pt x="84201" y="170688"/>
                    <a:pt x="78359" y="170180"/>
                    <a:pt x="72517" y="169037"/>
                  </a:cubicBezTo>
                  <a:cubicBezTo>
                    <a:pt x="66675" y="167894"/>
                    <a:pt x="61087" y="166370"/>
                    <a:pt x="55626" y="164211"/>
                  </a:cubicBezTo>
                  <a:cubicBezTo>
                    <a:pt x="50165" y="162052"/>
                    <a:pt x="44958" y="159385"/>
                    <a:pt x="40005" y="156337"/>
                  </a:cubicBezTo>
                  <a:cubicBezTo>
                    <a:pt x="35052" y="153289"/>
                    <a:pt x="30480" y="149733"/>
                    <a:pt x="26289" y="145669"/>
                  </a:cubicBezTo>
                  <a:cubicBezTo>
                    <a:pt x="22098" y="141605"/>
                    <a:pt x="18415" y="137414"/>
                    <a:pt x="15113" y="132715"/>
                  </a:cubicBezTo>
                  <a:cubicBezTo>
                    <a:pt x="11811" y="128016"/>
                    <a:pt x="9017" y="123190"/>
                    <a:pt x="6731" y="117983"/>
                  </a:cubicBezTo>
                  <a:cubicBezTo>
                    <a:pt x="4445" y="112776"/>
                    <a:pt x="2794" y="107442"/>
                    <a:pt x="1651" y="101981"/>
                  </a:cubicBezTo>
                  <a:cubicBezTo>
                    <a:pt x="508" y="96520"/>
                    <a:pt x="0" y="91059"/>
                    <a:pt x="0" y="85344"/>
                  </a:cubicBezTo>
                  <a:cubicBezTo>
                    <a:pt x="0" y="79629"/>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5"/>
                    <a:pt x="154177" y="25019"/>
                  </a:cubicBezTo>
                  <a:cubicBezTo>
                    <a:pt x="158368" y="29083"/>
                    <a:pt x="162051" y="33274"/>
                    <a:pt x="165353" y="37973"/>
                  </a:cubicBezTo>
                  <a:cubicBezTo>
                    <a:pt x="168655" y="42672"/>
                    <a:pt x="171449" y="47498"/>
                    <a:pt x="173735" y="52705"/>
                  </a:cubicBezTo>
                  <a:cubicBezTo>
                    <a:pt x="176021" y="57912"/>
                    <a:pt x="177672" y="63246"/>
                    <a:pt x="178815" y="68707"/>
                  </a:cubicBezTo>
                  <a:cubicBezTo>
                    <a:pt x="179958" y="74168"/>
                    <a:pt x="180593" y="79756"/>
                    <a:pt x="180593"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8"/>
            <p:cNvSpPr/>
            <p:nvPr/>
          </p:nvSpPr>
          <p:spPr>
            <a:xfrm>
              <a:off x="63500" y="273431"/>
              <a:ext cx="180594" cy="170688"/>
            </a:xfrm>
            <a:custGeom>
              <a:rect b="b" l="l" r="r" t="t"/>
              <a:pathLst>
                <a:path extrusionOk="0" h="170688" w="180594">
                  <a:moveTo>
                    <a:pt x="180466" y="85345"/>
                  </a:moveTo>
                  <a:cubicBezTo>
                    <a:pt x="180466" y="90933"/>
                    <a:pt x="179831" y="96521"/>
                    <a:pt x="178688" y="101982"/>
                  </a:cubicBezTo>
                  <a:cubicBezTo>
                    <a:pt x="177545" y="107443"/>
                    <a:pt x="175767" y="112777"/>
                    <a:pt x="173608" y="117984"/>
                  </a:cubicBezTo>
                  <a:cubicBezTo>
                    <a:pt x="171449" y="123191"/>
                    <a:pt x="168528" y="128144"/>
                    <a:pt x="165226" y="132716"/>
                  </a:cubicBezTo>
                  <a:cubicBezTo>
                    <a:pt x="161924" y="137288"/>
                    <a:pt x="158241" y="141733"/>
                    <a:pt x="154050" y="145670"/>
                  </a:cubicBezTo>
                  <a:cubicBezTo>
                    <a:pt x="149859" y="149607"/>
                    <a:pt x="145287" y="153163"/>
                    <a:pt x="140335" y="156338"/>
                  </a:cubicBezTo>
                  <a:cubicBezTo>
                    <a:pt x="135382" y="159513"/>
                    <a:pt x="130175" y="162053"/>
                    <a:pt x="124714" y="164212"/>
                  </a:cubicBezTo>
                  <a:cubicBezTo>
                    <a:pt x="119253" y="166371"/>
                    <a:pt x="113538" y="168022"/>
                    <a:pt x="107823" y="169038"/>
                  </a:cubicBezTo>
                  <a:cubicBezTo>
                    <a:pt x="102108" y="170054"/>
                    <a:pt x="96139" y="170689"/>
                    <a:pt x="90170" y="170689"/>
                  </a:cubicBezTo>
                  <a:cubicBezTo>
                    <a:pt x="84201" y="170689"/>
                    <a:pt x="78359" y="170181"/>
                    <a:pt x="72517" y="169038"/>
                  </a:cubicBezTo>
                  <a:cubicBezTo>
                    <a:pt x="66675" y="167895"/>
                    <a:pt x="61087" y="166371"/>
                    <a:pt x="55626" y="164212"/>
                  </a:cubicBezTo>
                  <a:cubicBezTo>
                    <a:pt x="50165" y="162053"/>
                    <a:pt x="44958" y="159386"/>
                    <a:pt x="40005" y="156338"/>
                  </a:cubicBezTo>
                  <a:cubicBezTo>
                    <a:pt x="35052" y="153290"/>
                    <a:pt x="30480" y="149734"/>
                    <a:pt x="26289" y="145670"/>
                  </a:cubicBezTo>
                  <a:cubicBezTo>
                    <a:pt x="22098" y="141606"/>
                    <a:pt x="18415" y="137415"/>
                    <a:pt x="15113" y="132716"/>
                  </a:cubicBezTo>
                  <a:cubicBezTo>
                    <a:pt x="11811" y="128017"/>
                    <a:pt x="9017" y="123191"/>
                    <a:pt x="6731" y="117984"/>
                  </a:cubicBezTo>
                  <a:cubicBezTo>
                    <a:pt x="4445" y="112777"/>
                    <a:pt x="2794" y="107443"/>
                    <a:pt x="1651" y="101982"/>
                  </a:cubicBezTo>
                  <a:cubicBezTo>
                    <a:pt x="508" y="96521"/>
                    <a:pt x="0" y="90933"/>
                    <a:pt x="0" y="85345"/>
                  </a:cubicBezTo>
                  <a:cubicBezTo>
                    <a:pt x="0" y="79757"/>
                    <a:pt x="635" y="74169"/>
                    <a:pt x="1778" y="68708"/>
                  </a:cubicBezTo>
                  <a:cubicBezTo>
                    <a:pt x="2921" y="63247"/>
                    <a:pt x="4699" y="57913"/>
                    <a:pt x="6858" y="52706"/>
                  </a:cubicBezTo>
                  <a:cubicBezTo>
                    <a:pt x="9017" y="47499"/>
                    <a:pt x="11938" y="42546"/>
                    <a:pt x="15240" y="37974"/>
                  </a:cubicBezTo>
                  <a:cubicBezTo>
                    <a:pt x="18542" y="33402"/>
                    <a:pt x="22225" y="28957"/>
                    <a:pt x="26416" y="25020"/>
                  </a:cubicBezTo>
                  <a:cubicBezTo>
                    <a:pt x="30607" y="21083"/>
                    <a:pt x="35179" y="17527"/>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6" y="20956"/>
                    <a:pt x="154177" y="25020"/>
                  </a:cubicBezTo>
                  <a:cubicBezTo>
                    <a:pt x="158368" y="29084"/>
                    <a:pt x="162051" y="33275"/>
                    <a:pt x="165353" y="37974"/>
                  </a:cubicBezTo>
                  <a:cubicBezTo>
                    <a:pt x="168655" y="42673"/>
                    <a:pt x="171449" y="47499"/>
                    <a:pt x="173735" y="52706"/>
                  </a:cubicBezTo>
                  <a:cubicBezTo>
                    <a:pt x="176021" y="57913"/>
                    <a:pt x="177672" y="63247"/>
                    <a:pt x="178815" y="68708"/>
                  </a:cubicBezTo>
                  <a:cubicBezTo>
                    <a:pt x="179958" y="74169"/>
                    <a:pt x="180593" y="79757"/>
                    <a:pt x="180593" y="85345"/>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8"/>
            <p:cNvSpPr/>
            <p:nvPr/>
          </p:nvSpPr>
          <p:spPr>
            <a:xfrm>
              <a:off x="287654" y="483236"/>
              <a:ext cx="180594" cy="170688"/>
            </a:xfrm>
            <a:custGeom>
              <a:rect b="b" l="l" r="r" t="t"/>
              <a:pathLst>
                <a:path extrusionOk="0" h="170688" w="180594">
                  <a:moveTo>
                    <a:pt x="180594" y="85344"/>
                  </a:moveTo>
                  <a:cubicBezTo>
                    <a:pt x="180594" y="90932"/>
                    <a:pt x="179959" y="96520"/>
                    <a:pt x="178816" y="101981"/>
                  </a:cubicBezTo>
                  <a:cubicBezTo>
                    <a:pt x="177673" y="107442"/>
                    <a:pt x="175895" y="112776"/>
                    <a:pt x="173736" y="117983"/>
                  </a:cubicBezTo>
                  <a:cubicBezTo>
                    <a:pt x="171577" y="123190"/>
                    <a:pt x="168656" y="128143"/>
                    <a:pt x="165354" y="132715"/>
                  </a:cubicBezTo>
                  <a:cubicBezTo>
                    <a:pt x="162052" y="137287"/>
                    <a:pt x="158369" y="141732"/>
                    <a:pt x="154178" y="145669"/>
                  </a:cubicBezTo>
                  <a:cubicBezTo>
                    <a:pt x="149987" y="149606"/>
                    <a:pt x="145415" y="153162"/>
                    <a:pt x="140462" y="156337"/>
                  </a:cubicBezTo>
                  <a:cubicBezTo>
                    <a:pt x="135509" y="159512"/>
                    <a:pt x="130302" y="162052"/>
                    <a:pt x="124841" y="164211"/>
                  </a:cubicBezTo>
                  <a:cubicBezTo>
                    <a:pt x="119380" y="166370"/>
                    <a:pt x="113665" y="168021"/>
                    <a:pt x="107950" y="169037"/>
                  </a:cubicBezTo>
                  <a:cubicBezTo>
                    <a:pt x="102235" y="170053"/>
                    <a:pt x="96266" y="170688"/>
                    <a:pt x="90297" y="170688"/>
                  </a:cubicBezTo>
                  <a:cubicBezTo>
                    <a:pt x="84328" y="170688"/>
                    <a:pt x="78486" y="170180"/>
                    <a:pt x="72644" y="169037"/>
                  </a:cubicBezTo>
                  <a:cubicBezTo>
                    <a:pt x="66802" y="167894"/>
                    <a:pt x="61214" y="166370"/>
                    <a:pt x="55753" y="164211"/>
                  </a:cubicBezTo>
                  <a:cubicBezTo>
                    <a:pt x="50292" y="162052"/>
                    <a:pt x="45085" y="159385"/>
                    <a:pt x="40132" y="156337"/>
                  </a:cubicBezTo>
                  <a:cubicBezTo>
                    <a:pt x="35179" y="153289"/>
                    <a:pt x="30607" y="149733"/>
                    <a:pt x="26416" y="145669"/>
                  </a:cubicBezTo>
                  <a:cubicBezTo>
                    <a:pt x="22225" y="141605"/>
                    <a:pt x="18542" y="137414"/>
                    <a:pt x="15240" y="132715"/>
                  </a:cubicBezTo>
                  <a:cubicBezTo>
                    <a:pt x="11938" y="128016"/>
                    <a:pt x="9144" y="123190"/>
                    <a:pt x="6858" y="117983"/>
                  </a:cubicBezTo>
                  <a:cubicBezTo>
                    <a:pt x="4572" y="112776"/>
                    <a:pt x="2921" y="107442"/>
                    <a:pt x="1778" y="101981"/>
                  </a:cubicBezTo>
                  <a:cubicBezTo>
                    <a:pt x="635" y="96520"/>
                    <a:pt x="0" y="90932"/>
                    <a:pt x="0" y="85344"/>
                  </a:cubicBezTo>
                  <a:cubicBezTo>
                    <a:pt x="0" y="79756"/>
                    <a:pt x="635" y="74168"/>
                    <a:pt x="1778" y="68707"/>
                  </a:cubicBezTo>
                  <a:cubicBezTo>
                    <a:pt x="2921" y="63246"/>
                    <a:pt x="4699" y="57912"/>
                    <a:pt x="6858" y="52705"/>
                  </a:cubicBezTo>
                  <a:cubicBezTo>
                    <a:pt x="9017" y="47498"/>
                    <a:pt x="11938" y="42545"/>
                    <a:pt x="15240" y="37973"/>
                  </a:cubicBezTo>
                  <a:cubicBezTo>
                    <a:pt x="18542" y="33401"/>
                    <a:pt x="22225" y="28956"/>
                    <a:pt x="26416" y="25019"/>
                  </a:cubicBezTo>
                  <a:cubicBezTo>
                    <a:pt x="30607" y="21082"/>
                    <a:pt x="35179" y="17526"/>
                    <a:pt x="40132" y="14351"/>
                  </a:cubicBezTo>
                  <a:cubicBezTo>
                    <a:pt x="45085" y="11176"/>
                    <a:pt x="50292" y="8636"/>
                    <a:pt x="55753" y="6477"/>
                  </a:cubicBezTo>
                  <a:cubicBezTo>
                    <a:pt x="61214" y="4318"/>
                    <a:pt x="66929" y="2667"/>
                    <a:pt x="72644" y="1651"/>
                  </a:cubicBezTo>
                  <a:cubicBezTo>
                    <a:pt x="78359" y="635"/>
                    <a:pt x="84328" y="0"/>
                    <a:pt x="90297" y="0"/>
                  </a:cubicBezTo>
                  <a:cubicBezTo>
                    <a:pt x="96266" y="0"/>
                    <a:pt x="102108" y="508"/>
                    <a:pt x="107950" y="1651"/>
                  </a:cubicBezTo>
                  <a:cubicBezTo>
                    <a:pt x="113792" y="2794"/>
                    <a:pt x="119380" y="4318"/>
                    <a:pt x="124841" y="6477"/>
                  </a:cubicBezTo>
                  <a:cubicBezTo>
                    <a:pt x="130302" y="8636"/>
                    <a:pt x="135509" y="11303"/>
                    <a:pt x="140462" y="14351"/>
                  </a:cubicBezTo>
                  <a:cubicBezTo>
                    <a:pt x="145415" y="17399"/>
                    <a:pt x="149987" y="20955"/>
                    <a:pt x="154178" y="25019"/>
                  </a:cubicBezTo>
                  <a:cubicBezTo>
                    <a:pt x="158369" y="29083"/>
                    <a:pt x="162052" y="33274"/>
                    <a:pt x="165354" y="37973"/>
                  </a:cubicBezTo>
                  <a:cubicBezTo>
                    <a:pt x="168656" y="42672"/>
                    <a:pt x="171450" y="47498"/>
                    <a:pt x="173736" y="52705"/>
                  </a:cubicBezTo>
                  <a:cubicBezTo>
                    <a:pt x="176022" y="57912"/>
                    <a:pt x="177673" y="63246"/>
                    <a:pt x="178816" y="68707"/>
                  </a:cubicBezTo>
                  <a:cubicBezTo>
                    <a:pt x="179959" y="74168"/>
                    <a:pt x="180594" y="79756"/>
                    <a:pt x="180594" y="85344"/>
                  </a:cubicBezTo>
                  <a:close/>
                </a:path>
              </a:pathLst>
            </a:custGeom>
            <a:solidFill>
              <a:srgbClr val="FF7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8"/>
            <p:cNvSpPr/>
            <p:nvPr/>
          </p:nvSpPr>
          <p:spPr>
            <a:xfrm>
              <a:off x="63500" y="63500"/>
              <a:ext cx="411479" cy="592837"/>
            </a:xfrm>
            <a:custGeom>
              <a:rect b="b" l="l" r="r" t="t"/>
              <a:pathLst>
                <a:path extrusionOk="0" h="592837" w="411479">
                  <a:moveTo>
                    <a:pt x="0" y="592837"/>
                  </a:moveTo>
                  <a:lnTo>
                    <a:pt x="411479" y="592837"/>
                  </a:lnTo>
                  <a:lnTo>
                    <a:pt x="411479" y="0"/>
                  </a:lnTo>
                  <a:lnTo>
                    <a:pt x="0" y="0"/>
                  </a:lnTo>
                  <a:close/>
                </a:path>
              </a:pathLst>
            </a:custGeom>
            <a:solidFill>
              <a:srgbClr val="000000">
                <a:alpha val="0"/>
              </a:srgbClr>
            </a:solidFill>
            <a:ln>
              <a:noFill/>
            </a:ln>
          </p:spPr>
        </p:sp>
      </p:grpSp>
      <p:grpSp>
        <p:nvGrpSpPr>
          <p:cNvPr id="1103" name="Google Shape;1103;p28"/>
          <p:cNvGrpSpPr/>
          <p:nvPr/>
        </p:nvGrpSpPr>
        <p:grpSpPr>
          <a:xfrm>
            <a:off x="2105689" y="3397107"/>
            <a:ext cx="14448407" cy="5231254"/>
            <a:chOff x="63500" y="63500"/>
            <a:chExt cx="14448413" cy="5231260"/>
          </a:xfrm>
        </p:grpSpPr>
        <p:sp>
          <p:nvSpPr>
            <p:cNvPr id="1104" name="Google Shape;1104;p28"/>
            <p:cNvSpPr/>
            <p:nvPr/>
          </p:nvSpPr>
          <p:spPr>
            <a:xfrm>
              <a:off x="4399408" y="63500"/>
              <a:ext cx="5086986" cy="5231260"/>
            </a:xfrm>
            <a:custGeom>
              <a:rect b="b" l="l" r="r" t="t"/>
              <a:pathLst>
                <a:path extrusionOk="0" h="5231260" w="5086986">
                  <a:moveTo>
                    <a:pt x="0" y="5231260"/>
                  </a:moveTo>
                  <a:lnTo>
                    <a:pt x="5086986" y="5231260"/>
                  </a:lnTo>
                  <a:lnTo>
                    <a:pt x="5086986" y="0"/>
                  </a:lnTo>
                  <a:lnTo>
                    <a:pt x="0" y="0"/>
                  </a:lnTo>
                  <a:close/>
                </a:path>
              </a:pathLst>
            </a:custGeom>
            <a:solidFill>
              <a:srgbClr val="000000">
                <a:alpha val="0"/>
              </a:srgbClr>
            </a:solidFill>
            <a:ln>
              <a:noFill/>
            </a:ln>
          </p:spPr>
        </p:sp>
        <p:sp>
          <p:nvSpPr>
            <p:cNvPr id="1105" name="Google Shape;1105;p28"/>
            <p:cNvSpPr/>
            <p:nvPr/>
          </p:nvSpPr>
          <p:spPr>
            <a:xfrm>
              <a:off x="63500" y="2627123"/>
              <a:ext cx="14448413" cy="86487"/>
            </a:xfrm>
            <a:custGeom>
              <a:rect b="b" l="l" r="r" t="t"/>
              <a:pathLst>
                <a:path extrusionOk="0" h="86487" w="14448413">
                  <a:moveTo>
                    <a:pt x="0" y="86488"/>
                  </a:moveTo>
                  <a:lnTo>
                    <a:pt x="14448413" y="86488"/>
                  </a:lnTo>
                  <a:lnTo>
                    <a:pt x="14448413" y="0"/>
                  </a:lnTo>
                  <a:lnTo>
                    <a:pt x="0" y="0"/>
                  </a:lnTo>
                  <a:close/>
                </a:path>
              </a:pathLst>
            </a:custGeom>
            <a:solidFill>
              <a:srgbClr val="000000">
                <a:alpha val="0"/>
              </a:srgbClr>
            </a:solidFill>
            <a:ln>
              <a:noFill/>
            </a:ln>
          </p:spPr>
        </p:sp>
      </p:grpSp>
      <p:sp>
        <p:nvSpPr>
          <p:cNvPr id="1106" name="Google Shape;1106;p28"/>
          <p:cNvSpPr/>
          <p:nvPr/>
        </p:nvSpPr>
        <p:spPr>
          <a:xfrm>
            <a:off x="15201995" y="414947"/>
            <a:ext cx="32895" cy="787397"/>
          </a:xfrm>
          <a:custGeom>
            <a:rect b="b" l="l" r="r" t="t"/>
            <a:pathLst>
              <a:path extrusionOk="0" h="787403" w="32895">
                <a:moveTo>
                  <a:pt x="0" y="787403"/>
                </a:moveTo>
                <a:lnTo>
                  <a:pt x="32895" y="787403"/>
                </a:lnTo>
                <a:lnTo>
                  <a:pt x="32895" y="0"/>
                </a:lnTo>
                <a:lnTo>
                  <a:pt x="0" y="0"/>
                </a:lnTo>
                <a:close/>
              </a:path>
            </a:pathLst>
          </a:custGeom>
          <a:solidFill>
            <a:srgbClr val="000000">
              <a:alpha val="0"/>
            </a:srgbClr>
          </a:solidFill>
          <a:ln>
            <a:noFill/>
          </a:ln>
        </p:spPr>
      </p:sp>
      <p:sp>
        <p:nvSpPr>
          <p:cNvPr id="1107" name="Google Shape;1107;p28"/>
          <p:cNvSpPr txBox="1"/>
          <p:nvPr/>
        </p:nvSpPr>
        <p:spPr>
          <a:xfrm>
            <a:off x="1814008" y="1593180"/>
            <a:ext cx="6591510" cy="1848355"/>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lang="en-US" sz="10800">
                <a:solidFill>
                  <a:srgbClr val="561113"/>
                </a:solidFill>
                <a:latin typeface="Tahoma"/>
                <a:ea typeface="Tahoma"/>
                <a:cs typeface="Tahoma"/>
                <a:sym typeface="Tahoma"/>
              </a:rPr>
              <a:t>Thank</a:t>
            </a:r>
            <a:r>
              <a:rPr lang="en-US" sz="10800">
                <a:solidFill>
                  <a:srgbClr val="CA3734"/>
                </a:solidFill>
                <a:latin typeface="Tahoma"/>
                <a:ea typeface="Tahoma"/>
                <a:cs typeface="Tahoma"/>
                <a:sym typeface="Tahoma"/>
              </a:rPr>
              <a:t> You</a:t>
            </a:r>
            <a:endParaRPr/>
          </a:p>
        </p:txBody>
      </p:sp>
      <p:sp>
        <p:nvSpPr>
          <p:cNvPr id="1108" name="Google Shape;1108;p28"/>
          <p:cNvSpPr txBox="1"/>
          <p:nvPr/>
        </p:nvSpPr>
        <p:spPr>
          <a:xfrm>
            <a:off x="730815" y="212779"/>
            <a:ext cx="1339558" cy="517646"/>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US" sz="2953">
                <a:solidFill>
                  <a:srgbClr val="FD7607"/>
                </a:solidFill>
                <a:latin typeface="Times"/>
                <a:ea typeface="Times"/>
                <a:cs typeface="Times"/>
                <a:sym typeface="Times"/>
              </a:rPr>
              <a:t>VII</a:t>
            </a:r>
            <a:r>
              <a:rPr b="1" lang="en-US" sz="2953">
                <a:solidFill>
                  <a:srgbClr val="000000"/>
                </a:solidFill>
                <a:latin typeface="Times"/>
                <a:ea typeface="Times"/>
                <a:cs typeface="Times"/>
                <a:sym typeface="Times"/>
              </a:rPr>
              <a:t>SAR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