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fntdata" ContentType="application/x-fontdata"/>
  <Default Extension="svg" ContentType="image/svg+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Bold" panose="020B0704020202020204" pitchFamily="34" charset="0"/>
      <p:regular r:id="rId11"/>
      <p:bold r:id="rId12"/>
    </p:embeddedFont>
    <p:embeddedFont>
      <p:font typeface="Calibri (MS)" panose="020F0502020204030204" pitchFamily="34" charset="0"/>
      <p:regular r:id="rId13"/>
    </p:embeddedFont>
    <p:embeddedFont>
      <p:font typeface="Catamaran Bold" pitchFamily="2" charset="77"/>
      <p:regular r:id="rId14"/>
      <p:bold r:id="rId15"/>
    </p:embeddedFont>
    <p:embeddedFont>
      <p:font typeface="Helvetica World" pitchFamily="2" charset="0"/>
      <p:regular r:id="rId16"/>
    </p:embeddedFont>
    <p:embeddedFont>
      <p:font typeface="Helvetica World Bold" pitchFamily="2" charset="0"/>
      <p:regular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Bold" panose="02000000000000000000" pitchFamily="2" charset="0"/>
      <p:regular r:id="rId22"/>
      <p:bold r:id="rId23"/>
    </p:embeddedFont>
    <p:embeddedFont>
      <p:font typeface="Tahoma" panose="020B0604030504040204" pitchFamily="34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5" autoAdjust="0"/>
  </p:normalViewPr>
  <p:slideViewPr>
    <p:cSldViewPr>
      <p:cViewPr varScale="1">
        <p:scale>
          <a:sx n="78" d="100"/>
          <a:sy n="78" d="100"/>
        </p:scale>
        <p:origin x="5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font" Target="/ppt/fonts/font3.fntdata" Id="rId13" /><Relationship Type="http://schemas.openxmlformats.org/officeDocument/2006/relationships/font" Target="/ppt/fonts/font8.fntdata" Id="rId18" /><Relationship Type="http://schemas.openxmlformats.org/officeDocument/2006/relationships/presProps" Target="/ppt/presProps.xml" Id="rId26" /><Relationship Type="http://schemas.openxmlformats.org/officeDocument/2006/relationships/slide" Target="/ppt/slides/slide2.xml" Id="rId3" /><Relationship Type="http://schemas.openxmlformats.org/officeDocument/2006/relationships/font" Target="/ppt/fonts/font11.fntdata" Id="rId21" /><Relationship Type="http://schemas.openxmlformats.org/officeDocument/2006/relationships/slide" Target="/ppt/slides/slide6.xml" Id="rId7" /><Relationship Type="http://schemas.openxmlformats.org/officeDocument/2006/relationships/font" Target="/ppt/fonts/font2.fntdata" Id="rId12" /><Relationship Type="http://schemas.openxmlformats.org/officeDocument/2006/relationships/font" Target="/ppt/fonts/font7.fntdata" Id="rId17" /><Relationship Type="http://schemas.openxmlformats.org/officeDocument/2006/relationships/font" Target="/ppt/fonts/font15.fntdata" Id="rId25" /><Relationship Type="http://schemas.openxmlformats.org/officeDocument/2006/relationships/slide" Target="/ppt/slides/slide1.xml" Id="rId2" /><Relationship Type="http://schemas.openxmlformats.org/officeDocument/2006/relationships/font" Target="/ppt/fonts/font6.fntdata" Id="rId16" /><Relationship Type="http://schemas.openxmlformats.org/officeDocument/2006/relationships/font" Target="/ppt/fonts/font10.fntdata" Id="rId20" /><Relationship Type="http://schemas.openxmlformats.org/officeDocument/2006/relationships/tableStyles" Target="/ppt/tableStyles.xml" Id="rId29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font" Target="/ppt/fonts/font1.fntdata" Id="rId11" /><Relationship Type="http://schemas.openxmlformats.org/officeDocument/2006/relationships/font" Target="/ppt/fonts/font14.fntdata" Id="rId24" /><Relationship Type="http://schemas.openxmlformats.org/officeDocument/2006/relationships/slide" Target="/ppt/slides/slide4.xml" Id="rId5" /><Relationship Type="http://schemas.openxmlformats.org/officeDocument/2006/relationships/font" Target="/ppt/fonts/font5.fntdata" Id="rId15" /><Relationship Type="http://schemas.openxmlformats.org/officeDocument/2006/relationships/font" Target="/ppt/fonts/font13.fntdata" Id="rId23" /><Relationship Type="http://schemas.openxmlformats.org/officeDocument/2006/relationships/theme" Target="/ppt/theme/theme1.xml" Id="rId28" /><Relationship Type="http://schemas.openxmlformats.org/officeDocument/2006/relationships/notesMaster" Target="/ppt/notesMasters/notesMaster1.xml" Id="rId10" /><Relationship Type="http://schemas.openxmlformats.org/officeDocument/2006/relationships/font" Target="/ppt/fonts/font9.fntdata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font" Target="/ppt/fonts/font4.fntdata" Id="rId14" /><Relationship Type="http://schemas.openxmlformats.org/officeDocument/2006/relationships/font" Target="/ppt/fonts/font12.fntdata" Id="rId22" /><Relationship Type="http://schemas.openxmlformats.org/officeDocument/2006/relationships/viewProps" Target="/ppt/viewProps.xml" Id="rId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7.png" Id="rId8" /><Relationship Type="http://schemas.openxmlformats.org/officeDocument/2006/relationships/image" Target="/ppt/media/image12.png" Id="rId13" /><Relationship Type="http://schemas.openxmlformats.org/officeDocument/2006/relationships/image" Target="/ppt/media/image2.png" Id="rId3" /><Relationship Type="http://schemas.openxmlformats.org/officeDocument/2006/relationships/image" Target="/ppt/media/image6.png" Id="rId7" /><Relationship Type="http://schemas.openxmlformats.org/officeDocument/2006/relationships/image" Target="/ppt/media/image11.png" Id="rId12" /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5.png" Id="rId6" /><Relationship Type="http://schemas.openxmlformats.org/officeDocument/2006/relationships/image" Target="/ppt/media/image10.png" Id="rId11" /><Relationship Type="http://schemas.openxmlformats.org/officeDocument/2006/relationships/image" Target="/ppt/media/image4.png" Id="rId5" /><Relationship Type="http://schemas.openxmlformats.org/officeDocument/2006/relationships/image" Target="/ppt/media/image9.png" Id="rId10" /><Relationship Type="http://schemas.openxmlformats.org/officeDocument/2006/relationships/image" Target="/ppt/media/image3.png" Id="rId4" /><Relationship Type="http://schemas.openxmlformats.org/officeDocument/2006/relationships/image" Target="/ppt/media/image8.png" Id="rI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12.png" Id="rId3" /><Relationship Type="http://schemas.openxmlformats.org/officeDocument/2006/relationships/image" Target="/ppt/media/image16.png" Id="rId7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5.png" Id="rId6" /><Relationship Type="http://schemas.openxmlformats.org/officeDocument/2006/relationships/image" Target="/ppt/media/image14.png" Id="rId5" /><Relationship Type="http://schemas.openxmlformats.org/officeDocument/2006/relationships/image" Target="/ppt/media/image13.png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2.png" Id="rId3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8.svg" Id="rId5" /><Relationship Type="http://schemas.openxmlformats.org/officeDocument/2006/relationships/image" Target="/ppt/media/image17.png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2.png" Id="rId3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0.svg" Id="rId5" /><Relationship Type="http://schemas.openxmlformats.org/officeDocument/2006/relationships/image" Target="/ppt/media/image19.pn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26.png" Id="rId8" /><Relationship Type="http://schemas.openxmlformats.org/officeDocument/2006/relationships/image" Target="/ppt/media/image11.png" Id="rId13" /><Relationship Type="http://schemas.openxmlformats.org/officeDocument/2006/relationships/image" Target="/ppt/media/image21.png" Id="rId3" /><Relationship Type="http://schemas.openxmlformats.org/officeDocument/2006/relationships/image" Target="/ppt/media/image25.png" Id="rId7" /><Relationship Type="http://schemas.openxmlformats.org/officeDocument/2006/relationships/image" Target="/ppt/media/image30.png" Id="rId12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4.png" Id="rId6" /><Relationship Type="http://schemas.openxmlformats.org/officeDocument/2006/relationships/image" Target="/ppt/media/image29.png" Id="rId11" /><Relationship Type="http://schemas.openxmlformats.org/officeDocument/2006/relationships/image" Target="/ppt/media/image23.png" Id="rId5" /><Relationship Type="http://schemas.openxmlformats.org/officeDocument/2006/relationships/image" Target="/ppt/media/image28.png" Id="rId10" /><Relationship Type="http://schemas.openxmlformats.org/officeDocument/2006/relationships/image" Target="/ppt/media/image22.png" Id="rId4" /><Relationship Type="http://schemas.openxmlformats.org/officeDocument/2006/relationships/image" Target="/ppt/media/image27.png" Id="rId9" /><Relationship Type="http://schemas.openxmlformats.org/officeDocument/2006/relationships/image" Target="/ppt/media/image12.png" Id="rId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33.png" Id="rId8" /><Relationship Type="http://schemas.openxmlformats.org/officeDocument/2006/relationships/image" Target="/ppt/media/image12.png" Id="rId3" /><Relationship Type="http://schemas.openxmlformats.org/officeDocument/2006/relationships/image" Target="/ppt/media/image32.png" Id="rId7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0.svg" Id="rId6" /><Relationship Type="http://schemas.openxmlformats.org/officeDocument/2006/relationships/image" Target="/ppt/media/image19.png" Id="rId5" /><Relationship Type="http://schemas.openxmlformats.org/officeDocument/2006/relationships/image" Target="/ppt/media/image31.jpeg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1.png" Id="rId3" /><Relationship Type="http://schemas.openxmlformats.org/officeDocument/2006/relationships/slideLayout" Target="/ppt/slideLayouts/slideLayout7.xml" Id="rId2" /><Relationship Type="http://schemas.openxmlformats.org/officeDocument/2006/relationships/image" Target="/ppt/media/image34.jpeg" Id="rId5" /><Relationship Type="http://schemas.openxmlformats.org/officeDocument/2006/relationships/image" Target="/ppt/media/image12.png" Id="rId4" /><Relationship Type="http://schemas.openxmlformats.org/officeDocument/2006/relationships/video" Target="https://www.youtube.com/embed/roKaM5Pb1Tk?feature=oembed" TargetMode="Externa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40.jpeg" Id="rId8" /><Relationship Type="http://schemas.openxmlformats.org/officeDocument/2006/relationships/image" Target="/ppt/media/image35.jpeg" Id="rId3" /><Relationship Type="http://schemas.openxmlformats.org/officeDocument/2006/relationships/image" Target="/ppt/media/image39.jpeg" Id="rId7" /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38.jpeg" Id="rId6" /><Relationship Type="http://schemas.openxmlformats.org/officeDocument/2006/relationships/image" Target="/ppt/media/image37.jpeg" Id="rId5" /><Relationship Type="http://schemas.openxmlformats.org/officeDocument/2006/relationships/image" Target="/ppt/media/image12.png" Id="rId10" /><Relationship Type="http://schemas.openxmlformats.org/officeDocument/2006/relationships/image" Target="/ppt/media/image36.jpeg" Id="rId4" /><Relationship Type="http://schemas.openxmlformats.org/officeDocument/2006/relationships/image" Target="/ppt/media/image11.png" Id="rId9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640" y="756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330" r="-6330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5175720" y="3612240"/>
            <a:ext cx="1735560" cy="1735200"/>
            <a:chOff x="0" y="0"/>
            <a:chExt cx="2314080" cy="2313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14067" cy="2313559"/>
            </a:xfrm>
            <a:custGeom>
              <a:avLst/>
              <a:gdLst/>
              <a:ahLst/>
              <a:cxnLst/>
              <a:rect l="l" t="t" r="r" b="b"/>
              <a:pathLst>
                <a:path w="2314067" h="2313559">
                  <a:moveTo>
                    <a:pt x="0" y="0"/>
                  </a:moveTo>
                  <a:lnTo>
                    <a:pt x="2314067" y="0"/>
                  </a:lnTo>
                  <a:lnTo>
                    <a:pt x="2314067" y="2313559"/>
                  </a:lnTo>
                  <a:lnTo>
                    <a:pt x="0" y="231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940" r="-14940" b="-24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5175720" y="5449680"/>
            <a:ext cx="1735560" cy="1735200"/>
            <a:chOff x="0" y="0"/>
            <a:chExt cx="2314080" cy="2313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4067" cy="2313559"/>
            </a:xfrm>
            <a:custGeom>
              <a:avLst/>
              <a:gdLst/>
              <a:ahLst/>
              <a:cxnLst/>
              <a:rect l="l" t="t" r="r" b="b"/>
              <a:pathLst>
                <a:path w="2314067" h="2313559">
                  <a:moveTo>
                    <a:pt x="0" y="0"/>
                  </a:moveTo>
                  <a:lnTo>
                    <a:pt x="2314067" y="0"/>
                  </a:lnTo>
                  <a:lnTo>
                    <a:pt x="2314067" y="2313559"/>
                  </a:lnTo>
                  <a:lnTo>
                    <a:pt x="0" y="231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405" r="-37793" b="-220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032040" y="3393360"/>
            <a:ext cx="1735560" cy="2172960"/>
            <a:chOff x="0" y="0"/>
            <a:chExt cx="2314080" cy="2897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14067" cy="2897251"/>
            </a:xfrm>
            <a:custGeom>
              <a:avLst/>
              <a:gdLst/>
              <a:ahLst/>
              <a:cxnLst/>
              <a:rect l="l" t="t" r="r" b="b"/>
              <a:pathLst>
                <a:path w="2314067" h="2897251">
                  <a:moveTo>
                    <a:pt x="0" y="0"/>
                  </a:moveTo>
                  <a:lnTo>
                    <a:pt x="2314067" y="0"/>
                  </a:lnTo>
                  <a:lnTo>
                    <a:pt x="2314067" y="2897251"/>
                  </a:lnTo>
                  <a:lnTo>
                    <a:pt x="0" y="2897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5976" r="-107237" b="-1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70120" y="7184880"/>
            <a:ext cx="4023360" cy="1711440"/>
            <a:chOff x="0" y="0"/>
            <a:chExt cx="5364480" cy="22819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64480" cy="2281936"/>
            </a:xfrm>
            <a:custGeom>
              <a:avLst/>
              <a:gdLst/>
              <a:ahLst/>
              <a:cxnLst/>
              <a:rect l="l" t="t" r="r" b="b"/>
              <a:pathLst>
                <a:path w="5364480" h="2281936">
                  <a:moveTo>
                    <a:pt x="0" y="0"/>
                  </a:moveTo>
                  <a:lnTo>
                    <a:pt x="5364480" y="0"/>
                  </a:lnTo>
                  <a:lnTo>
                    <a:pt x="5364480" y="2281936"/>
                  </a:lnTo>
                  <a:lnTo>
                    <a:pt x="0" y="228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" r="-4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208120" y="7403400"/>
            <a:ext cx="3406680" cy="1529640"/>
            <a:chOff x="0" y="0"/>
            <a:chExt cx="4542240" cy="2039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42282" cy="2039493"/>
            </a:xfrm>
            <a:custGeom>
              <a:avLst/>
              <a:gdLst/>
              <a:ahLst/>
              <a:cxnLst/>
              <a:rect l="l" t="t" r="r" b="b"/>
              <a:pathLst>
                <a:path w="4542282" h="2039493">
                  <a:moveTo>
                    <a:pt x="0" y="0"/>
                  </a:moveTo>
                  <a:lnTo>
                    <a:pt x="4542282" y="0"/>
                  </a:lnTo>
                  <a:lnTo>
                    <a:pt x="4542282" y="2039493"/>
                  </a:lnTo>
                  <a:lnTo>
                    <a:pt x="0" y="203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4" r="-74" b="-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381800" y="5856840"/>
            <a:ext cx="2731680" cy="1328040"/>
            <a:chOff x="0" y="0"/>
            <a:chExt cx="3642240" cy="17707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42233" cy="1770761"/>
            </a:xfrm>
            <a:custGeom>
              <a:avLst/>
              <a:gdLst/>
              <a:ahLst/>
              <a:cxnLst/>
              <a:rect l="l" t="t" r="r" b="b"/>
              <a:pathLst>
                <a:path w="3642233" h="1770761">
                  <a:moveTo>
                    <a:pt x="0" y="0"/>
                  </a:moveTo>
                  <a:lnTo>
                    <a:pt x="3642233" y="0"/>
                  </a:lnTo>
                  <a:lnTo>
                    <a:pt x="3642233" y="1770761"/>
                  </a:lnTo>
                  <a:lnTo>
                    <a:pt x="0" y="1770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718" r="-6719" b="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2183480" y="7560"/>
            <a:ext cx="6095880" cy="1492560"/>
            <a:chOff x="0" y="0"/>
            <a:chExt cx="8127840" cy="19900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7873" cy="1990090"/>
            </a:xfrm>
            <a:custGeom>
              <a:avLst/>
              <a:gdLst/>
              <a:ahLst/>
              <a:cxnLst/>
              <a:rect l="l" t="t" r="r" b="b"/>
              <a:pathLst>
                <a:path w="8127873" h="1990090">
                  <a:moveTo>
                    <a:pt x="0" y="0"/>
                  </a:moveTo>
                  <a:lnTo>
                    <a:pt x="8127873" y="0"/>
                  </a:lnTo>
                  <a:lnTo>
                    <a:pt x="8127873" y="1990090"/>
                  </a:lnTo>
                  <a:lnTo>
                    <a:pt x="0" y="19900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175760" y="1835115"/>
            <a:ext cx="7672320" cy="253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TechForChange</a:t>
            </a:r>
          </a:p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C00000"/>
                </a:solidFill>
                <a:latin typeface="Roboto Bold"/>
                <a:ea typeface="Roboto Bold"/>
                <a:cs typeface="Roboto Bold"/>
                <a:sym typeface="Roboto Bold"/>
              </a:rPr>
              <a:t>COHORT 4 </a:t>
            </a:r>
          </a:p>
          <a:p>
            <a:pPr algn="ctr">
              <a:lnSpc>
                <a:spcPts val="7920"/>
              </a:lnSpc>
            </a:pPr>
            <a:endParaRPr lang="en-US" sz="5400" b="1">
              <a:solidFill>
                <a:srgbClr val="C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ctr">
              <a:lnSpc>
                <a:spcPts val="7920"/>
              </a:lnSpc>
            </a:pPr>
            <a:endParaRPr lang="en-US" sz="5400" b="1">
              <a:solidFill>
                <a:srgbClr val="C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0965240" y="3099240"/>
            <a:ext cx="2748960" cy="2768400"/>
            <a:chOff x="0" y="0"/>
            <a:chExt cx="3665280" cy="3691200"/>
          </a:xfrm>
        </p:grpSpPr>
        <p:sp>
          <p:nvSpPr>
            <p:cNvPr id="20" name="Freeform 20" descr="A group of men sitting in a circle looking at a computer  AI-generated content may be incorrect."/>
            <p:cNvSpPr/>
            <p:nvPr/>
          </p:nvSpPr>
          <p:spPr>
            <a:xfrm>
              <a:off x="0" y="0"/>
              <a:ext cx="3665220" cy="3691255"/>
            </a:xfrm>
            <a:custGeom>
              <a:avLst/>
              <a:gdLst/>
              <a:ahLst/>
              <a:cxnLst/>
              <a:rect l="l" t="t" r="r" b="b"/>
              <a:pathLst>
                <a:path w="3665220" h="3691255">
                  <a:moveTo>
                    <a:pt x="0" y="0"/>
                  </a:moveTo>
                  <a:lnTo>
                    <a:pt x="3665220" y="0"/>
                  </a:lnTo>
                  <a:lnTo>
                    <a:pt x="3665220" y="3691255"/>
                  </a:lnTo>
                  <a:lnTo>
                    <a:pt x="0" y="3691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75" r="-1" b="-173"/>
              </a:stretch>
            </a:blip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386720" y="4818600"/>
            <a:ext cx="3504960" cy="2050200"/>
            <a:chOff x="0" y="0"/>
            <a:chExt cx="4673280" cy="2733600"/>
          </a:xfrm>
        </p:grpSpPr>
        <p:sp>
          <p:nvSpPr>
            <p:cNvPr id="22" name="Freeform 22" descr="A couple of men looking at a computer  AI-generated content may be incorrect."/>
            <p:cNvSpPr/>
            <p:nvPr/>
          </p:nvSpPr>
          <p:spPr>
            <a:xfrm>
              <a:off x="0" y="0"/>
              <a:ext cx="4673219" cy="2733548"/>
            </a:xfrm>
            <a:custGeom>
              <a:avLst/>
              <a:gdLst/>
              <a:ahLst/>
              <a:cxnLst/>
              <a:rect l="l" t="t" r="r" b="b"/>
              <a:pathLst>
                <a:path w="4673219" h="2733548">
                  <a:moveTo>
                    <a:pt x="0" y="0"/>
                  </a:moveTo>
                  <a:lnTo>
                    <a:pt x="4673219" y="0"/>
                  </a:lnTo>
                  <a:lnTo>
                    <a:pt x="4673219" y="2733548"/>
                  </a:lnTo>
                  <a:lnTo>
                    <a:pt x="0" y="2733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289" r="-1" b="-2291"/>
              </a:stretch>
            </a:blip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7035120" y="3093840"/>
            <a:ext cx="1883880" cy="2473200"/>
            <a:chOff x="0" y="0"/>
            <a:chExt cx="2511840" cy="3297600"/>
          </a:xfrm>
        </p:grpSpPr>
        <p:sp>
          <p:nvSpPr>
            <p:cNvPr id="24" name="Freeform 24" descr="A person wearing glasses and a black shirt  AI-generated content may be incorrect."/>
            <p:cNvSpPr/>
            <p:nvPr/>
          </p:nvSpPr>
          <p:spPr>
            <a:xfrm>
              <a:off x="0" y="0"/>
              <a:ext cx="2511806" cy="3297555"/>
            </a:xfrm>
            <a:custGeom>
              <a:avLst/>
              <a:gdLst/>
              <a:ahLst/>
              <a:cxnLst/>
              <a:rect l="l" t="t" r="r" b="b"/>
              <a:pathLst>
                <a:path w="2511806" h="3297555">
                  <a:moveTo>
                    <a:pt x="0" y="0"/>
                  </a:moveTo>
                  <a:lnTo>
                    <a:pt x="2511806" y="0"/>
                  </a:lnTo>
                  <a:lnTo>
                    <a:pt x="2511806" y="3297555"/>
                  </a:lnTo>
                  <a:lnTo>
                    <a:pt x="0" y="3297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167" r="-2168" b="-1"/>
              </a:stretch>
            </a:blipFill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5366960" y="-27360"/>
            <a:ext cx="2708280" cy="1527480"/>
            <a:chOff x="0" y="0"/>
            <a:chExt cx="3611040" cy="2036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10991" cy="2036699"/>
            </a:xfrm>
            <a:custGeom>
              <a:avLst/>
              <a:gdLst/>
              <a:ahLst/>
              <a:cxnLst/>
              <a:rect l="l" t="t" r="r" b="b"/>
              <a:pathLst>
                <a:path w="3610991" h="2036699">
                  <a:moveTo>
                    <a:pt x="0" y="0"/>
                  </a:moveTo>
                  <a:lnTo>
                    <a:pt x="3610991" y="0"/>
                  </a:lnTo>
                  <a:lnTo>
                    <a:pt x="3610991" y="2036699"/>
                  </a:lnTo>
                  <a:lnTo>
                    <a:pt x="0" y="203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1" b="2"/>
              </a:stretch>
            </a:blipFill>
          </p:spPr>
        </p:sp>
      </p:grpSp>
      <p:sp>
        <p:nvSpPr>
          <p:cNvPr id="27" name="AutoShape 27"/>
          <p:cNvSpPr/>
          <p:nvPr/>
        </p:nvSpPr>
        <p:spPr>
          <a:xfrm rot="5356790">
            <a:off x="14777429" y="644400"/>
            <a:ext cx="77334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2738240" y="-81720"/>
            <a:ext cx="2576160" cy="1487880"/>
            <a:chOff x="0" y="0"/>
            <a:chExt cx="3434880" cy="19838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34842" cy="1983867"/>
            </a:xfrm>
            <a:custGeom>
              <a:avLst/>
              <a:gdLst/>
              <a:ahLst/>
              <a:cxnLst/>
              <a:rect l="l" t="t" r="r" b="b"/>
              <a:pathLst>
                <a:path w="3434842" h="1983867">
                  <a:moveTo>
                    <a:pt x="0" y="0"/>
                  </a:moveTo>
                  <a:lnTo>
                    <a:pt x="3434842" y="0"/>
                  </a:lnTo>
                  <a:lnTo>
                    <a:pt x="3434842" y="1983867"/>
                  </a:lnTo>
                  <a:lnTo>
                    <a:pt x="0" y="1983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98" r="-1" b="-9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83480" y="7560"/>
            <a:ext cx="6095880" cy="1492560"/>
            <a:chOff x="0" y="0"/>
            <a:chExt cx="8127840" cy="199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7873" cy="1990090"/>
            </a:xfrm>
            <a:custGeom>
              <a:avLst/>
              <a:gdLst/>
              <a:ahLst/>
              <a:cxnLst/>
              <a:rect l="l" t="t" r="r" b="b"/>
              <a:pathLst>
                <a:path w="8127873" h="1990090">
                  <a:moveTo>
                    <a:pt x="0" y="0"/>
                  </a:moveTo>
                  <a:lnTo>
                    <a:pt x="8127873" y="0"/>
                  </a:lnTo>
                  <a:lnTo>
                    <a:pt x="8127873" y="1990090"/>
                  </a:lnTo>
                  <a:lnTo>
                    <a:pt x="0" y="19900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366960" y="-27360"/>
            <a:ext cx="2708280" cy="1527480"/>
            <a:chOff x="0" y="0"/>
            <a:chExt cx="3611040" cy="2036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0991" cy="2036699"/>
            </a:xfrm>
            <a:custGeom>
              <a:avLst/>
              <a:gdLst/>
              <a:ahLst/>
              <a:cxnLst/>
              <a:rect l="l" t="t" r="r" b="b"/>
              <a:pathLst>
                <a:path w="3610991" h="2036699">
                  <a:moveTo>
                    <a:pt x="0" y="0"/>
                  </a:moveTo>
                  <a:lnTo>
                    <a:pt x="3610991" y="0"/>
                  </a:lnTo>
                  <a:lnTo>
                    <a:pt x="3610991" y="2036699"/>
                  </a:lnTo>
                  <a:lnTo>
                    <a:pt x="0" y="203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2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 rot="5356790">
            <a:off x="14777429" y="644400"/>
            <a:ext cx="77334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738240" y="-81720"/>
            <a:ext cx="2576160" cy="1487880"/>
            <a:chOff x="0" y="0"/>
            <a:chExt cx="3434880" cy="19838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34842" cy="1983867"/>
            </a:xfrm>
            <a:custGeom>
              <a:avLst/>
              <a:gdLst/>
              <a:ahLst/>
              <a:cxnLst/>
              <a:rect l="l" t="t" r="r" b="b"/>
              <a:pathLst>
                <a:path w="3434842" h="1983867">
                  <a:moveTo>
                    <a:pt x="0" y="0"/>
                  </a:moveTo>
                  <a:lnTo>
                    <a:pt x="3434842" y="0"/>
                  </a:lnTo>
                  <a:lnTo>
                    <a:pt x="3434842" y="1983867"/>
                  </a:lnTo>
                  <a:lnTo>
                    <a:pt x="0" y="1983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8" r="-1" b="-9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984400" y="7041465"/>
            <a:ext cx="2997360" cy="121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31313"/>
                </a:solidFill>
                <a:latin typeface="Arial Bold"/>
                <a:ea typeface="Arial Bold"/>
                <a:cs typeface="Arial Bold"/>
                <a:sym typeface="Arial Bold"/>
              </a:rPr>
              <a:t>Adarsh Goyal</a:t>
            </a:r>
          </a:p>
          <a:p>
            <a:pPr algn="ctr">
              <a:lnSpc>
                <a:spcPts val="3840"/>
              </a:lnSpc>
            </a:pPr>
            <a:r>
              <a:rPr lang="en-US" sz="3200" b="1" spc="-11">
                <a:solidFill>
                  <a:srgbClr val="BF9000"/>
                </a:solidFill>
                <a:latin typeface="Arial Bold"/>
                <a:ea typeface="Arial Bold"/>
                <a:cs typeface="Arial Bold"/>
                <a:sym typeface="Arial Bold"/>
              </a:rPr>
              <a:t>Founder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94480" y="7041465"/>
            <a:ext cx="2997360" cy="121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31313"/>
                </a:solidFill>
                <a:latin typeface="Arial Bold"/>
                <a:ea typeface="Arial Bold"/>
                <a:cs typeface="Arial Bold"/>
                <a:sym typeface="Arial Bold"/>
              </a:rPr>
              <a:t>Sneha Gupta</a:t>
            </a:r>
          </a:p>
          <a:p>
            <a:pPr algn="ctr">
              <a:lnSpc>
                <a:spcPts val="3840"/>
              </a:lnSpc>
            </a:pPr>
            <a:r>
              <a:rPr lang="en-US" sz="3200" b="1" spc="-11">
                <a:solidFill>
                  <a:srgbClr val="BF9000"/>
                </a:solidFill>
                <a:latin typeface="Arial Bold"/>
                <a:ea typeface="Arial Bold"/>
                <a:cs typeface="Arial Bold"/>
                <a:sym typeface="Arial Bold"/>
              </a:rPr>
              <a:t>Co-Founder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817720" y="3227400"/>
            <a:ext cx="3503880" cy="3504960"/>
            <a:chOff x="0" y="0"/>
            <a:chExt cx="4671840" cy="4673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71822" cy="4673219"/>
            </a:xfrm>
            <a:custGeom>
              <a:avLst/>
              <a:gdLst/>
              <a:ahLst/>
              <a:cxnLst/>
              <a:rect l="l" t="t" r="r" b="b"/>
              <a:pathLst>
                <a:path w="4671822" h="4673219">
                  <a:moveTo>
                    <a:pt x="0" y="0"/>
                  </a:moveTo>
                  <a:lnTo>
                    <a:pt x="4671822" y="0"/>
                  </a:lnTo>
                  <a:lnTo>
                    <a:pt x="4671822" y="4673219"/>
                  </a:lnTo>
                  <a:lnTo>
                    <a:pt x="0" y="4673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" r="-15" b="-1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6321960" y="300240"/>
            <a:ext cx="3890160" cy="2340360"/>
            <a:chOff x="0" y="0"/>
            <a:chExt cx="5186880" cy="31204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86934" cy="3120517"/>
            </a:xfrm>
            <a:custGeom>
              <a:avLst/>
              <a:gdLst/>
              <a:ahLst/>
              <a:cxnLst/>
              <a:rect l="l" t="t" r="r" b="b"/>
              <a:pathLst>
                <a:path w="5186934" h="3120517">
                  <a:moveTo>
                    <a:pt x="0" y="0"/>
                  </a:moveTo>
                  <a:lnTo>
                    <a:pt x="5186934" y="0"/>
                  </a:lnTo>
                  <a:lnTo>
                    <a:pt x="5186934" y="3120517"/>
                  </a:lnTo>
                  <a:lnTo>
                    <a:pt x="0" y="3120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225" t="-22063" r="-40313" b="-3451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0716780" y="3227400"/>
            <a:ext cx="3504960" cy="3504960"/>
            <a:chOff x="0" y="0"/>
            <a:chExt cx="4605782" cy="46057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605782" cy="4605782"/>
            </a:xfrm>
            <a:custGeom>
              <a:avLst/>
              <a:gdLst/>
              <a:ahLst/>
              <a:cxnLst/>
              <a:rect l="l" t="t" r="r" b="b"/>
              <a:pathLst>
                <a:path w="4605782" h="4605782">
                  <a:moveTo>
                    <a:pt x="4605782" y="2302891"/>
                  </a:moveTo>
                  <a:cubicBezTo>
                    <a:pt x="4605782" y="3574669"/>
                    <a:pt x="3574669" y="4605782"/>
                    <a:pt x="2302891" y="4605782"/>
                  </a:cubicBezTo>
                  <a:cubicBezTo>
                    <a:pt x="1031113" y="4605782"/>
                    <a:pt x="0" y="3574669"/>
                    <a:pt x="0" y="2302891"/>
                  </a:cubicBezTo>
                  <a:cubicBezTo>
                    <a:pt x="0" y="1031113"/>
                    <a:pt x="1030986" y="0"/>
                    <a:pt x="2302891" y="0"/>
                  </a:cubicBezTo>
                  <a:cubicBezTo>
                    <a:pt x="3574796" y="0"/>
                    <a:pt x="4605782" y="1031113"/>
                    <a:pt x="4605782" y="2302891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0405440" y="3227400"/>
            <a:ext cx="1378080" cy="1378080"/>
            <a:chOff x="0" y="0"/>
            <a:chExt cx="1837440" cy="1837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37436" cy="1837436"/>
            </a:xfrm>
            <a:custGeom>
              <a:avLst/>
              <a:gdLst/>
              <a:ahLst/>
              <a:cxnLst/>
              <a:rect l="l" t="t" r="r" b="b"/>
              <a:pathLst>
                <a:path w="1837436" h="1837436">
                  <a:moveTo>
                    <a:pt x="0" y="0"/>
                  </a:moveTo>
                  <a:lnTo>
                    <a:pt x="1837436" y="0"/>
                  </a:lnTo>
                  <a:lnTo>
                    <a:pt x="1837436" y="1837436"/>
                  </a:lnTo>
                  <a:lnTo>
                    <a:pt x="0" y="1837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5606C52D-6E18-E938-C42E-85DF6533B5AC}"/>
              </a:ext>
            </a:extLst>
          </p:cNvPr>
          <p:cNvGrpSpPr>
            <a:grpSpLocks noChangeAspect="1"/>
          </p:cNvGrpSpPr>
          <p:nvPr/>
        </p:nvGrpSpPr>
        <p:grpSpPr>
          <a:xfrm>
            <a:off x="2295360" y="3086100"/>
            <a:ext cx="1378080" cy="1378080"/>
            <a:chOff x="0" y="0"/>
            <a:chExt cx="1837440" cy="1837440"/>
          </a:xfrm>
        </p:grpSpPr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392185A1-B488-BE12-8466-88BB58821D9B}"/>
                </a:ext>
              </a:extLst>
            </p:cNvPr>
            <p:cNvSpPr/>
            <p:nvPr/>
          </p:nvSpPr>
          <p:spPr>
            <a:xfrm>
              <a:off x="0" y="0"/>
              <a:ext cx="1837436" cy="1837436"/>
            </a:xfrm>
            <a:custGeom>
              <a:avLst/>
              <a:gdLst/>
              <a:ahLst/>
              <a:cxnLst/>
              <a:rect l="l" t="t" r="r" b="b"/>
              <a:pathLst>
                <a:path w="1837436" h="1837436">
                  <a:moveTo>
                    <a:pt x="0" y="0"/>
                  </a:moveTo>
                  <a:lnTo>
                    <a:pt x="1837436" y="0"/>
                  </a:lnTo>
                  <a:lnTo>
                    <a:pt x="1837436" y="1837436"/>
                  </a:lnTo>
                  <a:lnTo>
                    <a:pt x="0" y="1837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83480" y="7560"/>
            <a:ext cx="6095880" cy="1492560"/>
            <a:chOff x="0" y="0"/>
            <a:chExt cx="8127840" cy="199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7873" cy="1990090"/>
            </a:xfrm>
            <a:custGeom>
              <a:avLst/>
              <a:gdLst/>
              <a:ahLst/>
              <a:cxnLst/>
              <a:rect l="l" t="t" r="r" b="b"/>
              <a:pathLst>
                <a:path w="8127873" h="1990090">
                  <a:moveTo>
                    <a:pt x="0" y="0"/>
                  </a:moveTo>
                  <a:lnTo>
                    <a:pt x="8127873" y="0"/>
                  </a:lnTo>
                  <a:lnTo>
                    <a:pt x="8127873" y="1990090"/>
                  </a:lnTo>
                  <a:lnTo>
                    <a:pt x="0" y="19900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366960" y="-27360"/>
            <a:ext cx="2708280" cy="1527480"/>
            <a:chOff x="0" y="0"/>
            <a:chExt cx="3611040" cy="2036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0991" cy="2036699"/>
            </a:xfrm>
            <a:custGeom>
              <a:avLst/>
              <a:gdLst/>
              <a:ahLst/>
              <a:cxnLst/>
              <a:rect l="l" t="t" r="r" b="b"/>
              <a:pathLst>
                <a:path w="3610991" h="2036699">
                  <a:moveTo>
                    <a:pt x="0" y="0"/>
                  </a:moveTo>
                  <a:lnTo>
                    <a:pt x="3610991" y="0"/>
                  </a:lnTo>
                  <a:lnTo>
                    <a:pt x="3610991" y="2036699"/>
                  </a:lnTo>
                  <a:lnTo>
                    <a:pt x="0" y="203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2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 rot="5356790">
            <a:off x="14777429" y="644400"/>
            <a:ext cx="77334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738240" y="-81720"/>
            <a:ext cx="2576160" cy="1487880"/>
            <a:chOff x="0" y="0"/>
            <a:chExt cx="3434880" cy="19838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34842" cy="1983867"/>
            </a:xfrm>
            <a:custGeom>
              <a:avLst/>
              <a:gdLst/>
              <a:ahLst/>
              <a:cxnLst/>
              <a:rect l="l" t="t" r="r" b="b"/>
              <a:pathLst>
                <a:path w="3434842" h="1983867">
                  <a:moveTo>
                    <a:pt x="0" y="0"/>
                  </a:moveTo>
                  <a:lnTo>
                    <a:pt x="3434842" y="0"/>
                  </a:lnTo>
                  <a:lnTo>
                    <a:pt x="3434842" y="1983867"/>
                  </a:lnTo>
                  <a:lnTo>
                    <a:pt x="0" y="1983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8" r="-1" b="-9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34920" y="-37800"/>
            <a:ext cx="9448920" cy="9464040"/>
            <a:chOff x="0" y="0"/>
            <a:chExt cx="12598560" cy="126187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98527" cy="12618466"/>
            </a:xfrm>
            <a:custGeom>
              <a:avLst/>
              <a:gdLst/>
              <a:ahLst/>
              <a:cxnLst/>
              <a:rect l="l" t="t" r="r" b="b"/>
              <a:pathLst>
                <a:path w="12598527" h="12618466">
                  <a:moveTo>
                    <a:pt x="0" y="12618466"/>
                  </a:moveTo>
                  <a:lnTo>
                    <a:pt x="0" y="0"/>
                  </a:lnTo>
                  <a:lnTo>
                    <a:pt x="12598527" y="0"/>
                  </a:lnTo>
                  <a:lnTo>
                    <a:pt x="0" y="12618466"/>
                  </a:lnTo>
                  <a:close/>
                </a:path>
              </a:pathLst>
            </a:custGeom>
            <a:solidFill>
              <a:srgbClr val="252324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0" y="5936400"/>
            <a:ext cx="2459880" cy="2467080"/>
            <a:chOff x="0" y="0"/>
            <a:chExt cx="3279840" cy="32894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79902" cy="3289046"/>
            </a:xfrm>
            <a:custGeom>
              <a:avLst/>
              <a:gdLst/>
              <a:ahLst/>
              <a:cxnLst/>
              <a:rect l="l" t="t" r="r" b="b"/>
              <a:pathLst>
                <a:path w="3279902" h="3289046">
                  <a:moveTo>
                    <a:pt x="0" y="3271139"/>
                  </a:moveTo>
                  <a:lnTo>
                    <a:pt x="3270885" y="0"/>
                  </a:lnTo>
                  <a:lnTo>
                    <a:pt x="3279902" y="9017"/>
                  </a:lnTo>
                  <a:lnTo>
                    <a:pt x="0" y="3289046"/>
                  </a:lnTo>
                  <a:lnTo>
                    <a:pt x="0" y="327113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7153149" y="2995525"/>
            <a:ext cx="474382" cy="385830"/>
          </a:xfrm>
          <a:custGeom>
            <a:avLst/>
            <a:gdLst/>
            <a:ahLst/>
            <a:cxnLst/>
            <a:rect l="l" t="t" r="r" b="b"/>
            <a:pathLst>
              <a:path w="474382" h="385830">
                <a:moveTo>
                  <a:pt x="0" y="0"/>
                </a:moveTo>
                <a:lnTo>
                  <a:pt x="474381" y="0"/>
                </a:lnTo>
                <a:lnTo>
                  <a:pt x="474381" y="385830"/>
                </a:lnTo>
                <a:lnTo>
                  <a:pt x="0" y="38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15920" y="1120785"/>
            <a:ext cx="4027680" cy="132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950" spc="139">
                <a:solidFill>
                  <a:srgbClr val="F5A329"/>
                </a:solidFill>
                <a:latin typeface="Tahoma"/>
                <a:ea typeface="Tahoma"/>
                <a:cs typeface="Tahoma"/>
                <a:sym typeface="Tahoma"/>
              </a:rPr>
              <a:t>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17629" y="2986000"/>
            <a:ext cx="8940012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Visually impaired students face major barriers in STEM education due to its visual nature, lack of accessible materials, and costly assistive devices.</a:t>
            </a:r>
          </a:p>
          <a:p>
            <a:pPr algn="just">
              <a:lnSpc>
                <a:spcPts val="264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264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017629" y="4652875"/>
            <a:ext cx="8940012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Affordable, tactile-based, software-integrated tools are urgently needed to make STEM concepts accessible.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17629" y="5926875"/>
            <a:ext cx="8940012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Millions of visually impaired students globally—especially in developing countries like India—are excluded from STEM learning and careers.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17629" y="7203225"/>
            <a:ext cx="8940012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Leads to educational exclusion, unemployment, and low literacy among visually impaired individuals.</a:t>
            </a:r>
          </a:p>
          <a:p>
            <a:pPr algn="just">
              <a:lnSpc>
                <a:spcPts val="263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263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7153149" y="4694220"/>
            <a:ext cx="474382" cy="385830"/>
          </a:xfrm>
          <a:custGeom>
            <a:avLst/>
            <a:gdLst/>
            <a:ahLst/>
            <a:cxnLst/>
            <a:rect l="l" t="t" r="r" b="b"/>
            <a:pathLst>
              <a:path w="474382" h="385830">
                <a:moveTo>
                  <a:pt x="0" y="0"/>
                </a:moveTo>
                <a:lnTo>
                  <a:pt x="474381" y="0"/>
                </a:lnTo>
                <a:lnTo>
                  <a:pt x="474381" y="385830"/>
                </a:lnTo>
                <a:lnTo>
                  <a:pt x="0" y="38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153149" y="5936400"/>
            <a:ext cx="474382" cy="385830"/>
          </a:xfrm>
          <a:custGeom>
            <a:avLst/>
            <a:gdLst/>
            <a:ahLst/>
            <a:cxnLst/>
            <a:rect l="l" t="t" r="r" b="b"/>
            <a:pathLst>
              <a:path w="474382" h="385830">
                <a:moveTo>
                  <a:pt x="0" y="0"/>
                </a:moveTo>
                <a:lnTo>
                  <a:pt x="474381" y="0"/>
                </a:lnTo>
                <a:lnTo>
                  <a:pt x="474381" y="385830"/>
                </a:lnTo>
                <a:lnTo>
                  <a:pt x="0" y="38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153149" y="7179480"/>
            <a:ext cx="474382" cy="385830"/>
          </a:xfrm>
          <a:custGeom>
            <a:avLst/>
            <a:gdLst/>
            <a:ahLst/>
            <a:cxnLst/>
            <a:rect l="l" t="t" r="r" b="b"/>
            <a:pathLst>
              <a:path w="474382" h="385830">
                <a:moveTo>
                  <a:pt x="0" y="0"/>
                </a:moveTo>
                <a:lnTo>
                  <a:pt x="474381" y="0"/>
                </a:lnTo>
                <a:lnTo>
                  <a:pt x="474381" y="385831"/>
                </a:lnTo>
                <a:lnTo>
                  <a:pt x="0" y="385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83480" y="7560"/>
            <a:ext cx="6095880" cy="1492560"/>
            <a:chOff x="0" y="0"/>
            <a:chExt cx="8127840" cy="199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7873" cy="1990090"/>
            </a:xfrm>
            <a:custGeom>
              <a:avLst/>
              <a:gdLst/>
              <a:ahLst/>
              <a:cxnLst/>
              <a:rect l="l" t="t" r="r" b="b"/>
              <a:pathLst>
                <a:path w="8127873" h="1990090">
                  <a:moveTo>
                    <a:pt x="0" y="0"/>
                  </a:moveTo>
                  <a:lnTo>
                    <a:pt x="8127873" y="0"/>
                  </a:lnTo>
                  <a:lnTo>
                    <a:pt x="8127873" y="1990090"/>
                  </a:lnTo>
                  <a:lnTo>
                    <a:pt x="0" y="19900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5356790">
            <a:off x="14777429" y="644400"/>
            <a:ext cx="77334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2738240" y="-81720"/>
            <a:ext cx="5337000" cy="1581840"/>
            <a:chOff x="0" y="0"/>
            <a:chExt cx="7116000" cy="2109120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3504960" y="72480"/>
              <a:ext cx="3611040" cy="2036640"/>
              <a:chOff x="0" y="0"/>
              <a:chExt cx="3611040" cy="203664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610991" cy="2036699"/>
              </a:xfrm>
              <a:custGeom>
                <a:avLst/>
                <a:gdLst/>
                <a:ahLst/>
                <a:cxnLst/>
                <a:rect l="l" t="t" r="r" b="b"/>
                <a:pathLst>
                  <a:path w="3610991" h="2036699">
                    <a:moveTo>
                      <a:pt x="0" y="0"/>
                    </a:moveTo>
                    <a:lnTo>
                      <a:pt x="3610991" y="0"/>
                    </a:lnTo>
                    <a:lnTo>
                      <a:pt x="3610991" y="2036699"/>
                    </a:lnTo>
                    <a:lnTo>
                      <a:pt x="0" y="203669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r="-1" b="2"/>
                </a:stretch>
              </a:blipFill>
            </p:spPr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0" y="0"/>
              <a:ext cx="3434880" cy="1983840"/>
              <a:chOff x="0" y="0"/>
              <a:chExt cx="3434880" cy="198384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34842" cy="1983867"/>
              </a:xfrm>
              <a:custGeom>
                <a:avLst/>
                <a:gdLst/>
                <a:ahLst/>
                <a:cxnLst/>
                <a:rect l="l" t="t" r="r" b="b"/>
                <a:pathLst>
                  <a:path w="3434842" h="1983867">
                    <a:moveTo>
                      <a:pt x="0" y="0"/>
                    </a:moveTo>
                    <a:lnTo>
                      <a:pt x="3434842" y="0"/>
                    </a:lnTo>
                    <a:lnTo>
                      <a:pt x="3434842" y="1983867"/>
                    </a:lnTo>
                    <a:lnTo>
                      <a:pt x="0" y="198386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98" r="-1" b="-96"/>
                </a:stretch>
              </a:blipFill>
            </p:spPr>
          </p:sp>
        </p:grpSp>
      </p:grpSp>
      <p:grpSp>
        <p:nvGrpSpPr>
          <p:cNvPr id="10" name="Group 10"/>
          <p:cNvGrpSpPr/>
          <p:nvPr/>
        </p:nvGrpSpPr>
        <p:grpSpPr>
          <a:xfrm>
            <a:off x="834436" y="349438"/>
            <a:ext cx="10712277" cy="1358524"/>
            <a:chOff x="0" y="0"/>
            <a:chExt cx="14283036" cy="18113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283037" cy="1811366"/>
            </a:xfrm>
            <a:custGeom>
              <a:avLst/>
              <a:gdLst/>
              <a:ahLst/>
              <a:cxnLst/>
              <a:rect l="l" t="t" r="r" b="b"/>
              <a:pathLst>
                <a:path w="14283037" h="1811366">
                  <a:moveTo>
                    <a:pt x="0" y="0"/>
                  </a:moveTo>
                  <a:lnTo>
                    <a:pt x="14283037" y="0"/>
                  </a:lnTo>
                  <a:lnTo>
                    <a:pt x="14283037" y="1811366"/>
                  </a:lnTo>
                  <a:lnTo>
                    <a:pt x="0" y="18113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4283036" cy="1801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000000"/>
                  </a:solidFill>
                  <a:latin typeface="Catamaran Bold"/>
                  <a:ea typeface="Catamaran Bold"/>
                  <a:cs typeface="Catamaran Bold"/>
                  <a:sym typeface="Catamaran Bold"/>
                </a:rPr>
                <a:t>Market Analysis &amp; Opportunity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34436" y="2459746"/>
            <a:ext cx="3783800" cy="5326871"/>
            <a:chOff x="0" y="0"/>
            <a:chExt cx="996556" cy="14029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6556" cy="1402962"/>
            </a:xfrm>
            <a:custGeom>
              <a:avLst/>
              <a:gdLst/>
              <a:ahLst/>
              <a:cxnLst/>
              <a:rect l="l" t="t" r="r" b="b"/>
              <a:pathLst>
                <a:path w="996556" h="1402962">
                  <a:moveTo>
                    <a:pt x="104350" y="0"/>
                  </a:moveTo>
                  <a:lnTo>
                    <a:pt x="892207" y="0"/>
                  </a:lnTo>
                  <a:cubicBezTo>
                    <a:pt x="949837" y="0"/>
                    <a:pt x="996556" y="46719"/>
                    <a:pt x="996556" y="104350"/>
                  </a:cubicBezTo>
                  <a:lnTo>
                    <a:pt x="996556" y="1298612"/>
                  </a:lnTo>
                  <a:cubicBezTo>
                    <a:pt x="996556" y="1326288"/>
                    <a:pt x="985562" y="1352829"/>
                    <a:pt x="965993" y="1372399"/>
                  </a:cubicBezTo>
                  <a:cubicBezTo>
                    <a:pt x="946424" y="1391968"/>
                    <a:pt x="919882" y="1402962"/>
                    <a:pt x="892207" y="1402962"/>
                  </a:cubicBezTo>
                  <a:lnTo>
                    <a:pt x="104350" y="1402962"/>
                  </a:lnTo>
                  <a:cubicBezTo>
                    <a:pt x="46719" y="1402962"/>
                    <a:pt x="0" y="1356243"/>
                    <a:pt x="0" y="1298612"/>
                  </a:cubicBezTo>
                  <a:lnTo>
                    <a:pt x="0" y="104350"/>
                  </a:lnTo>
                  <a:cubicBezTo>
                    <a:pt x="0" y="46719"/>
                    <a:pt x="46719" y="0"/>
                    <a:pt x="104350" y="0"/>
                  </a:cubicBezTo>
                  <a:close/>
                </a:path>
              </a:pathLst>
            </a:custGeom>
            <a:solidFill>
              <a:srgbClr val="FFE5B5"/>
            </a:solidFill>
            <a:ln w="28575" cap="rnd">
              <a:solidFill>
                <a:srgbClr val="F7BC51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996556" cy="1498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05943" y="3802718"/>
            <a:ext cx="3273675" cy="332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2"/>
              </a:lnSpc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Over 43 million people are blind globally, and access to Braille or tactile learning tools remains limited. This lack directly affects education and employment opportunities, especially in developing regions.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989218" y="2459746"/>
            <a:ext cx="3783800" cy="5326871"/>
            <a:chOff x="0" y="0"/>
            <a:chExt cx="996556" cy="14029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6556" cy="1402962"/>
            </a:xfrm>
            <a:custGeom>
              <a:avLst/>
              <a:gdLst/>
              <a:ahLst/>
              <a:cxnLst/>
              <a:rect l="l" t="t" r="r" b="b"/>
              <a:pathLst>
                <a:path w="996556" h="1402962">
                  <a:moveTo>
                    <a:pt x="104350" y="0"/>
                  </a:moveTo>
                  <a:lnTo>
                    <a:pt x="892207" y="0"/>
                  </a:lnTo>
                  <a:cubicBezTo>
                    <a:pt x="949837" y="0"/>
                    <a:pt x="996556" y="46719"/>
                    <a:pt x="996556" y="104350"/>
                  </a:cubicBezTo>
                  <a:lnTo>
                    <a:pt x="996556" y="1298612"/>
                  </a:lnTo>
                  <a:cubicBezTo>
                    <a:pt x="996556" y="1326288"/>
                    <a:pt x="985562" y="1352829"/>
                    <a:pt x="965993" y="1372399"/>
                  </a:cubicBezTo>
                  <a:cubicBezTo>
                    <a:pt x="946424" y="1391968"/>
                    <a:pt x="919882" y="1402962"/>
                    <a:pt x="892207" y="1402962"/>
                  </a:cubicBezTo>
                  <a:lnTo>
                    <a:pt x="104350" y="1402962"/>
                  </a:lnTo>
                  <a:cubicBezTo>
                    <a:pt x="46719" y="1402962"/>
                    <a:pt x="0" y="1356243"/>
                    <a:pt x="0" y="1298612"/>
                  </a:cubicBezTo>
                  <a:lnTo>
                    <a:pt x="0" y="104350"/>
                  </a:lnTo>
                  <a:cubicBezTo>
                    <a:pt x="0" y="46719"/>
                    <a:pt x="46719" y="0"/>
                    <a:pt x="104350" y="0"/>
                  </a:cubicBezTo>
                  <a:close/>
                </a:path>
              </a:pathLst>
            </a:custGeom>
            <a:solidFill>
              <a:srgbClr val="FFB9B8"/>
            </a:solidFill>
            <a:ln w="28575" cap="rnd">
              <a:solidFill>
                <a:srgbClr val="EF7573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996556" cy="1498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0" y="2459746"/>
            <a:ext cx="3783800" cy="5326871"/>
            <a:chOff x="0" y="0"/>
            <a:chExt cx="996556" cy="14029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6556" cy="1402962"/>
            </a:xfrm>
            <a:custGeom>
              <a:avLst/>
              <a:gdLst/>
              <a:ahLst/>
              <a:cxnLst/>
              <a:rect l="l" t="t" r="r" b="b"/>
              <a:pathLst>
                <a:path w="996556" h="1402962">
                  <a:moveTo>
                    <a:pt x="104350" y="0"/>
                  </a:moveTo>
                  <a:lnTo>
                    <a:pt x="892207" y="0"/>
                  </a:lnTo>
                  <a:cubicBezTo>
                    <a:pt x="949837" y="0"/>
                    <a:pt x="996556" y="46719"/>
                    <a:pt x="996556" y="104350"/>
                  </a:cubicBezTo>
                  <a:lnTo>
                    <a:pt x="996556" y="1298612"/>
                  </a:lnTo>
                  <a:cubicBezTo>
                    <a:pt x="996556" y="1326288"/>
                    <a:pt x="985562" y="1352829"/>
                    <a:pt x="965993" y="1372399"/>
                  </a:cubicBezTo>
                  <a:cubicBezTo>
                    <a:pt x="946424" y="1391968"/>
                    <a:pt x="919882" y="1402962"/>
                    <a:pt x="892207" y="1402962"/>
                  </a:cubicBezTo>
                  <a:lnTo>
                    <a:pt x="104350" y="1402962"/>
                  </a:lnTo>
                  <a:cubicBezTo>
                    <a:pt x="46719" y="1402962"/>
                    <a:pt x="0" y="1356243"/>
                    <a:pt x="0" y="1298612"/>
                  </a:cubicBezTo>
                  <a:lnTo>
                    <a:pt x="0" y="104350"/>
                  </a:lnTo>
                  <a:cubicBezTo>
                    <a:pt x="0" y="46719"/>
                    <a:pt x="46719" y="0"/>
                    <a:pt x="104350" y="0"/>
                  </a:cubicBezTo>
                  <a:close/>
                </a:path>
              </a:pathLst>
            </a:custGeom>
            <a:solidFill>
              <a:srgbClr val="B5D9FF"/>
            </a:solidFill>
            <a:ln w="28575" cap="rnd">
              <a:solidFill>
                <a:srgbClr val="156082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996556" cy="1498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475500" y="2459746"/>
            <a:ext cx="3783800" cy="5326871"/>
            <a:chOff x="0" y="0"/>
            <a:chExt cx="996556" cy="14029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6556" cy="1402962"/>
            </a:xfrm>
            <a:custGeom>
              <a:avLst/>
              <a:gdLst/>
              <a:ahLst/>
              <a:cxnLst/>
              <a:rect l="l" t="t" r="r" b="b"/>
              <a:pathLst>
                <a:path w="996556" h="1402962">
                  <a:moveTo>
                    <a:pt x="104350" y="0"/>
                  </a:moveTo>
                  <a:lnTo>
                    <a:pt x="892207" y="0"/>
                  </a:lnTo>
                  <a:cubicBezTo>
                    <a:pt x="949837" y="0"/>
                    <a:pt x="996556" y="46719"/>
                    <a:pt x="996556" y="104350"/>
                  </a:cubicBezTo>
                  <a:lnTo>
                    <a:pt x="996556" y="1298612"/>
                  </a:lnTo>
                  <a:cubicBezTo>
                    <a:pt x="996556" y="1326288"/>
                    <a:pt x="985562" y="1352829"/>
                    <a:pt x="965993" y="1372399"/>
                  </a:cubicBezTo>
                  <a:cubicBezTo>
                    <a:pt x="946424" y="1391968"/>
                    <a:pt x="919882" y="1402962"/>
                    <a:pt x="892207" y="1402962"/>
                  </a:cubicBezTo>
                  <a:lnTo>
                    <a:pt x="104350" y="1402962"/>
                  </a:lnTo>
                  <a:cubicBezTo>
                    <a:pt x="46719" y="1402962"/>
                    <a:pt x="0" y="1356243"/>
                    <a:pt x="0" y="1298612"/>
                  </a:cubicBezTo>
                  <a:lnTo>
                    <a:pt x="0" y="104350"/>
                  </a:lnTo>
                  <a:cubicBezTo>
                    <a:pt x="0" y="46719"/>
                    <a:pt x="46719" y="0"/>
                    <a:pt x="104350" y="0"/>
                  </a:cubicBezTo>
                  <a:close/>
                </a:path>
              </a:pathLst>
            </a:custGeom>
            <a:solidFill>
              <a:srgbClr val="C8B5FF"/>
            </a:solidFill>
            <a:ln w="28575" cap="rnd">
              <a:solidFill>
                <a:srgbClr val="987AE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996556" cy="1498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251832" y="3831293"/>
            <a:ext cx="3258571" cy="348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refreshable Braille display market is growing fast — valued around USD 500M in 2024, projected to reach USD 1B by 2033 (8% CAGR). Studies also show Braille literacy strongly improves employment rates among visually impaired individuals.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41856" y="3831293"/>
            <a:ext cx="3188089" cy="270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Companies like HumanWare, Orbit Research, Dot Inc., Freedom Scientific, and Innovision (BrailleMe) are active in this space, focusing on making Braille more digital and portable.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13600" y="3831293"/>
            <a:ext cx="3645700" cy="3411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l">
              <a:lnSpc>
                <a:spcPts val="3020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High cost of multi-line/tactile devices</a:t>
            </a:r>
          </a:p>
          <a:p>
            <a:pPr marL="410208" lvl="1" indent="-205104" algn="l">
              <a:lnSpc>
                <a:spcPts val="3020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Limited graphics support for STEM learning</a:t>
            </a:r>
          </a:p>
          <a:p>
            <a:pPr marL="410208" lvl="1" indent="-205104" algn="l">
              <a:lnSpc>
                <a:spcPts val="3020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Lack of local language &amp; training ecosystem</a:t>
            </a:r>
          </a:p>
          <a:p>
            <a:pPr marL="410208" lvl="1" indent="-205104" algn="l">
              <a:lnSpc>
                <a:spcPts val="3020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Low accessibility in developing countries</a:t>
            </a:r>
          </a:p>
          <a:p>
            <a:pPr algn="l">
              <a:lnSpc>
                <a:spcPts val="3020"/>
              </a:lnSpc>
            </a:pPr>
            <a:endParaRPr lang="en-US" sz="1899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916451" y="2916842"/>
            <a:ext cx="192933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AE254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Highlights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13337" y="2916842"/>
            <a:ext cx="202599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F5A32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Relevance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46432" y="2916842"/>
            <a:ext cx="23370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15608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Competitors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733553" y="2916842"/>
            <a:ext cx="99573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6029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Gaps</a:t>
            </a:r>
          </a:p>
        </p:txBody>
      </p:sp>
      <p:grpSp>
        <p:nvGrpSpPr>
          <p:cNvPr id="33" name="Group 33"/>
          <p:cNvGrpSpPr/>
          <p:nvPr/>
        </p:nvGrpSpPr>
        <p:grpSpPr>
          <a:xfrm rot="-5400000">
            <a:off x="1598000" y="4289017"/>
            <a:ext cx="5563235" cy="10719674"/>
            <a:chOff x="0" y="0"/>
            <a:chExt cx="12598560" cy="242758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598527" cy="24275396"/>
            </a:xfrm>
            <a:custGeom>
              <a:avLst/>
              <a:gdLst/>
              <a:ahLst/>
              <a:cxnLst/>
              <a:rect l="l" t="t" r="r" b="b"/>
              <a:pathLst>
                <a:path w="12598527" h="24275396">
                  <a:moveTo>
                    <a:pt x="0" y="24275396"/>
                  </a:moveTo>
                  <a:lnTo>
                    <a:pt x="0" y="0"/>
                  </a:lnTo>
                  <a:lnTo>
                    <a:pt x="12598527" y="0"/>
                  </a:lnTo>
                  <a:lnTo>
                    <a:pt x="0" y="24275396"/>
                  </a:lnTo>
                  <a:close/>
                </a:path>
              </a:pathLst>
            </a:custGeom>
            <a:solidFill>
              <a:srgbClr val="252324"/>
            </a:solidFill>
          </p:spPr>
        </p:sp>
      </p:grpSp>
      <p:sp>
        <p:nvSpPr>
          <p:cNvPr id="35" name="Freeform 35"/>
          <p:cNvSpPr/>
          <p:nvPr/>
        </p:nvSpPr>
        <p:spPr>
          <a:xfrm>
            <a:off x="16556815" y="8624483"/>
            <a:ext cx="1731185" cy="2048740"/>
          </a:xfrm>
          <a:custGeom>
            <a:avLst/>
            <a:gdLst/>
            <a:ahLst/>
            <a:cxnLst/>
            <a:rect l="l" t="t" r="r" b="b"/>
            <a:pathLst>
              <a:path w="1731185" h="2048740">
                <a:moveTo>
                  <a:pt x="0" y="0"/>
                </a:moveTo>
                <a:lnTo>
                  <a:pt x="1731185" y="0"/>
                </a:lnTo>
                <a:lnTo>
                  <a:pt x="1731185" y="2048741"/>
                </a:lnTo>
                <a:lnTo>
                  <a:pt x="0" y="2048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4" b="-34"/>
            </a:stretch>
          </a:blipFill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8725200" y="-16650"/>
            <a:ext cx="9562800" cy="5473800"/>
            <a:chOff x="0" y="0"/>
            <a:chExt cx="12750400" cy="729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50419" cy="7298436"/>
            </a:xfrm>
            <a:custGeom>
              <a:avLst/>
              <a:gdLst/>
              <a:ahLst/>
              <a:cxnLst/>
              <a:rect l="l" t="t" r="r" b="b"/>
              <a:pathLst>
                <a:path w="12750419" h="7298436">
                  <a:moveTo>
                    <a:pt x="0" y="7298436"/>
                  </a:moveTo>
                  <a:lnTo>
                    <a:pt x="0" y="0"/>
                  </a:lnTo>
                  <a:lnTo>
                    <a:pt x="12750419" y="7298436"/>
                  </a:ln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7866000"/>
            <a:ext cx="4230000" cy="2421000"/>
            <a:chOff x="0" y="0"/>
            <a:chExt cx="5640000" cy="32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39943" cy="3227959"/>
            </a:xfrm>
            <a:custGeom>
              <a:avLst/>
              <a:gdLst/>
              <a:ahLst/>
              <a:cxnLst/>
              <a:rect l="l" t="t" r="r" b="b"/>
              <a:pathLst>
                <a:path w="5639943" h="3227959">
                  <a:moveTo>
                    <a:pt x="0" y="3227959"/>
                  </a:moveTo>
                  <a:lnTo>
                    <a:pt x="0" y="0"/>
                  </a:lnTo>
                  <a:lnTo>
                    <a:pt x="5639943" y="3227959"/>
                  </a:lnTo>
                  <a:close/>
                </a:path>
              </a:pathLst>
            </a:custGeom>
            <a:solidFill>
              <a:srgbClr val="15608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370100" y="1053300"/>
            <a:ext cx="3587800" cy="6705400"/>
            <a:chOff x="0" y="0"/>
            <a:chExt cx="4783733" cy="89405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3836" cy="8940546"/>
            </a:xfrm>
            <a:custGeom>
              <a:avLst/>
              <a:gdLst/>
              <a:ahLst/>
              <a:cxnLst/>
              <a:rect l="l" t="t" r="r" b="b"/>
              <a:pathLst>
                <a:path w="4783836" h="8940546">
                  <a:moveTo>
                    <a:pt x="33909" y="0"/>
                  </a:moveTo>
                  <a:lnTo>
                    <a:pt x="4749927" y="0"/>
                  </a:lnTo>
                  <a:cubicBezTo>
                    <a:pt x="4768596" y="0"/>
                    <a:pt x="4783836" y="15113"/>
                    <a:pt x="4783836" y="33909"/>
                  </a:cubicBezTo>
                  <a:lnTo>
                    <a:pt x="4783836" y="8906637"/>
                  </a:lnTo>
                  <a:cubicBezTo>
                    <a:pt x="4783836" y="8925306"/>
                    <a:pt x="4768723" y="8940546"/>
                    <a:pt x="4749927" y="8940546"/>
                  </a:cubicBezTo>
                  <a:lnTo>
                    <a:pt x="33909" y="8940546"/>
                  </a:lnTo>
                  <a:cubicBezTo>
                    <a:pt x="15240" y="8940546"/>
                    <a:pt x="0" y="8925433"/>
                    <a:pt x="0" y="8906637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8906637"/>
                  </a:lnTo>
                  <a:lnTo>
                    <a:pt x="33909" y="8906637"/>
                  </a:lnTo>
                  <a:lnTo>
                    <a:pt x="33909" y="8872728"/>
                  </a:lnTo>
                  <a:lnTo>
                    <a:pt x="4749927" y="8872728"/>
                  </a:lnTo>
                  <a:lnTo>
                    <a:pt x="4749927" y="8906637"/>
                  </a:lnTo>
                  <a:lnTo>
                    <a:pt x="4716018" y="8906637"/>
                  </a:lnTo>
                  <a:lnTo>
                    <a:pt x="4716018" y="33909"/>
                  </a:lnTo>
                  <a:lnTo>
                    <a:pt x="4749927" y="33909"/>
                  </a:lnTo>
                  <a:lnTo>
                    <a:pt x="47499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783733" cy="894053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VALUE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PROPOSITIONS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891936" y="4870448"/>
            <a:ext cx="4061756" cy="3035648"/>
            <a:chOff x="-19952" y="0"/>
            <a:chExt cx="5415674" cy="40475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95722" cy="3851021"/>
            </a:xfrm>
            <a:custGeom>
              <a:avLst/>
              <a:gdLst/>
              <a:ahLst/>
              <a:cxnLst/>
              <a:rect l="l" t="t" r="r" b="b"/>
              <a:pathLst>
                <a:path w="5395722" h="3851021">
                  <a:moveTo>
                    <a:pt x="33909" y="0"/>
                  </a:moveTo>
                  <a:lnTo>
                    <a:pt x="5361813" y="0"/>
                  </a:lnTo>
                  <a:cubicBezTo>
                    <a:pt x="5380482" y="0"/>
                    <a:pt x="5395722" y="15113"/>
                    <a:pt x="5395722" y="33909"/>
                  </a:cubicBezTo>
                  <a:lnTo>
                    <a:pt x="5395722" y="3817112"/>
                  </a:lnTo>
                  <a:cubicBezTo>
                    <a:pt x="5395722" y="3835781"/>
                    <a:pt x="5380609" y="3851021"/>
                    <a:pt x="5361813" y="3851021"/>
                  </a:cubicBezTo>
                  <a:lnTo>
                    <a:pt x="33909" y="3851021"/>
                  </a:lnTo>
                  <a:cubicBezTo>
                    <a:pt x="15240" y="3851021"/>
                    <a:pt x="0" y="3835908"/>
                    <a:pt x="0" y="3817112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817112"/>
                  </a:lnTo>
                  <a:lnTo>
                    <a:pt x="33909" y="3817112"/>
                  </a:lnTo>
                  <a:lnTo>
                    <a:pt x="33909" y="3783203"/>
                  </a:lnTo>
                  <a:lnTo>
                    <a:pt x="5361813" y="3783203"/>
                  </a:lnTo>
                  <a:lnTo>
                    <a:pt x="5361813" y="3817112"/>
                  </a:lnTo>
                  <a:lnTo>
                    <a:pt x="5327904" y="3817112"/>
                  </a:lnTo>
                  <a:lnTo>
                    <a:pt x="5327904" y="33909"/>
                  </a:lnTo>
                  <a:lnTo>
                    <a:pt x="5361813" y="33909"/>
                  </a:lnTo>
                  <a:lnTo>
                    <a:pt x="5361813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-19952" y="196597"/>
              <a:ext cx="5395733" cy="385093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920"/>
                </a:lnSpc>
              </a:pPr>
              <a:r>
                <a:rPr lang="en-US" sz="1600" b="1" dirty="0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              	CHANNELS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0008" y="1053290"/>
            <a:ext cx="4043800" cy="3868000"/>
            <a:chOff x="0" y="0"/>
            <a:chExt cx="5391733" cy="51573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91785" cy="5157343"/>
            </a:xfrm>
            <a:custGeom>
              <a:avLst/>
              <a:gdLst/>
              <a:ahLst/>
              <a:cxnLst/>
              <a:rect l="l" t="t" r="r" b="b"/>
              <a:pathLst>
                <a:path w="5391785" h="5157343">
                  <a:moveTo>
                    <a:pt x="33909" y="0"/>
                  </a:moveTo>
                  <a:lnTo>
                    <a:pt x="5357876" y="0"/>
                  </a:lnTo>
                  <a:cubicBezTo>
                    <a:pt x="5376545" y="0"/>
                    <a:pt x="5391785" y="15113"/>
                    <a:pt x="5391785" y="33909"/>
                  </a:cubicBezTo>
                  <a:lnTo>
                    <a:pt x="5391785" y="5123434"/>
                  </a:lnTo>
                  <a:cubicBezTo>
                    <a:pt x="5391785" y="5142103"/>
                    <a:pt x="5376672" y="5157343"/>
                    <a:pt x="5357876" y="5157343"/>
                  </a:cubicBezTo>
                  <a:lnTo>
                    <a:pt x="33909" y="5157343"/>
                  </a:lnTo>
                  <a:cubicBezTo>
                    <a:pt x="15240" y="5157343"/>
                    <a:pt x="0" y="5142230"/>
                    <a:pt x="0" y="5123434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5123434"/>
                  </a:lnTo>
                  <a:lnTo>
                    <a:pt x="33909" y="5123434"/>
                  </a:lnTo>
                  <a:lnTo>
                    <a:pt x="33909" y="5089525"/>
                  </a:lnTo>
                  <a:lnTo>
                    <a:pt x="5357876" y="5089525"/>
                  </a:lnTo>
                  <a:lnTo>
                    <a:pt x="5357876" y="5123434"/>
                  </a:lnTo>
                  <a:lnTo>
                    <a:pt x="5323967" y="5123434"/>
                  </a:lnTo>
                  <a:lnTo>
                    <a:pt x="5323967" y="33909"/>
                  </a:lnTo>
                  <a:lnTo>
                    <a:pt x="5357876" y="33909"/>
                  </a:lnTo>
                  <a:lnTo>
                    <a:pt x="5357876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91733" cy="515733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CUSTOMER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RELATIONSHIPS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902950" y="1053300"/>
            <a:ext cx="3069400" cy="6705400"/>
            <a:chOff x="0" y="0"/>
            <a:chExt cx="4092533" cy="89405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92575" cy="8940546"/>
            </a:xfrm>
            <a:custGeom>
              <a:avLst/>
              <a:gdLst/>
              <a:ahLst/>
              <a:cxnLst/>
              <a:rect l="l" t="t" r="r" b="b"/>
              <a:pathLst>
                <a:path w="4092575" h="8940546">
                  <a:moveTo>
                    <a:pt x="33909" y="0"/>
                  </a:moveTo>
                  <a:lnTo>
                    <a:pt x="4058666" y="0"/>
                  </a:lnTo>
                  <a:cubicBezTo>
                    <a:pt x="4077335" y="0"/>
                    <a:pt x="4092575" y="15113"/>
                    <a:pt x="4092575" y="33909"/>
                  </a:cubicBezTo>
                  <a:lnTo>
                    <a:pt x="4092575" y="8906637"/>
                  </a:lnTo>
                  <a:cubicBezTo>
                    <a:pt x="4092575" y="8925306"/>
                    <a:pt x="4077462" y="8940546"/>
                    <a:pt x="4058666" y="8940546"/>
                  </a:cubicBezTo>
                  <a:lnTo>
                    <a:pt x="33909" y="8940546"/>
                  </a:lnTo>
                  <a:cubicBezTo>
                    <a:pt x="15240" y="8940546"/>
                    <a:pt x="0" y="8925433"/>
                    <a:pt x="0" y="8906637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8906637"/>
                  </a:lnTo>
                  <a:lnTo>
                    <a:pt x="33909" y="8906637"/>
                  </a:lnTo>
                  <a:lnTo>
                    <a:pt x="33909" y="8872728"/>
                  </a:lnTo>
                  <a:lnTo>
                    <a:pt x="4058666" y="8872728"/>
                  </a:lnTo>
                  <a:lnTo>
                    <a:pt x="4058666" y="8906637"/>
                  </a:lnTo>
                  <a:lnTo>
                    <a:pt x="4024757" y="8906637"/>
                  </a:lnTo>
                  <a:lnTo>
                    <a:pt x="4024757" y="33909"/>
                  </a:lnTo>
                  <a:lnTo>
                    <a:pt x="4058666" y="33909"/>
                  </a:lnTo>
                  <a:lnTo>
                    <a:pt x="4058666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092533" cy="894053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CUSTOMER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SEGMENTS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750" y="7757254"/>
            <a:ext cx="8827000" cy="2440600"/>
            <a:chOff x="0" y="0"/>
            <a:chExt cx="11769333" cy="32541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769344" cy="3254248"/>
            </a:xfrm>
            <a:custGeom>
              <a:avLst/>
              <a:gdLst/>
              <a:ahLst/>
              <a:cxnLst/>
              <a:rect l="l" t="t" r="r" b="b"/>
              <a:pathLst>
                <a:path w="11769344" h="3254248">
                  <a:moveTo>
                    <a:pt x="33909" y="0"/>
                  </a:moveTo>
                  <a:lnTo>
                    <a:pt x="11735435" y="0"/>
                  </a:lnTo>
                  <a:cubicBezTo>
                    <a:pt x="11754103" y="0"/>
                    <a:pt x="11769344" y="15113"/>
                    <a:pt x="11769344" y="33909"/>
                  </a:cubicBezTo>
                  <a:lnTo>
                    <a:pt x="11769344" y="3220339"/>
                  </a:lnTo>
                  <a:cubicBezTo>
                    <a:pt x="11769344" y="3239008"/>
                    <a:pt x="11754231" y="3254248"/>
                    <a:pt x="11735435" y="3254248"/>
                  </a:cubicBezTo>
                  <a:lnTo>
                    <a:pt x="33909" y="3254248"/>
                  </a:lnTo>
                  <a:cubicBezTo>
                    <a:pt x="15240" y="3254248"/>
                    <a:pt x="0" y="3239135"/>
                    <a:pt x="0" y="322033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220339"/>
                  </a:lnTo>
                  <a:lnTo>
                    <a:pt x="33909" y="3220339"/>
                  </a:lnTo>
                  <a:lnTo>
                    <a:pt x="33909" y="3186430"/>
                  </a:lnTo>
                  <a:lnTo>
                    <a:pt x="11735435" y="3186430"/>
                  </a:lnTo>
                  <a:lnTo>
                    <a:pt x="11735435" y="3220339"/>
                  </a:lnTo>
                  <a:lnTo>
                    <a:pt x="11701526" y="3220339"/>
                  </a:lnTo>
                  <a:lnTo>
                    <a:pt x="11701526" y="33909"/>
                  </a:lnTo>
                  <a:lnTo>
                    <a:pt x="11735435" y="33909"/>
                  </a:lnTo>
                  <a:lnTo>
                    <a:pt x="11735435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1769333" cy="325413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     REVENUE STREAMS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5250" y="7757256"/>
            <a:ext cx="8830600" cy="2440600"/>
            <a:chOff x="0" y="0"/>
            <a:chExt cx="11774133" cy="32541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774170" cy="3254248"/>
            </a:xfrm>
            <a:custGeom>
              <a:avLst/>
              <a:gdLst/>
              <a:ahLst/>
              <a:cxnLst/>
              <a:rect l="l" t="t" r="r" b="b"/>
              <a:pathLst>
                <a:path w="11774170" h="3254248">
                  <a:moveTo>
                    <a:pt x="33909" y="0"/>
                  </a:moveTo>
                  <a:lnTo>
                    <a:pt x="11740261" y="0"/>
                  </a:lnTo>
                  <a:cubicBezTo>
                    <a:pt x="11758930" y="0"/>
                    <a:pt x="11774170" y="15113"/>
                    <a:pt x="11774170" y="33909"/>
                  </a:cubicBezTo>
                  <a:lnTo>
                    <a:pt x="11774170" y="3220339"/>
                  </a:lnTo>
                  <a:cubicBezTo>
                    <a:pt x="11774170" y="3239008"/>
                    <a:pt x="11759057" y="3254248"/>
                    <a:pt x="11740261" y="3254248"/>
                  </a:cubicBezTo>
                  <a:lnTo>
                    <a:pt x="33909" y="3254248"/>
                  </a:lnTo>
                  <a:cubicBezTo>
                    <a:pt x="15240" y="3254248"/>
                    <a:pt x="0" y="3239135"/>
                    <a:pt x="0" y="322033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220339"/>
                  </a:lnTo>
                  <a:lnTo>
                    <a:pt x="33909" y="3220339"/>
                  </a:lnTo>
                  <a:lnTo>
                    <a:pt x="33909" y="3186430"/>
                  </a:lnTo>
                  <a:lnTo>
                    <a:pt x="11740261" y="3186430"/>
                  </a:lnTo>
                  <a:lnTo>
                    <a:pt x="11740261" y="3220339"/>
                  </a:lnTo>
                  <a:lnTo>
                    <a:pt x="11706352" y="3220339"/>
                  </a:lnTo>
                  <a:lnTo>
                    <a:pt x="11706352" y="33909"/>
                  </a:lnTo>
                  <a:lnTo>
                    <a:pt x="11740261" y="33909"/>
                  </a:lnTo>
                  <a:lnTo>
                    <a:pt x="11740261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1774133" cy="325413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        COST STRUCTURE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5250" y="1053300"/>
            <a:ext cx="3209800" cy="6705400"/>
            <a:chOff x="0" y="0"/>
            <a:chExt cx="4279733" cy="894053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79773" cy="8940546"/>
            </a:xfrm>
            <a:custGeom>
              <a:avLst/>
              <a:gdLst/>
              <a:ahLst/>
              <a:cxnLst/>
              <a:rect l="l" t="t" r="r" b="b"/>
              <a:pathLst>
                <a:path w="4279773" h="8940546">
                  <a:moveTo>
                    <a:pt x="33909" y="0"/>
                  </a:moveTo>
                  <a:lnTo>
                    <a:pt x="4245864" y="0"/>
                  </a:lnTo>
                  <a:cubicBezTo>
                    <a:pt x="4264533" y="0"/>
                    <a:pt x="4279773" y="15113"/>
                    <a:pt x="4279773" y="33909"/>
                  </a:cubicBezTo>
                  <a:lnTo>
                    <a:pt x="4279773" y="8906637"/>
                  </a:lnTo>
                  <a:cubicBezTo>
                    <a:pt x="4279773" y="8925306"/>
                    <a:pt x="4264660" y="8940546"/>
                    <a:pt x="4245864" y="8940546"/>
                  </a:cubicBezTo>
                  <a:lnTo>
                    <a:pt x="33909" y="8940546"/>
                  </a:lnTo>
                  <a:cubicBezTo>
                    <a:pt x="15240" y="8940546"/>
                    <a:pt x="0" y="8925433"/>
                    <a:pt x="0" y="8906637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8906637"/>
                  </a:lnTo>
                  <a:lnTo>
                    <a:pt x="33909" y="8906637"/>
                  </a:lnTo>
                  <a:lnTo>
                    <a:pt x="33909" y="8872728"/>
                  </a:lnTo>
                  <a:lnTo>
                    <a:pt x="4245864" y="8872728"/>
                  </a:lnTo>
                  <a:lnTo>
                    <a:pt x="4245864" y="8906637"/>
                  </a:lnTo>
                  <a:lnTo>
                    <a:pt x="4211955" y="8906637"/>
                  </a:lnTo>
                  <a:lnTo>
                    <a:pt x="4211955" y="33909"/>
                  </a:lnTo>
                  <a:lnTo>
                    <a:pt x="4245864" y="33909"/>
                  </a:lnTo>
                  <a:lnTo>
                    <a:pt x="4245864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4279733" cy="894053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PARTNERS</a:t>
              </a:r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4909610" y="1078690"/>
            <a:ext cx="1106028" cy="1009652"/>
            <a:chOff x="0" y="0"/>
            <a:chExt cx="1474704" cy="134620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74724" cy="1346200"/>
            </a:xfrm>
            <a:custGeom>
              <a:avLst/>
              <a:gdLst/>
              <a:ahLst/>
              <a:cxnLst/>
              <a:rect l="l" t="t" r="r" b="b"/>
              <a:pathLst>
                <a:path w="1474724" h="1346200">
                  <a:moveTo>
                    <a:pt x="0" y="0"/>
                  </a:moveTo>
                  <a:lnTo>
                    <a:pt x="1474724" y="0"/>
                  </a:lnTo>
                  <a:lnTo>
                    <a:pt x="1474724" y="1346200"/>
                  </a:lnTo>
                  <a:lnTo>
                    <a:pt x="0" y="134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1454"/>
              </a:stretch>
            </a:blipFill>
          </p:spPr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7467354" y="976296"/>
            <a:ext cx="999800" cy="795340"/>
            <a:chOff x="0" y="0"/>
            <a:chExt cx="1333067" cy="106045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33119" cy="1060450"/>
            </a:xfrm>
            <a:custGeom>
              <a:avLst/>
              <a:gdLst/>
              <a:ahLst/>
              <a:cxnLst/>
              <a:rect l="l" t="t" r="r" b="b"/>
              <a:pathLst>
                <a:path w="1333119" h="1060450">
                  <a:moveTo>
                    <a:pt x="0" y="0"/>
                  </a:moveTo>
                  <a:lnTo>
                    <a:pt x="1333119" y="0"/>
                  </a:lnTo>
                  <a:lnTo>
                    <a:pt x="1333119" y="1060450"/>
                  </a:lnTo>
                  <a:lnTo>
                    <a:pt x="0" y="1060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-30859"/>
              </a:stretch>
            </a:blipFill>
          </p:spPr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10947904" y="912002"/>
            <a:ext cx="1099778" cy="859634"/>
            <a:chOff x="0" y="0"/>
            <a:chExt cx="1466371" cy="114617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6342" cy="1146175"/>
            </a:xfrm>
            <a:custGeom>
              <a:avLst/>
              <a:gdLst/>
              <a:ahLst/>
              <a:cxnLst/>
              <a:rect l="l" t="t" r="r" b="b"/>
              <a:pathLst>
                <a:path w="1466342" h="1146175">
                  <a:moveTo>
                    <a:pt x="0" y="0"/>
                  </a:moveTo>
                  <a:lnTo>
                    <a:pt x="1466342" y="0"/>
                  </a:lnTo>
                  <a:lnTo>
                    <a:pt x="1466342" y="1146175"/>
                  </a:lnTo>
                  <a:lnTo>
                    <a:pt x="0" y="114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31755"/>
              </a:stretch>
            </a:blipFill>
          </p:spPr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9313858" y="8415334"/>
            <a:ext cx="890446" cy="859634"/>
            <a:chOff x="0" y="0"/>
            <a:chExt cx="1187261" cy="114617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87323" cy="1146175"/>
            </a:xfrm>
            <a:custGeom>
              <a:avLst/>
              <a:gdLst/>
              <a:ahLst/>
              <a:cxnLst/>
              <a:rect l="l" t="t" r="r" b="b"/>
              <a:pathLst>
                <a:path w="1187323" h="1146175">
                  <a:moveTo>
                    <a:pt x="0" y="0"/>
                  </a:moveTo>
                  <a:lnTo>
                    <a:pt x="1187323" y="0"/>
                  </a:lnTo>
                  <a:lnTo>
                    <a:pt x="1187323" y="1146175"/>
                  </a:lnTo>
                  <a:lnTo>
                    <a:pt x="0" y="114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578" r="5" b="-31909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-37079309" y="-23066027"/>
            <a:ext cx="85110066" cy="58345203"/>
            <a:chOff x="0" y="0"/>
            <a:chExt cx="113480089" cy="7779360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87188" cy="4405757"/>
            </a:xfrm>
            <a:custGeom>
              <a:avLst/>
              <a:gdLst/>
              <a:ahLst/>
              <a:cxnLst/>
              <a:rect l="l" t="t" r="r" b="b"/>
              <a:pathLst>
                <a:path w="5187188" h="4405757">
                  <a:moveTo>
                    <a:pt x="33909" y="0"/>
                  </a:moveTo>
                  <a:lnTo>
                    <a:pt x="5153279" y="0"/>
                  </a:lnTo>
                  <a:cubicBezTo>
                    <a:pt x="5171948" y="0"/>
                    <a:pt x="5187188" y="15113"/>
                    <a:pt x="5187188" y="33909"/>
                  </a:cubicBezTo>
                  <a:lnTo>
                    <a:pt x="5187188" y="4371848"/>
                  </a:lnTo>
                  <a:cubicBezTo>
                    <a:pt x="5187188" y="4390517"/>
                    <a:pt x="5172075" y="4405757"/>
                    <a:pt x="5153279" y="4405757"/>
                  </a:cubicBezTo>
                  <a:lnTo>
                    <a:pt x="33909" y="4405757"/>
                  </a:lnTo>
                  <a:cubicBezTo>
                    <a:pt x="15240" y="4405757"/>
                    <a:pt x="0" y="4390644"/>
                    <a:pt x="0" y="4371848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371848"/>
                  </a:lnTo>
                  <a:lnTo>
                    <a:pt x="33909" y="4371848"/>
                  </a:lnTo>
                  <a:lnTo>
                    <a:pt x="33909" y="4337939"/>
                  </a:lnTo>
                  <a:lnTo>
                    <a:pt x="5153279" y="4337939"/>
                  </a:lnTo>
                  <a:lnTo>
                    <a:pt x="5153279" y="4371848"/>
                  </a:lnTo>
                  <a:lnTo>
                    <a:pt x="5119370" y="4371848"/>
                  </a:lnTo>
                  <a:lnTo>
                    <a:pt x="5119370" y="33909"/>
                  </a:lnTo>
                  <a:lnTo>
                    <a:pt x="5153279" y="33909"/>
                  </a:lnTo>
                  <a:lnTo>
                    <a:pt x="515327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13480089" cy="777936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RESOURCES</a:t>
              </a:r>
            </a:p>
          </p:txBody>
        </p:sp>
      </p:grpSp>
      <p:grpSp>
        <p:nvGrpSpPr>
          <p:cNvPr id="40" name="Group 40"/>
          <p:cNvGrpSpPr>
            <a:grpSpLocks noChangeAspect="1"/>
          </p:cNvGrpSpPr>
          <p:nvPr/>
        </p:nvGrpSpPr>
        <p:grpSpPr>
          <a:xfrm>
            <a:off x="3539950" y="4486357"/>
            <a:ext cx="1247854" cy="811194"/>
            <a:chOff x="0" y="0"/>
            <a:chExt cx="1663806" cy="108159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663827" cy="1081532"/>
            </a:xfrm>
            <a:custGeom>
              <a:avLst/>
              <a:gdLst/>
              <a:ahLst/>
              <a:cxnLst/>
              <a:rect l="l" t="t" r="r" b="b"/>
              <a:pathLst>
                <a:path w="1663827" h="1081532">
                  <a:moveTo>
                    <a:pt x="0" y="0"/>
                  </a:moveTo>
                  <a:lnTo>
                    <a:pt x="1663827" y="0"/>
                  </a:lnTo>
                  <a:lnTo>
                    <a:pt x="1663827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 b="-45291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-37251921" y="-27992766"/>
            <a:ext cx="85464692" cy="61558407"/>
            <a:chOff x="0" y="0"/>
            <a:chExt cx="113952922" cy="8207787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208524" cy="4644644"/>
            </a:xfrm>
            <a:custGeom>
              <a:avLst/>
              <a:gdLst/>
              <a:ahLst/>
              <a:cxnLst/>
              <a:rect l="l" t="t" r="r" b="b"/>
              <a:pathLst>
                <a:path w="5208524" h="4644644">
                  <a:moveTo>
                    <a:pt x="33909" y="0"/>
                  </a:moveTo>
                  <a:lnTo>
                    <a:pt x="5174615" y="0"/>
                  </a:lnTo>
                  <a:cubicBezTo>
                    <a:pt x="5193284" y="0"/>
                    <a:pt x="5208524" y="15113"/>
                    <a:pt x="5208524" y="33909"/>
                  </a:cubicBezTo>
                  <a:lnTo>
                    <a:pt x="5208524" y="4610735"/>
                  </a:lnTo>
                  <a:cubicBezTo>
                    <a:pt x="5208524" y="4629404"/>
                    <a:pt x="5193411" y="4644644"/>
                    <a:pt x="5174615" y="4644644"/>
                  </a:cubicBezTo>
                  <a:lnTo>
                    <a:pt x="33909" y="4644644"/>
                  </a:lnTo>
                  <a:cubicBezTo>
                    <a:pt x="15240" y="4644644"/>
                    <a:pt x="0" y="4629531"/>
                    <a:pt x="0" y="4610735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610735"/>
                  </a:lnTo>
                  <a:lnTo>
                    <a:pt x="33909" y="4610735"/>
                  </a:lnTo>
                  <a:lnTo>
                    <a:pt x="33909" y="4576826"/>
                  </a:lnTo>
                  <a:lnTo>
                    <a:pt x="5174615" y="4576826"/>
                  </a:lnTo>
                  <a:lnTo>
                    <a:pt x="5174615" y="4610735"/>
                  </a:lnTo>
                  <a:lnTo>
                    <a:pt x="5140706" y="4610735"/>
                  </a:lnTo>
                  <a:lnTo>
                    <a:pt x="5140706" y="33909"/>
                  </a:lnTo>
                  <a:lnTo>
                    <a:pt x="5174615" y="33909"/>
                  </a:lnTo>
                  <a:lnTo>
                    <a:pt x="5174615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13952922" cy="820778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	KEY</a:t>
              </a:r>
            </a:p>
            <a:p>
              <a:pPr algn="l">
                <a:lnSpc>
                  <a:spcPts val="1920"/>
                </a:lnSpc>
              </a:pPr>
              <a:r>
                <a:rPr lang="en-US" sz="1600" b="1">
                  <a:solidFill>
                    <a:srgbClr val="59595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	ACTIVITIES</a:t>
              </a:r>
            </a:p>
          </p:txBody>
        </p:sp>
      </p:grpSp>
      <p:grpSp>
        <p:nvGrpSpPr>
          <p:cNvPr id="45" name="Group 45"/>
          <p:cNvGrpSpPr>
            <a:grpSpLocks noChangeAspect="1"/>
          </p:cNvGrpSpPr>
          <p:nvPr/>
        </p:nvGrpSpPr>
        <p:grpSpPr>
          <a:xfrm>
            <a:off x="421894" y="1021540"/>
            <a:ext cx="943562" cy="740570"/>
            <a:chOff x="0" y="0"/>
            <a:chExt cx="1258083" cy="98742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58062" cy="987425"/>
            </a:xfrm>
            <a:custGeom>
              <a:avLst/>
              <a:gdLst/>
              <a:ahLst/>
              <a:cxnLst/>
              <a:rect l="l" t="t" r="r" b="b"/>
              <a:pathLst>
                <a:path w="1258062" h="987425">
                  <a:moveTo>
                    <a:pt x="0" y="0"/>
                  </a:moveTo>
                  <a:lnTo>
                    <a:pt x="1258062" y="0"/>
                  </a:lnTo>
                  <a:lnTo>
                    <a:pt x="1258062" y="987425"/>
                  </a:lnTo>
                  <a:lnTo>
                    <a:pt x="0" y="987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 b="-31842"/>
              </a:stretch>
            </a:blipFill>
          </p:spPr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390650" y="8389140"/>
            <a:ext cx="1052914" cy="773908"/>
            <a:chOff x="0" y="0"/>
            <a:chExt cx="1403885" cy="103187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03858" cy="1031875"/>
            </a:xfrm>
            <a:custGeom>
              <a:avLst/>
              <a:gdLst/>
              <a:ahLst/>
              <a:cxnLst/>
              <a:rect l="l" t="t" r="r" b="b"/>
              <a:pathLst>
                <a:path w="1403858" h="1031875">
                  <a:moveTo>
                    <a:pt x="0" y="0"/>
                  </a:moveTo>
                  <a:lnTo>
                    <a:pt x="1403858" y="0"/>
                  </a:lnTo>
                  <a:lnTo>
                    <a:pt x="1403858" y="1031875"/>
                  </a:lnTo>
                  <a:lnTo>
                    <a:pt x="0" y="1031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1457" r="-7341" b="-31405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3839712" y="-120038"/>
            <a:ext cx="10712277" cy="1358524"/>
            <a:chOff x="0" y="0"/>
            <a:chExt cx="14283036" cy="181136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283037" cy="1811366"/>
            </a:xfrm>
            <a:custGeom>
              <a:avLst/>
              <a:gdLst/>
              <a:ahLst/>
              <a:cxnLst/>
              <a:rect l="l" t="t" r="r" b="b"/>
              <a:pathLst>
                <a:path w="14283037" h="1811366">
                  <a:moveTo>
                    <a:pt x="0" y="0"/>
                  </a:moveTo>
                  <a:lnTo>
                    <a:pt x="14283037" y="0"/>
                  </a:lnTo>
                  <a:lnTo>
                    <a:pt x="14283037" y="1811366"/>
                  </a:lnTo>
                  <a:lnTo>
                    <a:pt x="0" y="18113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14283036" cy="1801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000000"/>
                  </a:solidFill>
                  <a:latin typeface="Catamaran Bold"/>
                  <a:ea typeface="Catamaran Bold"/>
                  <a:cs typeface="Catamaran Bold"/>
                  <a:sym typeface="Catamaran Bold"/>
                </a:rPr>
                <a:t>Business Model Canvas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3539950" y="1021540"/>
            <a:ext cx="3927404" cy="3506826"/>
          </a:xfrm>
          <a:custGeom>
            <a:avLst/>
            <a:gdLst/>
            <a:ahLst/>
            <a:cxnLst/>
            <a:rect l="l" t="t" r="r" b="b"/>
            <a:pathLst>
              <a:path w="3927404" h="3506826">
                <a:moveTo>
                  <a:pt x="0" y="0"/>
                </a:moveTo>
                <a:lnTo>
                  <a:pt x="3927404" y="0"/>
                </a:lnTo>
                <a:lnTo>
                  <a:pt x="3927404" y="3506826"/>
                </a:lnTo>
                <a:lnTo>
                  <a:pt x="0" y="35068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269" b="-1269"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3497571" y="4445561"/>
            <a:ext cx="3953875" cy="3385344"/>
          </a:xfrm>
          <a:custGeom>
            <a:avLst/>
            <a:gdLst/>
            <a:ahLst/>
            <a:cxnLst/>
            <a:rect l="l" t="t" r="r" b="b"/>
            <a:pathLst>
              <a:path w="3953875" h="3385344">
                <a:moveTo>
                  <a:pt x="0" y="0"/>
                </a:moveTo>
                <a:lnTo>
                  <a:pt x="3953875" y="0"/>
                </a:lnTo>
                <a:lnTo>
                  <a:pt x="3953875" y="3385344"/>
                </a:lnTo>
                <a:lnTo>
                  <a:pt x="0" y="33853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1026056" y="4867105"/>
            <a:ext cx="1279689" cy="852362"/>
          </a:xfrm>
          <a:custGeom>
            <a:avLst/>
            <a:gdLst/>
            <a:ahLst/>
            <a:cxnLst/>
            <a:rect l="l" t="t" r="r" b="b"/>
            <a:pathLst>
              <a:path w="1563877" h="949753">
                <a:moveTo>
                  <a:pt x="0" y="0"/>
                </a:moveTo>
                <a:lnTo>
                  <a:pt x="1563877" y="0"/>
                </a:lnTo>
                <a:lnTo>
                  <a:pt x="1563877" y="949753"/>
                </a:lnTo>
                <a:lnTo>
                  <a:pt x="0" y="9497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13806" b="-13806"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7636575" y="2143732"/>
            <a:ext cx="3054850" cy="350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Easy to understand STEM concepts.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Easy to carry and use hardware.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 devices compatible with all devices.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Providing an alternative to old methods of learning STEM concepts through Braille/interpreters/ abacus.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Cost-effective.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Increasing literacy and employability rate.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010675" y="7956613"/>
            <a:ext cx="3359425" cy="203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6842" lvl="1" indent="-173421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Manufacturing of Hardware</a:t>
            </a:r>
          </a:p>
          <a:p>
            <a:pPr marL="346842" lvl="1" indent="-173421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Advertisement</a:t>
            </a:r>
          </a:p>
          <a:p>
            <a:pPr marL="346842" lvl="1" indent="-173421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platform charges</a:t>
            </a:r>
          </a:p>
          <a:p>
            <a:pPr marL="346842" lvl="1" indent="-173421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Dealerships</a:t>
            </a:r>
          </a:p>
          <a:p>
            <a:pPr marL="346842" lvl="1" indent="-173421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Maintenance of hardware</a:t>
            </a:r>
          </a:p>
          <a:p>
            <a:pPr marL="346842" lvl="1" indent="-173421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Offline campaigns</a:t>
            </a:r>
          </a:p>
          <a:p>
            <a:pPr marL="346842" lvl="1" indent="-173421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Employees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20175" y="2400048"/>
            <a:ext cx="3054850" cy="337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0040" lvl="1" indent="-25002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Blind educational institutions</a:t>
            </a:r>
          </a:p>
          <a:p>
            <a:pPr marL="868590" lvl="2" indent="-289530" algn="l">
              <a:lnSpc>
                <a:spcPts val="2160"/>
              </a:lnSpc>
              <a:buFont typeface="Arial"/>
              <a:buChar char="⚬"/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Sai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Netraheen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Sewa Sanstha, New Delhi</a:t>
            </a:r>
          </a:p>
          <a:p>
            <a:pPr marL="868590" lvl="2" indent="-289530" algn="l">
              <a:lnSpc>
                <a:spcPts val="2160"/>
              </a:lnSpc>
              <a:buFont typeface="Arial"/>
              <a:buChar char="⚬"/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National Blind School, New Delhi</a:t>
            </a:r>
          </a:p>
          <a:p>
            <a:pPr marL="500040" lvl="1" indent="-25002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companies &amp; startups</a:t>
            </a:r>
          </a:p>
          <a:p>
            <a:pPr marL="500040" lvl="1" indent="-25002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NGOs</a:t>
            </a:r>
          </a:p>
          <a:p>
            <a:pPr marL="868590" lvl="2" indent="-289530" algn="l">
              <a:lnSpc>
                <a:spcPts val="2160"/>
              </a:lnSpc>
              <a:buFont typeface="Arial"/>
              <a:buChar char="⚬"/>
            </a:pP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GirlUpFoundation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NYC</a:t>
            </a:r>
          </a:p>
          <a:p>
            <a:pPr marL="868590" lvl="2" indent="-289530" algn="l">
              <a:lnSpc>
                <a:spcPts val="2160"/>
              </a:lnSpc>
              <a:buFont typeface="Arial"/>
              <a:buChar char="⚬"/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Voice of Specially Abled People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524025" y="8145425"/>
            <a:ext cx="6836050" cy="173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number of blind people using our software per year: 500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software charges: INR 300 per month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 charges (one-time): INR 12000/ unit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number of hardware units sold: 200 units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Total income per year: 500*(300*12)+12000*200= 34.5 lakhs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After removing expenditure, estimated profit = 10 lakhs per annum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106525" y="5555075"/>
            <a:ext cx="3054850" cy="173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mobile application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Cloud services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 manufacturing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Intellectual resources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Human resources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382125" y="2086211"/>
            <a:ext cx="3373450" cy="235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Best-in-usage and services relationship.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Budget-friendly.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Feedback to improve customer experience.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09922" y="5852122"/>
            <a:ext cx="4156074" cy="2071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04480" lvl="1" indent="-502240" algn="l">
              <a:lnSpc>
                <a:spcPts val="2207"/>
              </a:lnSpc>
              <a:buFont typeface="Arial"/>
              <a:buChar char="•"/>
            </a:pPr>
            <a:r>
              <a:rPr lang="en-US" sz="1599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Organize hackathons and workshops for visibility.</a:t>
            </a:r>
          </a:p>
          <a:p>
            <a:pPr marL="1004480" lvl="1" indent="-502240" algn="l">
              <a:lnSpc>
                <a:spcPts val="2207"/>
              </a:lnSpc>
              <a:buFont typeface="Arial"/>
              <a:buChar char="•"/>
            </a:pPr>
            <a:r>
              <a:rPr lang="en-US" sz="1599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Form partnerships with educational institutions and NGOs.</a:t>
            </a:r>
          </a:p>
          <a:p>
            <a:pPr marL="1004480" lvl="1" indent="-502240" algn="l">
              <a:lnSpc>
                <a:spcPts val="2207"/>
              </a:lnSpc>
              <a:buFont typeface="Arial"/>
              <a:buChar char="•"/>
            </a:pPr>
            <a:r>
              <a:rPr lang="en-US" sz="1599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Offer live demonstrations and ongoing support for customers.</a:t>
            </a:r>
          </a:p>
          <a:p>
            <a:pPr marL="1757842" lvl="1" indent="-878921" algn="l">
              <a:lnSpc>
                <a:spcPts val="3359"/>
              </a:lnSpc>
            </a:pPr>
            <a:endParaRPr lang="en-US" sz="1599" dirty="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5273753" y="2308577"/>
            <a:ext cx="2586850" cy="281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Visually impaired people (any age group and people suffering through any type of visual impairment)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Blind Educational Institutions and Organizations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Blind associations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B2B</a:t>
            </a:r>
            <a:endParaRPr lang="en-US" sz="18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4010675" y="2143732"/>
            <a:ext cx="3054850" cy="204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Maintenance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 Development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Development (mobile and web application for visually impaired)</a:t>
            </a:r>
          </a:p>
          <a:p>
            <a:pPr marL="328588" lvl="1" indent="-164294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Sales &amp; Marketing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13942050" y="8541"/>
            <a:ext cx="3918553" cy="1161425"/>
            <a:chOff x="0" y="0"/>
            <a:chExt cx="5224737" cy="1548566"/>
          </a:xfrm>
        </p:grpSpPr>
        <p:grpSp>
          <p:nvGrpSpPr>
            <p:cNvPr id="66" name="Group 66"/>
            <p:cNvGrpSpPr>
              <a:grpSpLocks noChangeAspect="1"/>
            </p:cNvGrpSpPr>
            <p:nvPr/>
          </p:nvGrpSpPr>
          <p:grpSpPr>
            <a:xfrm>
              <a:off x="2573425" y="53217"/>
              <a:ext cx="2651312" cy="1495350"/>
              <a:chOff x="0" y="0"/>
              <a:chExt cx="3611040" cy="203664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3610991" cy="2036699"/>
              </a:xfrm>
              <a:custGeom>
                <a:avLst/>
                <a:gdLst/>
                <a:ahLst/>
                <a:cxnLst/>
                <a:rect l="l" t="t" r="r" b="b"/>
                <a:pathLst>
                  <a:path w="3610991" h="2036699">
                    <a:moveTo>
                      <a:pt x="0" y="0"/>
                    </a:moveTo>
                    <a:lnTo>
                      <a:pt x="3610991" y="0"/>
                    </a:lnTo>
                    <a:lnTo>
                      <a:pt x="3610991" y="2036699"/>
                    </a:lnTo>
                    <a:lnTo>
                      <a:pt x="0" y="203669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r="-1" b="2"/>
                </a:stretch>
              </a:blipFill>
            </p:spPr>
          </p:sp>
        </p:grpSp>
        <p:grpSp>
          <p:nvGrpSpPr>
            <p:cNvPr id="68" name="Group 68"/>
            <p:cNvGrpSpPr>
              <a:grpSpLocks noChangeAspect="1"/>
            </p:cNvGrpSpPr>
            <p:nvPr/>
          </p:nvGrpSpPr>
          <p:grpSpPr>
            <a:xfrm>
              <a:off x="0" y="0"/>
              <a:ext cx="2521971" cy="1456583"/>
              <a:chOff x="0" y="0"/>
              <a:chExt cx="3434880" cy="198384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3434842" cy="1983867"/>
              </a:xfrm>
              <a:custGeom>
                <a:avLst/>
                <a:gdLst/>
                <a:ahLst/>
                <a:cxnLst/>
                <a:rect l="l" t="t" r="r" b="b"/>
                <a:pathLst>
                  <a:path w="3434842" h="1983867">
                    <a:moveTo>
                      <a:pt x="0" y="0"/>
                    </a:moveTo>
                    <a:lnTo>
                      <a:pt x="3434842" y="0"/>
                    </a:lnTo>
                    <a:lnTo>
                      <a:pt x="3434842" y="1983867"/>
                    </a:lnTo>
                    <a:lnTo>
                      <a:pt x="0" y="198386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98" r="-1" b="-96"/>
                </a:stretch>
              </a:blipFill>
            </p:spPr>
          </p:sp>
        </p:grp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83480" y="7560"/>
            <a:ext cx="6095880" cy="1492560"/>
            <a:chOff x="0" y="0"/>
            <a:chExt cx="8127840" cy="199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7873" cy="1990090"/>
            </a:xfrm>
            <a:custGeom>
              <a:avLst/>
              <a:gdLst/>
              <a:ahLst/>
              <a:cxnLst/>
              <a:rect l="l" t="t" r="r" b="b"/>
              <a:pathLst>
                <a:path w="8127873" h="1990090">
                  <a:moveTo>
                    <a:pt x="0" y="0"/>
                  </a:moveTo>
                  <a:lnTo>
                    <a:pt x="8127873" y="0"/>
                  </a:lnTo>
                  <a:lnTo>
                    <a:pt x="8127873" y="1990090"/>
                  </a:lnTo>
                  <a:lnTo>
                    <a:pt x="0" y="19900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AutoShape 4"/>
          <p:cNvSpPr/>
          <p:nvPr/>
        </p:nvSpPr>
        <p:spPr>
          <a:xfrm rot="5356790">
            <a:off x="14777429" y="644400"/>
            <a:ext cx="77334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2738240" y="-81720"/>
            <a:ext cx="5337000" cy="1581840"/>
            <a:chOff x="0" y="0"/>
            <a:chExt cx="7116000" cy="2109120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3504960" y="72480"/>
              <a:ext cx="3611040" cy="2036640"/>
              <a:chOff x="0" y="0"/>
              <a:chExt cx="3611040" cy="203664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610991" cy="2036699"/>
              </a:xfrm>
              <a:custGeom>
                <a:avLst/>
                <a:gdLst/>
                <a:ahLst/>
                <a:cxnLst/>
                <a:rect l="l" t="t" r="r" b="b"/>
                <a:pathLst>
                  <a:path w="3610991" h="2036699">
                    <a:moveTo>
                      <a:pt x="0" y="0"/>
                    </a:moveTo>
                    <a:lnTo>
                      <a:pt x="3610991" y="0"/>
                    </a:lnTo>
                    <a:lnTo>
                      <a:pt x="3610991" y="2036699"/>
                    </a:lnTo>
                    <a:lnTo>
                      <a:pt x="0" y="203669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r="-1" b="2"/>
                </a:stretch>
              </a:blipFill>
            </p:spPr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0" y="0"/>
              <a:ext cx="3434880" cy="1983840"/>
              <a:chOff x="0" y="0"/>
              <a:chExt cx="3434880" cy="198384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34842" cy="1983867"/>
              </a:xfrm>
              <a:custGeom>
                <a:avLst/>
                <a:gdLst/>
                <a:ahLst/>
                <a:cxnLst/>
                <a:rect l="l" t="t" r="r" b="b"/>
                <a:pathLst>
                  <a:path w="3434842" h="1983867">
                    <a:moveTo>
                      <a:pt x="0" y="0"/>
                    </a:moveTo>
                    <a:lnTo>
                      <a:pt x="3434842" y="0"/>
                    </a:lnTo>
                    <a:lnTo>
                      <a:pt x="3434842" y="1983867"/>
                    </a:lnTo>
                    <a:lnTo>
                      <a:pt x="0" y="198386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98" r="-1" b="-96"/>
                </a:stretch>
              </a:blipFill>
            </p:spPr>
          </p:sp>
        </p:grpSp>
      </p:grpSp>
      <p:grpSp>
        <p:nvGrpSpPr>
          <p:cNvPr id="10" name="Group 10"/>
          <p:cNvGrpSpPr/>
          <p:nvPr/>
        </p:nvGrpSpPr>
        <p:grpSpPr>
          <a:xfrm>
            <a:off x="1280703" y="141596"/>
            <a:ext cx="10712277" cy="1358524"/>
            <a:chOff x="0" y="0"/>
            <a:chExt cx="14283036" cy="18113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283037" cy="1811366"/>
            </a:xfrm>
            <a:custGeom>
              <a:avLst/>
              <a:gdLst/>
              <a:ahLst/>
              <a:cxnLst/>
              <a:rect l="l" t="t" r="r" b="b"/>
              <a:pathLst>
                <a:path w="14283037" h="1811366">
                  <a:moveTo>
                    <a:pt x="0" y="0"/>
                  </a:moveTo>
                  <a:lnTo>
                    <a:pt x="14283037" y="0"/>
                  </a:lnTo>
                  <a:lnTo>
                    <a:pt x="14283037" y="1811366"/>
                  </a:lnTo>
                  <a:lnTo>
                    <a:pt x="0" y="18113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4283036" cy="1801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000000"/>
                  </a:solidFill>
                  <a:latin typeface="Catamaran Bold"/>
                  <a:ea typeface="Catamaran Bold"/>
                  <a:cs typeface="Catamaran Bold"/>
                  <a:sym typeface="Catamaran Bold"/>
                </a:rPr>
                <a:t>Proposed solution and SDGs: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395600" y="3935864"/>
            <a:ext cx="6679640" cy="4392142"/>
          </a:xfrm>
          <a:custGeom>
            <a:avLst/>
            <a:gdLst/>
            <a:ahLst/>
            <a:cxnLst/>
            <a:rect l="l" t="t" r="r" b="b"/>
            <a:pathLst>
              <a:path w="6679640" h="4392142">
                <a:moveTo>
                  <a:pt x="0" y="0"/>
                </a:moveTo>
                <a:lnTo>
                  <a:pt x="6679640" y="0"/>
                </a:lnTo>
                <a:lnTo>
                  <a:pt x="6679640" y="4392142"/>
                </a:lnTo>
                <a:lnTo>
                  <a:pt x="0" y="4392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4061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61007" y="1894333"/>
            <a:ext cx="9915187" cy="2196071"/>
            <a:chOff x="0" y="0"/>
            <a:chExt cx="2611407" cy="5783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11407" cy="578389"/>
            </a:xfrm>
            <a:custGeom>
              <a:avLst/>
              <a:gdLst/>
              <a:ahLst/>
              <a:cxnLst/>
              <a:rect l="l" t="t" r="r" b="b"/>
              <a:pathLst>
                <a:path w="2611407" h="578389">
                  <a:moveTo>
                    <a:pt x="39822" y="0"/>
                  </a:moveTo>
                  <a:lnTo>
                    <a:pt x="2571586" y="0"/>
                  </a:lnTo>
                  <a:cubicBezTo>
                    <a:pt x="2582147" y="0"/>
                    <a:pt x="2592276" y="4195"/>
                    <a:pt x="2599744" y="11663"/>
                  </a:cubicBezTo>
                  <a:cubicBezTo>
                    <a:pt x="2607212" y="19131"/>
                    <a:pt x="2611407" y="29260"/>
                    <a:pt x="2611407" y="39822"/>
                  </a:cubicBezTo>
                  <a:lnTo>
                    <a:pt x="2611407" y="538568"/>
                  </a:lnTo>
                  <a:cubicBezTo>
                    <a:pt x="2611407" y="560560"/>
                    <a:pt x="2593579" y="578389"/>
                    <a:pt x="2571586" y="578389"/>
                  </a:cubicBezTo>
                  <a:lnTo>
                    <a:pt x="39822" y="578389"/>
                  </a:lnTo>
                  <a:cubicBezTo>
                    <a:pt x="29260" y="578389"/>
                    <a:pt x="19131" y="574194"/>
                    <a:pt x="11663" y="566726"/>
                  </a:cubicBezTo>
                  <a:cubicBezTo>
                    <a:pt x="4195" y="559258"/>
                    <a:pt x="0" y="549129"/>
                    <a:pt x="0" y="538568"/>
                  </a:cubicBezTo>
                  <a:lnTo>
                    <a:pt x="0" y="39822"/>
                  </a:lnTo>
                  <a:cubicBezTo>
                    <a:pt x="0" y="29260"/>
                    <a:pt x="4195" y="19131"/>
                    <a:pt x="11663" y="11663"/>
                  </a:cubicBezTo>
                  <a:cubicBezTo>
                    <a:pt x="19131" y="4195"/>
                    <a:pt x="29260" y="0"/>
                    <a:pt x="39822" y="0"/>
                  </a:cubicBezTo>
                  <a:close/>
                </a:path>
              </a:pathLst>
            </a:custGeom>
            <a:solidFill>
              <a:srgbClr val="FFE5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2611407" cy="673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1007" y="4480930"/>
            <a:ext cx="9915187" cy="2115334"/>
            <a:chOff x="0" y="0"/>
            <a:chExt cx="2611407" cy="5571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11407" cy="557125"/>
            </a:xfrm>
            <a:custGeom>
              <a:avLst/>
              <a:gdLst/>
              <a:ahLst/>
              <a:cxnLst/>
              <a:rect l="l" t="t" r="r" b="b"/>
              <a:pathLst>
                <a:path w="2611407" h="557125">
                  <a:moveTo>
                    <a:pt x="39822" y="0"/>
                  </a:moveTo>
                  <a:lnTo>
                    <a:pt x="2571586" y="0"/>
                  </a:lnTo>
                  <a:cubicBezTo>
                    <a:pt x="2582147" y="0"/>
                    <a:pt x="2592276" y="4195"/>
                    <a:pt x="2599744" y="11663"/>
                  </a:cubicBezTo>
                  <a:cubicBezTo>
                    <a:pt x="2607212" y="19131"/>
                    <a:pt x="2611407" y="29260"/>
                    <a:pt x="2611407" y="39822"/>
                  </a:cubicBezTo>
                  <a:lnTo>
                    <a:pt x="2611407" y="517304"/>
                  </a:lnTo>
                  <a:cubicBezTo>
                    <a:pt x="2611407" y="527865"/>
                    <a:pt x="2607212" y="537994"/>
                    <a:pt x="2599744" y="545462"/>
                  </a:cubicBezTo>
                  <a:cubicBezTo>
                    <a:pt x="2592276" y="552930"/>
                    <a:pt x="2582147" y="557125"/>
                    <a:pt x="2571586" y="557125"/>
                  </a:cubicBezTo>
                  <a:lnTo>
                    <a:pt x="39822" y="557125"/>
                  </a:lnTo>
                  <a:cubicBezTo>
                    <a:pt x="17829" y="557125"/>
                    <a:pt x="0" y="539296"/>
                    <a:pt x="0" y="517304"/>
                  </a:cubicBezTo>
                  <a:lnTo>
                    <a:pt x="0" y="39822"/>
                  </a:lnTo>
                  <a:cubicBezTo>
                    <a:pt x="0" y="29260"/>
                    <a:pt x="4195" y="19131"/>
                    <a:pt x="11663" y="11663"/>
                  </a:cubicBezTo>
                  <a:cubicBezTo>
                    <a:pt x="19131" y="4195"/>
                    <a:pt x="29260" y="0"/>
                    <a:pt x="39822" y="0"/>
                  </a:cubicBezTo>
                  <a:close/>
                </a:path>
              </a:pathLst>
            </a:custGeom>
            <a:solidFill>
              <a:srgbClr val="B5FFD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2611407" cy="652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1007" y="6986789"/>
            <a:ext cx="9915187" cy="2115334"/>
            <a:chOff x="0" y="0"/>
            <a:chExt cx="2611407" cy="5571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11407" cy="557125"/>
            </a:xfrm>
            <a:custGeom>
              <a:avLst/>
              <a:gdLst/>
              <a:ahLst/>
              <a:cxnLst/>
              <a:rect l="l" t="t" r="r" b="b"/>
              <a:pathLst>
                <a:path w="2611407" h="557125">
                  <a:moveTo>
                    <a:pt x="39822" y="0"/>
                  </a:moveTo>
                  <a:lnTo>
                    <a:pt x="2571586" y="0"/>
                  </a:lnTo>
                  <a:cubicBezTo>
                    <a:pt x="2582147" y="0"/>
                    <a:pt x="2592276" y="4195"/>
                    <a:pt x="2599744" y="11663"/>
                  </a:cubicBezTo>
                  <a:cubicBezTo>
                    <a:pt x="2607212" y="19131"/>
                    <a:pt x="2611407" y="29260"/>
                    <a:pt x="2611407" y="39822"/>
                  </a:cubicBezTo>
                  <a:lnTo>
                    <a:pt x="2611407" y="517304"/>
                  </a:lnTo>
                  <a:cubicBezTo>
                    <a:pt x="2611407" y="527865"/>
                    <a:pt x="2607212" y="537994"/>
                    <a:pt x="2599744" y="545462"/>
                  </a:cubicBezTo>
                  <a:cubicBezTo>
                    <a:pt x="2592276" y="552930"/>
                    <a:pt x="2582147" y="557125"/>
                    <a:pt x="2571586" y="557125"/>
                  </a:cubicBezTo>
                  <a:lnTo>
                    <a:pt x="39822" y="557125"/>
                  </a:lnTo>
                  <a:cubicBezTo>
                    <a:pt x="17829" y="557125"/>
                    <a:pt x="0" y="539296"/>
                    <a:pt x="0" y="517304"/>
                  </a:cubicBezTo>
                  <a:lnTo>
                    <a:pt x="0" y="39822"/>
                  </a:lnTo>
                  <a:cubicBezTo>
                    <a:pt x="0" y="29260"/>
                    <a:pt x="4195" y="19131"/>
                    <a:pt x="11663" y="11663"/>
                  </a:cubicBezTo>
                  <a:cubicBezTo>
                    <a:pt x="19131" y="4195"/>
                    <a:pt x="29260" y="0"/>
                    <a:pt x="39822" y="0"/>
                  </a:cubicBezTo>
                  <a:close/>
                </a:path>
              </a:pathLst>
            </a:custGeom>
            <a:solidFill>
              <a:srgbClr val="B8E5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2611407" cy="652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983738" y="8566131"/>
            <a:ext cx="2304262" cy="2726938"/>
          </a:xfrm>
          <a:custGeom>
            <a:avLst/>
            <a:gdLst/>
            <a:ahLst/>
            <a:cxnLst/>
            <a:rect l="l" t="t" r="r" b="b"/>
            <a:pathLst>
              <a:path w="2304262" h="2726938">
                <a:moveTo>
                  <a:pt x="0" y="0"/>
                </a:moveTo>
                <a:lnTo>
                  <a:pt x="2304262" y="0"/>
                </a:lnTo>
                <a:lnTo>
                  <a:pt x="2304262" y="2726938"/>
                </a:lnTo>
                <a:lnTo>
                  <a:pt x="0" y="27269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4" b="-34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71626" y="2297615"/>
            <a:ext cx="9093949" cy="1303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sz="22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lightweight, modular refreshable Braille display using 5V solenoids, ESP32 microcontroller, I2C architecture, and 3D-printed housing, reducing cost from $10,000–$20,000 to $500–$1,500.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9480" y="4863274"/>
            <a:ext cx="9538241" cy="1274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directly solves the affordability, multi-line display, and portability gaps—making Braille and STEM content accessible to millions of visually impaired learners and professionals at a fraction of the cost.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7424939"/>
            <a:ext cx="9349047" cy="1198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Combines low-cost components, open-source scalability, and local 3D printing, enabling rapid manufacturing, local repair, and 19x wider accessibility compared to current products.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3775875" y="1735326"/>
            <a:ext cx="1630865" cy="1630865"/>
          </a:xfrm>
          <a:custGeom>
            <a:avLst/>
            <a:gdLst/>
            <a:ahLst/>
            <a:cxnLst/>
            <a:rect l="l" t="t" r="r" b="b"/>
            <a:pathLst>
              <a:path w="1630865" h="1630865">
                <a:moveTo>
                  <a:pt x="0" y="0"/>
                </a:moveTo>
                <a:lnTo>
                  <a:pt x="1630865" y="0"/>
                </a:lnTo>
                <a:lnTo>
                  <a:pt x="1630865" y="1630866"/>
                </a:lnTo>
                <a:lnTo>
                  <a:pt x="0" y="16308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5628435" y="1735326"/>
            <a:ext cx="1630865" cy="1630865"/>
          </a:xfrm>
          <a:custGeom>
            <a:avLst/>
            <a:gdLst/>
            <a:ahLst/>
            <a:cxnLst/>
            <a:rect l="l" t="t" r="r" b="b"/>
            <a:pathLst>
              <a:path w="1630865" h="1630865">
                <a:moveTo>
                  <a:pt x="0" y="0"/>
                </a:moveTo>
                <a:lnTo>
                  <a:pt x="1630865" y="0"/>
                </a:lnTo>
                <a:lnTo>
                  <a:pt x="1630865" y="1630866"/>
                </a:lnTo>
                <a:lnTo>
                  <a:pt x="0" y="16308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606536" cy="1935712"/>
            <a:chOff x="0" y="0"/>
            <a:chExt cx="16808715" cy="25809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08672" cy="2580898"/>
            </a:xfrm>
            <a:custGeom>
              <a:avLst/>
              <a:gdLst/>
              <a:ahLst/>
              <a:cxnLst/>
              <a:rect l="l" t="t" r="r" b="b"/>
              <a:pathLst>
                <a:path w="16808672" h="2580898">
                  <a:moveTo>
                    <a:pt x="0" y="2580898"/>
                  </a:moveTo>
                  <a:lnTo>
                    <a:pt x="0" y="0"/>
                  </a:lnTo>
                  <a:lnTo>
                    <a:pt x="16808672" y="0"/>
                  </a:lnTo>
                  <a:lnTo>
                    <a:pt x="0" y="2580898"/>
                  </a:lnTo>
                  <a:close/>
                </a:path>
              </a:pathLst>
            </a:custGeom>
            <a:solidFill>
              <a:srgbClr val="2523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738240" y="-81720"/>
            <a:ext cx="5337000" cy="1581840"/>
            <a:chOff x="0" y="0"/>
            <a:chExt cx="7116000" cy="2109120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3504960" y="72480"/>
              <a:ext cx="3611040" cy="2036640"/>
              <a:chOff x="0" y="0"/>
              <a:chExt cx="3611040" cy="203664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10991" cy="2036699"/>
              </a:xfrm>
              <a:custGeom>
                <a:avLst/>
                <a:gdLst/>
                <a:ahLst/>
                <a:cxnLst/>
                <a:rect l="l" t="t" r="r" b="b"/>
                <a:pathLst>
                  <a:path w="3610991" h="2036699">
                    <a:moveTo>
                      <a:pt x="0" y="0"/>
                    </a:moveTo>
                    <a:lnTo>
                      <a:pt x="3610991" y="0"/>
                    </a:lnTo>
                    <a:lnTo>
                      <a:pt x="3610991" y="2036699"/>
                    </a:lnTo>
                    <a:lnTo>
                      <a:pt x="0" y="203669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1" b="2"/>
                </a:stretch>
              </a:blipFill>
            </p:spPr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0"/>
              <a:ext cx="3434880" cy="1983840"/>
              <a:chOff x="0" y="0"/>
              <a:chExt cx="3434880" cy="19838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434842" cy="1983867"/>
              </a:xfrm>
              <a:custGeom>
                <a:avLst/>
                <a:gdLst/>
                <a:ahLst/>
                <a:cxnLst/>
                <a:rect l="l" t="t" r="r" b="b"/>
                <a:pathLst>
                  <a:path w="3434842" h="1983867">
                    <a:moveTo>
                      <a:pt x="0" y="0"/>
                    </a:moveTo>
                    <a:lnTo>
                      <a:pt x="3434842" y="0"/>
                    </a:lnTo>
                    <a:lnTo>
                      <a:pt x="3434842" y="1983867"/>
                    </a:lnTo>
                    <a:lnTo>
                      <a:pt x="0" y="198386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98" r="-1" b="-96"/>
                </a:stretch>
              </a:blipFill>
            </p:spPr>
          </p:sp>
        </p:grpSp>
      </p:grpSp>
      <p:grpSp>
        <p:nvGrpSpPr>
          <p:cNvPr id="9" name="Group 9"/>
          <p:cNvGrpSpPr/>
          <p:nvPr/>
        </p:nvGrpSpPr>
        <p:grpSpPr>
          <a:xfrm>
            <a:off x="5901170" y="967856"/>
            <a:ext cx="6091810" cy="1358524"/>
            <a:chOff x="0" y="0"/>
            <a:chExt cx="8122414" cy="18113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2414" cy="1811366"/>
            </a:xfrm>
            <a:custGeom>
              <a:avLst/>
              <a:gdLst/>
              <a:ahLst/>
              <a:cxnLst/>
              <a:rect l="l" t="t" r="r" b="b"/>
              <a:pathLst>
                <a:path w="8122414" h="1811366">
                  <a:moveTo>
                    <a:pt x="0" y="0"/>
                  </a:moveTo>
                  <a:lnTo>
                    <a:pt x="8122414" y="0"/>
                  </a:lnTo>
                  <a:lnTo>
                    <a:pt x="8122414" y="1811366"/>
                  </a:lnTo>
                  <a:lnTo>
                    <a:pt x="0" y="18113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8122414" cy="1801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000000"/>
                  </a:solidFill>
                  <a:latin typeface="Catamaran Bold"/>
                  <a:ea typeface="Catamaran Bold"/>
                  <a:cs typeface="Catamaran Bold"/>
                  <a:sym typeface="Catamaran Bold"/>
                </a:rPr>
                <a:t>Customer Validation</a:t>
              </a:r>
            </a:p>
          </p:txBody>
        </p:sp>
      </p:grpSp>
      <p:pic>
        <p:nvPicPr>
          <p:cNvPr id="19" name="Online Media 18" descr="user review">
            <a:hlinkClick r:id="" action="ppaction://media"/>
            <a:extLst>
              <a:ext uri="{FF2B5EF4-FFF2-40B4-BE49-F238E27FC236}">
                <a16:creationId xmlns:a16="http://schemas.microsoft.com/office/drawing/2014/main" id="{424BBD19-C176-1066-A226-D6E8E9E3FB5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685922" y="2705100"/>
            <a:ext cx="10916156" cy="61676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66464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330" r="-6330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160360" y="3396960"/>
            <a:ext cx="4359960" cy="2606760"/>
            <a:chOff x="0" y="0"/>
            <a:chExt cx="5813280" cy="34756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3298" cy="3475736"/>
            </a:xfrm>
            <a:custGeom>
              <a:avLst/>
              <a:gdLst/>
              <a:ahLst/>
              <a:cxnLst/>
              <a:rect l="l" t="t" r="r" b="b"/>
              <a:pathLst>
                <a:path w="5813298" h="3475736">
                  <a:moveTo>
                    <a:pt x="0" y="0"/>
                  </a:moveTo>
                  <a:lnTo>
                    <a:pt x="5813298" y="0"/>
                  </a:lnTo>
                  <a:lnTo>
                    <a:pt x="5813298" y="3475736"/>
                  </a:lnTo>
                  <a:lnTo>
                    <a:pt x="0" y="3475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464" b="-5462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481120" y="3395880"/>
            <a:ext cx="5025240" cy="2606760"/>
            <a:chOff x="0" y="0"/>
            <a:chExt cx="6700320" cy="3475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00266" cy="3475736"/>
            </a:xfrm>
            <a:custGeom>
              <a:avLst/>
              <a:gdLst/>
              <a:ahLst/>
              <a:cxnLst/>
              <a:rect l="l" t="t" r="r" b="b"/>
              <a:pathLst>
                <a:path w="6700266" h="3475736">
                  <a:moveTo>
                    <a:pt x="0" y="0"/>
                  </a:moveTo>
                  <a:lnTo>
                    <a:pt x="6700266" y="0"/>
                  </a:lnTo>
                  <a:lnTo>
                    <a:pt x="6700266" y="3475736"/>
                  </a:lnTo>
                  <a:lnTo>
                    <a:pt x="0" y="3475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849" b="-2847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2148840" y="6025320"/>
            <a:ext cx="4307400" cy="2511720"/>
            <a:chOff x="0" y="0"/>
            <a:chExt cx="5743200" cy="33489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43194" cy="3348990"/>
            </a:xfrm>
            <a:custGeom>
              <a:avLst/>
              <a:gdLst/>
              <a:ahLst/>
              <a:cxnLst/>
              <a:rect l="l" t="t" r="r" b="b"/>
              <a:pathLst>
                <a:path w="5743194" h="3348990">
                  <a:moveTo>
                    <a:pt x="0" y="0"/>
                  </a:moveTo>
                  <a:lnTo>
                    <a:pt x="5743194" y="0"/>
                  </a:lnTo>
                  <a:lnTo>
                    <a:pt x="5743194" y="3348990"/>
                  </a:lnTo>
                  <a:lnTo>
                    <a:pt x="0" y="334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469" b="-5468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508800" y="3396960"/>
            <a:ext cx="4972320" cy="2835360"/>
            <a:chOff x="0" y="0"/>
            <a:chExt cx="6629760" cy="3780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29781" cy="3780536"/>
            </a:xfrm>
            <a:custGeom>
              <a:avLst/>
              <a:gdLst/>
              <a:ahLst/>
              <a:cxnLst/>
              <a:rect l="l" t="t" r="r" b="b"/>
              <a:pathLst>
                <a:path w="6629781" h="3780536">
                  <a:moveTo>
                    <a:pt x="0" y="0"/>
                  </a:moveTo>
                  <a:lnTo>
                    <a:pt x="6629781" y="0"/>
                  </a:lnTo>
                  <a:lnTo>
                    <a:pt x="6629781" y="3780536"/>
                  </a:lnTo>
                  <a:lnTo>
                    <a:pt x="0" y="3780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462" b="-5461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227320" y="6004080"/>
            <a:ext cx="5278680" cy="2559240"/>
            <a:chOff x="0" y="0"/>
            <a:chExt cx="7038240" cy="34123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38213" cy="3412363"/>
            </a:xfrm>
            <a:custGeom>
              <a:avLst/>
              <a:gdLst/>
              <a:ahLst/>
              <a:cxnLst/>
              <a:rect l="l" t="t" r="r" b="b"/>
              <a:pathLst>
                <a:path w="7038213" h="3412363">
                  <a:moveTo>
                    <a:pt x="0" y="0"/>
                  </a:moveTo>
                  <a:lnTo>
                    <a:pt x="7038213" y="0"/>
                  </a:lnTo>
                  <a:lnTo>
                    <a:pt x="7038213" y="3412363"/>
                  </a:lnTo>
                  <a:lnTo>
                    <a:pt x="0" y="3412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373" b="-5372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6508800" y="6004080"/>
            <a:ext cx="4972320" cy="2559240"/>
            <a:chOff x="0" y="0"/>
            <a:chExt cx="6629760" cy="34123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29781" cy="3412363"/>
            </a:xfrm>
            <a:custGeom>
              <a:avLst/>
              <a:gdLst/>
              <a:ahLst/>
              <a:cxnLst/>
              <a:rect l="l" t="t" r="r" b="b"/>
              <a:pathLst>
                <a:path w="6629781" h="3412363">
                  <a:moveTo>
                    <a:pt x="0" y="0"/>
                  </a:moveTo>
                  <a:lnTo>
                    <a:pt x="6629781" y="0"/>
                  </a:lnTo>
                  <a:lnTo>
                    <a:pt x="6629781" y="3412363"/>
                  </a:lnTo>
                  <a:lnTo>
                    <a:pt x="0" y="3412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302" b="-530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6441480" y="3396960"/>
            <a:ext cx="5086800" cy="5231160"/>
            <a:chOff x="0" y="0"/>
            <a:chExt cx="6782400" cy="69748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634" cy="6973951"/>
            </a:xfrm>
            <a:custGeom>
              <a:avLst/>
              <a:gdLst/>
              <a:ahLst/>
              <a:cxnLst/>
              <a:rect l="l" t="t" r="r" b="b"/>
              <a:pathLst>
                <a:path w="119634" h="6973951">
                  <a:moveTo>
                    <a:pt x="119634" y="0"/>
                  </a:moveTo>
                  <a:lnTo>
                    <a:pt x="0" y="0"/>
                  </a:lnTo>
                  <a:lnTo>
                    <a:pt x="0" y="6973951"/>
                  </a:lnTo>
                  <a:lnTo>
                    <a:pt x="119634" y="6973951"/>
                  </a:lnTo>
                  <a:lnTo>
                    <a:pt x="11963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662293" y="0"/>
              <a:ext cx="119634" cy="6973951"/>
            </a:xfrm>
            <a:custGeom>
              <a:avLst/>
              <a:gdLst/>
              <a:ahLst/>
              <a:cxnLst/>
              <a:rect l="l" t="t" r="r" b="b"/>
              <a:pathLst>
                <a:path w="119634" h="6973951">
                  <a:moveTo>
                    <a:pt x="119634" y="0"/>
                  </a:moveTo>
                  <a:lnTo>
                    <a:pt x="0" y="0"/>
                  </a:lnTo>
                  <a:lnTo>
                    <a:pt x="0" y="6973951"/>
                  </a:lnTo>
                  <a:lnTo>
                    <a:pt x="119634" y="6973951"/>
                  </a:lnTo>
                  <a:lnTo>
                    <a:pt x="11963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2122020" y="5972940"/>
            <a:ext cx="14415480" cy="62280"/>
            <a:chOff x="0" y="0"/>
            <a:chExt cx="19220640" cy="83040"/>
          </a:xfrm>
        </p:grpSpPr>
        <p:sp>
          <p:nvSpPr>
            <p:cNvPr id="20" name="Freeform 20"/>
            <p:cNvSpPr/>
            <p:nvPr/>
          </p:nvSpPr>
          <p:spPr>
            <a:xfrm>
              <a:off x="38608" y="0"/>
              <a:ext cx="19143345" cy="82423"/>
            </a:xfrm>
            <a:custGeom>
              <a:avLst/>
              <a:gdLst/>
              <a:ahLst/>
              <a:cxnLst/>
              <a:rect l="l" t="t" r="r" b="b"/>
              <a:pathLst>
                <a:path w="19143345" h="82423">
                  <a:moveTo>
                    <a:pt x="0" y="0"/>
                  </a:moveTo>
                  <a:lnTo>
                    <a:pt x="19143345" y="5080"/>
                  </a:lnTo>
                  <a:lnTo>
                    <a:pt x="19143345" y="82423"/>
                  </a:lnTo>
                  <a:lnTo>
                    <a:pt x="0" y="773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814040" y="1517925"/>
            <a:ext cx="6607080" cy="165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>
                <a:solidFill>
                  <a:srgbClr val="561113"/>
                </a:solidFill>
                <a:latin typeface="Tahoma"/>
                <a:ea typeface="Tahoma"/>
                <a:cs typeface="Tahoma"/>
                <a:sym typeface="Tahoma"/>
              </a:rPr>
              <a:t>Thank</a:t>
            </a:r>
            <a:r>
              <a:rPr lang="en-US" sz="10800">
                <a:solidFill>
                  <a:srgbClr val="CA3734"/>
                </a:solidFill>
                <a:latin typeface="Tahoma"/>
                <a:ea typeface="Tahoma"/>
                <a:cs typeface="Tahoma"/>
                <a:sym typeface="Tahoma"/>
              </a:rPr>
              <a:t> You</a:t>
            </a:r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5421680" y="137160"/>
            <a:ext cx="2708280" cy="1527480"/>
            <a:chOff x="0" y="0"/>
            <a:chExt cx="3611040" cy="2036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10991" cy="2036699"/>
            </a:xfrm>
            <a:custGeom>
              <a:avLst/>
              <a:gdLst/>
              <a:ahLst/>
              <a:cxnLst/>
              <a:rect l="l" t="t" r="r" b="b"/>
              <a:pathLst>
                <a:path w="3610991" h="2036699">
                  <a:moveTo>
                    <a:pt x="0" y="0"/>
                  </a:moveTo>
                  <a:lnTo>
                    <a:pt x="3610991" y="0"/>
                  </a:lnTo>
                  <a:lnTo>
                    <a:pt x="3610991" y="2036699"/>
                  </a:lnTo>
                  <a:lnTo>
                    <a:pt x="0" y="203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" b="2"/>
              </a:stretch>
            </a:blipFill>
          </p:spPr>
        </p:sp>
      </p:grpSp>
      <p:sp>
        <p:nvSpPr>
          <p:cNvPr id="24" name="AutoShape 24"/>
          <p:cNvSpPr/>
          <p:nvPr/>
        </p:nvSpPr>
        <p:spPr>
          <a:xfrm rot="5356810">
            <a:off x="14831609" y="808740"/>
            <a:ext cx="77370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2792960" y="82800"/>
            <a:ext cx="2576160" cy="1487880"/>
            <a:chOff x="0" y="0"/>
            <a:chExt cx="3434880" cy="1983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434842" cy="1983867"/>
            </a:xfrm>
            <a:custGeom>
              <a:avLst/>
              <a:gdLst/>
              <a:ahLst/>
              <a:cxnLst/>
              <a:rect l="l" t="t" r="r" b="b"/>
              <a:pathLst>
                <a:path w="3434842" h="1983867">
                  <a:moveTo>
                    <a:pt x="0" y="0"/>
                  </a:moveTo>
                  <a:lnTo>
                    <a:pt x="3434842" y="0"/>
                  </a:lnTo>
                  <a:lnTo>
                    <a:pt x="3434842" y="1983867"/>
                  </a:lnTo>
                  <a:lnTo>
                    <a:pt x="0" y="1983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98" r="-1" b="-9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602</Words>
  <Application>Microsoft Macintosh PowerPoint</Application>
  <PresentationFormat>Custom</PresentationFormat>
  <Paragraphs>92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Roboto Bold</vt:lpstr>
      <vt:lpstr>Arial</vt:lpstr>
      <vt:lpstr>Arial Bold</vt:lpstr>
      <vt:lpstr>Helvetica World</vt:lpstr>
      <vt:lpstr>Calibri (MS)</vt:lpstr>
      <vt:lpstr>Catamaran Bold</vt:lpstr>
      <vt:lpstr>Helvetica World Bold</vt:lpstr>
      <vt:lpstr>Roboto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Ideation Track Task - Pitch Deck Template.odp</dc:title>
  <cp:lastModifiedBy>Adarsh Goyal</cp:lastModifiedBy>
  <cp:revision>3</cp:revision>
  <dcterms:created xsi:type="dcterms:W3CDTF">2006-08-16T00:00:00Z</dcterms:created>
  <dcterms:modified xsi:type="dcterms:W3CDTF">2025-11-10T18:04:34Z</dcterms:modified>
  <dc:identifier>DAG4UNHr5Ec</dc:identifier>
</cp:coreProperties>
</file>