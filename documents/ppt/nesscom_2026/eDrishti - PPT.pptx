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0515" y="0"/>
            <a:ext cx="2197484" cy="1685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8042" y="3705100"/>
            <a:ext cx="2771914" cy="273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55290" cy="2955290"/>
            </a:xfrm>
            <a:custGeom>
              <a:avLst/>
              <a:gdLst/>
              <a:ahLst/>
              <a:cxnLst/>
              <a:rect l="l" t="t" r="r" b="b"/>
              <a:pathLst>
                <a:path w="2955290" h="2955290">
                  <a:moveTo>
                    <a:pt x="2954831" y="2954831"/>
                  </a:moveTo>
                  <a:lnTo>
                    <a:pt x="0" y="2954831"/>
                  </a:lnTo>
                  <a:lnTo>
                    <a:pt x="0" y="0"/>
                  </a:lnTo>
                  <a:lnTo>
                    <a:pt x="2954831" y="0"/>
                  </a:lnTo>
                  <a:lnTo>
                    <a:pt x="2954831" y="2954831"/>
                  </a:lnTo>
                  <a:close/>
                </a:path>
              </a:pathLst>
            </a:custGeom>
            <a:solidFill>
              <a:srgbClr val="F5A329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54831" y="2954831"/>
              <a:ext cx="15328265" cy="4109085"/>
            </a:xfrm>
            <a:custGeom>
              <a:avLst/>
              <a:gdLst/>
              <a:ahLst/>
              <a:cxnLst/>
              <a:rect l="l" t="t" r="r" b="b"/>
              <a:pathLst>
                <a:path w="15328265" h="4109084">
                  <a:moveTo>
                    <a:pt x="15327913" y="4108843"/>
                  </a:moveTo>
                  <a:lnTo>
                    <a:pt x="0" y="4108843"/>
                  </a:lnTo>
                  <a:lnTo>
                    <a:pt x="0" y="0"/>
                  </a:lnTo>
                  <a:lnTo>
                    <a:pt x="15327913" y="0"/>
                  </a:lnTo>
                  <a:lnTo>
                    <a:pt x="15327913" y="4108843"/>
                  </a:lnTo>
                  <a:close/>
                </a:path>
              </a:pathLst>
            </a:custGeom>
            <a:solidFill>
              <a:srgbClr val="FFFFFF">
                <a:alpha val="92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35212" y="7063675"/>
              <a:ext cx="453390" cy="2195195"/>
            </a:xfrm>
            <a:custGeom>
              <a:avLst/>
              <a:gdLst/>
              <a:ahLst/>
              <a:cxnLst/>
              <a:rect l="l" t="t" r="r" b="b"/>
              <a:pathLst>
                <a:path w="453390" h="2195195">
                  <a:moveTo>
                    <a:pt x="452786" y="2194955"/>
                  </a:moveTo>
                  <a:lnTo>
                    <a:pt x="0" y="2194955"/>
                  </a:lnTo>
                  <a:lnTo>
                    <a:pt x="0" y="0"/>
                  </a:lnTo>
                  <a:lnTo>
                    <a:pt x="452786" y="0"/>
                  </a:lnTo>
                  <a:lnTo>
                    <a:pt x="452786" y="2194955"/>
                  </a:lnTo>
                  <a:close/>
                </a:path>
              </a:pathLst>
            </a:custGeom>
            <a:solidFill>
              <a:srgbClr val="F5A329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5984" y="2357458"/>
              <a:ext cx="7696199" cy="557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624271" y="9560678"/>
            <a:ext cx="48837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(f</a:t>
            </a:r>
            <a:r>
              <a:rPr sz="29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9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9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9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9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9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9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9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9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9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9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)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80319" y="0"/>
            <a:ext cx="8608060" cy="10288905"/>
          </a:xfrm>
          <a:custGeom>
            <a:avLst/>
            <a:gdLst/>
            <a:ahLst/>
            <a:cxnLst/>
            <a:rect l="l" t="t" r="r" b="b"/>
            <a:pathLst>
              <a:path w="8608060" h="10288905">
                <a:moveTo>
                  <a:pt x="8607680" y="10288867"/>
                </a:moveTo>
                <a:lnTo>
                  <a:pt x="0" y="10288867"/>
                </a:lnTo>
                <a:lnTo>
                  <a:pt x="0" y="0"/>
                </a:lnTo>
                <a:lnTo>
                  <a:pt x="8607680" y="0"/>
                </a:lnTo>
                <a:lnTo>
                  <a:pt x="8607680" y="10288867"/>
                </a:lnTo>
                <a:close/>
              </a:path>
            </a:pathLst>
          </a:custGeom>
          <a:solidFill>
            <a:srgbClr val="2523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181" y="2231210"/>
            <a:ext cx="5829299" cy="5829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333624" cy="16859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70295" y="1777273"/>
            <a:ext cx="5027930" cy="360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35"/>
              </a:lnSpc>
              <a:spcBef>
                <a:spcPts val="95"/>
              </a:spcBef>
            </a:pPr>
            <a:r>
              <a:rPr sz="8300" spc="-140" dirty="0"/>
              <a:t>MEET.......</a:t>
            </a:r>
            <a:endParaRPr sz="8300"/>
          </a:p>
          <a:p>
            <a:pPr marL="323215" marR="315595" algn="ctr">
              <a:lnSpc>
                <a:spcPts val="9110"/>
              </a:lnSpc>
              <a:spcBef>
                <a:spcPts val="525"/>
              </a:spcBef>
            </a:pPr>
            <a:r>
              <a:rPr sz="8300" spc="65" dirty="0"/>
              <a:t>R</a:t>
            </a:r>
            <a:r>
              <a:rPr sz="8300" spc="665" dirty="0"/>
              <a:t>A</a:t>
            </a:r>
            <a:r>
              <a:rPr sz="8300" spc="325" dirty="0"/>
              <a:t>J</a:t>
            </a:r>
            <a:r>
              <a:rPr sz="8300" spc="450" dirty="0"/>
              <a:t>E</a:t>
            </a:r>
            <a:r>
              <a:rPr sz="8300" spc="30" dirty="0"/>
              <a:t>S</a:t>
            </a:r>
            <a:r>
              <a:rPr sz="8300" spc="210" dirty="0"/>
              <a:t>H  </a:t>
            </a:r>
            <a:r>
              <a:rPr sz="8300" spc="395" dirty="0"/>
              <a:t>KUMAR</a:t>
            </a:r>
            <a:endParaRPr sz="8300"/>
          </a:p>
        </p:txBody>
      </p:sp>
      <p:sp>
        <p:nvSpPr>
          <p:cNvPr id="6" name="object 6"/>
          <p:cNvSpPr txBox="1"/>
          <p:nvPr/>
        </p:nvSpPr>
        <p:spPr>
          <a:xfrm>
            <a:off x="10753687" y="5620640"/>
            <a:ext cx="6461125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100"/>
              </a:spcBef>
            </a:pPr>
            <a:r>
              <a:rPr sz="27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7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7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7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7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d  </a:t>
            </a:r>
            <a:r>
              <a:rPr sz="27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student 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in </a:t>
            </a:r>
            <a:r>
              <a:rPr sz="27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National </a:t>
            </a:r>
            <a:r>
              <a:rPr sz="27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Blind </a:t>
            </a:r>
            <a:r>
              <a:rPr sz="27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School, </a:t>
            </a:r>
            <a:r>
              <a:rPr sz="27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New </a:t>
            </a:r>
            <a:r>
              <a:rPr sz="27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7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7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rr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7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750" spc="-21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19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7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75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r  </a:t>
            </a:r>
            <a:r>
              <a:rPr sz="27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7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7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7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7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7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7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75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7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7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7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75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987612" y="7216075"/>
            <a:ext cx="300990" cy="2195195"/>
          </a:xfrm>
          <a:custGeom>
            <a:avLst/>
            <a:gdLst/>
            <a:ahLst/>
            <a:cxnLst/>
            <a:rect l="l" t="t" r="r" b="b"/>
            <a:pathLst>
              <a:path w="300990" h="2195195">
                <a:moveTo>
                  <a:pt x="300387" y="2194624"/>
                </a:moveTo>
                <a:lnTo>
                  <a:pt x="0" y="2194624"/>
                </a:lnTo>
                <a:lnTo>
                  <a:pt x="0" y="0"/>
                </a:lnTo>
                <a:lnTo>
                  <a:pt x="300387" y="0"/>
                </a:lnTo>
                <a:lnTo>
                  <a:pt x="300387" y="2194624"/>
                </a:lnTo>
                <a:close/>
              </a:path>
            </a:pathLst>
          </a:custGeom>
          <a:solidFill>
            <a:srgbClr val="F5A329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448800" cy="9464040"/>
          </a:xfrm>
          <a:custGeom>
            <a:avLst/>
            <a:gdLst/>
            <a:ahLst/>
            <a:cxnLst/>
            <a:rect l="l" t="t" r="r" b="b"/>
            <a:pathLst>
              <a:path w="9448800" h="9464040">
                <a:moveTo>
                  <a:pt x="0" y="9463792"/>
                </a:moveTo>
                <a:lnTo>
                  <a:pt x="0" y="0"/>
                </a:lnTo>
                <a:lnTo>
                  <a:pt x="9448650" y="0"/>
                </a:lnTo>
                <a:lnTo>
                  <a:pt x="0" y="9463792"/>
                </a:lnTo>
                <a:close/>
              </a:path>
            </a:pathLst>
          </a:custGeom>
          <a:solidFill>
            <a:srgbClr val="2523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7089442" y="1683901"/>
            <a:ext cx="339725" cy="8164195"/>
            <a:chOff x="17089442" y="1683901"/>
            <a:chExt cx="339725" cy="8164195"/>
          </a:xfrm>
        </p:grpSpPr>
        <p:sp>
          <p:nvSpPr>
            <p:cNvPr id="4" name="object 4"/>
            <p:cNvSpPr/>
            <p:nvPr/>
          </p:nvSpPr>
          <p:spPr>
            <a:xfrm>
              <a:off x="17257125" y="1688664"/>
              <a:ext cx="4445" cy="8154670"/>
            </a:xfrm>
            <a:custGeom>
              <a:avLst/>
              <a:gdLst/>
              <a:ahLst/>
              <a:cxnLst/>
              <a:rect l="l" t="t" r="r" b="b"/>
              <a:pathLst>
                <a:path w="4444" h="8154670">
                  <a:moveTo>
                    <a:pt x="4315" y="815418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089438" y="2001494"/>
              <a:ext cx="339725" cy="6284595"/>
            </a:xfrm>
            <a:custGeom>
              <a:avLst/>
              <a:gdLst/>
              <a:ahLst/>
              <a:cxnLst/>
              <a:rect l="l" t="t" r="r" b="b"/>
              <a:pathLst>
                <a:path w="339725" h="6284595">
                  <a:moveTo>
                    <a:pt x="339712" y="6114173"/>
                  </a:moveTo>
                  <a:lnTo>
                    <a:pt x="333641" y="6069012"/>
                  </a:lnTo>
                  <a:lnTo>
                    <a:pt x="316522" y="6028436"/>
                  </a:lnTo>
                  <a:lnTo>
                    <a:pt x="289966" y="5994057"/>
                  </a:lnTo>
                  <a:lnTo>
                    <a:pt x="255587" y="5967501"/>
                  </a:lnTo>
                  <a:lnTo>
                    <a:pt x="215011" y="5950382"/>
                  </a:lnTo>
                  <a:lnTo>
                    <a:pt x="169862" y="5944311"/>
                  </a:lnTo>
                  <a:lnTo>
                    <a:pt x="124701" y="5950382"/>
                  </a:lnTo>
                  <a:lnTo>
                    <a:pt x="84124" y="5967501"/>
                  </a:lnTo>
                  <a:lnTo>
                    <a:pt x="49745" y="5994057"/>
                  </a:lnTo>
                  <a:lnTo>
                    <a:pt x="23190" y="6028436"/>
                  </a:lnTo>
                  <a:lnTo>
                    <a:pt x="6070" y="6069012"/>
                  </a:lnTo>
                  <a:lnTo>
                    <a:pt x="0" y="6114161"/>
                  </a:lnTo>
                  <a:lnTo>
                    <a:pt x="6070" y="6159322"/>
                  </a:lnTo>
                  <a:lnTo>
                    <a:pt x="23190" y="6199898"/>
                  </a:lnTo>
                  <a:lnTo>
                    <a:pt x="49745" y="6234277"/>
                  </a:lnTo>
                  <a:lnTo>
                    <a:pt x="84124" y="6260833"/>
                  </a:lnTo>
                  <a:lnTo>
                    <a:pt x="124701" y="6277965"/>
                  </a:lnTo>
                  <a:lnTo>
                    <a:pt x="169862" y="6284023"/>
                  </a:lnTo>
                  <a:lnTo>
                    <a:pt x="215011" y="6277965"/>
                  </a:lnTo>
                  <a:lnTo>
                    <a:pt x="255587" y="6260833"/>
                  </a:lnTo>
                  <a:lnTo>
                    <a:pt x="289966" y="6234277"/>
                  </a:lnTo>
                  <a:lnTo>
                    <a:pt x="316522" y="6199898"/>
                  </a:lnTo>
                  <a:lnTo>
                    <a:pt x="333641" y="6159322"/>
                  </a:lnTo>
                  <a:lnTo>
                    <a:pt x="339712" y="6114173"/>
                  </a:lnTo>
                  <a:close/>
                </a:path>
                <a:path w="339725" h="6284595">
                  <a:moveTo>
                    <a:pt x="339712" y="3142018"/>
                  </a:moveTo>
                  <a:lnTo>
                    <a:pt x="333641" y="3096857"/>
                  </a:lnTo>
                  <a:lnTo>
                    <a:pt x="316522" y="3056280"/>
                  </a:lnTo>
                  <a:lnTo>
                    <a:pt x="289966" y="3021901"/>
                  </a:lnTo>
                  <a:lnTo>
                    <a:pt x="255587" y="2995345"/>
                  </a:lnTo>
                  <a:lnTo>
                    <a:pt x="215011" y="2978226"/>
                  </a:lnTo>
                  <a:lnTo>
                    <a:pt x="169862" y="2972155"/>
                  </a:lnTo>
                  <a:lnTo>
                    <a:pt x="124701" y="2978226"/>
                  </a:lnTo>
                  <a:lnTo>
                    <a:pt x="84124" y="2995345"/>
                  </a:lnTo>
                  <a:lnTo>
                    <a:pt x="49745" y="3021901"/>
                  </a:lnTo>
                  <a:lnTo>
                    <a:pt x="23190" y="3056280"/>
                  </a:lnTo>
                  <a:lnTo>
                    <a:pt x="6070" y="3096857"/>
                  </a:lnTo>
                  <a:lnTo>
                    <a:pt x="0" y="3142005"/>
                  </a:lnTo>
                  <a:lnTo>
                    <a:pt x="6070" y="3187166"/>
                  </a:lnTo>
                  <a:lnTo>
                    <a:pt x="23190" y="3227743"/>
                  </a:lnTo>
                  <a:lnTo>
                    <a:pt x="49745" y="3262122"/>
                  </a:lnTo>
                  <a:lnTo>
                    <a:pt x="84124" y="3288677"/>
                  </a:lnTo>
                  <a:lnTo>
                    <a:pt x="124701" y="3305797"/>
                  </a:lnTo>
                  <a:lnTo>
                    <a:pt x="169862" y="3311868"/>
                  </a:lnTo>
                  <a:lnTo>
                    <a:pt x="215011" y="3305797"/>
                  </a:lnTo>
                  <a:lnTo>
                    <a:pt x="255587" y="3288677"/>
                  </a:lnTo>
                  <a:lnTo>
                    <a:pt x="289966" y="3262122"/>
                  </a:lnTo>
                  <a:lnTo>
                    <a:pt x="316522" y="3227743"/>
                  </a:lnTo>
                  <a:lnTo>
                    <a:pt x="333641" y="3187166"/>
                  </a:lnTo>
                  <a:lnTo>
                    <a:pt x="339712" y="3142018"/>
                  </a:lnTo>
                  <a:close/>
                </a:path>
                <a:path w="339725" h="6284595">
                  <a:moveTo>
                    <a:pt x="339712" y="169849"/>
                  </a:moveTo>
                  <a:lnTo>
                    <a:pt x="333641" y="124701"/>
                  </a:lnTo>
                  <a:lnTo>
                    <a:pt x="316522" y="84124"/>
                  </a:lnTo>
                  <a:lnTo>
                    <a:pt x="289966" y="49745"/>
                  </a:lnTo>
                  <a:lnTo>
                    <a:pt x="255587" y="23190"/>
                  </a:lnTo>
                  <a:lnTo>
                    <a:pt x="215011" y="6057"/>
                  </a:lnTo>
                  <a:lnTo>
                    <a:pt x="169862" y="0"/>
                  </a:lnTo>
                  <a:lnTo>
                    <a:pt x="124701" y="6057"/>
                  </a:lnTo>
                  <a:lnTo>
                    <a:pt x="84124" y="23190"/>
                  </a:lnTo>
                  <a:lnTo>
                    <a:pt x="49745" y="49745"/>
                  </a:lnTo>
                  <a:lnTo>
                    <a:pt x="23190" y="84124"/>
                  </a:lnTo>
                  <a:lnTo>
                    <a:pt x="6070" y="124701"/>
                  </a:lnTo>
                  <a:lnTo>
                    <a:pt x="0" y="169849"/>
                  </a:lnTo>
                  <a:lnTo>
                    <a:pt x="6070" y="215011"/>
                  </a:lnTo>
                  <a:lnTo>
                    <a:pt x="23190" y="255587"/>
                  </a:lnTo>
                  <a:lnTo>
                    <a:pt x="49745" y="289966"/>
                  </a:lnTo>
                  <a:lnTo>
                    <a:pt x="84124" y="316522"/>
                  </a:lnTo>
                  <a:lnTo>
                    <a:pt x="124701" y="333641"/>
                  </a:lnTo>
                  <a:lnTo>
                    <a:pt x="169862" y="339712"/>
                  </a:lnTo>
                  <a:lnTo>
                    <a:pt x="215011" y="333641"/>
                  </a:lnTo>
                  <a:lnTo>
                    <a:pt x="255587" y="316522"/>
                  </a:lnTo>
                  <a:lnTo>
                    <a:pt x="289966" y="289966"/>
                  </a:lnTo>
                  <a:lnTo>
                    <a:pt x="316522" y="255587"/>
                  </a:lnTo>
                  <a:lnTo>
                    <a:pt x="333641" y="215011"/>
                  </a:lnTo>
                  <a:lnTo>
                    <a:pt x="339712" y="169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5936293"/>
            <a:ext cx="2459990" cy="2466975"/>
          </a:xfrm>
          <a:custGeom>
            <a:avLst/>
            <a:gdLst/>
            <a:ahLst/>
            <a:cxnLst/>
            <a:rect l="l" t="t" r="r" b="b"/>
            <a:pathLst>
              <a:path w="2459990" h="2466975">
                <a:moveTo>
                  <a:pt x="0" y="2453238"/>
                </a:moveTo>
                <a:lnTo>
                  <a:pt x="2453238" y="0"/>
                </a:lnTo>
                <a:lnTo>
                  <a:pt x="2459973" y="6735"/>
                </a:lnTo>
                <a:lnTo>
                  <a:pt x="0" y="2466709"/>
                </a:lnTo>
                <a:lnTo>
                  <a:pt x="0" y="2453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0515" y="0"/>
            <a:ext cx="2197484" cy="16859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80397"/>
            <a:ext cx="4027804" cy="14662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730"/>
              </a:spcBef>
            </a:pPr>
            <a:r>
              <a:rPr sz="4950" spc="270" dirty="0">
                <a:solidFill>
                  <a:srgbClr val="F5A329"/>
                </a:solidFill>
              </a:rPr>
              <a:t>PROBLEM </a:t>
            </a:r>
            <a:r>
              <a:rPr sz="4950" spc="275" dirty="0">
                <a:solidFill>
                  <a:srgbClr val="F5A329"/>
                </a:solidFill>
              </a:rPr>
              <a:t> </a:t>
            </a:r>
            <a:r>
              <a:rPr sz="4950" spc="20" dirty="0">
                <a:solidFill>
                  <a:srgbClr val="F5A329"/>
                </a:solidFill>
              </a:rPr>
              <a:t>S</a:t>
            </a:r>
            <a:r>
              <a:rPr sz="4950" spc="25" dirty="0">
                <a:solidFill>
                  <a:srgbClr val="F5A329"/>
                </a:solidFill>
              </a:rPr>
              <a:t>T</a:t>
            </a:r>
            <a:r>
              <a:rPr sz="4950" spc="400" dirty="0">
                <a:solidFill>
                  <a:srgbClr val="F5A329"/>
                </a:solidFill>
              </a:rPr>
              <a:t>A</a:t>
            </a:r>
            <a:r>
              <a:rPr sz="4950" spc="25" dirty="0">
                <a:solidFill>
                  <a:srgbClr val="F5A329"/>
                </a:solidFill>
              </a:rPr>
              <a:t>T</a:t>
            </a:r>
            <a:r>
              <a:rPr sz="4950" spc="270" dirty="0">
                <a:solidFill>
                  <a:srgbClr val="F5A329"/>
                </a:solidFill>
              </a:rPr>
              <a:t>E</a:t>
            </a:r>
            <a:r>
              <a:rPr sz="4950" spc="300" dirty="0">
                <a:solidFill>
                  <a:srgbClr val="F5A329"/>
                </a:solidFill>
              </a:rPr>
              <a:t>M</a:t>
            </a:r>
            <a:r>
              <a:rPr sz="4950" spc="270" dirty="0">
                <a:solidFill>
                  <a:srgbClr val="F5A329"/>
                </a:solidFill>
              </a:rPr>
              <a:t>E</a:t>
            </a:r>
            <a:r>
              <a:rPr sz="4950" spc="180" dirty="0">
                <a:solidFill>
                  <a:srgbClr val="F5A329"/>
                </a:solidFill>
              </a:rPr>
              <a:t>N</a:t>
            </a:r>
            <a:r>
              <a:rPr sz="4950" spc="30" dirty="0">
                <a:solidFill>
                  <a:srgbClr val="F5A329"/>
                </a:solidFill>
              </a:rPr>
              <a:t>T</a:t>
            </a:r>
            <a:endParaRPr sz="4950"/>
          </a:p>
        </p:txBody>
      </p:sp>
      <p:sp>
        <p:nvSpPr>
          <p:cNvPr id="9" name="object 9"/>
          <p:cNvSpPr txBox="1"/>
          <p:nvPr/>
        </p:nvSpPr>
        <p:spPr>
          <a:xfrm>
            <a:off x="9436052" y="1959195"/>
            <a:ext cx="6337935" cy="1615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b="1" spc="100" dirty="0">
                <a:solidFill>
                  <a:srgbClr val="252324"/>
                </a:solidFill>
                <a:latin typeface="Tahoma"/>
                <a:cs typeface="Tahoma"/>
              </a:rPr>
              <a:t>Scarce</a:t>
            </a:r>
            <a:r>
              <a:rPr sz="3100" b="1" spc="-4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110" dirty="0">
                <a:solidFill>
                  <a:srgbClr val="252324"/>
                </a:solidFill>
                <a:latin typeface="Tahoma"/>
                <a:cs typeface="Tahoma"/>
              </a:rPr>
              <a:t>Educational</a:t>
            </a:r>
            <a:r>
              <a:rPr sz="3100" b="1" spc="-4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60" dirty="0">
                <a:solidFill>
                  <a:srgbClr val="252324"/>
                </a:solidFill>
                <a:latin typeface="Tahoma"/>
                <a:cs typeface="Tahoma"/>
              </a:rPr>
              <a:t>Materials</a:t>
            </a: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21400"/>
              </a:lnSpc>
              <a:spcBef>
                <a:spcPts val="1130"/>
              </a:spcBef>
            </a:pP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Millions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of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visually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impaired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students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face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252324"/>
                </a:solidFill>
                <a:latin typeface="Lucida Sans Unicode"/>
                <a:cs typeface="Lucida Sans Unicode"/>
              </a:rPr>
              <a:t>barriers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in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learning </a:t>
            </a:r>
            <a:r>
              <a:rPr sz="1750" spc="-53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252324"/>
                </a:solidFill>
                <a:latin typeface="Lucida Sans Unicode"/>
                <a:cs typeface="Lucida Sans Unicode"/>
              </a:rPr>
              <a:t>STEM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due </a:t>
            </a:r>
            <a:r>
              <a:rPr sz="17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to 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traditional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teaching </a:t>
            </a:r>
            <a:r>
              <a:rPr sz="17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methods reliant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on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visual 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t</a:t>
            </a:r>
            <a:r>
              <a:rPr sz="1750" spc="-30" dirty="0">
                <a:solidFill>
                  <a:srgbClr val="252324"/>
                </a:solidFill>
                <a:latin typeface="Lucida Sans Unicode"/>
                <a:cs typeface="Lucida Sans Unicode"/>
              </a:rPr>
              <a:t>oo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l</a:t>
            </a:r>
            <a:r>
              <a:rPr sz="1750" spc="-70" dirty="0">
                <a:solidFill>
                  <a:srgbClr val="252324"/>
                </a:solidFill>
                <a:latin typeface="Lucida Sans Unicode"/>
                <a:cs typeface="Lucida Sans Unicode"/>
              </a:rPr>
              <a:t>s</a:t>
            </a:r>
            <a:r>
              <a:rPr sz="1750" spc="-130" dirty="0">
                <a:solidFill>
                  <a:srgbClr val="252324"/>
                </a:solidFill>
                <a:latin typeface="Lucida Sans Unicode"/>
                <a:cs typeface="Lucida Sans Unicode"/>
              </a:rPr>
              <a:t>,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l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ea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v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i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n</a:t>
            </a:r>
            <a:r>
              <a:rPr sz="1750" spc="-140" dirty="0">
                <a:solidFill>
                  <a:srgbClr val="252324"/>
                </a:solidFill>
                <a:latin typeface="Lucida Sans Unicode"/>
                <a:cs typeface="Lucida Sans Unicode"/>
              </a:rPr>
              <a:t>g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t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h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20" dirty="0">
                <a:solidFill>
                  <a:srgbClr val="252324"/>
                </a:solidFill>
                <a:latin typeface="Lucida Sans Unicode"/>
                <a:cs typeface="Lucida Sans Unicode"/>
              </a:rPr>
              <a:t>m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un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d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5" dirty="0">
                <a:solidFill>
                  <a:srgbClr val="252324"/>
                </a:solidFill>
                <a:latin typeface="Lucida Sans Unicode"/>
                <a:cs typeface="Lucida Sans Unicode"/>
              </a:rPr>
              <a:t>r</a:t>
            </a:r>
            <a:r>
              <a:rPr sz="1750" spc="-70" dirty="0">
                <a:solidFill>
                  <a:srgbClr val="252324"/>
                </a:solidFill>
                <a:latin typeface="Lucida Sans Unicode"/>
                <a:cs typeface="Lucida Sans Unicode"/>
              </a:rPr>
              <a:t>s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5" dirty="0">
                <a:solidFill>
                  <a:srgbClr val="252324"/>
                </a:solidFill>
                <a:latin typeface="Lucida Sans Unicode"/>
                <a:cs typeface="Lucida Sans Unicode"/>
              </a:rPr>
              <a:t>r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v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d</a:t>
            </a:r>
            <a:r>
              <a:rPr sz="1750" spc="-95" dirty="0">
                <a:solidFill>
                  <a:srgbClr val="252324"/>
                </a:solidFill>
                <a:latin typeface="Lucida Sans Unicode"/>
                <a:cs typeface="Lucida Sans Unicode"/>
              </a:rPr>
              <a:t>.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36052" y="4493275"/>
            <a:ext cx="6136640" cy="1615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b="1" spc="95" dirty="0">
                <a:solidFill>
                  <a:srgbClr val="252324"/>
                </a:solidFill>
                <a:latin typeface="Tahoma"/>
                <a:cs typeface="Tahoma"/>
              </a:rPr>
              <a:t>Expensive</a:t>
            </a:r>
            <a:r>
              <a:rPr sz="3100" b="1" spc="-35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75" dirty="0">
                <a:solidFill>
                  <a:srgbClr val="252324"/>
                </a:solidFill>
                <a:latin typeface="Tahoma"/>
                <a:cs typeface="Tahoma"/>
              </a:rPr>
              <a:t>Assistive</a:t>
            </a:r>
            <a:r>
              <a:rPr sz="3100" b="1" spc="-3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75" dirty="0">
                <a:solidFill>
                  <a:srgbClr val="252324"/>
                </a:solidFill>
                <a:latin typeface="Tahoma"/>
                <a:cs typeface="Tahoma"/>
              </a:rPr>
              <a:t>Solutions</a:t>
            </a:r>
            <a:endParaRPr sz="3100">
              <a:latin typeface="Tahoma"/>
              <a:cs typeface="Tahoma"/>
            </a:endParaRPr>
          </a:p>
          <a:p>
            <a:pPr marL="12700" marR="372110">
              <a:lnSpc>
                <a:spcPct val="121400"/>
              </a:lnSpc>
              <a:spcBef>
                <a:spcPts val="1130"/>
              </a:spcBef>
            </a:pP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Existing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solutions 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are </a:t>
            </a:r>
            <a:r>
              <a:rPr sz="1750" spc="-30" dirty="0">
                <a:solidFill>
                  <a:srgbClr val="252324"/>
                </a:solidFill>
                <a:latin typeface="Lucida Sans Unicode"/>
                <a:cs typeface="Lucida Sans Unicode"/>
              </a:rPr>
              <a:t>either </a:t>
            </a:r>
            <a:r>
              <a:rPr sz="17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unavailable </a:t>
            </a:r>
            <a:r>
              <a:rPr sz="1750" spc="-20" dirty="0">
                <a:solidFill>
                  <a:srgbClr val="252324"/>
                </a:solidFill>
                <a:latin typeface="Lucida Sans Unicode"/>
                <a:cs typeface="Lucida Sans Unicode"/>
              </a:rPr>
              <a:t>or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prohibitively </a:t>
            </a:r>
            <a:r>
              <a:rPr sz="1750" spc="-54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70" dirty="0">
                <a:solidFill>
                  <a:srgbClr val="252324"/>
                </a:solidFill>
                <a:latin typeface="Lucida Sans Unicode"/>
                <a:cs typeface="Lucida Sans Unicode"/>
              </a:rPr>
              <a:t>x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p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n</a:t>
            </a:r>
            <a:r>
              <a:rPr sz="1750" spc="-70" dirty="0">
                <a:solidFill>
                  <a:srgbClr val="252324"/>
                </a:solidFill>
                <a:latin typeface="Lucida Sans Unicode"/>
                <a:cs typeface="Lucida Sans Unicode"/>
              </a:rPr>
              <a:t>s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i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v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30" dirty="0">
                <a:solidFill>
                  <a:srgbClr val="252324"/>
                </a:solidFill>
                <a:latin typeface="Lucida Sans Unicode"/>
                <a:cs typeface="Lucida Sans Unicode"/>
              </a:rPr>
              <a:t>,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m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a</a:t>
            </a:r>
            <a:r>
              <a:rPr sz="1750" spc="-114" dirty="0">
                <a:solidFill>
                  <a:srgbClr val="252324"/>
                </a:solidFill>
                <a:latin typeface="Lucida Sans Unicode"/>
                <a:cs typeface="Lucida Sans Unicode"/>
              </a:rPr>
              <a:t>k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i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n</a:t>
            </a:r>
            <a:r>
              <a:rPr sz="1750" spc="-140" dirty="0">
                <a:solidFill>
                  <a:srgbClr val="252324"/>
                </a:solidFill>
                <a:latin typeface="Lucida Sans Unicode"/>
                <a:cs typeface="Lucida Sans Unicode"/>
              </a:rPr>
              <a:t>g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t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h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20" dirty="0">
                <a:solidFill>
                  <a:srgbClr val="252324"/>
                </a:solidFill>
                <a:latin typeface="Lucida Sans Unicode"/>
                <a:cs typeface="Lucida Sans Unicode"/>
              </a:rPr>
              <a:t>m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i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n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a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cc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70" dirty="0">
                <a:solidFill>
                  <a:srgbClr val="252324"/>
                </a:solidFill>
                <a:latin typeface="Lucida Sans Unicode"/>
                <a:cs typeface="Lucida Sans Unicode"/>
              </a:rPr>
              <a:t>ss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i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b</a:t>
            </a:r>
            <a:r>
              <a:rPr sz="175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l</a:t>
            </a:r>
            <a:r>
              <a:rPr sz="1750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t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o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un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d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5" dirty="0">
                <a:solidFill>
                  <a:srgbClr val="252324"/>
                </a:solidFill>
                <a:latin typeface="Lucida Sans Unicode"/>
                <a:cs typeface="Lucida Sans Unicode"/>
              </a:rPr>
              <a:t>r</a:t>
            </a:r>
            <a:r>
              <a:rPr sz="1750" spc="-70" dirty="0">
                <a:solidFill>
                  <a:srgbClr val="252324"/>
                </a:solidFill>
                <a:latin typeface="Lucida Sans Unicode"/>
                <a:cs typeface="Lucida Sans Unicode"/>
              </a:rPr>
              <a:t>s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15" dirty="0">
                <a:solidFill>
                  <a:srgbClr val="252324"/>
                </a:solidFill>
                <a:latin typeface="Lucida Sans Unicode"/>
                <a:cs typeface="Lucida Sans Unicode"/>
              </a:rPr>
              <a:t>r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v</a:t>
            </a:r>
            <a:r>
              <a:rPr sz="1750" spc="-5" dirty="0">
                <a:solidFill>
                  <a:srgbClr val="252324"/>
                </a:solidFill>
                <a:latin typeface="Lucida Sans Unicode"/>
                <a:cs typeface="Lucida Sans Unicode"/>
              </a:rPr>
              <a:t>e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d 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communities,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especially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in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developing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nations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252324"/>
                </a:solidFill>
                <a:latin typeface="Lucida Sans Unicode"/>
                <a:cs typeface="Lucida Sans Unicode"/>
              </a:rPr>
              <a:t>like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India.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6052" y="7027710"/>
            <a:ext cx="6599555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8694">
              <a:lnSpc>
                <a:spcPct val="116900"/>
              </a:lnSpc>
              <a:spcBef>
                <a:spcPts val="95"/>
              </a:spcBef>
            </a:pPr>
            <a:r>
              <a:rPr sz="3100" b="1" spc="105" dirty="0">
                <a:solidFill>
                  <a:srgbClr val="252324"/>
                </a:solidFill>
                <a:latin typeface="Tahoma"/>
                <a:cs typeface="Tahoma"/>
              </a:rPr>
              <a:t>Complexity</a:t>
            </a:r>
            <a:r>
              <a:rPr sz="3100" b="1" spc="-35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70" dirty="0">
                <a:solidFill>
                  <a:srgbClr val="252324"/>
                </a:solidFill>
                <a:latin typeface="Tahoma"/>
                <a:cs typeface="Tahoma"/>
              </a:rPr>
              <a:t>of</a:t>
            </a:r>
            <a:r>
              <a:rPr sz="3100" b="1" spc="-35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60" dirty="0">
                <a:solidFill>
                  <a:srgbClr val="252324"/>
                </a:solidFill>
                <a:latin typeface="Tahoma"/>
                <a:cs typeface="Tahoma"/>
              </a:rPr>
              <a:t>Braille</a:t>
            </a:r>
            <a:r>
              <a:rPr sz="3100" b="1" spc="-35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105" dirty="0">
                <a:solidFill>
                  <a:srgbClr val="252324"/>
                </a:solidFill>
                <a:latin typeface="Tahoma"/>
                <a:cs typeface="Tahoma"/>
              </a:rPr>
              <a:t>STEM </a:t>
            </a:r>
            <a:r>
              <a:rPr sz="3100" b="1" spc="-894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3100" b="1" spc="140" dirty="0">
                <a:solidFill>
                  <a:srgbClr val="252324"/>
                </a:solidFill>
                <a:latin typeface="Tahoma"/>
                <a:cs typeface="Tahoma"/>
              </a:rPr>
              <a:t>Concepts</a:t>
            </a: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21400"/>
              </a:lnSpc>
              <a:spcBef>
                <a:spcPts val="1130"/>
              </a:spcBef>
            </a:pP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Learning </a:t>
            </a:r>
            <a:r>
              <a:rPr sz="1750" spc="-20" dirty="0">
                <a:solidFill>
                  <a:srgbClr val="252324"/>
                </a:solidFill>
                <a:latin typeface="Lucida Sans Unicode"/>
                <a:cs typeface="Lucida Sans Unicode"/>
              </a:rPr>
              <a:t>STEM </a:t>
            </a:r>
            <a:r>
              <a:rPr sz="1750" spc="-55" dirty="0">
                <a:solidFill>
                  <a:srgbClr val="252324"/>
                </a:solidFill>
                <a:latin typeface="Lucida Sans Unicode"/>
                <a:cs typeface="Lucida Sans Unicode"/>
              </a:rPr>
              <a:t>subjects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through 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braille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poses </a:t>
            </a:r>
            <a:r>
              <a:rPr sz="1750" spc="-60" dirty="0">
                <a:solidFill>
                  <a:srgbClr val="252324"/>
                </a:solidFill>
                <a:latin typeface="Lucida Sans Unicode"/>
                <a:cs typeface="Lucida Sans Unicode"/>
              </a:rPr>
              <a:t>significant </a:t>
            </a:r>
            <a:r>
              <a:rPr sz="1750" spc="-5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challenges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due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to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the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intricacy</a:t>
            </a:r>
            <a:r>
              <a:rPr sz="1750" spc="-9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of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translating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visual</a:t>
            </a:r>
            <a:r>
              <a:rPr sz="175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concepts</a:t>
            </a:r>
            <a:r>
              <a:rPr sz="1750" spc="-9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252324"/>
                </a:solidFill>
                <a:latin typeface="Lucida Sans Unicode"/>
                <a:cs typeface="Lucida Sans Unicode"/>
              </a:rPr>
              <a:t>like </a:t>
            </a:r>
            <a:r>
              <a:rPr sz="1750" spc="-54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252324"/>
                </a:solidFill>
                <a:latin typeface="Lucida Sans Unicode"/>
                <a:cs typeface="Lucida Sans Unicode"/>
              </a:rPr>
              <a:t>graphs,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equations,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and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geometry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into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tactile</a:t>
            </a:r>
            <a:r>
              <a:rPr sz="1750" spc="-10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formats.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5143500"/>
            </a:xfrm>
            <a:custGeom>
              <a:avLst/>
              <a:gdLst/>
              <a:ahLst/>
              <a:cxnLst/>
              <a:rect l="l" t="t" r="r" b="b"/>
              <a:pathLst>
                <a:path w="18288000" h="5143500">
                  <a:moveTo>
                    <a:pt x="0" y="0"/>
                  </a:moveTo>
                  <a:lnTo>
                    <a:pt x="18287999" y="0"/>
                  </a:lnTo>
                  <a:lnTo>
                    <a:pt x="18287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3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7575" y="4998948"/>
              <a:ext cx="6092825" cy="5288280"/>
            </a:xfrm>
            <a:custGeom>
              <a:avLst/>
              <a:gdLst/>
              <a:ahLst/>
              <a:cxnLst/>
              <a:rect l="l" t="t" r="r" b="b"/>
              <a:pathLst>
                <a:path w="6092825" h="5288280">
                  <a:moveTo>
                    <a:pt x="9525" y="0"/>
                  </a:moveTo>
                  <a:lnTo>
                    <a:pt x="0" y="0"/>
                  </a:lnTo>
                  <a:lnTo>
                    <a:pt x="0" y="5288051"/>
                  </a:lnTo>
                  <a:lnTo>
                    <a:pt x="9525" y="5288051"/>
                  </a:lnTo>
                  <a:lnTo>
                    <a:pt x="9525" y="0"/>
                  </a:lnTo>
                  <a:close/>
                </a:path>
                <a:path w="6092825" h="5288280">
                  <a:moveTo>
                    <a:pt x="6092825" y="0"/>
                  </a:moveTo>
                  <a:lnTo>
                    <a:pt x="6083300" y="0"/>
                  </a:lnTo>
                  <a:lnTo>
                    <a:pt x="6083300" y="5288051"/>
                  </a:lnTo>
                  <a:lnTo>
                    <a:pt x="6092825" y="5288051"/>
                  </a:lnTo>
                  <a:lnTo>
                    <a:pt x="6092825" y="0"/>
                  </a:lnTo>
                  <a:close/>
                </a:path>
              </a:pathLst>
            </a:custGeom>
            <a:solidFill>
              <a:srgbClr val="2523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8103" y="6825356"/>
            <a:ext cx="4251325" cy="191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8810" marR="631825" algn="ctr">
              <a:lnSpc>
                <a:spcPct val="116500"/>
              </a:lnSpc>
              <a:spcBef>
                <a:spcPts val="95"/>
              </a:spcBef>
            </a:pPr>
            <a:r>
              <a:rPr sz="2200" b="1" spc="85" dirty="0">
                <a:solidFill>
                  <a:srgbClr val="252324"/>
                </a:solidFill>
                <a:latin typeface="Tahoma"/>
                <a:cs typeface="Tahoma"/>
              </a:rPr>
              <a:t>Accessible</a:t>
            </a:r>
            <a:r>
              <a:rPr sz="2200" b="1" spc="-55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2200" b="1" spc="50" dirty="0">
                <a:solidFill>
                  <a:srgbClr val="252324"/>
                </a:solidFill>
                <a:latin typeface="Tahoma"/>
                <a:cs typeface="Tahoma"/>
              </a:rPr>
              <a:t>Software </a:t>
            </a:r>
            <a:r>
              <a:rPr sz="2200" b="1" spc="-63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2200" b="1" spc="50" dirty="0">
                <a:solidFill>
                  <a:srgbClr val="252324"/>
                </a:solidFill>
                <a:latin typeface="Tahoma"/>
                <a:cs typeface="Tahoma"/>
              </a:rPr>
              <a:t>Suite</a:t>
            </a:r>
            <a:endParaRPr sz="2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930"/>
              </a:spcBef>
            </a:pPr>
            <a:r>
              <a:rPr sz="1200" spc="65" dirty="0">
                <a:solidFill>
                  <a:srgbClr val="252324"/>
                </a:solidFill>
                <a:latin typeface="Trebuchet MS"/>
                <a:cs typeface="Trebuchet MS"/>
              </a:rPr>
              <a:t>An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5" dirty="0">
                <a:solidFill>
                  <a:srgbClr val="252324"/>
                </a:solidFill>
                <a:latin typeface="Trebuchet MS"/>
                <a:cs typeface="Trebuchet MS"/>
              </a:rPr>
              <a:t>innovative</a:t>
            </a:r>
            <a:r>
              <a:rPr sz="1200" spc="-3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software</a:t>
            </a:r>
            <a:r>
              <a:rPr sz="1200" spc="-3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platform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252324"/>
                </a:solidFill>
                <a:latin typeface="Trebuchet MS"/>
                <a:cs typeface="Trebuchet MS"/>
              </a:rPr>
              <a:t>designed</a:t>
            </a:r>
            <a:r>
              <a:rPr sz="1200" spc="-3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to</a:t>
            </a:r>
            <a:r>
              <a:rPr sz="1200" spc="-3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translate</a:t>
            </a:r>
            <a:endParaRPr sz="1200">
              <a:latin typeface="Trebuchet MS"/>
              <a:cs typeface="Trebuchet MS"/>
            </a:endParaRPr>
          </a:p>
          <a:p>
            <a:pPr marL="12065" marR="5080" algn="ctr">
              <a:lnSpc>
                <a:spcPct val="125000"/>
              </a:lnSpc>
            </a:pP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complex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252324"/>
                </a:solidFill>
                <a:latin typeface="Trebuchet MS"/>
                <a:cs typeface="Trebuchet MS"/>
              </a:rPr>
              <a:t>STEM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concepts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5" dirty="0">
                <a:solidFill>
                  <a:srgbClr val="252324"/>
                </a:solidFill>
                <a:latin typeface="Trebuchet MS"/>
                <a:cs typeface="Trebuchet MS"/>
              </a:rPr>
              <a:t>into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252324"/>
                </a:solidFill>
                <a:latin typeface="Trebuchet MS"/>
                <a:cs typeface="Trebuchet MS"/>
              </a:rPr>
              <a:t>interactive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and</a:t>
            </a:r>
            <a:r>
              <a:rPr sz="1200" spc="-3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252324"/>
                </a:solidFill>
                <a:latin typeface="Trebuchet MS"/>
                <a:cs typeface="Trebuchet MS"/>
              </a:rPr>
              <a:t>tactile</a:t>
            </a:r>
            <a:r>
              <a:rPr sz="1200" spc="-4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formats, </a:t>
            </a:r>
            <a:r>
              <a:rPr sz="1200" spc="-34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enabling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visually </a:t>
            </a: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impaired </a:t>
            </a:r>
            <a:r>
              <a:rPr sz="1200" spc="35" dirty="0">
                <a:solidFill>
                  <a:srgbClr val="252324"/>
                </a:solidFill>
                <a:latin typeface="Trebuchet MS"/>
                <a:cs typeface="Trebuchet MS"/>
              </a:rPr>
              <a:t>students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to </a:t>
            </a:r>
            <a:r>
              <a:rPr sz="1200" spc="50" dirty="0">
                <a:solidFill>
                  <a:srgbClr val="252324"/>
                </a:solidFill>
                <a:latin typeface="Trebuchet MS"/>
                <a:cs typeface="Trebuchet MS"/>
              </a:rPr>
              <a:t>grasp </a:t>
            </a:r>
            <a:r>
              <a:rPr sz="1200" spc="15" dirty="0">
                <a:solidFill>
                  <a:srgbClr val="252324"/>
                </a:solidFill>
                <a:latin typeface="Trebuchet MS"/>
                <a:cs typeface="Trebuchet MS"/>
              </a:rPr>
              <a:t>subjects </a:t>
            </a:r>
            <a:r>
              <a:rPr sz="1200" spc="-15" dirty="0">
                <a:solidFill>
                  <a:srgbClr val="252324"/>
                </a:solidFill>
                <a:latin typeface="Trebuchet MS"/>
                <a:cs typeface="Trebuchet MS"/>
              </a:rPr>
              <a:t>like </a:t>
            </a:r>
            <a:r>
              <a:rPr sz="1200" spc="-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252324"/>
                </a:solidFill>
                <a:latin typeface="Trebuchet MS"/>
                <a:cs typeface="Trebuchet MS"/>
              </a:rPr>
              <a:t>math</a:t>
            </a:r>
            <a:r>
              <a:rPr sz="1200" spc="-5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and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geometry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252324"/>
                </a:solidFill>
                <a:latin typeface="Trebuchet MS"/>
                <a:cs typeface="Trebuchet MS"/>
              </a:rPr>
              <a:t>effectively.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0493" y="6825356"/>
            <a:ext cx="4251325" cy="191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9120" marR="571500" algn="ctr">
              <a:lnSpc>
                <a:spcPct val="116500"/>
              </a:lnSpc>
              <a:spcBef>
                <a:spcPts val="95"/>
              </a:spcBef>
            </a:pPr>
            <a:r>
              <a:rPr sz="2200" b="1" spc="70" dirty="0">
                <a:solidFill>
                  <a:srgbClr val="252324"/>
                </a:solidFill>
                <a:latin typeface="Tahoma"/>
                <a:cs typeface="Tahoma"/>
              </a:rPr>
              <a:t>Affordable</a:t>
            </a:r>
            <a:r>
              <a:rPr sz="2200" b="1" spc="-55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2200" b="1" spc="65" dirty="0">
                <a:solidFill>
                  <a:srgbClr val="252324"/>
                </a:solidFill>
                <a:latin typeface="Tahoma"/>
                <a:cs typeface="Tahoma"/>
              </a:rPr>
              <a:t>Hardware </a:t>
            </a:r>
            <a:r>
              <a:rPr sz="2200" b="1" spc="-63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2200" b="1" spc="35" dirty="0">
                <a:solidFill>
                  <a:srgbClr val="252324"/>
                </a:solidFill>
                <a:latin typeface="Tahoma"/>
                <a:cs typeface="Tahoma"/>
              </a:rPr>
              <a:t>Integration</a:t>
            </a:r>
            <a:endParaRPr sz="2200">
              <a:latin typeface="Tahoma"/>
              <a:cs typeface="Tahoma"/>
            </a:endParaRPr>
          </a:p>
          <a:p>
            <a:pPr marL="12700" marR="5080" indent="92075" algn="just">
              <a:lnSpc>
                <a:spcPct val="125000"/>
              </a:lnSpc>
              <a:spcBef>
                <a:spcPts val="1570"/>
              </a:spcBef>
            </a:pPr>
            <a:r>
              <a:rPr sz="1200" spc="50" dirty="0">
                <a:solidFill>
                  <a:srgbClr val="252324"/>
                </a:solidFill>
                <a:latin typeface="Trebuchet MS"/>
                <a:cs typeface="Trebuchet MS"/>
              </a:rPr>
              <a:t>A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portable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and </a:t>
            </a:r>
            <a:r>
              <a:rPr sz="1200" spc="-5" dirty="0">
                <a:solidFill>
                  <a:srgbClr val="252324"/>
                </a:solidFill>
                <a:latin typeface="Trebuchet MS"/>
                <a:cs typeface="Trebuchet MS"/>
              </a:rPr>
              <a:t>cost-efficient </a:t>
            </a:r>
            <a:r>
              <a:rPr sz="1200" spc="40" dirty="0">
                <a:solidFill>
                  <a:srgbClr val="252324"/>
                </a:solidFill>
                <a:latin typeface="Trebuchet MS"/>
                <a:cs typeface="Trebuchet MS"/>
              </a:rPr>
              <a:t>hardware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tool </a:t>
            </a:r>
            <a:r>
              <a:rPr sz="1200" dirty="0">
                <a:solidFill>
                  <a:srgbClr val="252324"/>
                </a:solidFill>
                <a:latin typeface="Trebuchet MS"/>
                <a:cs typeface="Trebuchet MS"/>
              </a:rPr>
              <a:t>that </a:t>
            </a:r>
            <a:r>
              <a:rPr sz="1200" spc="55" dirty="0">
                <a:solidFill>
                  <a:srgbClr val="252324"/>
                </a:solidFill>
                <a:latin typeface="Trebuchet MS"/>
                <a:cs typeface="Trebuchet MS"/>
              </a:rPr>
              <a:t>supports </a:t>
            </a:r>
            <a:r>
              <a:rPr sz="1200" spc="-3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5" dirty="0">
                <a:solidFill>
                  <a:srgbClr val="252324"/>
                </a:solidFill>
                <a:latin typeface="Trebuchet MS"/>
                <a:cs typeface="Trebuchet MS"/>
              </a:rPr>
              <a:t>braille-based </a:t>
            </a:r>
            <a:r>
              <a:rPr sz="1200" spc="5" dirty="0">
                <a:solidFill>
                  <a:srgbClr val="252324"/>
                </a:solidFill>
                <a:latin typeface="Trebuchet MS"/>
                <a:cs typeface="Trebuchet MS"/>
              </a:rPr>
              <a:t>learning, </a:t>
            </a:r>
            <a:r>
              <a:rPr sz="1200" spc="35" dirty="0">
                <a:solidFill>
                  <a:srgbClr val="252324"/>
                </a:solidFill>
                <a:latin typeface="Trebuchet MS"/>
                <a:cs typeface="Trebuchet MS"/>
              </a:rPr>
              <a:t>complemented by </a:t>
            </a:r>
            <a:r>
              <a:rPr sz="1200" spc="-25" dirty="0">
                <a:solidFill>
                  <a:srgbClr val="252324"/>
                </a:solidFill>
                <a:latin typeface="Trebuchet MS"/>
                <a:cs typeface="Trebuchet MS"/>
              </a:rPr>
              <a:t>tactile </a:t>
            </a:r>
            <a:r>
              <a:rPr sz="1200" spc="45" dirty="0">
                <a:solidFill>
                  <a:srgbClr val="252324"/>
                </a:solidFill>
                <a:latin typeface="Trebuchet MS"/>
                <a:cs typeface="Trebuchet MS"/>
              </a:rPr>
              <a:t>diagrams </a:t>
            </a:r>
            <a:r>
              <a:rPr sz="1200" spc="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and</a:t>
            </a:r>
            <a:r>
              <a:rPr sz="1200" spc="-5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haptic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feedback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to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252324"/>
                </a:solidFill>
                <a:latin typeface="Trebuchet MS"/>
                <a:cs typeface="Trebuchet MS"/>
              </a:rPr>
              <a:t>make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252324"/>
                </a:solidFill>
                <a:latin typeface="Trebuchet MS"/>
                <a:cs typeface="Trebuchet MS"/>
              </a:rPr>
              <a:t>STEM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education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252324"/>
                </a:solidFill>
                <a:latin typeface="Trebuchet MS"/>
                <a:cs typeface="Trebuchet MS"/>
              </a:rPr>
              <a:t>engaging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and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59"/>
              </a:spcBef>
            </a:pP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comprehensible.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62605" y="6825356"/>
            <a:ext cx="4046220" cy="191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185" marR="329565" algn="ctr">
              <a:lnSpc>
                <a:spcPct val="116500"/>
              </a:lnSpc>
              <a:spcBef>
                <a:spcPts val="95"/>
              </a:spcBef>
            </a:pPr>
            <a:r>
              <a:rPr sz="2200" b="1" spc="20" dirty="0">
                <a:solidFill>
                  <a:srgbClr val="252324"/>
                </a:solidFill>
                <a:latin typeface="Tahoma"/>
                <a:cs typeface="Tahoma"/>
              </a:rPr>
              <a:t>AI-Driven</a:t>
            </a:r>
            <a:r>
              <a:rPr sz="2200" b="1" spc="-11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2200" b="1" spc="70" dirty="0">
                <a:solidFill>
                  <a:srgbClr val="252324"/>
                </a:solidFill>
                <a:latin typeface="Tahoma"/>
                <a:cs typeface="Tahoma"/>
              </a:rPr>
              <a:t>Personalized </a:t>
            </a:r>
            <a:r>
              <a:rPr sz="2200" b="1" spc="-630" dirty="0">
                <a:solidFill>
                  <a:srgbClr val="252324"/>
                </a:solidFill>
                <a:latin typeface="Tahoma"/>
                <a:cs typeface="Tahoma"/>
              </a:rPr>
              <a:t> </a:t>
            </a:r>
            <a:r>
              <a:rPr sz="2200" b="1" spc="114" dirty="0">
                <a:solidFill>
                  <a:srgbClr val="252324"/>
                </a:solidFill>
                <a:latin typeface="Tahoma"/>
                <a:cs typeface="Tahoma"/>
              </a:rPr>
              <a:t>Feedback</a:t>
            </a:r>
            <a:endParaRPr sz="2200">
              <a:latin typeface="Tahoma"/>
              <a:cs typeface="Tahoma"/>
            </a:endParaRPr>
          </a:p>
          <a:p>
            <a:pPr marL="12700" marR="5080" algn="ctr">
              <a:lnSpc>
                <a:spcPct val="125000"/>
              </a:lnSpc>
              <a:spcBef>
                <a:spcPts val="1570"/>
              </a:spcBef>
            </a:pPr>
            <a:r>
              <a:rPr sz="1200" spc="65" dirty="0">
                <a:solidFill>
                  <a:srgbClr val="252324"/>
                </a:solidFill>
                <a:latin typeface="Trebuchet MS"/>
                <a:cs typeface="Trebuchet MS"/>
              </a:rPr>
              <a:t>An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AI-powered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252324"/>
                </a:solidFill>
                <a:latin typeface="Trebuchet MS"/>
                <a:cs typeface="Trebuchet MS"/>
              </a:rPr>
              <a:t>module</a:t>
            </a:r>
            <a:r>
              <a:rPr sz="1200" spc="-4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providing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324"/>
                </a:solidFill>
                <a:latin typeface="Trebuchet MS"/>
                <a:cs typeface="Trebuchet MS"/>
              </a:rPr>
              <a:t>real-time</a:t>
            </a:r>
            <a:r>
              <a:rPr sz="1200" spc="-4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feedback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and </a:t>
            </a:r>
            <a:r>
              <a:rPr sz="1200" spc="-3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5" dirty="0">
                <a:solidFill>
                  <a:srgbClr val="252324"/>
                </a:solidFill>
                <a:latin typeface="Trebuchet MS"/>
                <a:cs typeface="Trebuchet MS"/>
              </a:rPr>
              <a:t>adaptive </a:t>
            </a: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learning </a:t>
            </a:r>
            <a:r>
              <a:rPr sz="1200" spc="40" dirty="0">
                <a:solidFill>
                  <a:srgbClr val="252324"/>
                </a:solidFill>
                <a:latin typeface="Trebuchet MS"/>
                <a:cs typeface="Trebuchet MS"/>
              </a:rPr>
              <a:t>paths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tailored to </a:t>
            </a:r>
            <a:r>
              <a:rPr sz="1200" spc="15" dirty="0">
                <a:solidFill>
                  <a:srgbClr val="252324"/>
                </a:solidFill>
                <a:latin typeface="Trebuchet MS"/>
                <a:cs typeface="Trebuchet MS"/>
              </a:rPr>
              <a:t>individual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needs, </a:t>
            </a: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252324"/>
                </a:solidFill>
                <a:latin typeface="Trebuchet MS"/>
                <a:cs typeface="Trebuchet MS"/>
              </a:rPr>
              <a:t>addressing </a:t>
            </a: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learning </a:t>
            </a:r>
            <a:r>
              <a:rPr sz="1200" spc="60" dirty="0">
                <a:solidFill>
                  <a:srgbClr val="252324"/>
                </a:solidFill>
                <a:latin typeface="Trebuchet MS"/>
                <a:cs typeface="Trebuchet MS"/>
              </a:rPr>
              <a:t>gaps and </a:t>
            </a:r>
            <a:r>
              <a:rPr sz="1200" spc="40" dirty="0">
                <a:solidFill>
                  <a:srgbClr val="252324"/>
                </a:solidFill>
                <a:latin typeface="Trebuchet MS"/>
                <a:cs typeface="Trebuchet MS"/>
              </a:rPr>
              <a:t>enhancing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conceptual </a:t>
            </a:r>
            <a:r>
              <a:rPr sz="1200" spc="2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252324"/>
                </a:solidFill>
                <a:latin typeface="Trebuchet MS"/>
                <a:cs typeface="Trebuchet MS"/>
              </a:rPr>
              <a:t>understanding</a:t>
            </a:r>
            <a:r>
              <a:rPr sz="1200" spc="-5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252324"/>
                </a:solidFill>
                <a:latin typeface="Trebuchet MS"/>
                <a:cs typeface="Trebuchet MS"/>
              </a:rPr>
              <a:t>for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visually</a:t>
            </a:r>
            <a:r>
              <a:rPr sz="1200" spc="-5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252324"/>
                </a:solidFill>
                <a:latin typeface="Trebuchet MS"/>
                <a:cs typeface="Trebuchet MS"/>
              </a:rPr>
              <a:t>impaired</a:t>
            </a:r>
            <a:r>
              <a:rPr sz="1200" spc="-5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52324"/>
                </a:solidFill>
                <a:latin typeface="Trebuchet MS"/>
                <a:cs typeface="Trebuchet MS"/>
              </a:rPr>
              <a:t>learners.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46886" y="1215622"/>
            <a:ext cx="111944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240" dirty="0">
                <a:solidFill>
                  <a:srgbClr val="F5A329"/>
                </a:solidFill>
              </a:rPr>
              <a:t>OUR</a:t>
            </a:r>
            <a:r>
              <a:rPr sz="5600" spc="-65" dirty="0">
                <a:solidFill>
                  <a:srgbClr val="F5A329"/>
                </a:solidFill>
              </a:rPr>
              <a:t> </a:t>
            </a:r>
            <a:r>
              <a:rPr sz="5600" spc="60" dirty="0">
                <a:solidFill>
                  <a:srgbClr val="F5A329"/>
                </a:solidFill>
              </a:rPr>
              <a:t>INNOVATIVE</a:t>
            </a:r>
            <a:r>
              <a:rPr sz="5600" spc="-65" dirty="0">
                <a:solidFill>
                  <a:srgbClr val="F5A329"/>
                </a:solidFill>
              </a:rPr>
              <a:t> </a:t>
            </a:r>
            <a:r>
              <a:rPr sz="5600" spc="70" dirty="0">
                <a:solidFill>
                  <a:srgbClr val="F5A329"/>
                </a:solidFill>
              </a:rPr>
              <a:t>SOLUTIONS</a:t>
            </a:r>
            <a:endParaRPr sz="5600"/>
          </a:p>
        </p:txBody>
      </p:sp>
      <p:sp>
        <p:nvSpPr>
          <p:cNvPr id="9" name="object 9"/>
          <p:cNvSpPr/>
          <p:nvPr/>
        </p:nvSpPr>
        <p:spPr>
          <a:xfrm>
            <a:off x="2463865" y="4432934"/>
            <a:ext cx="1421130" cy="1421130"/>
          </a:xfrm>
          <a:custGeom>
            <a:avLst/>
            <a:gdLst/>
            <a:ahLst/>
            <a:cxnLst/>
            <a:rect l="l" t="t" r="r" b="b"/>
            <a:pathLst>
              <a:path w="1421129" h="1421129">
                <a:moveTo>
                  <a:pt x="1421129" y="1421129"/>
                </a:moveTo>
                <a:lnTo>
                  <a:pt x="0" y="1421129"/>
                </a:lnTo>
                <a:lnTo>
                  <a:pt x="0" y="0"/>
                </a:lnTo>
                <a:lnTo>
                  <a:pt x="1421129" y="0"/>
                </a:lnTo>
                <a:lnTo>
                  <a:pt x="1421129" y="1421129"/>
                </a:lnTo>
                <a:close/>
              </a:path>
            </a:pathLst>
          </a:custGeom>
          <a:solidFill>
            <a:srgbClr val="F5A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07918" y="4853051"/>
            <a:ext cx="5327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1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sz="3500" b="1" spc="-105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35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33434" y="4432934"/>
            <a:ext cx="1421130" cy="1421130"/>
          </a:xfrm>
          <a:custGeom>
            <a:avLst/>
            <a:gdLst/>
            <a:ahLst/>
            <a:cxnLst/>
            <a:rect l="l" t="t" r="r" b="b"/>
            <a:pathLst>
              <a:path w="1421129" h="1421129">
                <a:moveTo>
                  <a:pt x="1421129" y="1421129"/>
                </a:moveTo>
                <a:lnTo>
                  <a:pt x="0" y="1421129"/>
                </a:lnTo>
                <a:lnTo>
                  <a:pt x="0" y="0"/>
                </a:lnTo>
                <a:lnTo>
                  <a:pt x="1421129" y="0"/>
                </a:lnTo>
                <a:lnTo>
                  <a:pt x="1421129" y="1421129"/>
                </a:lnTo>
                <a:close/>
              </a:path>
            </a:pathLst>
          </a:custGeom>
          <a:solidFill>
            <a:srgbClr val="F5A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877488" y="4853051"/>
            <a:ext cx="5327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1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sz="3500" b="1" spc="-105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35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385824" y="4432934"/>
            <a:ext cx="1421130" cy="1421130"/>
          </a:xfrm>
          <a:custGeom>
            <a:avLst/>
            <a:gdLst/>
            <a:ahLst/>
            <a:cxnLst/>
            <a:rect l="l" t="t" r="r" b="b"/>
            <a:pathLst>
              <a:path w="1421130" h="1421129">
                <a:moveTo>
                  <a:pt x="1421129" y="1421129"/>
                </a:moveTo>
                <a:lnTo>
                  <a:pt x="0" y="1421129"/>
                </a:lnTo>
                <a:lnTo>
                  <a:pt x="0" y="0"/>
                </a:lnTo>
                <a:lnTo>
                  <a:pt x="1421129" y="0"/>
                </a:lnTo>
                <a:lnTo>
                  <a:pt x="1421129" y="1421129"/>
                </a:lnTo>
                <a:close/>
              </a:path>
            </a:pathLst>
          </a:custGeom>
          <a:solidFill>
            <a:srgbClr val="F5A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829877" y="4853051"/>
            <a:ext cx="5327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1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sz="3500" b="1" spc="-105" dirty="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3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0797" y="665296"/>
            <a:ext cx="8187202" cy="46255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514" y="4836354"/>
            <a:ext cx="6686549" cy="4876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14860" y="4025115"/>
            <a:ext cx="8343899" cy="51149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968375"/>
            <a:ext cx="505079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0" spc="330" dirty="0">
                <a:solidFill>
                  <a:srgbClr val="000000"/>
                </a:solidFill>
              </a:rPr>
              <a:t>OUR </a:t>
            </a:r>
            <a:r>
              <a:rPr sz="7500" spc="335" dirty="0">
                <a:solidFill>
                  <a:srgbClr val="000000"/>
                </a:solidFill>
              </a:rPr>
              <a:t> </a:t>
            </a:r>
            <a:r>
              <a:rPr sz="7500" spc="560" dirty="0">
                <a:solidFill>
                  <a:srgbClr val="000000"/>
                </a:solidFill>
              </a:rPr>
              <a:t>P</a:t>
            </a:r>
            <a:r>
              <a:rPr sz="7500" spc="65" dirty="0">
                <a:solidFill>
                  <a:srgbClr val="000000"/>
                </a:solidFill>
              </a:rPr>
              <a:t>R</a:t>
            </a:r>
            <a:r>
              <a:rPr sz="7500" spc="550" dirty="0">
                <a:solidFill>
                  <a:srgbClr val="000000"/>
                </a:solidFill>
              </a:rPr>
              <a:t>O</a:t>
            </a:r>
            <a:r>
              <a:rPr sz="7500" spc="515" dirty="0">
                <a:solidFill>
                  <a:srgbClr val="000000"/>
                </a:solidFill>
              </a:rPr>
              <a:t>D</a:t>
            </a:r>
            <a:r>
              <a:rPr sz="7500" spc="365" dirty="0">
                <a:solidFill>
                  <a:srgbClr val="000000"/>
                </a:solidFill>
              </a:rPr>
              <a:t>U</a:t>
            </a:r>
            <a:r>
              <a:rPr sz="7500" spc="490" dirty="0">
                <a:solidFill>
                  <a:srgbClr val="000000"/>
                </a:solidFill>
              </a:rPr>
              <a:t>C</a:t>
            </a:r>
            <a:r>
              <a:rPr sz="7500" spc="40" dirty="0">
                <a:solidFill>
                  <a:srgbClr val="000000"/>
                </a:solidFill>
              </a:rPr>
              <a:t>T</a:t>
            </a:r>
            <a:endParaRPr sz="7500"/>
          </a:p>
        </p:txBody>
      </p:sp>
      <p:sp>
        <p:nvSpPr>
          <p:cNvPr id="6" name="object 6"/>
          <p:cNvSpPr/>
          <p:nvPr/>
        </p:nvSpPr>
        <p:spPr>
          <a:xfrm>
            <a:off x="7841714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h="10287000">
                <a:moveTo>
                  <a:pt x="0" y="10286999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5212" y="7063675"/>
            <a:ext cx="453390" cy="2195195"/>
          </a:xfrm>
          <a:custGeom>
            <a:avLst/>
            <a:gdLst/>
            <a:ahLst/>
            <a:cxnLst/>
            <a:rect l="l" t="t" r="r" b="b"/>
            <a:pathLst>
              <a:path w="453390" h="2195195">
                <a:moveTo>
                  <a:pt x="452786" y="2194955"/>
                </a:moveTo>
                <a:lnTo>
                  <a:pt x="0" y="2194955"/>
                </a:lnTo>
                <a:lnTo>
                  <a:pt x="0" y="0"/>
                </a:lnTo>
                <a:lnTo>
                  <a:pt x="452786" y="0"/>
                </a:lnTo>
                <a:lnTo>
                  <a:pt x="452786" y="2194955"/>
                </a:lnTo>
                <a:close/>
              </a:path>
            </a:pathLst>
          </a:custGeom>
          <a:solidFill>
            <a:srgbClr val="F5A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0737215" cy="10110470"/>
            <a:chOff x="0" y="0"/>
            <a:chExt cx="10737215" cy="101104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0096500" cy="10096500"/>
            </a:xfrm>
            <a:custGeom>
              <a:avLst/>
              <a:gdLst/>
              <a:ahLst/>
              <a:cxnLst/>
              <a:rect l="l" t="t" r="r" b="b"/>
              <a:pathLst>
                <a:path w="10096500" h="10096500">
                  <a:moveTo>
                    <a:pt x="0" y="62515"/>
                  </a:moveTo>
                  <a:lnTo>
                    <a:pt x="0" y="0"/>
                  </a:lnTo>
                  <a:lnTo>
                    <a:pt x="10096354" y="10096354"/>
                  </a:lnTo>
                  <a:lnTo>
                    <a:pt x="10033816" y="10096354"/>
                  </a:lnTo>
                  <a:lnTo>
                    <a:pt x="0" y="62515"/>
                  </a:lnTo>
                  <a:close/>
                </a:path>
                <a:path w="10096500" h="10096500">
                  <a:moveTo>
                    <a:pt x="0" y="128494"/>
                  </a:moveTo>
                  <a:lnTo>
                    <a:pt x="0" y="63847"/>
                  </a:lnTo>
                  <a:lnTo>
                    <a:pt x="9405468" y="10096354"/>
                  </a:lnTo>
                  <a:lnTo>
                    <a:pt x="9344860" y="10096354"/>
                  </a:lnTo>
                  <a:lnTo>
                    <a:pt x="0" y="128494"/>
                  </a:lnTo>
                  <a:close/>
                </a:path>
                <a:path w="10096500" h="10096500">
                  <a:moveTo>
                    <a:pt x="0" y="203932"/>
                  </a:moveTo>
                  <a:lnTo>
                    <a:pt x="0" y="136788"/>
                  </a:lnTo>
                  <a:lnTo>
                    <a:pt x="8714604" y="10096354"/>
                  </a:lnTo>
                  <a:lnTo>
                    <a:pt x="8655882" y="10096354"/>
                  </a:lnTo>
                  <a:lnTo>
                    <a:pt x="0" y="203932"/>
                  </a:lnTo>
                  <a:close/>
                </a:path>
                <a:path w="10096500" h="10096500">
                  <a:moveTo>
                    <a:pt x="0" y="291028"/>
                  </a:moveTo>
                  <a:lnTo>
                    <a:pt x="0" y="220885"/>
                  </a:lnTo>
                  <a:lnTo>
                    <a:pt x="8023806" y="10096354"/>
                  </a:lnTo>
                  <a:lnTo>
                    <a:pt x="7966815" y="10096354"/>
                  </a:lnTo>
                  <a:lnTo>
                    <a:pt x="0" y="291028"/>
                  </a:lnTo>
                  <a:close/>
                </a:path>
                <a:path w="10096500" h="10096500">
                  <a:moveTo>
                    <a:pt x="0" y="392675"/>
                  </a:moveTo>
                  <a:lnTo>
                    <a:pt x="0" y="318987"/>
                  </a:lnTo>
                  <a:lnTo>
                    <a:pt x="7333008" y="10096354"/>
                  </a:lnTo>
                  <a:lnTo>
                    <a:pt x="7277770" y="10096354"/>
                  </a:lnTo>
                  <a:lnTo>
                    <a:pt x="0" y="392675"/>
                  </a:lnTo>
                  <a:close/>
                </a:path>
                <a:path w="10096500" h="10096500">
                  <a:moveTo>
                    <a:pt x="0" y="512862"/>
                  </a:moveTo>
                  <a:lnTo>
                    <a:pt x="0" y="434838"/>
                  </a:lnTo>
                  <a:lnTo>
                    <a:pt x="6642300" y="10096354"/>
                  </a:lnTo>
                  <a:lnTo>
                    <a:pt x="6588636" y="10096354"/>
                  </a:lnTo>
                  <a:lnTo>
                    <a:pt x="0" y="512862"/>
                  </a:lnTo>
                  <a:close/>
                </a:path>
                <a:path w="10096500" h="10096500">
                  <a:moveTo>
                    <a:pt x="0" y="657213"/>
                  </a:moveTo>
                  <a:lnTo>
                    <a:pt x="0" y="573751"/>
                  </a:lnTo>
                  <a:lnTo>
                    <a:pt x="5951613" y="10096354"/>
                  </a:lnTo>
                  <a:lnTo>
                    <a:pt x="5899458" y="10096354"/>
                  </a:lnTo>
                  <a:lnTo>
                    <a:pt x="0" y="657213"/>
                  </a:lnTo>
                  <a:close/>
                </a:path>
                <a:path w="10096500" h="10096500">
                  <a:moveTo>
                    <a:pt x="0" y="833696"/>
                  </a:moveTo>
                  <a:lnTo>
                    <a:pt x="0" y="743491"/>
                  </a:lnTo>
                  <a:lnTo>
                    <a:pt x="5260993" y="10096354"/>
                  </a:lnTo>
                  <a:lnTo>
                    <a:pt x="5210257" y="10096354"/>
                  </a:lnTo>
                  <a:lnTo>
                    <a:pt x="0" y="833696"/>
                  </a:lnTo>
                  <a:close/>
                </a:path>
                <a:path w="10096500" h="10096500">
                  <a:moveTo>
                    <a:pt x="0" y="1054396"/>
                  </a:moveTo>
                  <a:lnTo>
                    <a:pt x="0" y="955519"/>
                  </a:lnTo>
                  <a:lnTo>
                    <a:pt x="4570417" y="10096354"/>
                  </a:lnTo>
                  <a:lnTo>
                    <a:pt x="4520968" y="10096354"/>
                  </a:lnTo>
                  <a:lnTo>
                    <a:pt x="0" y="1054396"/>
                  </a:lnTo>
                  <a:close/>
                </a:path>
                <a:path w="10096500" h="10096500">
                  <a:moveTo>
                    <a:pt x="0" y="1338277"/>
                  </a:moveTo>
                  <a:lnTo>
                    <a:pt x="0" y="1228005"/>
                  </a:lnTo>
                  <a:lnTo>
                    <a:pt x="3879908" y="10096354"/>
                  </a:lnTo>
                  <a:lnTo>
                    <a:pt x="3831657" y="10096354"/>
                  </a:lnTo>
                  <a:lnTo>
                    <a:pt x="0" y="1338277"/>
                  </a:lnTo>
                  <a:close/>
                </a:path>
                <a:path w="10096500" h="10096500">
                  <a:moveTo>
                    <a:pt x="0" y="1717066"/>
                  </a:moveTo>
                  <a:lnTo>
                    <a:pt x="0" y="1591081"/>
                  </a:lnTo>
                  <a:lnTo>
                    <a:pt x="3189465" y="10096354"/>
                  </a:lnTo>
                  <a:lnTo>
                    <a:pt x="3142235" y="10096354"/>
                  </a:lnTo>
                  <a:lnTo>
                    <a:pt x="0" y="1717066"/>
                  </a:lnTo>
                  <a:close/>
                </a:path>
                <a:path w="10096500" h="10096500">
                  <a:moveTo>
                    <a:pt x="0" y="2247481"/>
                  </a:moveTo>
                  <a:lnTo>
                    <a:pt x="0" y="2099307"/>
                  </a:lnTo>
                  <a:lnTo>
                    <a:pt x="2499067" y="10096354"/>
                  </a:lnTo>
                  <a:lnTo>
                    <a:pt x="2452768" y="10096354"/>
                  </a:lnTo>
                  <a:lnTo>
                    <a:pt x="0" y="2247481"/>
                  </a:lnTo>
                  <a:close/>
                </a:path>
                <a:path w="10096500" h="10096500">
                  <a:moveTo>
                    <a:pt x="0" y="3043483"/>
                  </a:moveTo>
                  <a:lnTo>
                    <a:pt x="0" y="2861234"/>
                  </a:lnTo>
                  <a:lnTo>
                    <a:pt x="1808780" y="10096354"/>
                  </a:lnTo>
                  <a:lnTo>
                    <a:pt x="1763213" y="10096354"/>
                  </a:lnTo>
                  <a:lnTo>
                    <a:pt x="0" y="3043483"/>
                  </a:lnTo>
                  <a:close/>
                </a:path>
                <a:path w="10096500" h="10096500">
                  <a:moveTo>
                    <a:pt x="0" y="4370502"/>
                  </a:moveTo>
                  <a:lnTo>
                    <a:pt x="0" y="4130707"/>
                  </a:lnTo>
                  <a:lnTo>
                    <a:pt x="1118559" y="10096354"/>
                  </a:lnTo>
                  <a:lnTo>
                    <a:pt x="1073592" y="10096354"/>
                  </a:lnTo>
                  <a:lnTo>
                    <a:pt x="0" y="4370502"/>
                  </a:lnTo>
                  <a:close/>
                </a:path>
                <a:path w="10096500" h="10096500">
                  <a:moveTo>
                    <a:pt x="0" y="7025325"/>
                  </a:moveTo>
                  <a:lnTo>
                    <a:pt x="0" y="6668897"/>
                  </a:lnTo>
                  <a:lnTo>
                    <a:pt x="428427" y="10096354"/>
                  </a:lnTo>
                  <a:lnTo>
                    <a:pt x="383881" y="10096354"/>
                  </a:lnTo>
                  <a:lnTo>
                    <a:pt x="0" y="7025325"/>
                  </a:lnTo>
                  <a:close/>
                </a:path>
              </a:pathLst>
            </a:custGeom>
            <a:solidFill>
              <a:srgbClr val="F5A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5274"/>
              <a:ext cx="10736618" cy="993457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68986" y="2177938"/>
            <a:ext cx="5515610" cy="21869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8470"/>
              </a:lnSpc>
              <a:spcBef>
                <a:spcPts val="275"/>
              </a:spcBef>
            </a:pPr>
            <a:r>
              <a:rPr sz="7100" spc="35" dirty="0">
                <a:solidFill>
                  <a:srgbClr val="171616"/>
                </a:solidFill>
              </a:rPr>
              <a:t>S</a:t>
            </a:r>
            <a:r>
              <a:rPr sz="7100" spc="535" dirty="0">
                <a:solidFill>
                  <a:srgbClr val="171616"/>
                </a:solidFill>
              </a:rPr>
              <a:t>O</a:t>
            </a:r>
            <a:r>
              <a:rPr sz="7100" spc="415" dirty="0">
                <a:solidFill>
                  <a:srgbClr val="171616"/>
                </a:solidFill>
              </a:rPr>
              <a:t>F</a:t>
            </a:r>
            <a:r>
              <a:rPr sz="7100" spc="45" dirty="0">
                <a:solidFill>
                  <a:srgbClr val="171616"/>
                </a:solidFill>
              </a:rPr>
              <a:t>T</a:t>
            </a:r>
            <a:r>
              <a:rPr sz="7100" spc="975" dirty="0">
                <a:solidFill>
                  <a:srgbClr val="171616"/>
                </a:solidFill>
              </a:rPr>
              <a:t>W</a:t>
            </a:r>
            <a:r>
              <a:rPr sz="7100" spc="585" dirty="0">
                <a:solidFill>
                  <a:srgbClr val="171616"/>
                </a:solidFill>
              </a:rPr>
              <a:t>A</a:t>
            </a:r>
            <a:r>
              <a:rPr sz="7100" spc="70" dirty="0">
                <a:solidFill>
                  <a:srgbClr val="171616"/>
                </a:solidFill>
              </a:rPr>
              <a:t>R</a:t>
            </a:r>
            <a:r>
              <a:rPr sz="7100" spc="265" dirty="0">
                <a:solidFill>
                  <a:srgbClr val="171616"/>
                </a:solidFill>
              </a:rPr>
              <a:t>E  </a:t>
            </a:r>
            <a:r>
              <a:rPr sz="7100" spc="105" dirty="0">
                <a:solidFill>
                  <a:srgbClr val="171616"/>
                </a:solidFill>
              </a:rPr>
              <a:t>SERVICES</a:t>
            </a:r>
            <a:endParaRPr sz="7100"/>
          </a:p>
        </p:txBody>
      </p:sp>
      <p:grpSp>
        <p:nvGrpSpPr>
          <p:cNvPr id="7" name="object 7"/>
          <p:cNvGrpSpPr/>
          <p:nvPr/>
        </p:nvGrpSpPr>
        <p:grpSpPr>
          <a:xfrm>
            <a:off x="9520587" y="0"/>
            <a:ext cx="8767445" cy="7916545"/>
            <a:chOff x="9520587" y="0"/>
            <a:chExt cx="8767445" cy="79165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7436" y="5677820"/>
              <a:ext cx="123825" cy="123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7436" y="6382670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7436" y="7087520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7436" y="7792370"/>
              <a:ext cx="123825" cy="123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20587" y="4740697"/>
              <a:ext cx="7738745" cy="0"/>
            </a:xfrm>
            <a:custGeom>
              <a:avLst/>
              <a:gdLst/>
              <a:ahLst/>
              <a:cxnLst/>
              <a:rect l="l" t="t" r="r" b="b"/>
              <a:pathLst>
                <a:path w="7738744">
                  <a:moveTo>
                    <a:pt x="0" y="0"/>
                  </a:moveTo>
                  <a:lnTo>
                    <a:pt x="7738712" y="0"/>
                  </a:lnTo>
                </a:path>
              </a:pathLst>
            </a:custGeom>
            <a:ln w="104774">
              <a:solidFill>
                <a:srgbClr val="F5A3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55626" y="0"/>
              <a:ext cx="2332373" cy="16859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368019" y="5493670"/>
            <a:ext cx="6126480" cy="2562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5" dirty="0">
                <a:solidFill>
                  <a:srgbClr val="171616"/>
                </a:solidFill>
                <a:latin typeface="Trebuchet MS"/>
                <a:cs typeface="Trebuchet MS"/>
              </a:rPr>
              <a:t>Interactive</a:t>
            </a:r>
            <a:r>
              <a:rPr sz="2750" spc="-130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90" dirty="0">
                <a:solidFill>
                  <a:srgbClr val="171616"/>
                </a:solidFill>
                <a:latin typeface="Trebuchet MS"/>
                <a:cs typeface="Trebuchet MS"/>
              </a:rPr>
              <a:t>Learning</a:t>
            </a:r>
            <a:r>
              <a:rPr sz="2750" spc="-125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180" dirty="0">
                <a:solidFill>
                  <a:srgbClr val="171616"/>
                </a:solidFill>
                <a:latin typeface="Trebuchet MS"/>
                <a:cs typeface="Trebuchet MS"/>
              </a:rPr>
              <a:t>Modules</a:t>
            </a:r>
            <a:endParaRPr sz="2750">
              <a:latin typeface="Trebuchet MS"/>
              <a:cs typeface="Trebuchet MS"/>
            </a:endParaRPr>
          </a:p>
          <a:p>
            <a:pPr marL="12700" marR="5080">
              <a:lnSpc>
                <a:spcPct val="168200"/>
              </a:lnSpc>
            </a:pPr>
            <a:r>
              <a:rPr sz="2750" spc="60" dirty="0">
                <a:solidFill>
                  <a:srgbClr val="171616"/>
                </a:solidFill>
                <a:latin typeface="Trebuchet MS"/>
                <a:cs typeface="Trebuchet MS"/>
              </a:rPr>
              <a:t>Portable</a:t>
            </a:r>
            <a:r>
              <a:rPr sz="2750" spc="-100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20" dirty="0">
                <a:solidFill>
                  <a:srgbClr val="171616"/>
                </a:solidFill>
                <a:latin typeface="Trebuchet MS"/>
                <a:cs typeface="Trebuchet MS"/>
              </a:rPr>
              <a:t>Tactile-Compatible</a:t>
            </a:r>
            <a:r>
              <a:rPr sz="2750" spc="-95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25" dirty="0">
                <a:solidFill>
                  <a:srgbClr val="171616"/>
                </a:solidFill>
                <a:latin typeface="Trebuchet MS"/>
                <a:cs typeface="Trebuchet MS"/>
              </a:rPr>
              <a:t>Interface </a:t>
            </a:r>
            <a:r>
              <a:rPr sz="2750" spc="-815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80" dirty="0">
                <a:solidFill>
                  <a:srgbClr val="171616"/>
                </a:solidFill>
                <a:latin typeface="Trebuchet MS"/>
                <a:cs typeface="Trebuchet MS"/>
              </a:rPr>
              <a:t>AI-Powered </a:t>
            </a:r>
            <a:r>
              <a:rPr sz="2750" spc="70" dirty="0">
                <a:solidFill>
                  <a:srgbClr val="171616"/>
                </a:solidFill>
                <a:latin typeface="Trebuchet MS"/>
                <a:cs typeface="Trebuchet MS"/>
              </a:rPr>
              <a:t>Feedback </a:t>
            </a:r>
            <a:r>
              <a:rPr sz="2750" spc="114" dirty="0">
                <a:solidFill>
                  <a:srgbClr val="171616"/>
                </a:solidFill>
                <a:latin typeface="Trebuchet MS"/>
                <a:cs typeface="Trebuchet MS"/>
              </a:rPr>
              <a:t>System </a:t>
            </a:r>
            <a:r>
              <a:rPr sz="2750" spc="120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65" dirty="0">
                <a:solidFill>
                  <a:srgbClr val="171616"/>
                </a:solidFill>
                <a:latin typeface="Trebuchet MS"/>
                <a:cs typeface="Trebuchet MS"/>
              </a:rPr>
              <a:t>Multilingual</a:t>
            </a:r>
            <a:r>
              <a:rPr sz="2750" spc="-114" dirty="0">
                <a:solidFill>
                  <a:srgbClr val="171616"/>
                </a:solidFill>
                <a:latin typeface="Trebuchet MS"/>
                <a:cs typeface="Trebuchet MS"/>
              </a:rPr>
              <a:t> </a:t>
            </a:r>
            <a:r>
              <a:rPr sz="2750" spc="125" dirty="0">
                <a:solidFill>
                  <a:srgbClr val="171616"/>
                </a:solidFill>
                <a:latin typeface="Trebuchet MS"/>
                <a:cs typeface="Trebuchet MS"/>
              </a:rPr>
              <a:t>Support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5626" y="0"/>
            <a:ext cx="2332373" cy="16859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78407" y="0"/>
            <a:ext cx="4086225" cy="5067300"/>
            <a:chOff x="1478407" y="0"/>
            <a:chExt cx="4086225" cy="50673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8407" y="0"/>
              <a:ext cx="4086224" cy="5067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5378" y="0"/>
              <a:ext cx="3733799" cy="49128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50715" y="2379471"/>
            <a:ext cx="10534649" cy="79057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69557" y="6668897"/>
            <a:ext cx="962660" cy="1123950"/>
          </a:xfrm>
          <a:prstGeom prst="rect">
            <a:avLst/>
          </a:prstGeom>
          <a:solidFill>
            <a:srgbClr val="F5A329"/>
          </a:solidFill>
        </p:spPr>
        <p:txBody>
          <a:bodyPr vert="horz" wrap="square" lIns="0" tIns="28575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2250"/>
              </a:spcBef>
            </a:pPr>
            <a:r>
              <a:rPr sz="3450" b="1" spc="-4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8525" y="6332092"/>
            <a:ext cx="4696460" cy="216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0945" algn="r">
              <a:lnSpc>
                <a:spcPct val="108200"/>
              </a:lnSpc>
              <a:spcBef>
                <a:spcPts val="100"/>
              </a:spcBef>
            </a:pPr>
            <a:r>
              <a:rPr sz="2600" b="1" spc="155" dirty="0">
                <a:latin typeface="Trebuchet MS"/>
                <a:cs typeface="Trebuchet MS"/>
              </a:rPr>
              <a:t>An</a:t>
            </a:r>
            <a:r>
              <a:rPr sz="2600" b="1" spc="-130" dirty="0">
                <a:latin typeface="Trebuchet MS"/>
                <a:cs typeface="Trebuchet MS"/>
              </a:rPr>
              <a:t> </a:t>
            </a:r>
            <a:r>
              <a:rPr sz="2600" b="1" spc="70" dirty="0">
                <a:latin typeface="Trebuchet MS"/>
                <a:cs typeface="Trebuchet MS"/>
              </a:rPr>
              <a:t>interactive</a:t>
            </a:r>
            <a:r>
              <a:rPr sz="2600" b="1" spc="-130" dirty="0">
                <a:latin typeface="Trebuchet MS"/>
                <a:cs typeface="Trebuchet MS"/>
              </a:rPr>
              <a:t> </a:t>
            </a:r>
            <a:r>
              <a:rPr sz="2600" b="1" spc="80" dirty="0">
                <a:latin typeface="Trebuchet MS"/>
                <a:cs typeface="Trebuchet MS"/>
              </a:rPr>
              <a:t>in-app </a:t>
            </a:r>
            <a:r>
              <a:rPr sz="2600" b="1" spc="-770" dirty="0">
                <a:latin typeface="Trebuchet MS"/>
                <a:cs typeface="Trebuchet MS"/>
              </a:rPr>
              <a:t> </a:t>
            </a:r>
            <a:r>
              <a:rPr sz="2600" b="1" spc="130" dirty="0">
                <a:latin typeface="Trebuchet MS"/>
                <a:cs typeface="Trebuchet MS"/>
              </a:rPr>
              <a:t>classroom that </a:t>
            </a:r>
            <a:r>
              <a:rPr sz="2600" b="1" spc="114" dirty="0">
                <a:latin typeface="Trebuchet MS"/>
                <a:cs typeface="Trebuchet MS"/>
              </a:rPr>
              <a:t>enhances </a:t>
            </a:r>
            <a:r>
              <a:rPr sz="2600" b="1" spc="120" dirty="0">
                <a:latin typeface="Trebuchet MS"/>
                <a:cs typeface="Trebuchet MS"/>
              </a:rPr>
              <a:t> </a:t>
            </a:r>
            <a:r>
              <a:rPr sz="2600" b="1" spc="95" dirty="0">
                <a:latin typeface="Trebuchet MS"/>
                <a:cs typeface="Trebuchet MS"/>
              </a:rPr>
              <a:t>collaboration </a:t>
            </a:r>
            <a:r>
              <a:rPr sz="2600" b="1" spc="160" dirty="0">
                <a:latin typeface="Trebuchet MS"/>
                <a:cs typeface="Trebuchet MS"/>
              </a:rPr>
              <a:t>and </a:t>
            </a:r>
            <a:r>
              <a:rPr sz="2600" b="1" spc="114" dirty="0">
                <a:latin typeface="Trebuchet MS"/>
                <a:cs typeface="Trebuchet MS"/>
              </a:rPr>
              <a:t>tracks </a:t>
            </a:r>
            <a:r>
              <a:rPr sz="2600" b="1" spc="120" dirty="0">
                <a:latin typeface="Trebuchet MS"/>
                <a:cs typeface="Trebuchet MS"/>
              </a:rPr>
              <a:t> student</a:t>
            </a:r>
            <a:r>
              <a:rPr sz="2600" b="1" spc="-120" dirty="0">
                <a:latin typeface="Trebuchet MS"/>
                <a:cs typeface="Trebuchet MS"/>
              </a:rPr>
              <a:t> </a:t>
            </a:r>
            <a:r>
              <a:rPr sz="2600" b="1" spc="75" dirty="0">
                <a:latin typeface="Trebuchet MS"/>
                <a:cs typeface="Trebuchet MS"/>
              </a:rPr>
              <a:t>progress,</a:t>
            </a:r>
            <a:r>
              <a:rPr sz="2600" b="1" spc="-120" dirty="0">
                <a:latin typeface="Trebuchet MS"/>
                <a:cs typeface="Trebuchet MS"/>
              </a:rPr>
              <a:t> </a:t>
            </a:r>
            <a:r>
              <a:rPr sz="2600" b="1" spc="85" dirty="0">
                <a:latin typeface="Trebuchet MS"/>
                <a:cs typeface="Trebuchet MS"/>
              </a:rPr>
              <a:t>benefiting </a:t>
            </a:r>
            <a:r>
              <a:rPr sz="2600" b="1" spc="-770" dirty="0">
                <a:latin typeface="Trebuchet MS"/>
                <a:cs typeface="Trebuchet MS"/>
              </a:rPr>
              <a:t> </a:t>
            </a:r>
            <a:r>
              <a:rPr sz="2600" b="1" spc="130" dirty="0">
                <a:latin typeface="Trebuchet MS"/>
                <a:cs typeface="Trebuchet MS"/>
              </a:rPr>
              <a:t>both</a:t>
            </a:r>
            <a:r>
              <a:rPr sz="2600" b="1" spc="-120" dirty="0">
                <a:latin typeface="Trebuchet MS"/>
                <a:cs typeface="Trebuchet MS"/>
              </a:rPr>
              <a:t> </a:t>
            </a:r>
            <a:r>
              <a:rPr sz="2600" b="1" spc="125" dirty="0">
                <a:latin typeface="Trebuchet MS"/>
                <a:cs typeface="Trebuchet MS"/>
              </a:rPr>
              <a:t>students</a:t>
            </a:r>
            <a:r>
              <a:rPr sz="2600" b="1" spc="-120" dirty="0">
                <a:latin typeface="Trebuchet MS"/>
                <a:cs typeface="Trebuchet MS"/>
              </a:rPr>
              <a:t> </a:t>
            </a:r>
            <a:r>
              <a:rPr sz="2600" b="1" spc="160" dirty="0">
                <a:latin typeface="Trebuchet MS"/>
                <a:cs typeface="Trebuchet MS"/>
              </a:rPr>
              <a:t>and</a:t>
            </a:r>
            <a:r>
              <a:rPr sz="2600" b="1" spc="-114" dirty="0">
                <a:latin typeface="Trebuchet MS"/>
                <a:cs typeface="Trebuchet MS"/>
              </a:rPr>
              <a:t> </a:t>
            </a:r>
            <a:r>
              <a:rPr sz="2600" b="1" spc="55" dirty="0">
                <a:latin typeface="Trebuchet MS"/>
                <a:cs typeface="Trebuchet MS"/>
              </a:rPr>
              <a:t>teachers.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6733" y="929814"/>
            <a:ext cx="962660" cy="1123950"/>
          </a:xfrm>
          <a:prstGeom prst="rect">
            <a:avLst/>
          </a:prstGeom>
          <a:solidFill>
            <a:srgbClr val="F5A329"/>
          </a:solidFill>
        </p:spPr>
        <p:txBody>
          <a:bodyPr vert="horz" wrap="square" lIns="0" tIns="28575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2250"/>
              </a:spcBef>
            </a:pPr>
            <a:r>
              <a:rPr sz="3450" b="1" spc="-4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99146" y="785910"/>
            <a:ext cx="5082540" cy="173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sz="2600" spc="70" dirty="0">
                <a:solidFill>
                  <a:srgbClr val="000000"/>
                </a:solidFill>
                <a:latin typeface="Trebuchet MS"/>
                <a:cs typeface="Trebuchet MS"/>
              </a:rPr>
              <a:t>Round-the-clock</a:t>
            </a:r>
            <a:r>
              <a:rPr sz="2600" spc="-1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spc="65" dirty="0">
                <a:solidFill>
                  <a:srgbClr val="000000"/>
                </a:solidFill>
                <a:latin typeface="Trebuchet MS"/>
                <a:cs typeface="Trebuchet MS"/>
              </a:rPr>
              <a:t>voice-enabled </a:t>
            </a:r>
            <a:r>
              <a:rPr sz="2600" spc="-7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spc="140" dirty="0">
                <a:solidFill>
                  <a:srgbClr val="000000"/>
                </a:solidFill>
                <a:latin typeface="Trebuchet MS"/>
                <a:cs typeface="Trebuchet MS"/>
              </a:rPr>
              <a:t>community </a:t>
            </a:r>
            <a:r>
              <a:rPr sz="2600" spc="130" dirty="0">
                <a:solidFill>
                  <a:srgbClr val="000000"/>
                </a:solidFill>
                <a:latin typeface="Trebuchet MS"/>
                <a:cs typeface="Trebuchet MS"/>
              </a:rPr>
              <a:t>group </a:t>
            </a:r>
            <a:r>
              <a:rPr sz="2600" spc="120" dirty="0">
                <a:solidFill>
                  <a:srgbClr val="000000"/>
                </a:solidFill>
                <a:latin typeface="Trebuchet MS"/>
                <a:cs typeface="Trebuchet MS"/>
              </a:rPr>
              <a:t>chats </a:t>
            </a:r>
            <a:r>
              <a:rPr sz="2600" spc="80" dirty="0">
                <a:solidFill>
                  <a:srgbClr val="000000"/>
                </a:solidFill>
                <a:latin typeface="Trebuchet MS"/>
                <a:cs typeface="Trebuchet MS"/>
              </a:rPr>
              <a:t>for </a:t>
            </a:r>
            <a:r>
              <a:rPr sz="2600" spc="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spc="125" dirty="0">
                <a:solidFill>
                  <a:srgbClr val="000000"/>
                </a:solidFill>
                <a:latin typeface="Trebuchet MS"/>
                <a:cs typeface="Trebuchet MS"/>
              </a:rPr>
              <a:t>students </a:t>
            </a:r>
            <a:r>
              <a:rPr sz="2600" spc="110" dirty="0">
                <a:solidFill>
                  <a:srgbClr val="000000"/>
                </a:solidFill>
                <a:latin typeface="Trebuchet MS"/>
                <a:cs typeface="Trebuchet MS"/>
              </a:rPr>
              <a:t>with </a:t>
            </a:r>
            <a:r>
              <a:rPr sz="2600" spc="105" dirty="0">
                <a:solidFill>
                  <a:srgbClr val="000000"/>
                </a:solidFill>
                <a:latin typeface="Trebuchet MS"/>
                <a:cs typeface="Trebuchet MS"/>
              </a:rPr>
              <a:t>visual </a:t>
            </a:r>
            <a:r>
              <a:rPr sz="260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spc="105" dirty="0">
                <a:solidFill>
                  <a:srgbClr val="000000"/>
                </a:solidFill>
                <a:latin typeface="Trebuchet MS"/>
                <a:cs typeface="Trebuchet MS"/>
              </a:rPr>
              <a:t>impairments.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69752" y="0"/>
            <a:ext cx="14549119" cy="10287000"/>
            <a:chOff x="1869752" y="0"/>
            <a:chExt cx="14549119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4562" y="0"/>
              <a:ext cx="11296649" cy="10274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69744" y="1688692"/>
              <a:ext cx="14549119" cy="7689850"/>
            </a:xfrm>
            <a:custGeom>
              <a:avLst/>
              <a:gdLst/>
              <a:ahLst/>
              <a:cxnLst/>
              <a:rect l="l" t="t" r="r" b="b"/>
              <a:pathLst>
                <a:path w="14549119" h="7689850">
                  <a:moveTo>
                    <a:pt x="1989937" y="0"/>
                  </a:moveTo>
                  <a:lnTo>
                    <a:pt x="0" y="0"/>
                  </a:lnTo>
                  <a:lnTo>
                    <a:pt x="0" y="105410"/>
                  </a:lnTo>
                  <a:lnTo>
                    <a:pt x="0" y="7583170"/>
                  </a:lnTo>
                  <a:lnTo>
                    <a:pt x="0" y="7689850"/>
                  </a:lnTo>
                  <a:lnTo>
                    <a:pt x="1989937" y="7689850"/>
                  </a:lnTo>
                  <a:lnTo>
                    <a:pt x="1989937" y="7583170"/>
                  </a:lnTo>
                  <a:lnTo>
                    <a:pt x="104914" y="7583170"/>
                  </a:lnTo>
                  <a:lnTo>
                    <a:pt x="104914" y="105410"/>
                  </a:lnTo>
                  <a:lnTo>
                    <a:pt x="1989937" y="105410"/>
                  </a:lnTo>
                  <a:lnTo>
                    <a:pt x="1989937" y="0"/>
                  </a:lnTo>
                  <a:close/>
                </a:path>
                <a:path w="14549119" h="7689850">
                  <a:moveTo>
                    <a:pt x="14548498" y="7583170"/>
                  </a:moveTo>
                  <a:lnTo>
                    <a:pt x="12400763" y="7583170"/>
                  </a:lnTo>
                  <a:lnTo>
                    <a:pt x="12400763" y="7689850"/>
                  </a:lnTo>
                  <a:lnTo>
                    <a:pt x="14548498" y="7689850"/>
                  </a:lnTo>
                  <a:lnTo>
                    <a:pt x="14548498" y="7583170"/>
                  </a:lnTo>
                  <a:close/>
                </a:path>
                <a:path w="14549119" h="7689850">
                  <a:moveTo>
                    <a:pt x="14548498" y="0"/>
                  </a:moveTo>
                  <a:lnTo>
                    <a:pt x="12400763" y="0"/>
                  </a:lnTo>
                  <a:lnTo>
                    <a:pt x="12400763" y="105410"/>
                  </a:lnTo>
                  <a:lnTo>
                    <a:pt x="14441348" y="105410"/>
                  </a:lnTo>
                  <a:lnTo>
                    <a:pt x="14441348" y="7583043"/>
                  </a:lnTo>
                  <a:lnTo>
                    <a:pt x="14548498" y="7583043"/>
                  </a:lnTo>
                  <a:lnTo>
                    <a:pt x="14548498" y="105410"/>
                  </a:lnTo>
                  <a:lnTo>
                    <a:pt x="14548498" y="104914"/>
                  </a:lnTo>
                  <a:lnTo>
                    <a:pt x="14548498" y="0"/>
                  </a:lnTo>
                  <a:close/>
                </a:path>
              </a:pathLst>
            </a:custGeom>
            <a:solidFill>
              <a:srgbClr val="FAB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9683" y="0"/>
              <a:ext cx="10410825" cy="10287000"/>
            </a:xfrm>
            <a:custGeom>
              <a:avLst/>
              <a:gdLst/>
              <a:ahLst/>
              <a:cxnLst/>
              <a:rect l="l" t="t" r="r" b="b"/>
              <a:pathLst>
                <a:path w="10410825" h="10287000">
                  <a:moveTo>
                    <a:pt x="0" y="0"/>
                  </a:moveTo>
                  <a:lnTo>
                    <a:pt x="10410824" y="0"/>
                  </a:lnTo>
                  <a:lnTo>
                    <a:pt x="10410824" y="10286999"/>
                  </a:lnTo>
                  <a:lnTo>
                    <a:pt x="0" y="1028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04569" y="3448249"/>
            <a:ext cx="5878830" cy="4036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0765"/>
              </a:lnSpc>
              <a:spcBef>
                <a:spcPts val="125"/>
              </a:spcBef>
            </a:pPr>
            <a:r>
              <a:rPr sz="9600" spc="-635" dirty="0">
                <a:solidFill>
                  <a:srgbClr val="000000"/>
                </a:solidFill>
              </a:rPr>
              <a:t>1000+</a:t>
            </a:r>
            <a:endParaRPr sz="9600"/>
          </a:p>
          <a:p>
            <a:pPr marL="12700" marR="5080" algn="ctr">
              <a:lnSpc>
                <a:spcPts val="10010"/>
              </a:lnSpc>
              <a:spcBef>
                <a:spcPts val="840"/>
              </a:spcBef>
            </a:pPr>
            <a:r>
              <a:rPr sz="9600" spc="229" dirty="0">
                <a:solidFill>
                  <a:srgbClr val="000000"/>
                </a:solidFill>
              </a:rPr>
              <a:t>existing </a:t>
            </a:r>
            <a:r>
              <a:rPr sz="9600" spc="235" dirty="0">
                <a:solidFill>
                  <a:srgbClr val="000000"/>
                </a:solidFill>
              </a:rPr>
              <a:t> </a:t>
            </a:r>
            <a:r>
              <a:rPr sz="9600" spc="165" dirty="0">
                <a:solidFill>
                  <a:srgbClr val="000000"/>
                </a:solidFill>
              </a:rPr>
              <a:t>s</a:t>
            </a:r>
            <a:r>
              <a:rPr sz="9600" spc="375" dirty="0">
                <a:solidFill>
                  <a:srgbClr val="000000"/>
                </a:solidFill>
              </a:rPr>
              <a:t>o</a:t>
            </a:r>
            <a:r>
              <a:rPr sz="9600" spc="-5" dirty="0">
                <a:solidFill>
                  <a:srgbClr val="000000"/>
                </a:solidFill>
              </a:rPr>
              <a:t>l</a:t>
            </a:r>
            <a:r>
              <a:rPr sz="9600" spc="459" dirty="0">
                <a:solidFill>
                  <a:srgbClr val="000000"/>
                </a:solidFill>
              </a:rPr>
              <a:t>u</a:t>
            </a:r>
            <a:r>
              <a:rPr sz="9600" spc="190" dirty="0">
                <a:solidFill>
                  <a:srgbClr val="000000"/>
                </a:solidFill>
              </a:rPr>
              <a:t>t</a:t>
            </a:r>
            <a:r>
              <a:rPr sz="9600" spc="-5" dirty="0">
                <a:solidFill>
                  <a:srgbClr val="000000"/>
                </a:solidFill>
              </a:rPr>
              <a:t>i</a:t>
            </a:r>
            <a:r>
              <a:rPr sz="9600" spc="375" dirty="0">
                <a:solidFill>
                  <a:srgbClr val="000000"/>
                </a:solidFill>
              </a:rPr>
              <a:t>o</a:t>
            </a:r>
            <a:r>
              <a:rPr sz="9600" spc="500" dirty="0">
                <a:solidFill>
                  <a:srgbClr val="000000"/>
                </a:solidFill>
              </a:rPr>
              <a:t>n</a:t>
            </a:r>
            <a:r>
              <a:rPr sz="9600" spc="170" dirty="0">
                <a:solidFill>
                  <a:srgbClr val="000000"/>
                </a:solidFill>
              </a:rPr>
              <a:t>s</a:t>
            </a:r>
            <a:endParaRPr sz="9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906"/>
            <a:ext cx="18288000" cy="10280650"/>
            <a:chOff x="0" y="5906"/>
            <a:chExt cx="18288000" cy="10280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906"/>
              <a:ext cx="18288000" cy="102802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9296" y="2580018"/>
              <a:ext cx="1064121" cy="10641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9296" y="4365874"/>
              <a:ext cx="1064121" cy="10641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9296" y="6461687"/>
              <a:ext cx="1064121" cy="106412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2854161"/>
            <a:ext cx="537781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7200" spc="220" dirty="0">
                <a:solidFill>
                  <a:srgbClr val="000000"/>
                </a:solidFill>
              </a:rPr>
              <a:t>TARGET </a:t>
            </a:r>
            <a:r>
              <a:rPr sz="7200" spc="225" dirty="0">
                <a:solidFill>
                  <a:srgbClr val="000000"/>
                </a:solidFill>
              </a:rPr>
              <a:t> </a:t>
            </a:r>
            <a:r>
              <a:rPr sz="7200" spc="585" dirty="0">
                <a:solidFill>
                  <a:srgbClr val="000000"/>
                </a:solidFill>
              </a:rPr>
              <a:t>A</a:t>
            </a:r>
            <a:r>
              <a:rPr sz="7200" spc="350" dirty="0">
                <a:solidFill>
                  <a:srgbClr val="000000"/>
                </a:solidFill>
              </a:rPr>
              <a:t>U</a:t>
            </a:r>
            <a:r>
              <a:rPr sz="7200" spc="490" dirty="0">
                <a:solidFill>
                  <a:srgbClr val="000000"/>
                </a:solidFill>
              </a:rPr>
              <a:t>D</a:t>
            </a:r>
            <a:r>
              <a:rPr sz="7200" spc="-1120" dirty="0">
                <a:solidFill>
                  <a:srgbClr val="000000"/>
                </a:solidFill>
              </a:rPr>
              <a:t>I</a:t>
            </a:r>
            <a:r>
              <a:rPr sz="7200" spc="400" dirty="0">
                <a:solidFill>
                  <a:srgbClr val="000000"/>
                </a:solidFill>
              </a:rPr>
              <a:t>E</a:t>
            </a:r>
            <a:r>
              <a:rPr sz="7200" spc="265" dirty="0">
                <a:solidFill>
                  <a:srgbClr val="000000"/>
                </a:solidFill>
              </a:rPr>
              <a:t>N</a:t>
            </a:r>
            <a:r>
              <a:rPr sz="7200" spc="470" dirty="0">
                <a:solidFill>
                  <a:srgbClr val="000000"/>
                </a:solidFill>
              </a:rPr>
              <a:t>C</a:t>
            </a:r>
            <a:r>
              <a:rPr sz="7200" spc="400" dirty="0">
                <a:solidFill>
                  <a:srgbClr val="000000"/>
                </a:solidFill>
              </a:rPr>
              <a:t>E</a:t>
            </a:r>
            <a:r>
              <a:rPr sz="7200" spc="-730" dirty="0">
                <a:solidFill>
                  <a:srgbClr val="000000"/>
                </a:solidFill>
              </a:rPr>
              <a:t>:</a:t>
            </a:r>
            <a:endParaRPr sz="7200"/>
          </a:p>
        </p:txBody>
      </p:sp>
      <p:sp>
        <p:nvSpPr>
          <p:cNvPr id="8" name="object 8"/>
          <p:cNvSpPr txBox="1"/>
          <p:nvPr/>
        </p:nvSpPr>
        <p:spPr>
          <a:xfrm>
            <a:off x="11392399" y="2669904"/>
            <a:ext cx="585025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2500" b="1" spc="110" dirty="0">
                <a:latin typeface="Trebuchet MS"/>
                <a:cs typeface="Trebuchet MS"/>
              </a:rPr>
              <a:t>Students</a:t>
            </a:r>
            <a:r>
              <a:rPr sz="2500" b="1" spc="-130" dirty="0">
                <a:latin typeface="Trebuchet MS"/>
                <a:cs typeface="Trebuchet MS"/>
              </a:rPr>
              <a:t> </a:t>
            </a:r>
            <a:r>
              <a:rPr sz="2500" b="1" spc="100" dirty="0">
                <a:latin typeface="Trebuchet MS"/>
                <a:cs typeface="Trebuchet MS"/>
              </a:rPr>
              <a:t>with</a:t>
            </a:r>
            <a:r>
              <a:rPr sz="2500" b="1" spc="-125" dirty="0">
                <a:latin typeface="Trebuchet MS"/>
                <a:cs typeface="Trebuchet MS"/>
              </a:rPr>
              <a:t> </a:t>
            </a:r>
            <a:r>
              <a:rPr sz="2500" b="1" spc="100" dirty="0">
                <a:latin typeface="Trebuchet MS"/>
                <a:cs typeface="Trebuchet MS"/>
              </a:rPr>
              <a:t>visual</a:t>
            </a:r>
            <a:r>
              <a:rPr sz="2500" b="1" spc="-130" dirty="0">
                <a:latin typeface="Trebuchet MS"/>
                <a:cs typeface="Trebuchet MS"/>
              </a:rPr>
              <a:t> </a:t>
            </a:r>
            <a:r>
              <a:rPr sz="2500" b="1" spc="125" dirty="0">
                <a:latin typeface="Trebuchet MS"/>
                <a:cs typeface="Trebuchet MS"/>
              </a:rPr>
              <a:t>impairments</a:t>
            </a:r>
            <a:r>
              <a:rPr sz="2500" b="1" spc="-125" dirty="0">
                <a:latin typeface="Trebuchet MS"/>
                <a:cs typeface="Trebuchet MS"/>
              </a:rPr>
              <a:t> </a:t>
            </a:r>
            <a:r>
              <a:rPr sz="2500" b="1" spc="135" dirty="0">
                <a:latin typeface="Trebuchet MS"/>
                <a:cs typeface="Trebuchet MS"/>
              </a:rPr>
              <a:t>up </a:t>
            </a:r>
            <a:r>
              <a:rPr sz="2500" b="1" spc="-740" dirty="0">
                <a:latin typeface="Trebuchet MS"/>
                <a:cs typeface="Trebuchet MS"/>
              </a:rPr>
              <a:t> </a:t>
            </a:r>
            <a:r>
              <a:rPr sz="2500" b="1" spc="105" dirty="0">
                <a:latin typeface="Trebuchet MS"/>
                <a:cs typeface="Trebuchet MS"/>
              </a:rPr>
              <a:t>to</a:t>
            </a:r>
            <a:r>
              <a:rPr sz="2500" b="1" spc="-114" dirty="0">
                <a:latin typeface="Trebuchet MS"/>
                <a:cs typeface="Trebuchet MS"/>
              </a:rPr>
              <a:t> </a:t>
            </a:r>
            <a:r>
              <a:rPr sz="2500" b="1" spc="-50" dirty="0">
                <a:latin typeface="Trebuchet MS"/>
                <a:cs typeface="Trebuchet MS"/>
              </a:rPr>
              <a:t>14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95" dirty="0">
                <a:latin typeface="Trebuchet MS"/>
                <a:cs typeface="Trebuchet MS"/>
              </a:rPr>
              <a:t>years</a:t>
            </a:r>
            <a:r>
              <a:rPr sz="2500" b="1" spc="-114" dirty="0">
                <a:latin typeface="Trebuchet MS"/>
                <a:cs typeface="Trebuchet MS"/>
              </a:rPr>
              <a:t> </a:t>
            </a:r>
            <a:r>
              <a:rPr sz="2500" b="1" spc="85" dirty="0">
                <a:latin typeface="Trebuchet MS"/>
                <a:cs typeface="Trebuchet MS"/>
              </a:rPr>
              <a:t>old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90" dirty="0">
                <a:latin typeface="Trebuchet MS"/>
                <a:cs typeface="Trebuchet MS"/>
              </a:rPr>
              <a:t>(and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65" dirty="0">
                <a:latin typeface="Trebuchet MS"/>
                <a:cs typeface="Trebuchet MS"/>
              </a:rPr>
              <a:t>their</a:t>
            </a:r>
            <a:r>
              <a:rPr sz="2500" b="1" spc="-114" dirty="0">
                <a:latin typeface="Trebuchet MS"/>
                <a:cs typeface="Trebuchet MS"/>
              </a:rPr>
              <a:t> </a:t>
            </a:r>
            <a:r>
              <a:rPr sz="2500" b="1" spc="85" dirty="0">
                <a:latin typeface="Trebuchet MS"/>
                <a:cs typeface="Trebuchet MS"/>
              </a:rPr>
              <a:t>parents)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92399" y="4361408"/>
            <a:ext cx="4123054" cy="1016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00" b="1" spc="150" dirty="0">
                <a:latin typeface="Trebuchet MS"/>
                <a:cs typeface="Trebuchet MS"/>
              </a:rPr>
              <a:t>Non-Governmental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b="1" spc="135" dirty="0">
                <a:latin typeface="Trebuchet MS"/>
                <a:cs typeface="Trebuchet MS"/>
              </a:rPr>
              <a:t>Organizations</a:t>
            </a:r>
            <a:r>
              <a:rPr sz="3000" b="1" spc="-200" dirty="0">
                <a:latin typeface="Trebuchet MS"/>
                <a:cs typeface="Trebuchet MS"/>
              </a:rPr>
              <a:t> </a:t>
            </a:r>
            <a:r>
              <a:rPr sz="3000" b="1" spc="150" dirty="0">
                <a:latin typeface="Trebuchet MS"/>
                <a:cs typeface="Trebuchet MS"/>
              </a:rPr>
              <a:t>(NGOs)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92399" y="6457221"/>
            <a:ext cx="523621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3000" b="1" spc="114" dirty="0">
                <a:latin typeface="Trebuchet MS"/>
                <a:cs typeface="Trebuchet MS"/>
              </a:rPr>
              <a:t>Educational</a:t>
            </a:r>
            <a:r>
              <a:rPr sz="3000" b="1" spc="-130" dirty="0">
                <a:latin typeface="Trebuchet MS"/>
                <a:cs typeface="Trebuchet MS"/>
              </a:rPr>
              <a:t> </a:t>
            </a:r>
            <a:r>
              <a:rPr sz="3000" b="1" spc="125" dirty="0">
                <a:latin typeface="Trebuchet MS"/>
                <a:cs typeface="Trebuchet MS"/>
              </a:rPr>
              <a:t>institutions</a:t>
            </a:r>
            <a:r>
              <a:rPr sz="3000" b="1" spc="-130" dirty="0">
                <a:latin typeface="Trebuchet MS"/>
                <a:cs typeface="Trebuchet MS"/>
              </a:rPr>
              <a:t> </a:t>
            </a:r>
            <a:r>
              <a:rPr sz="3000" b="1" spc="95" dirty="0">
                <a:latin typeface="Trebuchet MS"/>
                <a:cs typeface="Trebuchet MS"/>
              </a:rPr>
              <a:t>for </a:t>
            </a:r>
            <a:r>
              <a:rPr sz="3000" b="1" spc="-894" dirty="0">
                <a:latin typeface="Trebuchet MS"/>
                <a:cs typeface="Trebuchet MS"/>
              </a:rPr>
              <a:t> </a:t>
            </a:r>
            <a:r>
              <a:rPr sz="3000" b="1" spc="114" dirty="0">
                <a:latin typeface="Trebuchet MS"/>
                <a:cs typeface="Trebuchet MS"/>
              </a:rPr>
              <a:t>the</a:t>
            </a:r>
            <a:r>
              <a:rPr sz="3000" b="1" spc="-130" dirty="0">
                <a:latin typeface="Trebuchet MS"/>
                <a:cs typeface="Trebuchet MS"/>
              </a:rPr>
              <a:t> </a:t>
            </a:r>
            <a:r>
              <a:rPr sz="3000" b="1" spc="114" dirty="0">
                <a:latin typeface="Trebuchet MS"/>
                <a:cs typeface="Trebuchet MS"/>
              </a:rPr>
              <a:t>visually</a:t>
            </a:r>
            <a:r>
              <a:rPr sz="3000" b="1" spc="-130" dirty="0">
                <a:latin typeface="Trebuchet MS"/>
                <a:cs typeface="Trebuchet MS"/>
              </a:rPr>
              <a:t> </a:t>
            </a:r>
            <a:r>
              <a:rPr sz="3000" b="1" spc="130" dirty="0">
                <a:latin typeface="Trebuchet MS"/>
                <a:cs typeface="Trebuchet MS"/>
              </a:rPr>
              <a:t>impaired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90515" y="0"/>
            <a:ext cx="2197484" cy="16859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996" y="2423421"/>
            <a:ext cx="5162549" cy="15525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21393" y="3024306"/>
            <a:ext cx="4245610" cy="4229100"/>
          </a:xfrm>
          <a:custGeom>
            <a:avLst/>
            <a:gdLst/>
            <a:ahLst/>
            <a:cxnLst/>
            <a:rect l="l" t="t" r="r" b="b"/>
            <a:pathLst>
              <a:path w="4245609" h="4229100">
                <a:moveTo>
                  <a:pt x="2265958" y="12700"/>
                </a:moveTo>
                <a:lnTo>
                  <a:pt x="1979252" y="12700"/>
                </a:lnTo>
                <a:lnTo>
                  <a:pt x="2026768" y="0"/>
                </a:lnTo>
                <a:lnTo>
                  <a:pt x="2218443" y="0"/>
                </a:lnTo>
                <a:lnTo>
                  <a:pt x="2265958" y="12700"/>
                </a:lnTo>
                <a:close/>
              </a:path>
              <a:path w="4245609" h="4229100">
                <a:moveTo>
                  <a:pt x="2406758" y="25400"/>
                </a:moveTo>
                <a:lnTo>
                  <a:pt x="1838452" y="25400"/>
                </a:lnTo>
                <a:lnTo>
                  <a:pt x="1885083" y="12700"/>
                </a:lnTo>
                <a:lnTo>
                  <a:pt x="2360127" y="12700"/>
                </a:lnTo>
                <a:lnTo>
                  <a:pt x="2406758" y="25400"/>
                </a:lnTo>
                <a:close/>
              </a:path>
              <a:path w="4245609" h="4229100">
                <a:moveTo>
                  <a:pt x="2544703" y="50800"/>
                </a:moveTo>
                <a:lnTo>
                  <a:pt x="1700507" y="50800"/>
                </a:lnTo>
                <a:lnTo>
                  <a:pt x="1792138" y="25400"/>
                </a:lnTo>
                <a:lnTo>
                  <a:pt x="2453072" y="25400"/>
                </a:lnTo>
                <a:lnTo>
                  <a:pt x="2544703" y="50800"/>
                </a:lnTo>
                <a:close/>
              </a:path>
              <a:path w="4245609" h="4229100">
                <a:moveTo>
                  <a:pt x="2634930" y="4191000"/>
                </a:moveTo>
                <a:lnTo>
                  <a:pt x="1610281" y="4191000"/>
                </a:lnTo>
                <a:lnTo>
                  <a:pt x="1434399" y="4140200"/>
                </a:lnTo>
                <a:lnTo>
                  <a:pt x="1391446" y="4114800"/>
                </a:lnTo>
                <a:lnTo>
                  <a:pt x="1306841" y="4089400"/>
                </a:lnTo>
                <a:lnTo>
                  <a:pt x="1265212" y="4064000"/>
                </a:lnTo>
                <a:lnTo>
                  <a:pt x="1224045" y="4051300"/>
                </a:lnTo>
                <a:lnTo>
                  <a:pt x="1183353" y="4025900"/>
                </a:lnTo>
                <a:lnTo>
                  <a:pt x="1143147" y="4013200"/>
                </a:lnTo>
                <a:lnTo>
                  <a:pt x="1064237" y="3962400"/>
                </a:lnTo>
                <a:lnTo>
                  <a:pt x="1025556" y="3937000"/>
                </a:lnTo>
                <a:lnTo>
                  <a:pt x="987406" y="3924300"/>
                </a:lnTo>
                <a:lnTo>
                  <a:pt x="949797" y="3898900"/>
                </a:lnTo>
                <a:lnTo>
                  <a:pt x="912742" y="3873500"/>
                </a:lnTo>
                <a:lnTo>
                  <a:pt x="876251" y="3848100"/>
                </a:lnTo>
                <a:lnTo>
                  <a:pt x="840336" y="3822700"/>
                </a:lnTo>
                <a:lnTo>
                  <a:pt x="805008" y="3784600"/>
                </a:lnTo>
                <a:lnTo>
                  <a:pt x="770278" y="3759200"/>
                </a:lnTo>
                <a:lnTo>
                  <a:pt x="736157" y="3733800"/>
                </a:lnTo>
                <a:lnTo>
                  <a:pt x="702657" y="3708400"/>
                </a:lnTo>
                <a:lnTo>
                  <a:pt x="669789" y="3670300"/>
                </a:lnTo>
                <a:lnTo>
                  <a:pt x="637564" y="3644900"/>
                </a:lnTo>
                <a:lnTo>
                  <a:pt x="605993" y="3606800"/>
                </a:lnTo>
                <a:lnTo>
                  <a:pt x="575088" y="3581400"/>
                </a:lnTo>
                <a:lnTo>
                  <a:pt x="544860" y="3543300"/>
                </a:lnTo>
                <a:lnTo>
                  <a:pt x="515319" y="3517900"/>
                </a:lnTo>
                <a:lnTo>
                  <a:pt x="486478" y="3479800"/>
                </a:lnTo>
                <a:lnTo>
                  <a:pt x="458348" y="3441700"/>
                </a:lnTo>
                <a:lnTo>
                  <a:pt x="430939" y="3403600"/>
                </a:lnTo>
                <a:lnTo>
                  <a:pt x="404263" y="3378200"/>
                </a:lnTo>
                <a:lnTo>
                  <a:pt x="378331" y="3340100"/>
                </a:lnTo>
                <a:lnTo>
                  <a:pt x="353155" y="3302000"/>
                </a:lnTo>
                <a:lnTo>
                  <a:pt x="328746" y="3263900"/>
                </a:lnTo>
                <a:lnTo>
                  <a:pt x="305114" y="3225800"/>
                </a:lnTo>
                <a:lnTo>
                  <a:pt x="282271" y="3187700"/>
                </a:lnTo>
                <a:lnTo>
                  <a:pt x="260229" y="3149600"/>
                </a:lnTo>
                <a:lnTo>
                  <a:pt x="238999" y="3098800"/>
                </a:lnTo>
                <a:lnTo>
                  <a:pt x="218591" y="3060700"/>
                </a:lnTo>
                <a:lnTo>
                  <a:pt x="199017" y="3022600"/>
                </a:lnTo>
                <a:lnTo>
                  <a:pt x="180289" y="2984500"/>
                </a:lnTo>
                <a:lnTo>
                  <a:pt x="162417" y="2946400"/>
                </a:lnTo>
                <a:lnTo>
                  <a:pt x="145413" y="2895600"/>
                </a:lnTo>
                <a:lnTo>
                  <a:pt x="129288" y="2857500"/>
                </a:lnTo>
                <a:lnTo>
                  <a:pt x="114053" y="2819400"/>
                </a:lnTo>
                <a:lnTo>
                  <a:pt x="99720" y="2768600"/>
                </a:lnTo>
                <a:lnTo>
                  <a:pt x="86299" y="2730500"/>
                </a:lnTo>
                <a:lnTo>
                  <a:pt x="73803" y="2679700"/>
                </a:lnTo>
                <a:lnTo>
                  <a:pt x="62241" y="2641600"/>
                </a:lnTo>
                <a:lnTo>
                  <a:pt x="51626" y="2590800"/>
                </a:lnTo>
                <a:lnTo>
                  <a:pt x="41969" y="2552700"/>
                </a:lnTo>
                <a:lnTo>
                  <a:pt x="33280" y="2501900"/>
                </a:lnTo>
                <a:lnTo>
                  <a:pt x="25572" y="2451100"/>
                </a:lnTo>
                <a:lnTo>
                  <a:pt x="18855" y="2413000"/>
                </a:lnTo>
                <a:lnTo>
                  <a:pt x="13140" y="2362200"/>
                </a:lnTo>
                <a:lnTo>
                  <a:pt x="8439" y="2311400"/>
                </a:lnTo>
                <a:lnTo>
                  <a:pt x="4764" y="2273300"/>
                </a:lnTo>
                <a:lnTo>
                  <a:pt x="2124" y="2222500"/>
                </a:lnTo>
                <a:lnTo>
                  <a:pt x="532" y="2171700"/>
                </a:lnTo>
                <a:lnTo>
                  <a:pt x="0" y="2120900"/>
                </a:lnTo>
                <a:lnTo>
                  <a:pt x="532" y="2082800"/>
                </a:lnTo>
                <a:lnTo>
                  <a:pt x="2124" y="2032000"/>
                </a:lnTo>
                <a:lnTo>
                  <a:pt x="4764" y="1981200"/>
                </a:lnTo>
                <a:lnTo>
                  <a:pt x="8439" y="1930400"/>
                </a:lnTo>
                <a:lnTo>
                  <a:pt x="13140" y="1892300"/>
                </a:lnTo>
                <a:lnTo>
                  <a:pt x="18855" y="1841500"/>
                </a:lnTo>
                <a:lnTo>
                  <a:pt x="25572" y="1790700"/>
                </a:lnTo>
                <a:lnTo>
                  <a:pt x="33280" y="1752600"/>
                </a:lnTo>
                <a:lnTo>
                  <a:pt x="41969" y="1701800"/>
                </a:lnTo>
                <a:lnTo>
                  <a:pt x="51626" y="1663700"/>
                </a:lnTo>
                <a:lnTo>
                  <a:pt x="62241" y="1612900"/>
                </a:lnTo>
                <a:lnTo>
                  <a:pt x="73803" y="1574800"/>
                </a:lnTo>
                <a:lnTo>
                  <a:pt x="86299" y="1524000"/>
                </a:lnTo>
                <a:lnTo>
                  <a:pt x="99720" y="1485900"/>
                </a:lnTo>
                <a:lnTo>
                  <a:pt x="114053" y="1435100"/>
                </a:lnTo>
                <a:lnTo>
                  <a:pt x="129288" y="1397000"/>
                </a:lnTo>
                <a:lnTo>
                  <a:pt x="145413" y="1346200"/>
                </a:lnTo>
                <a:lnTo>
                  <a:pt x="162417" y="1308100"/>
                </a:lnTo>
                <a:lnTo>
                  <a:pt x="180289" y="1270000"/>
                </a:lnTo>
                <a:lnTo>
                  <a:pt x="199017" y="1231900"/>
                </a:lnTo>
                <a:lnTo>
                  <a:pt x="218591" y="1181100"/>
                </a:lnTo>
                <a:lnTo>
                  <a:pt x="238999" y="1143000"/>
                </a:lnTo>
                <a:lnTo>
                  <a:pt x="260229" y="1104900"/>
                </a:lnTo>
                <a:lnTo>
                  <a:pt x="282271" y="1066800"/>
                </a:lnTo>
                <a:lnTo>
                  <a:pt x="305114" y="1028700"/>
                </a:lnTo>
                <a:lnTo>
                  <a:pt x="328746" y="990600"/>
                </a:lnTo>
                <a:lnTo>
                  <a:pt x="353155" y="952500"/>
                </a:lnTo>
                <a:lnTo>
                  <a:pt x="378331" y="914400"/>
                </a:lnTo>
                <a:lnTo>
                  <a:pt x="404263" y="876300"/>
                </a:lnTo>
                <a:lnTo>
                  <a:pt x="430939" y="838200"/>
                </a:lnTo>
                <a:lnTo>
                  <a:pt x="458348" y="812800"/>
                </a:lnTo>
                <a:lnTo>
                  <a:pt x="486478" y="774700"/>
                </a:lnTo>
                <a:lnTo>
                  <a:pt x="515319" y="736600"/>
                </a:lnTo>
                <a:lnTo>
                  <a:pt x="544860" y="711200"/>
                </a:lnTo>
                <a:lnTo>
                  <a:pt x="575088" y="673100"/>
                </a:lnTo>
                <a:lnTo>
                  <a:pt x="605993" y="635000"/>
                </a:lnTo>
                <a:lnTo>
                  <a:pt x="637564" y="609600"/>
                </a:lnTo>
                <a:lnTo>
                  <a:pt x="669789" y="584200"/>
                </a:lnTo>
                <a:lnTo>
                  <a:pt x="702657" y="546100"/>
                </a:lnTo>
                <a:lnTo>
                  <a:pt x="736157" y="520700"/>
                </a:lnTo>
                <a:lnTo>
                  <a:pt x="770278" y="495300"/>
                </a:lnTo>
                <a:lnTo>
                  <a:pt x="805008" y="457200"/>
                </a:lnTo>
                <a:lnTo>
                  <a:pt x="840336" y="431800"/>
                </a:lnTo>
                <a:lnTo>
                  <a:pt x="876251" y="406400"/>
                </a:lnTo>
                <a:lnTo>
                  <a:pt x="912742" y="381000"/>
                </a:lnTo>
                <a:lnTo>
                  <a:pt x="949797" y="355600"/>
                </a:lnTo>
                <a:lnTo>
                  <a:pt x="1025556" y="304800"/>
                </a:lnTo>
                <a:lnTo>
                  <a:pt x="1064237" y="279400"/>
                </a:lnTo>
                <a:lnTo>
                  <a:pt x="1103438" y="266700"/>
                </a:lnTo>
                <a:lnTo>
                  <a:pt x="1183353" y="215900"/>
                </a:lnTo>
                <a:lnTo>
                  <a:pt x="1224045" y="203200"/>
                </a:lnTo>
                <a:lnTo>
                  <a:pt x="1265212" y="177800"/>
                </a:lnTo>
                <a:lnTo>
                  <a:pt x="1348923" y="152400"/>
                </a:lnTo>
                <a:lnTo>
                  <a:pt x="1391446" y="127000"/>
                </a:lnTo>
                <a:lnTo>
                  <a:pt x="1655213" y="50800"/>
                </a:lnTo>
                <a:lnTo>
                  <a:pt x="2589997" y="50800"/>
                </a:lnTo>
                <a:lnTo>
                  <a:pt x="2853764" y="127000"/>
                </a:lnTo>
                <a:lnTo>
                  <a:pt x="2896287" y="152400"/>
                </a:lnTo>
                <a:lnTo>
                  <a:pt x="2979998" y="177800"/>
                </a:lnTo>
                <a:lnTo>
                  <a:pt x="3021165" y="203200"/>
                </a:lnTo>
                <a:lnTo>
                  <a:pt x="3061857" y="215900"/>
                </a:lnTo>
                <a:lnTo>
                  <a:pt x="3141772" y="266700"/>
                </a:lnTo>
                <a:lnTo>
                  <a:pt x="3180973" y="279400"/>
                </a:lnTo>
                <a:lnTo>
                  <a:pt x="3219654" y="304800"/>
                </a:lnTo>
                <a:lnTo>
                  <a:pt x="3295413" y="355600"/>
                </a:lnTo>
                <a:lnTo>
                  <a:pt x="3332468" y="381000"/>
                </a:lnTo>
                <a:lnTo>
                  <a:pt x="3368959" y="406400"/>
                </a:lnTo>
                <a:lnTo>
                  <a:pt x="3404874" y="431800"/>
                </a:lnTo>
                <a:lnTo>
                  <a:pt x="3440202" y="457200"/>
                </a:lnTo>
                <a:lnTo>
                  <a:pt x="3474932" y="495300"/>
                </a:lnTo>
                <a:lnTo>
                  <a:pt x="3509053" y="520700"/>
                </a:lnTo>
                <a:lnTo>
                  <a:pt x="3542553" y="546100"/>
                </a:lnTo>
                <a:lnTo>
                  <a:pt x="3575421" y="584200"/>
                </a:lnTo>
                <a:lnTo>
                  <a:pt x="3607646" y="609600"/>
                </a:lnTo>
                <a:lnTo>
                  <a:pt x="3639217" y="635000"/>
                </a:lnTo>
                <a:lnTo>
                  <a:pt x="3670122" y="673100"/>
                </a:lnTo>
                <a:lnTo>
                  <a:pt x="3700350" y="711200"/>
                </a:lnTo>
                <a:lnTo>
                  <a:pt x="3729890" y="736600"/>
                </a:lnTo>
                <a:lnTo>
                  <a:pt x="3758731" y="774700"/>
                </a:lnTo>
                <a:lnTo>
                  <a:pt x="3786862" y="812800"/>
                </a:lnTo>
                <a:lnTo>
                  <a:pt x="3814271" y="838200"/>
                </a:lnTo>
                <a:lnTo>
                  <a:pt x="3840947" y="876300"/>
                </a:lnTo>
                <a:lnTo>
                  <a:pt x="3866878" y="914400"/>
                </a:lnTo>
                <a:lnTo>
                  <a:pt x="3892055" y="952500"/>
                </a:lnTo>
                <a:lnTo>
                  <a:pt x="3916464" y="990600"/>
                </a:lnTo>
                <a:lnTo>
                  <a:pt x="3940096" y="1028700"/>
                </a:lnTo>
                <a:lnTo>
                  <a:pt x="3962938" y="1066800"/>
                </a:lnTo>
                <a:lnTo>
                  <a:pt x="3984981" y="1104900"/>
                </a:lnTo>
                <a:lnTo>
                  <a:pt x="4006211" y="1143000"/>
                </a:lnTo>
                <a:lnTo>
                  <a:pt x="4026619" y="1181100"/>
                </a:lnTo>
                <a:lnTo>
                  <a:pt x="4046193" y="1231900"/>
                </a:lnTo>
                <a:lnTo>
                  <a:pt x="4064921" y="1270000"/>
                </a:lnTo>
                <a:lnTo>
                  <a:pt x="4082793" y="1308100"/>
                </a:lnTo>
                <a:lnTo>
                  <a:pt x="4099797" y="1346200"/>
                </a:lnTo>
                <a:lnTo>
                  <a:pt x="4115922" y="1397000"/>
                </a:lnTo>
                <a:lnTo>
                  <a:pt x="4131157" y="1435100"/>
                </a:lnTo>
                <a:lnTo>
                  <a:pt x="4145490" y="1485900"/>
                </a:lnTo>
                <a:lnTo>
                  <a:pt x="4158911" y="1524000"/>
                </a:lnTo>
                <a:lnTo>
                  <a:pt x="4171407" y="1574800"/>
                </a:lnTo>
                <a:lnTo>
                  <a:pt x="4182969" y="1612900"/>
                </a:lnTo>
                <a:lnTo>
                  <a:pt x="4193584" y="1663700"/>
                </a:lnTo>
                <a:lnTo>
                  <a:pt x="4203241" y="1701800"/>
                </a:lnTo>
                <a:lnTo>
                  <a:pt x="4211930" y="1752600"/>
                </a:lnTo>
                <a:lnTo>
                  <a:pt x="4219638" y="1790700"/>
                </a:lnTo>
                <a:lnTo>
                  <a:pt x="4226355" y="1841500"/>
                </a:lnTo>
                <a:lnTo>
                  <a:pt x="4232070" y="1892300"/>
                </a:lnTo>
                <a:lnTo>
                  <a:pt x="4236771" y="1930400"/>
                </a:lnTo>
                <a:lnTo>
                  <a:pt x="4240446" y="1981200"/>
                </a:lnTo>
                <a:lnTo>
                  <a:pt x="4243086" y="2032000"/>
                </a:lnTo>
                <a:lnTo>
                  <a:pt x="4244677" y="2082800"/>
                </a:lnTo>
                <a:lnTo>
                  <a:pt x="4245211" y="2108200"/>
                </a:lnTo>
                <a:lnTo>
                  <a:pt x="4244677" y="2171700"/>
                </a:lnTo>
                <a:lnTo>
                  <a:pt x="4243086" y="2222500"/>
                </a:lnTo>
                <a:lnTo>
                  <a:pt x="4240446" y="2273300"/>
                </a:lnTo>
                <a:lnTo>
                  <a:pt x="4236771" y="2311400"/>
                </a:lnTo>
                <a:lnTo>
                  <a:pt x="4232070" y="2362200"/>
                </a:lnTo>
                <a:lnTo>
                  <a:pt x="4226355" y="2413000"/>
                </a:lnTo>
                <a:lnTo>
                  <a:pt x="4219638" y="2451100"/>
                </a:lnTo>
                <a:lnTo>
                  <a:pt x="4211930" y="2501900"/>
                </a:lnTo>
                <a:lnTo>
                  <a:pt x="4203241" y="2552700"/>
                </a:lnTo>
                <a:lnTo>
                  <a:pt x="4193584" y="2590800"/>
                </a:lnTo>
                <a:lnTo>
                  <a:pt x="4182969" y="2641600"/>
                </a:lnTo>
                <a:lnTo>
                  <a:pt x="4171407" y="2679700"/>
                </a:lnTo>
                <a:lnTo>
                  <a:pt x="4158911" y="2730500"/>
                </a:lnTo>
                <a:lnTo>
                  <a:pt x="4145490" y="2768600"/>
                </a:lnTo>
                <a:lnTo>
                  <a:pt x="4131157" y="2819400"/>
                </a:lnTo>
                <a:lnTo>
                  <a:pt x="4115922" y="2857500"/>
                </a:lnTo>
                <a:lnTo>
                  <a:pt x="4099797" y="2895600"/>
                </a:lnTo>
                <a:lnTo>
                  <a:pt x="4082793" y="2946400"/>
                </a:lnTo>
                <a:lnTo>
                  <a:pt x="4064921" y="2984500"/>
                </a:lnTo>
                <a:lnTo>
                  <a:pt x="4046193" y="3022600"/>
                </a:lnTo>
                <a:lnTo>
                  <a:pt x="4026619" y="3060700"/>
                </a:lnTo>
                <a:lnTo>
                  <a:pt x="4006211" y="3098800"/>
                </a:lnTo>
                <a:lnTo>
                  <a:pt x="3984981" y="3149600"/>
                </a:lnTo>
                <a:lnTo>
                  <a:pt x="3962938" y="3187700"/>
                </a:lnTo>
                <a:lnTo>
                  <a:pt x="3940096" y="3225800"/>
                </a:lnTo>
                <a:lnTo>
                  <a:pt x="3916464" y="3263900"/>
                </a:lnTo>
                <a:lnTo>
                  <a:pt x="3892055" y="3302000"/>
                </a:lnTo>
                <a:lnTo>
                  <a:pt x="3866878" y="3340100"/>
                </a:lnTo>
                <a:lnTo>
                  <a:pt x="3840947" y="3378200"/>
                </a:lnTo>
                <a:lnTo>
                  <a:pt x="3814271" y="3403600"/>
                </a:lnTo>
                <a:lnTo>
                  <a:pt x="3786862" y="3441700"/>
                </a:lnTo>
                <a:lnTo>
                  <a:pt x="3758731" y="3479800"/>
                </a:lnTo>
                <a:lnTo>
                  <a:pt x="3729890" y="3517900"/>
                </a:lnTo>
                <a:lnTo>
                  <a:pt x="3700350" y="3543300"/>
                </a:lnTo>
                <a:lnTo>
                  <a:pt x="3670122" y="3581400"/>
                </a:lnTo>
                <a:lnTo>
                  <a:pt x="3639217" y="3606800"/>
                </a:lnTo>
                <a:lnTo>
                  <a:pt x="3607646" y="3644900"/>
                </a:lnTo>
                <a:lnTo>
                  <a:pt x="3575421" y="3670300"/>
                </a:lnTo>
                <a:lnTo>
                  <a:pt x="3542553" y="3708400"/>
                </a:lnTo>
                <a:lnTo>
                  <a:pt x="3509053" y="3733800"/>
                </a:lnTo>
                <a:lnTo>
                  <a:pt x="3474932" y="3759200"/>
                </a:lnTo>
                <a:lnTo>
                  <a:pt x="3440202" y="3784600"/>
                </a:lnTo>
                <a:lnTo>
                  <a:pt x="3404874" y="3822700"/>
                </a:lnTo>
                <a:lnTo>
                  <a:pt x="3368959" y="3848100"/>
                </a:lnTo>
                <a:lnTo>
                  <a:pt x="3332468" y="3873500"/>
                </a:lnTo>
                <a:lnTo>
                  <a:pt x="3295413" y="3898900"/>
                </a:lnTo>
                <a:lnTo>
                  <a:pt x="3257804" y="3924300"/>
                </a:lnTo>
                <a:lnTo>
                  <a:pt x="3219654" y="3937000"/>
                </a:lnTo>
                <a:lnTo>
                  <a:pt x="3180973" y="3962400"/>
                </a:lnTo>
                <a:lnTo>
                  <a:pt x="3102063" y="4013200"/>
                </a:lnTo>
                <a:lnTo>
                  <a:pt x="3061857" y="4025900"/>
                </a:lnTo>
                <a:lnTo>
                  <a:pt x="3021165" y="4051300"/>
                </a:lnTo>
                <a:lnTo>
                  <a:pt x="2979998" y="4064000"/>
                </a:lnTo>
                <a:lnTo>
                  <a:pt x="2938369" y="4089400"/>
                </a:lnTo>
                <a:lnTo>
                  <a:pt x="2853764" y="4114800"/>
                </a:lnTo>
                <a:lnTo>
                  <a:pt x="2810811" y="4140200"/>
                </a:lnTo>
                <a:lnTo>
                  <a:pt x="2634930" y="4191000"/>
                </a:lnTo>
                <a:close/>
              </a:path>
              <a:path w="4245609" h="4229100">
                <a:moveTo>
                  <a:pt x="2499057" y="4216400"/>
                </a:moveTo>
                <a:lnTo>
                  <a:pt x="1746153" y="4216400"/>
                </a:lnTo>
                <a:lnTo>
                  <a:pt x="1655213" y="4191000"/>
                </a:lnTo>
                <a:lnTo>
                  <a:pt x="2589997" y="4191000"/>
                </a:lnTo>
                <a:lnTo>
                  <a:pt x="2499057" y="4216400"/>
                </a:lnTo>
                <a:close/>
              </a:path>
              <a:path w="4245609" h="4229100">
                <a:moveTo>
                  <a:pt x="2406758" y="4229100"/>
                </a:moveTo>
                <a:lnTo>
                  <a:pt x="1838452" y="4229100"/>
                </a:lnTo>
                <a:lnTo>
                  <a:pt x="1792138" y="4216400"/>
                </a:lnTo>
                <a:lnTo>
                  <a:pt x="2453072" y="4216400"/>
                </a:lnTo>
                <a:lnTo>
                  <a:pt x="2406758" y="4229100"/>
                </a:lnTo>
                <a:close/>
              </a:path>
            </a:pathLst>
          </a:custGeom>
          <a:solidFill>
            <a:srgbClr val="2523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99"/>
              </a:lnSpc>
              <a:spcBef>
                <a:spcPts val="95"/>
              </a:spcBef>
            </a:pPr>
            <a:r>
              <a:rPr spc="-170" dirty="0"/>
              <a:t>200+ </a:t>
            </a:r>
            <a:r>
              <a:rPr spc="-165" dirty="0"/>
              <a:t> </a:t>
            </a:r>
            <a:r>
              <a:rPr spc="130" dirty="0"/>
              <a:t>CURRENT </a:t>
            </a:r>
            <a:r>
              <a:rPr spc="135" dirty="0"/>
              <a:t> </a:t>
            </a:r>
            <a:r>
              <a:rPr spc="190" dirty="0"/>
              <a:t>U</a:t>
            </a:r>
            <a:r>
              <a:rPr spc="20" dirty="0"/>
              <a:t>S</a:t>
            </a:r>
            <a:r>
              <a:rPr spc="215" dirty="0"/>
              <a:t>E</a:t>
            </a:r>
            <a:r>
              <a:rPr spc="35" dirty="0"/>
              <a:t>R</a:t>
            </a:r>
            <a:r>
              <a:rPr spc="300" dirty="0"/>
              <a:t>B</a:t>
            </a:r>
            <a:r>
              <a:rPr spc="310" dirty="0"/>
              <a:t>A</a:t>
            </a:r>
            <a:r>
              <a:rPr spc="20" dirty="0"/>
              <a:t>S</a:t>
            </a:r>
            <a:r>
              <a:rPr spc="140" dirty="0"/>
              <a:t>E  </a:t>
            </a:r>
            <a:r>
              <a:rPr spc="240" dirty="0"/>
              <a:t>DEMAND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3734" y="4501025"/>
            <a:ext cx="2305049" cy="23050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8631" y="445668"/>
            <a:ext cx="4514849" cy="253364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422408" y="367798"/>
            <a:ext cx="7277734" cy="9658350"/>
            <a:chOff x="3422408" y="367798"/>
            <a:chExt cx="7277734" cy="965835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8087" y="367798"/>
              <a:ext cx="2695574" cy="26955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2408" y="6901538"/>
              <a:ext cx="4162424" cy="3124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85463" y="7945222"/>
              <a:ext cx="3114674" cy="207644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33156" y="6706058"/>
            <a:ext cx="2541740" cy="30003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35253" y="3528713"/>
            <a:ext cx="3000677" cy="146642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360034" y="5210957"/>
            <a:ext cx="3335654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 marR="5080" indent="-948055">
              <a:lnSpc>
                <a:spcPct val="114599"/>
              </a:lnSpc>
              <a:spcBef>
                <a:spcPts val="100"/>
              </a:spcBef>
            </a:pPr>
            <a:r>
              <a:rPr sz="2400" b="1" spc="114" dirty="0">
                <a:latin typeface="Trebuchet MS"/>
                <a:cs typeface="Trebuchet MS"/>
              </a:rPr>
              <a:t>SAI</a:t>
            </a:r>
            <a:r>
              <a:rPr sz="2400" b="1" spc="-135" dirty="0">
                <a:latin typeface="Trebuchet MS"/>
                <a:cs typeface="Trebuchet MS"/>
              </a:rPr>
              <a:t> </a:t>
            </a:r>
            <a:r>
              <a:rPr sz="2400" b="1" spc="110" dirty="0">
                <a:latin typeface="Trebuchet MS"/>
                <a:cs typeface="Trebuchet MS"/>
              </a:rPr>
              <a:t>NETRAHEEN</a:t>
            </a:r>
            <a:r>
              <a:rPr sz="2400" b="1" spc="-130" dirty="0">
                <a:latin typeface="Trebuchet MS"/>
                <a:cs typeface="Trebuchet MS"/>
              </a:rPr>
              <a:t> </a:t>
            </a:r>
            <a:r>
              <a:rPr sz="2400" b="1" spc="100" dirty="0">
                <a:latin typeface="Trebuchet MS"/>
                <a:cs typeface="Trebuchet MS"/>
              </a:rPr>
              <a:t>SEWA </a:t>
            </a:r>
            <a:r>
              <a:rPr sz="2400" b="1" spc="-705" dirty="0">
                <a:latin typeface="Trebuchet MS"/>
                <a:cs typeface="Trebuchet MS"/>
              </a:rPr>
              <a:t> </a:t>
            </a:r>
            <a:r>
              <a:rPr sz="2400" b="1" spc="130" dirty="0">
                <a:latin typeface="Trebuchet MS"/>
                <a:cs typeface="Trebuchet MS"/>
              </a:rPr>
              <a:t>SANSTHA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48625" cy="8912225"/>
            <a:chOff x="0" y="0"/>
            <a:chExt cx="8048625" cy="891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333624" cy="1685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50" y="1377893"/>
              <a:ext cx="7534274" cy="75342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10420" y="562133"/>
            <a:ext cx="5151755" cy="26543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marR="5080">
              <a:lnSpc>
                <a:spcPts val="9900"/>
              </a:lnSpc>
              <a:spcBef>
                <a:spcPts val="1100"/>
              </a:spcBef>
            </a:pPr>
            <a:r>
              <a:rPr sz="9000" spc="-105" dirty="0">
                <a:solidFill>
                  <a:srgbClr val="252324"/>
                </a:solidFill>
              </a:rPr>
              <a:t>SIZE </a:t>
            </a:r>
            <a:r>
              <a:rPr sz="9000" spc="590" dirty="0">
                <a:solidFill>
                  <a:srgbClr val="252324"/>
                </a:solidFill>
              </a:rPr>
              <a:t>OF </a:t>
            </a:r>
            <a:r>
              <a:rPr sz="9000" spc="595" dirty="0">
                <a:solidFill>
                  <a:srgbClr val="252324"/>
                </a:solidFill>
              </a:rPr>
              <a:t> </a:t>
            </a:r>
            <a:r>
              <a:rPr sz="9000" spc="555" dirty="0">
                <a:solidFill>
                  <a:srgbClr val="252324"/>
                </a:solidFill>
              </a:rPr>
              <a:t>M</a:t>
            </a:r>
            <a:r>
              <a:rPr sz="9000" spc="730" dirty="0">
                <a:solidFill>
                  <a:srgbClr val="252324"/>
                </a:solidFill>
              </a:rPr>
              <a:t>A</a:t>
            </a:r>
            <a:r>
              <a:rPr sz="9000" spc="80" dirty="0">
                <a:solidFill>
                  <a:srgbClr val="252324"/>
                </a:solidFill>
              </a:rPr>
              <a:t>R</a:t>
            </a:r>
            <a:r>
              <a:rPr sz="9000" spc="390" dirty="0">
                <a:solidFill>
                  <a:srgbClr val="252324"/>
                </a:solidFill>
              </a:rPr>
              <a:t>K</a:t>
            </a:r>
            <a:r>
              <a:rPr sz="9000" spc="500" dirty="0">
                <a:solidFill>
                  <a:srgbClr val="252324"/>
                </a:solidFill>
              </a:rPr>
              <a:t>E</a:t>
            </a:r>
            <a:r>
              <a:rPr sz="9000" spc="50" dirty="0">
                <a:solidFill>
                  <a:srgbClr val="252324"/>
                </a:solidFill>
              </a:rPr>
              <a:t>T</a:t>
            </a:r>
            <a:endParaRPr sz="90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7445" y="4819610"/>
            <a:ext cx="133349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758120" y="4549735"/>
            <a:ext cx="5797550" cy="2875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Serviceable</a:t>
            </a:r>
            <a:r>
              <a:rPr sz="3000" spc="-17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Obtainable</a:t>
            </a:r>
            <a:r>
              <a:rPr sz="3000" spc="-16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Market:</a:t>
            </a:r>
            <a:endParaRPr sz="3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spc="-160" dirty="0">
                <a:solidFill>
                  <a:srgbClr val="252324"/>
                </a:solidFill>
                <a:latin typeface="Lucida Sans Unicode"/>
                <a:cs typeface="Lucida Sans Unicode"/>
              </a:rPr>
              <a:t>$25–150</a:t>
            </a:r>
            <a:r>
              <a:rPr sz="3000" spc="-17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75" dirty="0">
                <a:solidFill>
                  <a:srgbClr val="252324"/>
                </a:solidFill>
                <a:latin typeface="Lucida Sans Unicode"/>
                <a:cs typeface="Lucida Sans Unicode"/>
              </a:rPr>
              <a:t>million</a:t>
            </a:r>
            <a:endParaRPr sz="3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0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300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Serviceable</a:t>
            </a:r>
            <a:r>
              <a:rPr sz="3000" spc="-18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55" dirty="0">
                <a:solidFill>
                  <a:srgbClr val="252324"/>
                </a:solidFill>
                <a:latin typeface="Lucida Sans Unicode"/>
                <a:cs typeface="Lucida Sans Unicode"/>
              </a:rPr>
              <a:t>Addressable</a:t>
            </a:r>
            <a:r>
              <a:rPr sz="3000" spc="-18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Market:</a:t>
            </a:r>
            <a:endParaRPr sz="3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spc="-185" dirty="0">
                <a:solidFill>
                  <a:srgbClr val="252324"/>
                </a:solidFill>
                <a:latin typeface="Lucida Sans Unicode"/>
                <a:cs typeface="Lucida Sans Unicode"/>
              </a:rPr>
              <a:t>$500</a:t>
            </a:r>
            <a:r>
              <a:rPr sz="3000" spc="-17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100" dirty="0">
                <a:solidFill>
                  <a:srgbClr val="252324"/>
                </a:solidFill>
                <a:latin typeface="Lucida Sans Unicode"/>
                <a:cs typeface="Lucida Sans Unicode"/>
              </a:rPr>
              <a:t>million–$1.5</a:t>
            </a:r>
            <a:r>
              <a:rPr sz="3000" spc="-17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3000" spc="-80" dirty="0">
                <a:solidFill>
                  <a:srgbClr val="252324"/>
                </a:solidFill>
                <a:latin typeface="Lucida Sans Unicode"/>
                <a:cs typeface="Lucida Sans Unicode"/>
              </a:rPr>
              <a:t>billion</a:t>
            </a:r>
            <a:endParaRPr sz="300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7445" y="6602471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7920" y="8629650"/>
            <a:ext cx="123825" cy="1238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33713" y="8366442"/>
            <a:ext cx="4490720" cy="10350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50" spc="-65" dirty="0">
                <a:solidFill>
                  <a:srgbClr val="252324"/>
                </a:solidFill>
                <a:latin typeface="Lucida Sans Unicode"/>
                <a:cs typeface="Lucida Sans Unicode"/>
              </a:rPr>
              <a:t>Total</a:t>
            </a:r>
            <a:r>
              <a:rPr sz="2850" spc="-15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850" spc="-35" dirty="0">
                <a:solidFill>
                  <a:srgbClr val="252324"/>
                </a:solidFill>
                <a:latin typeface="Lucida Sans Unicode"/>
                <a:cs typeface="Lucida Sans Unicode"/>
              </a:rPr>
              <a:t>Addressable</a:t>
            </a:r>
            <a:r>
              <a:rPr sz="2850" spc="-15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850" spc="-15" dirty="0">
                <a:solidFill>
                  <a:srgbClr val="252324"/>
                </a:solidFill>
                <a:latin typeface="Lucida Sans Unicode"/>
                <a:cs typeface="Lucida Sans Unicode"/>
              </a:rPr>
              <a:t>Market:</a:t>
            </a:r>
            <a:endParaRPr sz="2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850" spc="-125" dirty="0">
                <a:solidFill>
                  <a:srgbClr val="252324"/>
                </a:solidFill>
                <a:latin typeface="Lucida Sans Unicode"/>
                <a:cs typeface="Lucida Sans Unicode"/>
              </a:rPr>
              <a:t>$1.25–3</a:t>
            </a:r>
            <a:r>
              <a:rPr sz="2850" spc="-155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850" spc="-60" dirty="0">
                <a:solidFill>
                  <a:srgbClr val="252324"/>
                </a:solidFill>
                <a:latin typeface="Lucida Sans Unicode"/>
                <a:cs typeface="Lucida Sans Unicode"/>
              </a:rPr>
              <a:t>billion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37357" y="3832383"/>
            <a:ext cx="6716395" cy="0"/>
          </a:xfrm>
          <a:custGeom>
            <a:avLst/>
            <a:gdLst/>
            <a:ahLst/>
            <a:cxnLst/>
            <a:rect l="l" t="t" r="r" b="b"/>
            <a:pathLst>
              <a:path w="6716394">
                <a:moveTo>
                  <a:pt x="6716069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9544" y="8535644"/>
            <a:ext cx="7310120" cy="1168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6300"/>
              </a:lnSpc>
              <a:spcBef>
                <a:spcPts val="90"/>
              </a:spcBef>
            </a:pPr>
            <a:r>
              <a:rPr sz="21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Global </a:t>
            </a:r>
            <a:r>
              <a:rPr sz="2150" spc="-40" dirty="0">
                <a:solidFill>
                  <a:srgbClr val="252324"/>
                </a:solidFill>
                <a:latin typeface="Lucida Sans Unicode"/>
                <a:cs typeface="Lucida Sans Unicode"/>
              </a:rPr>
              <a:t>assistive technology </a:t>
            </a:r>
            <a:r>
              <a:rPr sz="2150" spc="-15" dirty="0">
                <a:solidFill>
                  <a:srgbClr val="252324"/>
                </a:solidFill>
                <a:latin typeface="Lucida Sans Unicode"/>
                <a:cs typeface="Lucida Sans Unicode"/>
              </a:rPr>
              <a:t>market </a:t>
            </a:r>
            <a:r>
              <a:rPr sz="2150" spc="-55" dirty="0">
                <a:solidFill>
                  <a:srgbClr val="252324"/>
                </a:solidFill>
                <a:latin typeface="Lucida Sans Unicode"/>
                <a:cs typeface="Lucida Sans Unicode"/>
              </a:rPr>
              <a:t>(including </a:t>
            </a:r>
            <a:r>
              <a:rPr sz="21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education) </a:t>
            </a:r>
            <a:r>
              <a:rPr sz="2150" spc="-67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spc="-25" dirty="0">
                <a:solidFill>
                  <a:srgbClr val="252324"/>
                </a:solidFill>
                <a:latin typeface="Lucida Sans Unicode"/>
                <a:cs typeface="Lucida Sans Unicode"/>
              </a:rPr>
              <a:t>projected</a:t>
            </a:r>
            <a:r>
              <a:rPr sz="2150" spc="-12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252324"/>
                </a:solidFill>
                <a:latin typeface="Lucida Sans Unicode"/>
                <a:cs typeface="Lucida Sans Unicode"/>
              </a:rPr>
              <a:t>at</a:t>
            </a:r>
            <a:r>
              <a:rPr sz="2150" spc="-12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b="1" spc="-50" dirty="0">
                <a:solidFill>
                  <a:srgbClr val="252324"/>
                </a:solidFill>
                <a:latin typeface="Trebuchet MS"/>
                <a:cs typeface="Trebuchet MS"/>
              </a:rPr>
              <a:t>$25.4</a:t>
            </a:r>
            <a:r>
              <a:rPr sz="2150" b="1" spc="-9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150" b="1" spc="70" dirty="0">
                <a:solidFill>
                  <a:srgbClr val="252324"/>
                </a:solidFill>
                <a:latin typeface="Trebuchet MS"/>
                <a:cs typeface="Trebuchet MS"/>
              </a:rPr>
              <a:t>billion</a:t>
            </a:r>
            <a:r>
              <a:rPr sz="2150" b="1" spc="-8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150" b="1" spc="105" dirty="0">
                <a:solidFill>
                  <a:srgbClr val="252324"/>
                </a:solidFill>
                <a:latin typeface="Trebuchet MS"/>
                <a:cs typeface="Trebuchet MS"/>
              </a:rPr>
              <a:t>by</a:t>
            </a:r>
            <a:r>
              <a:rPr sz="2150" b="1" spc="-9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150" b="1" spc="-45" dirty="0">
                <a:solidFill>
                  <a:srgbClr val="252324"/>
                </a:solidFill>
                <a:latin typeface="Trebuchet MS"/>
                <a:cs typeface="Trebuchet MS"/>
              </a:rPr>
              <a:t>2030</a:t>
            </a:r>
            <a:r>
              <a:rPr sz="2150" spc="-45" dirty="0">
                <a:solidFill>
                  <a:srgbClr val="252324"/>
                </a:solidFill>
                <a:latin typeface="Lucida Sans Unicode"/>
                <a:cs typeface="Lucida Sans Unicode"/>
              </a:rPr>
              <a:t>,</a:t>
            </a:r>
            <a:r>
              <a:rPr sz="2150" spc="-12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spc="-50" dirty="0">
                <a:solidFill>
                  <a:srgbClr val="252324"/>
                </a:solidFill>
                <a:latin typeface="Lucida Sans Unicode"/>
                <a:cs typeface="Lucida Sans Unicode"/>
              </a:rPr>
              <a:t>growing</a:t>
            </a:r>
            <a:r>
              <a:rPr sz="2150" spc="-114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252324"/>
                </a:solidFill>
                <a:latin typeface="Lucida Sans Unicode"/>
                <a:cs typeface="Lucida Sans Unicode"/>
              </a:rPr>
              <a:t>at</a:t>
            </a:r>
            <a:r>
              <a:rPr sz="2150" spc="-12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spc="25" dirty="0">
                <a:solidFill>
                  <a:srgbClr val="252324"/>
                </a:solidFill>
                <a:latin typeface="Lucida Sans Unicode"/>
                <a:cs typeface="Lucida Sans Unicode"/>
              </a:rPr>
              <a:t>a</a:t>
            </a:r>
            <a:r>
              <a:rPr sz="2150" spc="-120" dirty="0">
                <a:solidFill>
                  <a:srgbClr val="252324"/>
                </a:solidFill>
                <a:latin typeface="Lucida Sans Unicode"/>
                <a:cs typeface="Lucida Sans Unicode"/>
              </a:rPr>
              <a:t> </a:t>
            </a:r>
            <a:r>
              <a:rPr sz="2150" b="1" spc="114" dirty="0">
                <a:solidFill>
                  <a:srgbClr val="252324"/>
                </a:solidFill>
                <a:latin typeface="Trebuchet MS"/>
                <a:cs typeface="Trebuchet MS"/>
              </a:rPr>
              <a:t>CAGR</a:t>
            </a:r>
            <a:r>
              <a:rPr sz="2150" b="1" spc="-8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150" b="1" spc="85" dirty="0">
                <a:solidFill>
                  <a:srgbClr val="252324"/>
                </a:solidFill>
                <a:latin typeface="Trebuchet MS"/>
                <a:cs typeface="Trebuchet MS"/>
              </a:rPr>
              <a:t>of </a:t>
            </a:r>
            <a:r>
              <a:rPr sz="2150" b="1" spc="-63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150" b="1" spc="70" dirty="0">
                <a:solidFill>
                  <a:srgbClr val="252324"/>
                </a:solidFill>
                <a:latin typeface="Trebuchet MS"/>
                <a:cs typeface="Trebuchet MS"/>
              </a:rPr>
              <a:t>5.8%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260" y="2129599"/>
            <a:ext cx="10582274" cy="71246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4743513"/>
            <a:ext cx="470408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50" spc="130" dirty="0">
                <a:solidFill>
                  <a:srgbClr val="000000"/>
                </a:solidFill>
              </a:rPr>
              <a:t>COMPETITORS</a:t>
            </a:r>
            <a:endParaRPr sz="47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72567" y="3209925"/>
            <a:ext cx="3837940" cy="842644"/>
            <a:chOff x="4272567" y="3209925"/>
            <a:chExt cx="3837940" cy="842644"/>
          </a:xfrm>
        </p:grpSpPr>
        <p:sp>
          <p:nvSpPr>
            <p:cNvPr id="3" name="object 3"/>
            <p:cNvSpPr/>
            <p:nvPr/>
          </p:nvSpPr>
          <p:spPr>
            <a:xfrm>
              <a:off x="4272567" y="3238499"/>
              <a:ext cx="3809365" cy="814069"/>
            </a:xfrm>
            <a:custGeom>
              <a:avLst/>
              <a:gdLst/>
              <a:ahLst/>
              <a:cxnLst/>
              <a:rect l="l" t="t" r="r" b="b"/>
              <a:pathLst>
                <a:path w="3809365" h="814070">
                  <a:moveTo>
                    <a:pt x="3402226" y="813553"/>
                  </a:moveTo>
                  <a:lnTo>
                    <a:pt x="406776" y="813553"/>
                  </a:lnTo>
                  <a:lnTo>
                    <a:pt x="359337" y="810816"/>
                  </a:lnTo>
                  <a:lnTo>
                    <a:pt x="313506" y="802809"/>
                  </a:lnTo>
                  <a:lnTo>
                    <a:pt x="269587" y="789838"/>
                  </a:lnTo>
                  <a:lnTo>
                    <a:pt x="227886" y="772207"/>
                  </a:lnTo>
                  <a:lnTo>
                    <a:pt x="188708" y="750222"/>
                  </a:lnTo>
                  <a:lnTo>
                    <a:pt x="152358" y="724188"/>
                  </a:lnTo>
                  <a:lnTo>
                    <a:pt x="119141" y="694410"/>
                  </a:lnTo>
                  <a:lnTo>
                    <a:pt x="89364" y="661194"/>
                  </a:lnTo>
                  <a:lnTo>
                    <a:pt x="63330" y="624844"/>
                  </a:lnTo>
                  <a:lnTo>
                    <a:pt x="41345" y="585666"/>
                  </a:lnTo>
                  <a:lnTo>
                    <a:pt x="23714" y="543965"/>
                  </a:lnTo>
                  <a:lnTo>
                    <a:pt x="10743" y="500046"/>
                  </a:lnTo>
                  <a:lnTo>
                    <a:pt x="2736" y="454215"/>
                  </a:lnTo>
                  <a:lnTo>
                    <a:pt x="0" y="406780"/>
                  </a:lnTo>
                  <a:lnTo>
                    <a:pt x="2736" y="359337"/>
                  </a:lnTo>
                  <a:lnTo>
                    <a:pt x="10743" y="313506"/>
                  </a:lnTo>
                  <a:lnTo>
                    <a:pt x="23714" y="269587"/>
                  </a:lnTo>
                  <a:lnTo>
                    <a:pt x="41345" y="227886"/>
                  </a:lnTo>
                  <a:lnTo>
                    <a:pt x="63330" y="188708"/>
                  </a:lnTo>
                  <a:lnTo>
                    <a:pt x="89364" y="152358"/>
                  </a:lnTo>
                  <a:lnTo>
                    <a:pt x="119141" y="119141"/>
                  </a:lnTo>
                  <a:lnTo>
                    <a:pt x="152358" y="89363"/>
                  </a:lnTo>
                  <a:lnTo>
                    <a:pt x="188708" y="63329"/>
                  </a:lnTo>
                  <a:lnTo>
                    <a:pt x="227886" y="41344"/>
                  </a:lnTo>
                  <a:lnTo>
                    <a:pt x="269587" y="23714"/>
                  </a:lnTo>
                  <a:lnTo>
                    <a:pt x="313506" y="10742"/>
                  </a:lnTo>
                  <a:lnTo>
                    <a:pt x="359337" y="2736"/>
                  </a:lnTo>
                  <a:lnTo>
                    <a:pt x="406771" y="0"/>
                  </a:lnTo>
                  <a:lnTo>
                    <a:pt x="3402232" y="0"/>
                  </a:lnTo>
                  <a:lnTo>
                    <a:pt x="3449665" y="2736"/>
                  </a:lnTo>
                  <a:lnTo>
                    <a:pt x="3495496" y="10742"/>
                  </a:lnTo>
                  <a:lnTo>
                    <a:pt x="3539415" y="23714"/>
                  </a:lnTo>
                  <a:lnTo>
                    <a:pt x="3581116" y="41344"/>
                  </a:lnTo>
                  <a:lnTo>
                    <a:pt x="3620294" y="63329"/>
                  </a:lnTo>
                  <a:lnTo>
                    <a:pt x="3656644" y="89363"/>
                  </a:lnTo>
                  <a:lnTo>
                    <a:pt x="3689860" y="119141"/>
                  </a:lnTo>
                  <a:lnTo>
                    <a:pt x="3719638" y="152358"/>
                  </a:lnTo>
                  <a:lnTo>
                    <a:pt x="3745672" y="188708"/>
                  </a:lnTo>
                  <a:lnTo>
                    <a:pt x="3767657" y="227886"/>
                  </a:lnTo>
                  <a:lnTo>
                    <a:pt x="3785288" y="269587"/>
                  </a:lnTo>
                  <a:lnTo>
                    <a:pt x="3798259" y="313506"/>
                  </a:lnTo>
                  <a:lnTo>
                    <a:pt x="3806266" y="359337"/>
                  </a:lnTo>
                  <a:lnTo>
                    <a:pt x="3809002" y="406772"/>
                  </a:lnTo>
                  <a:lnTo>
                    <a:pt x="3806266" y="454215"/>
                  </a:lnTo>
                  <a:lnTo>
                    <a:pt x="3798259" y="500046"/>
                  </a:lnTo>
                  <a:lnTo>
                    <a:pt x="3785288" y="543965"/>
                  </a:lnTo>
                  <a:lnTo>
                    <a:pt x="3767657" y="585666"/>
                  </a:lnTo>
                  <a:lnTo>
                    <a:pt x="3745672" y="624844"/>
                  </a:lnTo>
                  <a:lnTo>
                    <a:pt x="3719638" y="661194"/>
                  </a:lnTo>
                  <a:lnTo>
                    <a:pt x="3689860" y="694410"/>
                  </a:lnTo>
                  <a:lnTo>
                    <a:pt x="3656644" y="724188"/>
                  </a:lnTo>
                  <a:lnTo>
                    <a:pt x="3620294" y="750222"/>
                  </a:lnTo>
                  <a:lnTo>
                    <a:pt x="3581116" y="772207"/>
                  </a:lnTo>
                  <a:lnTo>
                    <a:pt x="3539415" y="789838"/>
                  </a:lnTo>
                  <a:lnTo>
                    <a:pt x="3495496" y="802809"/>
                  </a:lnTo>
                  <a:lnTo>
                    <a:pt x="3449665" y="810816"/>
                  </a:lnTo>
                  <a:lnTo>
                    <a:pt x="3402226" y="813553"/>
                  </a:lnTo>
                  <a:close/>
                </a:path>
              </a:pathLst>
            </a:custGeom>
            <a:solidFill>
              <a:srgbClr val="FFD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36008" y="3238499"/>
              <a:ext cx="3745865" cy="728980"/>
            </a:xfrm>
            <a:custGeom>
              <a:avLst/>
              <a:gdLst/>
              <a:ahLst/>
              <a:cxnLst/>
              <a:rect l="l" t="t" r="r" b="b"/>
              <a:pathLst>
                <a:path w="3745865" h="728979">
                  <a:moveTo>
                    <a:pt x="343421" y="0"/>
                  </a:moveTo>
                  <a:lnTo>
                    <a:pt x="3338653" y="0"/>
                  </a:lnTo>
                  <a:lnTo>
                    <a:pt x="3386089" y="2736"/>
                  </a:lnTo>
                  <a:lnTo>
                    <a:pt x="3431917" y="10742"/>
                  </a:lnTo>
                  <a:lnTo>
                    <a:pt x="3475833" y="23712"/>
                  </a:lnTo>
                  <a:lnTo>
                    <a:pt x="3517531" y="41342"/>
                  </a:lnTo>
                  <a:lnTo>
                    <a:pt x="3556706" y="63325"/>
                  </a:lnTo>
                  <a:lnTo>
                    <a:pt x="3593053" y="89357"/>
                  </a:lnTo>
                  <a:lnTo>
                    <a:pt x="3626267" y="119133"/>
                  </a:lnTo>
                  <a:lnTo>
                    <a:pt x="3656043" y="152347"/>
                  </a:lnTo>
                  <a:lnTo>
                    <a:pt x="3682075" y="188694"/>
                  </a:lnTo>
                  <a:lnTo>
                    <a:pt x="3704059" y="227870"/>
                  </a:lnTo>
                  <a:lnTo>
                    <a:pt x="3721688" y="269568"/>
                  </a:lnTo>
                  <a:lnTo>
                    <a:pt x="3734658" y="313483"/>
                  </a:lnTo>
                  <a:lnTo>
                    <a:pt x="3742664" y="359311"/>
                  </a:lnTo>
                  <a:lnTo>
                    <a:pt x="3745401" y="406747"/>
                  </a:lnTo>
                  <a:lnTo>
                    <a:pt x="3742664" y="454182"/>
                  </a:lnTo>
                  <a:lnTo>
                    <a:pt x="3734658" y="500010"/>
                  </a:lnTo>
                  <a:lnTo>
                    <a:pt x="3721688" y="543926"/>
                  </a:lnTo>
                  <a:lnTo>
                    <a:pt x="3704059" y="585624"/>
                  </a:lnTo>
                  <a:lnTo>
                    <a:pt x="3682075" y="624799"/>
                  </a:lnTo>
                  <a:lnTo>
                    <a:pt x="3656043" y="661146"/>
                  </a:lnTo>
                  <a:lnTo>
                    <a:pt x="3626267" y="694360"/>
                  </a:lnTo>
                  <a:lnTo>
                    <a:pt x="3593053" y="724136"/>
                  </a:lnTo>
                  <a:lnTo>
                    <a:pt x="3586489" y="728837"/>
                  </a:lnTo>
                </a:path>
                <a:path w="3745865" h="728979">
                  <a:moveTo>
                    <a:pt x="0" y="188694"/>
                  </a:moveTo>
                  <a:lnTo>
                    <a:pt x="26032" y="152347"/>
                  </a:lnTo>
                  <a:lnTo>
                    <a:pt x="55807" y="119133"/>
                  </a:lnTo>
                  <a:lnTo>
                    <a:pt x="89021" y="89357"/>
                  </a:lnTo>
                  <a:lnTo>
                    <a:pt x="125369" y="63325"/>
                  </a:lnTo>
                  <a:lnTo>
                    <a:pt x="164544" y="41342"/>
                  </a:lnTo>
                  <a:lnTo>
                    <a:pt x="206242" y="23712"/>
                  </a:lnTo>
                  <a:lnTo>
                    <a:pt x="250158" y="10742"/>
                  </a:lnTo>
                  <a:lnTo>
                    <a:pt x="295986" y="2736"/>
                  </a:lnTo>
                  <a:lnTo>
                    <a:pt x="343421" y="0"/>
                  </a:lnTo>
                </a:path>
              </a:pathLst>
            </a:custGeom>
            <a:ln w="57149">
              <a:solidFill>
                <a:srgbClr val="FFD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051185" y="3444208"/>
            <a:ext cx="225171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spc="110" dirty="0">
                <a:latin typeface="Tahoma"/>
                <a:cs typeface="Tahoma"/>
              </a:rPr>
              <a:t>Freemium</a:t>
            </a:r>
            <a:r>
              <a:rPr sz="2150" b="1" spc="-65" dirty="0">
                <a:latin typeface="Tahoma"/>
                <a:cs typeface="Tahoma"/>
              </a:rPr>
              <a:t> </a:t>
            </a:r>
            <a:r>
              <a:rPr sz="2150" b="1" spc="90" dirty="0">
                <a:latin typeface="Tahoma"/>
                <a:cs typeface="Tahoma"/>
              </a:rPr>
              <a:t>Plan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89863" y="3209925"/>
            <a:ext cx="3837940" cy="842644"/>
            <a:chOff x="8289863" y="3209925"/>
            <a:chExt cx="3837940" cy="842644"/>
          </a:xfrm>
        </p:grpSpPr>
        <p:sp>
          <p:nvSpPr>
            <p:cNvPr id="7" name="object 7"/>
            <p:cNvSpPr/>
            <p:nvPr/>
          </p:nvSpPr>
          <p:spPr>
            <a:xfrm>
              <a:off x="8289863" y="3238499"/>
              <a:ext cx="3809365" cy="814069"/>
            </a:xfrm>
            <a:custGeom>
              <a:avLst/>
              <a:gdLst/>
              <a:ahLst/>
              <a:cxnLst/>
              <a:rect l="l" t="t" r="r" b="b"/>
              <a:pathLst>
                <a:path w="3809365" h="814070">
                  <a:moveTo>
                    <a:pt x="3402226" y="813553"/>
                  </a:moveTo>
                  <a:lnTo>
                    <a:pt x="406776" y="813553"/>
                  </a:lnTo>
                  <a:lnTo>
                    <a:pt x="359338" y="810816"/>
                  </a:lnTo>
                  <a:lnTo>
                    <a:pt x="313506" y="802809"/>
                  </a:lnTo>
                  <a:lnTo>
                    <a:pt x="269587" y="789838"/>
                  </a:lnTo>
                  <a:lnTo>
                    <a:pt x="227886" y="772207"/>
                  </a:lnTo>
                  <a:lnTo>
                    <a:pt x="188708" y="750222"/>
                  </a:lnTo>
                  <a:lnTo>
                    <a:pt x="152358" y="724188"/>
                  </a:lnTo>
                  <a:lnTo>
                    <a:pt x="119142" y="694410"/>
                  </a:lnTo>
                  <a:lnTo>
                    <a:pt x="89364" y="661194"/>
                  </a:lnTo>
                  <a:lnTo>
                    <a:pt x="63330" y="624844"/>
                  </a:lnTo>
                  <a:lnTo>
                    <a:pt x="41345" y="585666"/>
                  </a:lnTo>
                  <a:lnTo>
                    <a:pt x="23714" y="543965"/>
                  </a:lnTo>
                  <a:lnTo>
                    <a:pt x="10743" y="500046"/>
                  </a:lnTo>
                  <a:lnTo>
                    <a:pt x="2736" y="454215"/>
                  </a:lnTo>
                  <a:lnTo>
                    <a:pt x="0" y="406776"/>
                  </a:lnTo>
                  <a:lnTo>
                    <a:pt x="2736" y="359337"/>
                  </a:lnTo>
                  <a:lnTo>
                    <a:pt x="10743" y="313506"/>
                  </a:lnTo>
                  <a:lnTo>
                    <a:pt x="23714" y="269587"/>
                  </a:lnTo>
                  <a:lnTo>
                    <a:pt x="41345" y="227886"/>
                  </a:lnTo>
                  <a:lnTo>
                    <a:pt x="63330" y="188708"/>
                  </a:lnTo>
                  <a:lnTo>
                    <a:pt x="89364" y="152358"/>
                  </a:lnTo>
                  <a:lnTo>
                    <a:pt x="119142" y="119141"/>
                  </a:lnTo>
                  <a:lnTo>
                    <a:pt x="152358" y="89363"/>
                  </a:lnTo>
                  <a:lnTo>
                    <a:pt x="188708" y="63329"/>
                  </a:lnTo>
                  <a:lnTo>
                    <a:pt x="227886" y="41344"/>
                  </a:lnTo>
                  <a:lnTo>
                    <a:pt x="269587" y="23714"/>
                  </a:lnTo>
                  <a:lnTo>
                    <a:pt x="313506" y="10742"/>
                  </a:lnTo>
                  <a:lnTo>
                    <a:pt x="359338" y="2736"/>
                  </a:lnTo>
                  <a:lnTo>
                    <a:pt x="406771" y="0"/>
                  </a:lnTo>
                  <a:lnTo>
                    <a:pt x="3402231" y="0"/>
                  </a:lnTo>
                  <a:lnTo>
                    <a:pt x="3449665" y="2736"/>
                  </a:lnTo>
                  <a:lnTo>
                    <a:pt x="3495496" y="10742"/>
                  </a:lnTo>
                  <a:lnTo>
                    <a:pt x="3539415" y="23714"/>
                  </a:lnTo>
                  <a:lnTo>
                    <a:pt x="3581116" y="41344"/>
                  </a:lnTo>
                  <a:lnTo>
                    <a:pt x="3620294" y="63329"/>
                  </a:lnTo>
                  <a:lnTo>
                    <a:pt x="3656644" y="89363"/>
                  </a:lnTo>
                  <a:lnTo>
                    <a:pt x="3689860" y="119141"/>
                  </a:lnTo>
                  <a:lnTo>
                    <a:pt x="3719638" y="152358"/>
                  </a:lnTo>
                  <a:lnTo>
                    <a:pt x="3745672" y="188708"/>
                  </a:lnTo>
                  <a:lnTo>
                    <a:pt x="3767657" y="227886"/>
                  </a:lnTo>
                  <a:lnTo>
                    <a:pt x="3785288" y="269587"/>
                  </a:lnTo>
                  <a:lnTo>
                    <a:pt x="3798259" y="313506"/>
                  </a:lnTo>
                  <a:lnTo>
                    <a:pt x="3806265" y="359337"/>
                  </a:lnTo>
                  <a:lnTo>
                    <a:pt x="3809002" y="406776"/>
                  </a:lnTo>
                  <a:lnTo>
                    <a:pt x="3806265" y="454215"/>
                  </a:lnTo>
                  <a:lnTo>
                    <a:pt x="3798259" y="500046"/>
                  </a:lnTo>
                  <a:lnTo>
                    <a:pt x="3785288" y="543965"/>
                  </a:lnTo>
                  <a:lnTo>
                    <a:pt x="3767657" y="585666"/>
                  </a:lnTo>
                  <a:lnTo>
                    <a:pt x="3745672" y="624844"/>
                  </a:lnTo>
                  <a:lnTo>
                    <a:pt x="3719638" y="661194"/>
                  </a:lnTo>
                  <a:lnTo>
                    <a:pt x="3689860" y="694410"/>
                  </a:lnTo>
                  <a:lnTo>
                    <a:pt x="3656644" y="724188"/>
                  </a:lnTo>
                  <a:lnTo>
                    <a:pt x="3620294" y="750222"/>
                  </a:lnTo>
                  <a:lnTo>
                    <a:pt x="3581116" y="772207"/>
                  </a:lnTo>
                  <a:lnTo>
                    <a:pt x="3539415" y="789838"/>
                  </a:lnTo>
                  <a:lnTo>
                    <a:pt x="3495496" y="802809"/>
                  </a:lnTo>
                  <a:lnTo>
                    <a:pt x="3449665" y="810816"/>
                  </a:lnTo>
                  <a:lnTo>
                    <a:pt x="3402226" y="813553"/>
                  </a:lnTo>
                  <a:close/>
                </a:path>
              </a:pathLst>
            </a:custGeom>
            <a:solidFill>
              <a:srgbClr val="FFD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79336" y="3238499"/>
              <a:ext cx="3719829" cy="725170"/>
            </a:xfrm>
            <a:custGeom>
              <a:avLst/>
              <a:gdLst/>
              <a:ahLst/>
              <a:cxnLst/>
              <a:rect l="l" t="t" r="r" b="b"/>
              <a:pathLst>
                <a:path w="3719829" h="725170">
                  <a:moveTo>
                    <a:pt x="317389" y="0"/>
                  </a:moveTo>
                  <a:lnTo>
                    <a:pt x="3312621" y="0"/>
                  </a:lnTo>
                  <a:lnTo>
                    <a:pt x="3360056" y="2736"/>
                  </a:lnTo>
                  <a:lnTo>
                    <a:pt x="3405885" y="10742"/>
                  </a:lnTo>
                  <a:lnTo>
                    <a:pt x="3449800" y="23712"/>
                  </a:lnTo>
                  <a:lnTo>
                    <a:pt x="3491498" y="41342"/>
                  </a:lnTo>
                  <a:lnTo>
                    <a:pt x="3530674" y="63325"/>
                  </a:lnTo>
                  <a:lnTo>
                    <a:pt x="3567021" y="89357"/>
                  </a:lnTo>
                  <a:lnTo>
                    <a:pt x="3600235" y="119133"/>
                  </a:lnTo>
                  <a:lnTo>
                    <a:pt x="3630011" y="152347"/>
                  </a:lnTo>
                  <a:lnTo>
                    <a:pt x="3656043" y="188694"/>
                  </a:lnTo>
                  <a:lnTo>
                    <a:pt x="3678026" y="227870"/>
                  </a:lnTo>
                  <a:lnTo>
                    <a:pt x="3695656" y="269568"/>
                  </a:lnTo>
                  <a:lnTo>
                    <a:pt x="3708626" y="313483"/>
                  </a:lnTo>
                  <a:lnTo>
                    <a:pt x="3716632" y="359311"/>
                  </a:lnTo>
                  <a:lnTo>
                    <a:pt x="3719369" y="406747"/>
                  </a:lnTo>
                  <a:lnTo>
                    <a:pt x="3716632" y="454182"/>
                  </a:lnTo>
                  <a:lnTo>
                    <a:pt x="3708626" y="500010"/>
                  </a:lnTo>
                  <a:lnTo>
                    <a:pt x="3695656" y="543926"/>
                  </a:lnTo>
                  <a:lnTo>
                    <a:pt x="3678026" y="585624"/>
                  </a:lnTo>
                  <a:lnTo>
                    <a:pt x="3656043" y="624799"/>
                  </a:lnTo>
                  <a:lnTo>
                    <a:pt x="3630011" y="661146"/>
                  </a:lnTo>
                  <a:lnTo>
                    <a:pt x="3600235" y="694360"/>
                  </a:lnTo>
                  <a:lnTo>
                    <a:pt x="3567021" y="724136"/>
                  </a:lnTo>
                  <a:lnTo>
                    <a:pt x="3565959" y="724897"/>
                  </a:lnTo>
                </a:path>
                <a:path w="3719829" h="725170">
                  <a:moveTo>
                    <a:pt x="0" y="152347"/>
                  </a:moveTo>
                  <a:lnTo>
                    <a:pt x="29775" y="119133"/>
                  </a:lnTo>
                  <a:lnTo>
                    <a:pt x="62989" y="89357"/>
                  </a:lnTo>
                  <a:lnTo>
                    <a:pt x="99336" y="63325"/>
                  </a:lnTo>
                  <a:lnTo>
                    <a:pt x="138512" y="41342"/>
                  </a:lnTo>
                  <a:lnTo>
                    <a:pt x="180210" y="23712"/>
                  </a:lnTo>
                  <a:lnTo>
                    <a:pt x="224125" y="10742"/>
                  </a:lnTo>
                  <a:lnTo>
                    <a:pt x="269953" y="2736"/>
                  </a:lnTo>
                  <a:lnTo>
                    <a:pt x="317389" y="0"/>
                  </a:lnTo>
                </a:path>
              </a:pathLst>
            </a:custGeom>
            <a:ln w="57149">
              <a:solidFill>
                <a:srgbClr val="FFD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30134" y="3444208"/>
            <a:ext cx="152844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spc="85" dirty="0">
                <a:latin typeface="Tahoma"/>
                <a:cs typeface="Tahoma"/>
              </a:rPr>
              <a:t>Basic</a:t>
            </a:r>
            <a:r>
              <a:rPr sz="2150" b="1" spc="-80" dirty="0">
                <a:latin typeface="Tahoma"/>
                <a:cs typeface="Tahoma"/>
              </a:rPr>
              <a:t> </a:t>
            </a:r>
            <a:r>
              <a:rPr sz="2150" b="1" spc="90" dirty="0">
                <a:latin typeface="Tahoma"/>
                <a:cs typeface="Tahoma"/>
              </a:rPr>
              <a:t>Plan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278699" y="3209925"/>
            <a:ext cx="3865879" cy="842644"/>
            <a:chOff x="12278699" y="3209925"/>
            <a:chExt cx="3865879" cy="842644"/>
          </a:xfrm>
        </p:grpSpPr>
        <p:sp>
          <p:nvSpPr>
            <p:cNvPr id="11" name="object 11"/>
            <p:cNvSpPr/>
            <p:nvPr/>
          </p:nvSpPr>
          <p:spPr>
            <a:xfrm>
              <a:off x="12307159" y="3238499"/>
              <a:ext cx="3809365" cy="814069"/>
            </a:xfrm>
            <a:custGeom>
              <a:avLst/>
              <a:gdLst/>
              <a:ahLst/>
              <a:cxnLst/>
              <a:rect l="l" t="t" r="r" b="b"/>
              <a:pathLst>
                <a:path w="3809365" h="814070">
                  <a:moveTo>
                    <a:pt x="3402226" y="813553"/>
                  </a:moveTo>
                  <a:lnTo>
                    <a:pt x="406776" y="813553"/>
                  </a:lnTo>
                  <a:lnTo>
                    <a:pt x="359337" y="810816"/>
                  </a:lnTo>
                  <a:lnTo>
                    <a:pt x="313506" y="802809"/>
                  </a:lnTo>
                  <a:lnTo>
                    <a:pt x="269587" y="789838"/>
                  </a:lnTo>
                  <a:lnTo>
                    <a:pt x="227886" y="772207"/>
                  </a:lnTo>
                  <a:lnTo>
                    <a:pt x="188708" y="750222"/>
                  </a:lnTo>
                  <a:lnTo>
                    <a:pt x="152358" y="724188"/>
                  </a:lnTo>
                  <a:lnTo>
                    <a:pt x="119142" y="694410"/>
                  </a:lnTo>
                  <a:lnTo>
                    <a:pt x="89364" y="661194"/>
                  </a:lnTo>
                  <a:lnTo>
                    <a:pt x="63330" y="624844"/>
                  </a:lnTo>
                  <a:lnTo>
                    <a:pt x="41345" y="585666"/>
                  </a:lnTo>
                  <a:lnTo>
                    <a:pt x="23714" y="543965"/>
                  </a:lnTo>
                  <a:lnTo>
                    <a:pt x="10743" y="500046"/>
                  </a:lnTo>
                  <a:lnTo>
                    <a:pt x="2736" y="454215"/>
                  </a:lnTo>
                  <a:lnTo>
                    <a:pt x="0" y="406776"/>
                  </a:lnTo>
                  <a:lnTo>
                    <a:pt x="2736" y="359337"/>
                  </a:lnTo>
                  <a:lnTo>
                    <a:pt x="10743" y="313506"/>
                  </a:lnTo>
                  <a:lnTo>
                    <a:pt x="23714" y="269587"/>
                  </a:lnTo>
                  <a:lnTo>
                    <a:pt x="41345" y="227886"/>
                  </a:lnTo>
                  <a:lnTo>
                    <a:pt x="63330" y="188708"/>
                  </a:lnTo>
                  <a:lnTo>
                    <a:pt x="89364" y="152358"/>
                  </a:lnTo>
                  <a:lnTo>
                    <a:pt x="119142" y="119141"/>
                  </a:lnTo>
                  <a:lnTo>
                    <a:pt x="152358" y="89363"/>
                  </a:lnTo>
                  <a:lnTo>
                    <a:pt x="188708" y="63329"/>
                  </a:lnTo>
                  <a:lnTo>
                    <a:pt x="227886" y="41344"/>
                  </a:lnTo>
                  <a:lnTo>
                    <a:pt x="269587" y="23714"/>
                  </a:lnTo>
                  <a:lnTo>
                    <a:pt x="313506" y="10742"/>
                  </a:lnTo>
                  <a:lnTo>
                    <a:pt x="359337" y="2736"/>
                  </a:lnTo>
                  <a:lnTo>
                    <a:pt x="406770" y="0"/>
                  </a:lnTo>
                  <a:lnTo>
                    <a:pt x="3402231" y="0"/>
                  </a:lnTo>
                  <a:lnTo>
                    <a:pt x="3449665" y="2736"/>
                  </a:lnTo>
                  <a:lnTo>
                    <a:pt x="3495496" y="10742"/>
                  </a:lnTo>
                  <a:lnTo>
                    <a:pt x="3539415" y="23714"/>
                  </a:lnTo>
                  <a:lnTo>
                    <a:pt x="3581116" y="41344"/>
                  </a:lnTo>
                  <a:lnTo>
                    <a:pt x="3620294" y="63329"/>
                  </a:lnTo>
                  <a:lnTo>
                    <a:pt x="3656644" y="89363"/>
                  </a:lnTo>
                  <a:lnTo>
                    <a:pt x="3689861" y="119141"/>
                  </a:lnTo>
                  <a:lnTo>
                    <a:pt x="3719638" y="152358"/>
                  </a:lnTo>
                  <a:lnTo>
                    <a:pt x="3745673" y="188708"/>
                  </a:lnTo>
                  <a:lnTo>
                    <a:pt x="3767658" y="227886"/>
                  </a:lnTo>
                  <a:lnTo>
                    <a:pt x="3785288" y="269587"/>
                  </a:lnTo>
                  <a:lnTo>
                    <a:pt x="3798260" y="313506"/>
                  </a:lnTo>
                  <a:lnTo>
                    <a:pt x="3806266" y="359337"/>
                  </a:lnTo>
                  <a:lnTo>
                    <a:pt x="3809003" y="406776"/>
                  </a:lnTo>
                  <a:lnTo>
                    <a:pt x="3806266" y="454215"/>
                  </a:lnTo>
                  <a:lnTo>
                    <a:pt x="3798260" y="500046"/>
                  </a:lnTo>
                  <a:lnTo>
                    <a:pt x="3785288" y="543965"/>
                  </a:lnTo>
                  <a:lnTo>
                    <a:pt x="3767658" y="585666"/>
                  </a:lnTo>
                  <a:lnTo>
                    <a:pt x="3745673" y="624844"/>
                  </a:lnTo>
                  <a:lnTo>
                    <a:pt x="3719638" y="661194"/>
                  </a:lnTo>
                  <a:lnTo>
                    <a:pt x="3689861" y="694410"/>
                  </a:lnTo>
                  <a:lnTo>
                    <a:pt x="3656644" y="724188"/>
                  </a:lnTo>
                  <a:lnTo>
                    <a:pt x="3620294" y="750222"/>
                  </a:lnTo>
                  <a:lnTo>
                    <a:pt x="3581116" y="772207"/>
                  </a:lnTo>
                  <a:lnTo>
                    <a:pt x="3539415" y="789838"/>
                  </a:lnTo>
                  <a:lnTo>
                    <a:pt x="3495496" y="802809"/>
                  </a:lnTo>
                  <a:lnTo>
                    <a:pt x="3449665" y="810816"/>
                  </a:lnTo>
                  <a:lnTo>
                    <a:pt x="3402226" y="813553"/>
                  </a:lnTo>
                  <a:close/>
                </a:path>
              </a:pathLst>
            </a:custGeom>
            <a:solidFill>
              <a:srgbClr val="FFD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07274" y="3238499"/>
              <a:ext cx="3808729" cy="500380"/>
            </a:xfrm>
            <a:custGeom>
              <a:avLst/>
              <a:gdLst/>
              <a:ahLst/>
              <a:cxnLst/>
              <a:rect l="l" t="t" r="r" b="b"/>
              <a:pathLst>
                <a:path w="3808730" h="500379">
                  <a:moveTo>
                    <a:pt x="406747" y="0"/>
                  </a:moveTo>
                  <a:lnTo>
                    <a:pt x="3401979" y="0"/>
                  </a:lnTo>
                  <a:lnTo>
                    <a:pt x="3449414" y="2736"/>
                  </a:lnTo>
                  <a:lnTo>
                    <a:pt x="3495243" y="10742"/>
                  </a:lnTo>
                  <a:lnTo>
                    <a:pt x="3539158" y="23712"/>
                  </a:lnTo>
                  <a:lnTo>
                    <a:pt x="3580856" y="41342"/>
                  </a:lnTo>
                  <a:lnTo>
                    <a:pt x="3620032" y="63325"/>
                  </a:lnTo>
                  <a:lnTo>
                    <a:pt x="3656379" y="89357"/>
                  </a:lnTo>
                  <a:lnTo>
                    <a:pt x="3689593" y="119133"/>
                  </a:lnTo>
                  <a:lnTo>
                    <a:pt x="3719369" y="152347"/>
                  </a:lnTo>
                  <a:lnTo>
                    <a:pt x="3745401" y="188694"/>
                  </a:lnTo>
                  <a:lnTo>
                    <a:pt x="3767384" y="227870"/>
                  </a:lnTo>
                  <a:lnTo>
                    <a:pt x="3785014" y="269568"/>
                  </a:lnTo>
                  <a:lnTo>
                    <a:pt x="3797984" y="313483"/>
                  </a:lnTo>
                  <a:lnTo>
                    <a:pt x="3805990" y="359311"/>
                  </a:lnTo>
                  <a:lnTo>
                    <a:pt x="3808727" y="406747"/>
                  </a:lnTo>
                  <a:lnTo>
                    <a:pt x="3805990" y="454182"/>
                  </a:lnTo>
                  <a:lnTo>
                    <a:pt x="3797984" y="500010"/>
                  </a:lnTo>
                </a:path>
                <a:path w="3808730" h="500379">
                  <a:moveTo>
                    <a:pt x="2736" y="454182"/>
                  </a:moveTo>
                  <a:lnTo>
                    <a:pt x="0" y="406747"/>
                  </a:lnTo>
                  <a:lnTo>
                    <a:pt x="2736" y="359311"/>
                  </a:lnTo>
                  <a:lnTo>
                    <a:pt x="10742" y="313483"/>
                  </a:lnTo>
                  <a:lnTo>
                    <a:pt x="23712" y="269568"/>
                  </a:lnTo>
                  <a:lnTo>
                    <a:pt x="41342" y="227870"/>
                  </a:lnTo>
                  <a:lnTo>
                    <a:pt x="63325" y="188694"/>
                  </a:lnTo>
                  <a:lnTo>
                    <a:pt x="89357" y="152347"/>
                  </a:lnTo>
                  <a:lnTo>
                    <a:pt x="119133" y="119133"/>
                  </a:lnTo>
                  <a:lnTo>
                    <a:pt x="152347" y="89357"/>
                  </a:lnTo>
                  <a:lnTo>
                    <a:pt x="188694" y="63325"/>
                  </a:lnTo>
                  <a:lnTo>
                    <a:pt x="227870" y="41342"/>
                  </a:lnTo>
                  <a:lnTo>
                    <a:pt x="269568" y="23712"/>
                  </a:lnTo>
                  <a:lnTo>
                    <a:pt x="313483" y="10742"/>
                  </a:lnTo>
                  <a:lnTo>
                    <a:pt x="359311" y="2736"/>
                  </a:lnTo>
                  <a:lnTo>
                    <a:pt x="406747" y="0"/>
                  </a:lnTo>
                </a:path>
              </a:pathLst>
            </a:custGeom>
            <a:ln w="57149">
              <a:solidFill>
                <a:srgbClr val="FFD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160192" y="3444208"/>
            <a:ext cx="210312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spc="120" dirty="0">
                <a:latin typeface="Tahoma"/>
                <a:cs typeface="Tahoma"/>
              </a:rPr>
              <a:t>Premium</a:t>
            </a:r>
            <a:r>
              <a:rPr sz="2150" b="1" spc="-75" dirty="0">
                <a:latin typeface="Tahoma"/>
                <a:cs typeface="Tahoma"/>
              </a:rPr>
              <a:t> </a:t>
            </a:r>
            <a:r>
              <a:rPr sz="2150" b="1" spc="90" dirty="0">
                <a:latin typeface="Tahoma"/>
                <a:cs typeface="Tahoma"/>
              </a:rPr>
              <a:t>Plan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1838" y="4311198"/>
            <a:ext cx="1901189" cy="1428750"/>
          </a:xfrm>
          <a:prstGeom prst="rect">
            <a:avLst/>
          </a:prstGeom>
          <a:solidFill>
            <a:srgbClr val="FFD944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36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</a:pPr>
            <a:r>
              <a:rPr sz="2150" b="1" spc="90" dirty="0">
                <a:latin typeface="Tahoma"/>
                <a:cs typeface="Tahoma"/>
              </a:rPr>
              <a:t>Pricing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5304" y="4327815"/>
            <a:ext cx="3835400" cy="1395730"/>
          </a:xfrm>
          <a:prstGeom prst="rect">
            <a:avLst/>
          </a:prstGeom>
          <a:ln w="33232">
            <a:solidFill>
              <a:srgbClr val="FFD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sz="1800" spc="5" dirty="0">
                <a:latin typeface="Lucida Sans Unicode"/>
                <a:cs typeface="Lucida Sans Unicode"/>
              </a:rPr>
              <a:t>Free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89687" y="4327815"/>
            <a:ext cx="3832860" cy="1395730"/>
          </a:xfrm>
          <a:prstGeom prst="rect">
            <a:avLst/>
          </a:prstGeom>
          <a:ln w="33232">
            <a:solidFill>
              <a:srgbClr val="FFD944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306705" marR="299720" indent="208915">
              <a:lnSpc>
                <a:spcPct val="118100"/>
              </a:lnSpc>
            </a:pPr>
            <a:r>
              <a:rPr sz="1800" spc="30" dirty="0">
                <a:latin typeface="Lucida Sans Unicode"/>
                <a:cs typeface="Lucida Sans Unicode"/>
              </a:rPr>
              <a:t>S</a:t>
            </a:r>
            <a:r>
              <a:rPr sz="1800" spc="-5" dirty="0">
                <a:latin typeface="Lucida Sans Unicode"/>
                <a:cs typeface="Lucida Sans Unicode"/>
              </a:rPr>
              <a:t>o</a:t>
            </a:r>
            <a:r>
              <a:rPr sz="1800" spc="-50" dirty="0">
                <a:latin typeface="Lucida Sans Unicode"/>
                <a:cs typeface="Lucida Sans Unicode"/>
              </a:rPr>
              <a:t>f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spc="30" dirty="0">
                <a:latin typeface="Lucida Sans Unicode"/>
                <a:cs typeface="Lucida Sans Unicode"/>
              </a:rPr>
              <a:t>w</a:t>
            </a:r>
            <a:r>
              <a:rPr sz="1800" spc="15" dirty="0">
                <a:latin typeface="Lucida Sans Unicode"/>
                <a:cs typeface="Lucida Sans Unicode"/>
              </a:rPr>
              <a:t>a</a:t>
            </a:r>
            <a:r>
              <a:rPr sz="1800" spc="5" dirty="0">
                <a:latin typeface="Lucida Sans Unicode"/>
                <a:cs typeface="Lucida Sans Unicode"/>
              </a:rPr>
              <a:t>r</a:t>
            </a:r>
            <a:r>
              <a:rPr sz="1800" spc="15" dirty="0">
                <a:latin typeface="Lucida Sans Unicode"/>
                <a:cs typeface="Lucida Sans Unicode"/>
              </a:rPr>
              <a:t>e</a:t>
            </a:r>
            <a:r>
              <a:rPr sz="1800" spc="-85" dirty="0">
                <a:latin typeface="Lucida Sans Unicode"/>
                <a:cs typeface="Lucida Sans Unicode"/>
              </a:rPr>
              <a:t>: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I</a:t>
            </a:r>
            <a:r>
              <a:rPr sz="1800" spc="45" dirty="0">
                <a:latin typeface="Lucida Sans Unicode"/>
                <a:cs typeface="Lucida Sans Unicode"/>
              </a:rPr>
              <a:t>N</a:t>
            </a:r>
            <a:r>
              <a:rPr sz="1800" spc="-10" dirty="0">
                <a:latin typeface="Lucida Sans Unicode"/>
                <a:cs typeface="Lucida Sans Unicode"/>
              </a:rPr>
              <a:t>R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100" dirty="0">
                <a:latin typeface="Lucida Sans Unicode"/>
                <a:cs typeface="Lucida Sans Unicode"/>
              </a:rPr>
              <a:t>180</a:t>
            </a:r>
            <a:r>
              <a:rPr sz="1800" spc="-275" dirty="0">
                <a:latin typeface="Lucida Sans Unicode"/>
                <a:cs typeface="Lucida Sans Unicode"/>
              </a:rPr>
              <a:t>/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Lucida Sans Unicode"/>
                <a:cs typeface="Lucida Sans Unicode"/>
              </a:rPr>
              <a:t>m</a:t>
            </a:r>
            <a:r>
              <a:rPr sz="1800" spc="-5" dirty="0">
                <a:latin typeface="Lucida Sans Unicode"/>
                <a:cs typeface="Lucida Sans Unicode"/>
              </a:rPr>
              <a:t>o</a:t>
            </a:r>
            <a:r>
              <a:rPr sz="1800" dirty="0">
                <a:latin typeface="Lucida Sans Unicode"/>
                <a:cs typeface="Lucida Sans Unicode"/>
              </a:rPr>
              <a:t>n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dirty="0">
                <a:latin typeface="Lucida Sans Unicode"/>
                <a:cs typeface="Lucida Sans Unicode"/>
              </a:rPr>
              <a:t>h  </a:t>
            </a:r>
            <a:r>
              <a:rPr sz="1800" spc="20" dirty="0">
                <a:latin typeface="Lucida Sans Unicode"/>
                <a:cs typeface="Lucida Sans Unicode"/>
              </a:rPr>
              <a:t>H</a:t>
            </a:r>
            <a:r>
              <a:rPr sz="1800" spc="15" dirty="0">
                <a:latin typeface="Lucida Sans Unicode"/>
                <a:cs typeface="Lucida Sans Unicode"/>
              </a:rPr>
              <a:t>a</a:t>
            </a:r>
            <a:r>
              <a:rPr sz="1800" spc="5" dirty="0">
                <a:latin typeface="Lucida Sans Unicode"/>
                <a:cs typeface="Lucida Sans Unicode"/>
              </a:rPr>
              <a:t>r</a:t>
            </a:r>
            <a:r>
              <a:rPr sz="1800" spc="-20" dirty="0">
                <a:latin typeface="Lucida Sans Unicode"/>
                <a:cs typeface="Lucida Sans Unicode"/>
              </a:rPr>
              <a:t>d</a:t>
            </a:r>
            <a:r>
              <a:rPr sz="1800" spc="30" dirty="0">
                <a:latin typeface="Lucida Sans Unicode"/>
                <a:cs typeface="Lucida Sans Unicode"/>
              </a:rPr>
              <a:t>w</a:t>
            </a:r>
            <a:r>
              <a:rPr sz="1800" spc="15" dirty="0">
                <a:latin typeface="Lucida Sans Unicode"/>
                <a:cs typeface="Lucida Sans Unicode"/>
              </a:rPr>
              <a:t>a</a:t>
            </a:r>
            <a:r>
              <a:rPr sz="1800" spc="5" dirty="0">
                <a:latin typeface="Lucida Sans Unicode"/>
                <a:cs typeface="Lucida Sans Unicode"/>
              </a:rPr>
              <a:t>r</a:t>
            </a:r>
            <a:r>
              <a:rPr sz="1800" spc="15" dirty="0">
                <a:latin typeface="Lucida Sans Unicode"/>
                <a:cs typeface="Lucida Sans Unicode"/>
              </a:rPr>
              <a:t>e</a:t>
            </a:r>
            <a:r>
              <a:rPr sz="1800" spc="-85" dirty="0">
                <a:latin typeface="Lucida Sans Unicode"/>
                <a:cs typeface="Lucida Sans Unicode"/>
              </a:rPr>
              <a:t>: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I</a:t>
            </a:r>
            <a:r>
              <a:rPr sz="1800" spc="45" dirty="0">
                <a:latin typeface="Lucida Sans Unicode"/>
                <a:cs typeface="Lucida Sans Unicode"/>
              </a:rPr>
              <a:t>N</a:t>
            </a:r>
            <a:r>
              <a:rPr sz="1800" spc="-10" dirty="0">
                <a:latin typeface="Lucida Sans Unicode"/>
                <a:cs typeface="Lucida Sans Unicode"/>
              </a:rPr>
              <a:t>R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100" dirty="0">
                <a:latin typeface="Lucida Sans Unicode"/>
                <a:cs typeface="Lucida Sans Unicode"/>
              </a:rPr>
              <a:t>6</a:t>
            </a:r>
            <a:r>
              <a:rPr sz="1800" spc="-55" dirty="0">
                <a:latin typeface="Lucida Sans Unicode"/>
                <a:cs typeface="Lucida Sans Unicode"/>
              </a:rPr>
              <a:t>K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(</a:t>
            </a:r>
            <a:r>
              <a:rPr sz="1800" spc="-5" dirty="0">
                <a:latin typeface="Lucida Sans Unicode"/>
                <a:cs typeface="Lucida Sans Unicode"/>
              </a:rPr>
              <a:t>o</a:t>
            </a:r>
            <a:r>
              <a:rPr sz="1800" dirty="0">
                <a:latin typeface="Lucida Sans Unicode"/>
                <a:cs typeface="Lucida Sans Unicode"/>
              </a:rPr>
              <a:t>n</a:t>
            </a:r>
            <a:r>
              <a:rPr sz="1800" spc="15" dirty="0">
                <a:latin typeface="Lucida Sans Unicode"/>
                <a:cs typeface="Lucida Sans Unicode"/>
              </a:rPr>
              <a:t>e</a:t>
            </a:r>
            <a:r>
              <a:rPr sz="1800" spc="-459" dirty="0">
                <a:latin typeface="Lucida Sans Unicode"/>
                <a:cs typeface="Lucida Sans Unicode"/>
              </a:rPr>
              <a:t>-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spc="-65" dirty="0">
                <a:latin typeface="Lucida Sans Unicode"/>
                <a:cs typeface="Lucida Sans Unicode"/>
              </a:rPr>
              <a:t>i</a:t>
            </a:r>
            <a:r>
              <a:rPr sz="1800" spc="15" dirty="0">
                <a:latin typeface="Lucida Sans Unicode"/>
                <a:cs typeface="Lucida Sans Unicode"/>
              </a:rPr>
              <a:t>me</a:t>
            </a:r>
            <a:r>
              <a:rPr sz="1800" spc="-50" dirty="0">
                <a:latin typeface="Lucida Sans Unicode"/>
                <a:cs typeface="Lucida Sans Unicode"/>
              </a:rPr>
              <a:t>)</a:t>
            </a:r>
            <a:r>
              <a:rPr sz="1800" spc="14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21408" y="4327815"/>
            <a:ext cx="3778250" cy="1395730"/>
          </a:xfrm>
          <a:prstGeom prst="rect">
            <a:avLst/>
          </a:prstGeom>
          <a:ln w="33232">
            <a:solidFill>
              <a:srgbClr val="FFD944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1254125" marR="213360" indent="-1033780">
              <a:lnSpc>
                <a:spcPct val="118100"/>
              </a:lnSpc>
              <a:spcBef>
                <a:spcPts val="1390"/>
              </a:spcBef>
            </a:pPr>
            <a:r>
              <a:rPr sz="1800" dirty="0">
                <a:latin typeface="Lucida Sans Unicode"/>
                <a:cs typeface="Lucida Sans Unicode"/>
              </a:rPr>
              <a:t>Software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Suites,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starting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@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INR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100" dirty="0">
                <a:latin typeface="Lucida Sans Unicode"/>
                <a:cs typeface="Lucida Sans Unicode"/>
              </a:rPr>
              <a:t>300</a:t>
            </a:r>
            <a:r>
              <a:rPr sz="1800" spc="-275" dirty="0">
                <a:latin typeface="Lucida Sans Unicode"/>
                <a:cs typeface="Lucida Sans Unicode"/>
              </a:rPr>
              <a:t>/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Lucida Sans Unicode"/>
                <a:cs typeface="Lucida Sans Unicode"/>
              </a:rPr>
              <a:t>m</a:t>
            </a:r>
            <a:r>
              <a:rPr sz="1800" spc="-5" dirty="0">
                <a:latin typeface="Lucida Sans Unicode"/>
                <a:cs typeface="Lucida Sans Unicode"/>
              </a:rPr>
              <a:t>o</a:t>
            </a:r>
            <a:r>
              <a:rPr sz="1800" dirty="0">
                <a:latin typeface="Lucida Sans Unicode"/>
                <a:cs typeface="Lucida Sans Unicode"/>
              </a:rPr>
              <a:t>n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spc="5" dirty="0">
                <a:latin typeface="Lucida Sans Unicode"/>
                <a:cs typeface="Lucida Sans Unicode"/>
              </a:rPr>
              <a:t>h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latin typeface="Lucida Sans Unicode"/>
                <a:cs typeface="Lucida Sans Unicode"/>
              </a:rPr>
              <a:t>Hardware: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starting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@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INR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85" dirty="0">
                <a:latin typeface="Lucida Sans Unicode"/>
                <a:cs typeface="Lucida Sans Unicode"/>
              </a:rPr>
              <a:t>20K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1838" y="5906110"/>
            <a:ext cx="1901189" cy="2724150"/>
          </a:xfrm>
          <a:prstGeom prst="rect">
            <a:avLst/>
          </a:prstGeom>
          <a:solidFill>
            <a:srgbClr val="FFD94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</a:pPr>
            <a:r>
              <a:rPr sz="2150" b="1" spc="75" dirty="0">
                <a:latin typeface="Tahoma"/>
                <a:cs typeface="Tahoma"/>
              </a:rPr>
              <a:t>Features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4821" y="6910892"/>
            <a:ext cx="76200" cy="761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4821" y="7234742"/>
            <a:ext cx="76200" cy="761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4821" y="7558592"/>
            <a:ext cx="76200" cy="761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55304" y="5922726"/>
            <a:ext cx="3835400" cy="2691130"/>
          </a:xfrm>
          <a:prstGeom prst="rect">
            <a:avLst/>
          </a:prstGeom>
          <a:ln w="33232">
            <a:solidFill>
              <a:srgbClr val="FFD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Times New Roman"/>
              <a:cs typeface="Times New Roman"/>
            </a:endParaRPr>
          </a:p>
          <a:p>
            <a:pPr marL="577850" marR="1479550">
              <a:lnSpc>
                <a:spcPct val="118100"/>
              </a:lnSpc>
            </a:pPr>
            <a:r>
              <a:rPr sz="1800" spc="-15" dirty="0">
                <a:latin typeface="Lucida Sans Unicode"/>
                <a:cs typeface="Lucida Sans Unicode"/>
              </a:rPr>
              <a:t>L</a:t>
            </a:r>
            <a:r>
              <a:rPr sz="1800" spc="-65" dirty="0">
                <a:latin typeface="Lucida Sans Unicode"/>
                <a:cs typeface="Lucida Sans Unicode"/>
              </a:rPr>
              <a:t>i</a:t>
            </a:r>
            <a:r>
              <a:rPr sz="1800" spc="15" dirty="0">
                <a:latin typeface="Lucida Sans Unicode"/>
                <a:cs typeface="Lucida Sans Unicode"/>
              </a:rPr>
              <a:t>m</a:t>
            </a:r>
            <a:r>
              <a:rPr sz="1800" spc="-65" dirty="0">
                <a:latin typeface="Lucida Sans Unicode"/>
                <a:cs typeface="Lucida Sans Unicode"/>
              </a:rPr>
              <a:t>i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spc="15" dirty="0">
                <a:latin typeface="Lucida Sans Unicode"/>
                <a:cs typeface="Lucida Sans Unicode"/>
              </a:rPr>
              <a:t>e</a:t>
            </a:r>
            <a:r>
              <a:rPr sz="1800" spc="-15" dirty="0">
                <a:latin typeface="Lucida Sans Unicode"/>
                <a:cs typeface="Lucida Sans Unicode"/>
              </a:rPr>
              <a:t>d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f</a:t>
            </a:r>
            <a:r>
              <a:rPr sz="1800" spc="15" dirty="0">
                <a:latin typeface="Lucida Sans Unicode"/>
                <a:cs typeface="Lucida Sans Unicode"/>
              </a:rPr>
              <a:t>ea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dirty="0">
                <a:latin typeface="Lucida Sans Unicode"/>
                <a:cs typeface="Lucida Sans Unicode"/>
              </a:rPr>
              <a:t>u</a:t>
            </a:r>
            <a:r>
              <a:rPr sz="1800" spc="5" dirty="0">
                <a:latin typeface="Lucida Sans Unicode"/>
                <a:cs typeface="Lucida Sans Unicode"/>
              </a:rPr>
              <a:t>r</a:t>
            </a:r>
            <a:r>
              <a:rPr sz="1800" spc="15" dirty="0">
                <a:latin typeface="Lucida Sans Unicode"/>
                <a:cs typeface="Lucida Sans Unicode"/>
              </a:rPr>
              <a:t>e</a:t>
            </a:r>
            <a:r>
              <a:rPr sz="1800" spc="-35" dirty="0">
                <a:latin typeface="Lucida Sans Unicode"/>
                <a:cs typeface="Lucida Sans Unicode"/>
              </a:rPr>
              <a:t>s  </a:t>
            </a:r>
            <a:r>
              <a:rPr sz="1800" dirty="0">
                <a:latin typeface="Lucida Sans Unicode"/>
                <a:cs typeface="Lucida Sans Unicode"/>
              </a:rPr>
              <a:t>Basic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support</a:t>
            </a:r>
            <a:endParaRPr sz="1800">
              <a:latin typeface="Lucida Sans Unicode"/>
              <a:cs typeface="Lucida Sans Unicode"/>
            </a:endParaRPr>
          </a:p>
          <a:p>
            <a:pPr marL="577850">
              <a:lnSpc>
                <a:spcPct val="100000"/>
              </a:lnSpc>
              <a:spcBef>
                <a:spcPts val="390"/>
              </a:spcBef>
            </a:pPr>
            <a:r>
              <a:rPr sz="1800" spc="20" dirty="0">
                <a:latin typeface="Lucida Sans Unicode"/>
                <a:cs typeface="Lucida Sans Unicode"/>
              </a:rPr>
              <a:t>No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customization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9203" y="6748967"/>
            <a:ext cx="76200" cy="761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8289687" y="5922726"/>
            <a:ext cx="3832860" cy="2691130"/>
          </a:xfrm>
          <a:prstGeom prst="rect">
            <a:avLst/>
          </a:prstGeom>
          <a:ln w="33232">
            <a:solidFill>
              <a:srgbClr val="FFD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577850" marR="537210">
              <a:lnSpc>
                <a:spcPct val="118100"/>
              </a:lnSpc>
            </a:pPr>
            <a:r>
              <a:rPr sz="1800" spc="-40" dirty="0">
                <a:latin typeface="Lucida Sans Unicode"/>
                <a:cs typeface="Lucida Sans Unicode"/>
              </a:rPr>
              <a:t>Full </a:t>
            </a:r>
            <a:r>
              <a:rPr sz="1800" spc="-30" dirty="0">
                <a:latin typeface="Lucida Sans Unicode"/>
                <a:cs typeface="Lucida Sans Unicode"/>
              </a:rPr>
              <a:t>access </a:t>
            </a:r>
            <a:r>
              <a:rPr sz="1800" spc="-20" dirty="0">
                <a:latin typeface="Lucida Sans Unicode"/>
                <a:cs typeface="Lucida Sans Unicode"/>
              </a:rPr>
              <a:t>to </a:t>
            </a:r>
            <a:r>
              <a:rPr sz="1800" spc="-10" dirty="0">
                <a:latin typeface="Lucida Sans Unicode"/>
                <a:cs typeface="Lucida Sans Unicode"/>
              </a:rPr>
              <a:t>standard 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f</a:t>
            </a:r>
            <a:r>
              <a:rPr sz="1800" spc="15" dirty="0">
                <a:latin typeface="Lucida Sans Unicode"/>
                <a:cs typeface="Lucida Sans Unicode"/>
              </a:rPr>
              <a:t>ea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dirty="0">
                <a:latin typeface="Lucida Sans Unicode"/>
                <a:cs typeface="Lucida Sans Unicode"/>
              </a:rPr>
              <a:t>u</a:t>
            </a:r>
            <a:r>
              <a:rPr sz="1800" spc="5" dirty="0">
                <a:latin typeface="Lucida Sans Unicode"/>
                <a:cs typeface="Lucida Sans Unicode"/>
              </a:rPr>
              <a:t>r</a:t>
            </a:r>
            <a:r>
              <a:rPr sz="1800" spc="15" dirty="0">
                <a:latin typeface="Lucida Sans Unicode"/>
                <a:cs typeface="Lucida Sans Unicode"/>
              </a:rPr>
              <a:t>e</a:t>
            </a:r>
            <a:r>
              <a:rPr sz="1800" spc="-45" dirty="0">
                <a:latin typeface="Lucida Sans Unicode"/>
                <a:cs typeface="Lucida Sans Unicode"/>
              </a:rPr>
              <a:t>s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65" dirty="0">
                <a:latin typeface="Lucida Sans Unicode"/>
                <a:cs typeface="Lucida Sans Unicode"/>
              </a:rPr>
              <a:t>li</a:t>
            </a:r>
            <a:r>
              <a:rPr sz="1800" spc="-100" dirty="0">
                <a:latin typeface="Lucida Sans Unicode"/>
                <a:cs typeface="Lucida Sans Unicode"/>
              </a:rPr>
              <a:t>k</a:t>
            </a:r>
            <a:r>
              <a:rPr sz="1800" spc="20" dirty="0">
                <a:latin typeface="Lucida Sans Unicode"/>
                <a:cs typeface="Lucida Sans Unicode"/>
              </a:rPr>
              <a:t>e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Lucida Sans Unicode"/>
                <a:cs typeface="Lucida Sans Unicode"/>
              </a:rPr>
              <a:t>a</a:t>
            </a:r>
            <a:r>
              <a:rPr sz="1800" spc="-20" dirty="0">
                <a:latin typeface="Lucida Sans Unicode"/>
                <a:cs typeface="Lucida Sans Unicode"/>
              </a:rPr>
              <a:t>d</a:t>
            </a:r>
            <a:r>
              <a:rPr sz="1800" spc="15" dirty="0">
                <a:latin typeface="Lucida Sans Unicode"/>
                <a:cs typeface="Lucida Sans Unicode"/>
              </a:rPr>
              <a:t>a</a:t>
            </a:r>
            <a:r>
              <a:rPr sz="1800" spc="-20" dirty="0">
                <a:latin typeface="Lucida Sans Unicode"/>
                <a:cs typeface="Lucida Sans Unicode"/>
              </a:rPr>
              <a:t>p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spc="-65" dirty="0">
                <a:latin typeface="Lucida Sans Unicode"/>
                <a:cs typeface="Lucida Sans Unicode"/>
              </a:rPr>
              <a:t>i</a:t>
            </a:r>
            <a:r>
              <a:rPr sz="1800" spc="-20" dirty="0">
                <a:latin typeface="Lucida Sans Unicode"/>
                <a:cs typeface="Lucida Sans Unicode"/>
              </a:rPr>
              <a:t>v</a:t>
            </a:r>
            <a:r>
              <a:rPr sz="1800" spc="15" dirty="0">
                <a:latin typeface="Lucida Sans Unicode"/>
                <a:cs typeface="Lucida Sans Unicode"/>
              </a:rPr>
              <a:t>e  </a:t>
            </a:r>
            <a:r>
              <a:rPr sz="1800" spc="-25" dirty="0">
                <a:latin typeface="Lucida Sans Unicode"/>
                <a:cs typeface="Lucida Sans Unicode"/>
              </a:rPr>
              <a:t>learning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modules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185" dirty="0">
                <a:latin typeface="Lucida Sans Unicode"/>
                <a:cs typeface="Lucida Sans Unicode"/>
              </a:rPr>
              <a:t>AI-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driven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feedback.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0923" y="6263192"/>
            <a:ext cx="76200" cy="761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0923" y="7234742"/>
            <a:ext cx="76200" cy="761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0923" y="7882442"/>
            <a:ext cx="76200" cy="7619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321408" y="5922726"/>
            <a:ext cx="3778250" cy="2691130"/>
          </a:xfrm>
          <a:prstGeom prst="rect">
            <a:avLst/>
          </a:prstGeom>
          <a:ln w="33232">
            <a:solidFill>
              <a:srgbClr val="FFD944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577850" marR="488315">
              <a:lnSpc>
                <a:spcPct val="118100"/>
              </a:lnSpc>
              <a:spcBef>
                <a:spcPts val="1390"/>
              </a:spcBef>
            </a:pPr>
            <a:r>
              <a:rPr sz="1800" spc="-15" dirty="0">
                <a:latin typeface="Lucida Sans Unicode"/>
                <a:cs typeface="Lucida Sans Unicode"/>
              </a:rPr>
              <a:t>Comprehensive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analytics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for </a:t>
            </a:r>
            <a:r>
              <a:rPr sz="1800" spc="-10" dirty="0">
                <a:latin typeface="Lucida Sans Unicode"/>
                <a:cs typeface="Lucida Sans Unicode"/>
              </a:rPr>
              <a:t>teachers 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40" dirty="0">
                <a:latin typeface="Lucida Sans Unicode"/>
                <a:cs typeface="Lucida Sans Unicode"/>
              </a:rPr>
              <a:t>institutions.</a:t>
            </a:r>
            <a:endParaRPr sz="1800">
              <a:latin typeface="Lucida Sans Unicode"/>
              <a:cs typeface="Lucida Sans Unicode"/>
            </a:endParaRPr>
          </a:p>
          <a:p>
            <a:pPr marL="577850" marR="473709">
              <a:lnSpc>
                <a:spcPct val="118100"/>
              </a:lnSpc>
            </a:pPr>
            <a:r>
              <a:rPr sz="1800" spc="-40" dirty="0">
                <a:latin typeface="Lucida Sans Unicode"/>
                <a:cs typeface="Lucida Sans Unicode"/>
              </a:rPr>
              <a:t>Customizable </a:t>
            </a:r>
            <a:r>
              <a:rPr sz="1800" spc="-10" dirty="0">
                <a:latin typeface="Lucida Sans Unicode"/>
                <a:cs typeface="Lucida Sans Unicode"/>
              </a:rPr>
              <a:t>software 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integration </a:t>
            </a:r>
            <a:r>
              <a:rPr sz="1800" spc="-15" dirty="0">
                <a:latin typeface="Lucida Sans Unicode"/>
                <a:cs typeface="Lucida Sans Unicode"/>
              </a:rPr>
              <a:t>for </a:t>
            </a:r>
            <a:r>
              <a:rPr sz="1800" spc="-40" dirty="0">
                <a:latin typeface="Lucida Sans Unicode"/>
                <a:cs typeface="Lucida Sans Unicode"/>
              </a:rPr>
              <a:t>schools. 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R</a:t>
            </a:r>
            <a:r>
              <a:rPr sz="1800" spc="15" dirty="0">
                <a:latin typeface="Lucida Sans Unicode"/>
                <a:cs typeface="Lucida Sans Unicode"/>
              </a:rPr>
              <a:t>ea</a:t>
            </a:r>
            <a:r>
              <a:rPr sz="1800" spc="-65" dirty="0">
                <a:latin typeface="Lucida Sans Unicode"/>
                <a:cs typeface="Lucida Sans Unicode"/>
              </a:rPr>
              <a:t>l</a:t>
            </a:r>
            <a:r>
              <a:rPr sz="1800" spc="-459" dirty="0">
                <a:latin typeface="Lucida Sans Unicode"/>
                <a:cs typeface="Lucida Sans Unicode"/>
              </a:rPr>
              <a:t>-</a:t>
            </a:r>
            <a:r>
              <a:rPr sz="1800" spc="-35" dirty="0">
                <a:latin typeface="Lucida Sans Unicode"/>
                <a:cs typeface="Lucida Sans Unicode"/>
              </a:rPr>
              <a:t>t</a:t>
            </a:r>
            <a:r>
              <a:rPr sz="1800" spc="-65" dirty="0">
                <a:latin typeface="Lucida Sans Unicode"/>
                <a:cs typeface="Lucida Sans Unicode"/>
              </a:rPr>
              <a:t>i</a:t>
            </a:r>
            <a:r>
              <a:rPr sz="1800" spc="15" dirty="0">
                <a:latin typeface="Lucida Sans Unicode"/>
                <a:cs typeface="Lucida Sans Unicode"/>
              </a:rPr>
              <a:t>m</a:t>
            </a:r>
            <a:r>
              <a:rPr sz="1800" spc="20" dirty="0">
                <a:latin typeface="Lucida Sans Unicode"/>
                <a:cs typeface="Lucida Sans Unicode"/>
              </a:rPr>
              <a:t>e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9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I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f</a:t>
            </a:r>
            <a:r>
              <a:rPr sz="1800" spc="15" dirty="0">
                <a:latin typeface="Lucida Sans Unicode"/>
                <a:cs typeface="Lucida Sans Unicode"/>
              </a:rPr>
              <a:t>ee</a:t>
            </a:r>
            <a:r>
              <a:rPr sz="1800" spc="-20" dirty="0">
                <a:latin typeface="Lucida Sans Unicode"/>
                <a:cs typeface="Lucida Sans Unicode"/>
              </a:rPr>
              <a:t>db</a:t>
            </a:r>
            <a:r>
              <a:rPr sz="1800" spc="15" dirty="0">
                <a:latin typeface="Lucida Sans Unicode"/>
                <a:cs typeface="Lucida Sans Unicode"/>
              </a:rPr>
              <a:t>a</a:t>
            </a:r>
            <a:r>
              <a:rPr sz="1800" spc="-55" dirty="0">
                <a:latin typeface="Lucida Sans Unicode"/>
                <a:cs typeface="Lucida Sans Unicode"/>
              </a:rPr>
              <a:t>c</a:t>
            </a:r>
            <a:r>
              <a:rPr sz="1800" spc="-95" dirty="0">
                <a:latin typeface="Lucida Sans Unicode"/>
                <a:cs typeface="Lucida Sans Unicode"/>
              </a:rPr>
              <a:t>k </a:t>
            </a:r>
            <a:r>
              <a:rPr sz="1800" spc="-50" dirty="0">
                <a:latin typeface="Lucida Sans Unicode"/>
                <a:cs typeface="Lucida Sans Unicode"/>
              </a:rPr>
              <a:t>f</a:t>
            </a:r>
            <a:r>
              <a:rPr sz="1800" spc="-5" dirty="0">
                <a:latin typeface="Lucida Sans Unicode"/>
                <a:cs typeface="Lucida Sans Unicode"/>
              </a:rPr>
              <a:t>o</a:t>
            </a:r>
            <a:r>
              <a:rPr sz="1800" spc="5" dirty="0">
                <a:latin typeface="Lucida Sans Unicode"/>
                <a:cs typeface="Lucida Sans Unicode"/>
              </a:rPr>
              <a:t>r  </a:t>
            </a:r>
            <a:r>
              <a:rPr sz="1800" spc="-5" dirty="0">
                <a:latin typeface="Lucida Sans Unicode"/>
                <a:cs typeface="Lucida Sans Unicode"/>
              </a:rPr>
              <a:t>advanced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STEM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topics.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4116159" y="968438"/>
            <a:ext cx="944626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375" dirty="0">
                <a:solidFill>
                  <a:srgbClr val="252324"/>
                </a:solidFill>
              </a:rPr>
              <a:t>REVENUE</a:t>
            </a:r>
            <a:r>
              <a:rPr sz="8000" spc="-150" dirty="0">
                <a:solidFill>
                  <a:srgbClr val="252324"/>
                </a:solidFill>
              </a:rPr>
              <a:t> </a:t>
            </a:r>
            <a:r>
              <a:rPr sz="8000" spc="459" dirty="0">
                <a:solidFill>
                  <a:srgbClr val="252324"/>
                </a:solidFill>
              </a:rPr>
              <a:t>MODEL</a:t>
            </a:r>
            <a:endParaRPr sz="8000"/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5626" y="0"/>
            <a:ext cx="2332373" cy="168592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176145" y="9084944"/>
            <a:ext cx="1632204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spc="170" dirty="0">
                <a:solidFill>
                  <a:srgbClr val="252324"/>
                </a:solidFill>
                <a:latin typeface="Trebuchet MS"/>
                <a:cs typeface="Trebuchet MS"/>
              </a:rPr>
              <a:t>**To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55" dirty="0">
                <a:solidFill>
                  <a:srgbClr val="252324"/>
                </a:solidFill>
                <a:latin typeface="Trebuchet MS"/>
                <a:cs typeface="Trebuchet MS"/>
              </a:rPr>
              <a:t>date,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25" dirty="0">
                <a:solidFill>
                  <a:srgbClr val="252324"/>
                </a:solidFill>
                <a:latin typeface="Trebuchet MS"/>
                <a:cs typeface="Trebuchet MS"/>
              </a:rPr>
              <a:t>we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35" dirty="0">
                <a:solidFill>
                  <a:srgbClr val="252324"/>
                </a:solidFill>
                <a:latin typeface="Trebuchet MS"/>
                <a:cs typeface="Trebuchet MS"/>
              </a:rPr>
              <a:t>have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95" dirty="0">
                <a:solidFill>
                  <a:srgbClr val="252324"/>
                </a:solidFill>
                <a:latin typeface="Trebuchet MS"/>
                <a:cs typeface="Trebuchet MS"/>
              </a:rPr>
              <a:t>secured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95" dirty="0">
                <a:solidFill>
                  <a:srgbClr val="252324"/>
                </a:solidFill>
                <a:latin typeface="Trebuchet MS"/>
                <a:cs typeface="Trebuchet MS"/>
              </a:rPr>
              <a:t>over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225" dirty="0">
                <a:solidFill>
                  <a:srgbClr val="252324"/>
                </a:solidFill>
                <a:latin typeface="Trebuchet MS"/>
                <a:cs typeface="Trebuchet MS"/>
              </a:rPr>
              <a:t>INR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-65" dirty="0">
                <a:solidFill>
                  <a:srgbClr val="252324"/>
                </a:solidFill>
                <a:latin typeface="Trebuchet MS"/>
                <a:cs typeface="Trebuchet MS"/>
              </a:rPr>
              <a:t>400,000+</a:t>
            </a:r>
            <a:r>
              <a:rPr sz="2750" b="1" spc="-105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00" dirty="0">
                <a:solidFill>
                  <a:srgbClr val="252324"/>
                </a:solidFill>
                <a:latin typeface="Trebuchet MS"/>
                <a:cs typeface="Trebuchet MS"/>
              </a:rPr>
              <a:t>in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50" dirty="0">
                <a:solidFill>
                  <a:srgbClr val="252324"/>
                </a:solidFill>
                <a:latin typeface="Trebuchet MS"/>
                <a:cs typeface="Trebuchet MS"/>
              </a:rPr>
              <a:t>grants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25" dirty="0">
                <a:solidFill>
                  <a:srgbClr val="252324"/>
                </a:solidFill>
                <a:latin typeface="Trebuchet MS"/>
                <a:cs typeface="Trebuchet MS"/>
              </a:rPr>
              <a:t>with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10" dirty="0">
                <a:solidFill>
                  <a:srgbClr val="252324"/>
                </a:solidFill>
                <a:latin typeface="Trebuchet MS"/>
                <a:cs typeface="Trebuchet MS"/>
              </a:rPr>
              <a:t>the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95" dirty="0">
                <a:solidFill>
                  <a:srgbClr val="252324"/>
                </a:solidFill>
                <a:latin typeface="Trebuchet MS"/>
                <a:cs typeface="Trebuchet MS"/>
              </a:rPr>
              <a:t>help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95" dirty="0">
                <a:solidFill>
                  <a:srgbClr val="252324"/>
                </a:solidFill>
                <a:latin typeface="Trebuchet MS"/>
                <a:cs typeface="Trebuchet MS"/>
              </a:rPr>
              <a:t>of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140" dirty="0">
                <a:solidFill>
                  <a:srgbClr val="252324"/>
                </a:solidFill>
                <a:latin typeface="Trebuchet MS"/>
                <a:cs typeface="Trebuchet MS"/>
              </a:rPr>
              <a:t>government</a:t>
            </a:r>
            <a:r>
              <a:rPr sz="2750" b="1" spc="-110" dirty="0">
                <a:solidFill>
                  <a:srgbClr val="252324"/>
                </a:solidFill>
                <a:latin typeface="Trebuchet MS"/>
                <a:cs typeface="Trebuchet MS"/>
              </a:rPr>
              <a:t> </a:t>
            </a:r>
            <a:r>
              <a:rPr sz="2750" b="1" spc="90" dirty="0">
                <a:solidFill>
                  <a:srgbClr val="252324"/>
                </a:solidFill>
                <a:latin typeface="Trebuchet MS"/>
                <a:cs typeface="Trebuchet MS"/>
              </a:rPr>
              <a:t>support.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91151"/>
            <a:ext cx="18288000" cy="6296025"/>
            <a:chOff x="0" y="3991151"/>
            <a:chExt cx="18288000" cy="6296025"/>
          </a:xfrm>
        </p:grpSpPr>
        <p:sp>
          <p:nvSpPr>
            <p:cNvPr id="3" name="object 3"/>
            <p:cNvSpPr/>
            <p:nvPr/>
          </p:nvSpPr>
          <p:spPr>
            <a:xfrm>
              <a:off x="0" y="3991151"/>
              <a:ext cx="18280380" cy="6296025"/>
            </a:xfrm>
            <a:custGeom>
              <a:avLst/>
              <a:gdLst/>
              <a:ahLst/>
              <a:cxnLst/>
              <a:rect l="l" t="t" r="r" b="b"/>
              <a:pathLst>
                <a:path w="18280380" h="6296025">
                  <a:moveTo>
                    <a:pt x="18279835" y="6295847"/>
                  </a:moveTo>
                  <a:lnTo>
                    <a:pt x="0" y="6295847"/>
                  </a:lnTo>
                  <a:lnTo>
                    <a:pt x="0" y="0"/>
                  </a:lnTo>
                  <a:lnTo>
                    <a:pt x="18279835" y="0"/>
                  </a:lnTo>
                  <a:lnTo>
                    <a:pt x="18279835" y="6295847"/>
                  </a:lnTo>
                  <a:close/>
                </a:path>
              </a:pathLst>
            </a:custGeom>
            <a:solidFill>
              <a:srgbClr val="202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835212" y="7063675"/>
              <a:ext cx="453390" cy="2195195"/>
            </a:xfrm>
            <a:custGeom>
              <a:avLst/>
              <a:gdLst/>
              <a:ahLst/>
              <a:cxnLst/>
              <a:rect l="l" t="t" r="r" b="b"/>
              <a:pathLst>
                <a:path w="453390" h="2195195">
                  <a:moveTo>
                    <a:pt x="452786" y="2194955"/>
                  </a:moveTo>
                  <a:lnTo>
                    <a:pt x="0" y="2194955"/>
                  </a:lnTo>
                  <a:lnTo>
                    <a:pt x="0" y="0"/>
                  </a:lnTo>
                  <a:lnTo>
                    <a:pt x="452786" y="0"/>
                  </a:lnTo>
                  <a:lnTo>
                    <a:pt x="452786" y="2194955"/>
                  </a:lnTo>
                  <a:close/>
                </a:path>
              </a:pathLst>
            </a:custGeom>
            <a:solidFill>
              <a:srgbClr val="F5A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60813" y="5143500"/>
              <a:ext cx="1762125" cy="881380"/>
            </a:xfrm>
            <a:custGeom>
              <a:avLst/>
              <a:gdLst/>
              <a:ahLst/>
              <a:cxnLst/>
              <a:rect l="l" t="t" r="r" b="b"/>
              <a:pathLst>
                <a:path w="1762125" h="881379">
                  <a:moveTo>
                    <a:pt x="229065" y="881021"/>
                  </a:moveTo>
                  <a:lnTo>
                    <a:pt x="0" y="881021"/>
                  </a:lnTo>
                  <a:lnTo>
                    <a:pt x="1303" y="832682"/>
                  </a:lnTo>
                  <a:lnTo>
                    <a:pt x="5169" y="785024"/>
                  </a:lnTo>
                  <a:lnTo>
                    <a:pt x="11535" y="738092"/>
                  </a:lnTo>
                  <a:lnTo>
                    <a:pt x="20320" y="692021"/>
                  </a:lnTo>
                  <a:lnTo>
                    <a:pt x="31470" y="646810"/>
                  </a:lnTo>
                  <a:lnTo>
                    <a:pt x="44914" y="602550"/>
                  </a:lnTo>
                  <a:lnTo>
                    <a:pt x="60585" y="559307"/>
                  </a:lnTo>
                  <a:lnTo>
                    <a:pt x="78415" y="517148"/>
                  </a:lnTo>
                  <a:lnTo>
                    <a:pt x="98337" y="476141"/>
                  </a:lnTo>
                  <a:lnTo>
                    <a:pt x="120285" y="436352"/>
                  </a:lnTo>
                  <a:lnTo>
                    <a:pt x="144190" y="397850"/>
                  </a:lnTo>
                  <a:lnTo>
                    <a:pt x="169985" y="360701"/>
                  </a:lnTo>
                  <a:lnTo>
                    <a:pt x="197604" y="324972"/>
                  </a:lnTo>
                  <a:lnTo>
                    <a:pt x="226980" y="290731"/>
                  </a:lnTo>
                  <a:lnTo>
                    <a:pt x="258044" y="258045"/>
                  </a:lnTo>
                  <a:lnTo>
                    <a:pt x="290731" y="226980"/>
                  </a:lnTo>
                  <a:lnTo>
                    <a:pt x="324972" y="197605"/>
                  </a:lnTo>
                  <a:lnTo>
                    <a:pt x="360701" y="169985"/>
                  </a:lnTo>
                  <a:lnTo>
                    <a:pt x="397850" y="144190"/>
                  </a:lnTo>
                  <a:lnTo>
                    <a:pt x="436352" y="120285"/>
                  </a:lnTo>
                  <a:lnTo>
                    <a:pt x="476141" y="98337"/>
                  </a:lnTo>
                  <a:lnTo>
                    <a:pt x="517148" y="78415"/>
                  </a:lnTo>
                  <a:lnTo>
                    <a:pt x="559306" y="60585"/>
                  </a:lnTo>
                  <a:lnTo>
                    <a:pt x="602550" y="44914"/>
                  </a:lnTo>
                  <a:lnTo>
                    <a:pt x="646810" y="31470"/>
                  </a:lnTo>
                  <a:lnTo>
                    <a:pt x="692021" y="20320"/>
                  </a:lnTo>
                  <a:lnTo>
                    <a:pt x="738114" y="11530"/>
                  </a:lnTo>
                  <a:lnTo>
                    <a:pt x="785023" y="5169"/>
                  </a:lnTo>
                  <a:lnTo>
                    <a:pt x="832681" y="1303"/>
                  </a:lnTo>
                  <a:lnTo>
                    <a:pt x="881016" y="0"/>
                  </a:lnTo>
                  <a:lnTo>
                    <a:pt x="929360" y="1303"/>
                  </a:lnTo>
                  <a:lnTo>
                    <a:pt x="977017" y="5169"/>
                  </a:lnTo>
                  <a:lnTo>
                    <a:pt x="1023927" y="11530"/>
                  </a:lnTo>
                  <a:lnTo>
                    <a:pt x="1070020" y="20320"/>
                  </a:lnTo>
                  <a:lnTo>
                    <a:pt x="1115231" y="31470"/>
                  </a:lnTo>
                  <a:lnTo>
                    <a:pt x="1159491" y="44914"/>
                  </a:lnTo>
                  <a:lnTo>
                    <a:pt x="1202734" y="60585"/>
                  </a:lnTo>
                  <a:lnTo>
                    <a:pt x="1244893" y="78415"/>
                  </a:lnTo>
                  <a:lnTo>
                    <a:pt x="1285900" y="98337"/>
                  </a:lnTo>
                  <a:lnTo>
                    <a:pt x="1325689" y="120285"/>
                  </a:lnTo>
                  <a:lnTo>
                    <a:pt x="1364191" y="144190"/>
                  </a:lnTo>
                  <a:lnTo>
                    <a:pt x="1401340" y="169985"/>
                  </a:lnTo>
                  <a:lnTo>
                    <a:pt x="1437069" y="197605"/>
                  </a:lnTo>
                  <a:lnTo>
                    <a:pt x="1471310" y="226980"/>
                  </a:lnTo>
                  <a:lnTo>
                    <a:pt x="1473504" y="229065"/>
                  </a:lnTo>
                  <a:lnTo>
                    <a:pt x="881020" y="229065"/>
                  </a:lnTo>
                  <a:lnTo>
                    <a:pt x="832364" y="230853"/>
                  </a:lnTo>
                  <a:lnTo>
                    <a:pt x="784679" y="236134"/>
                  </a:lnTo>
                  <a:lnTo>
                    <a:pt x="738091" y="244781"/>
                  </a:lnTo>
                  <a:lnTo>
                    <a:pt x="692727" y="256668"/>
                  </a:lnTo>
                  <a:lnTo>
                    <a:pt x="648712" y="271670"/>
                  </a:lnTo>
                  <a:lnTo>
                    <a:pt x="606172" y="289659"/>
                  </a:lnTo>
                  <a:lnTo>
                    <a:pt x="565234" y="310511"/>
                  </a:lnTo>
                  <a:lnTo>
                    <a:pt x="526024" y="334099"/>
                  </a:lnTo>
                  <a:lnTo>
                    <a:pt x="488667" y="360297"/>
                  </a:lnTo>
                  <a:lnTo>
                    <a:pt x="453290" y="388979"/>
                  </a:lnTo>
                  <a:lnTo>
                    <a:pt x="420018" y="420018"/>
                  </a:lnTo>
                  <a:lnTo>
                    <a:pt x="388979" y="453290"/>
                  </a:lnTo>
                  <a:lnTo>
                    <a:pt x="360297" y="488667"/>
                  </a:lnTo>
                  <a:lnTo>
                    <a:pt x="334099" y="526024"/>
                  </a:lnTo>
                  <a:lnTo>
                    <a:pt x="310511" y="565235"/>
                  </a:lnTo>
                  <a:lnTo>
                    <a:pt x="289659" y="606173"/>
                  </a:lnTo>
                  <a:lnTo>
                    <a:pt x="271670" y="648712"/>
                  </a:lnTo>
                  <a:lnTo>
                    <a:pt x="256668" y="692727"/>
                  </a:lnTo>
                  <a:lnTo>
                    <a:pt x="244776" y="738114"/>
                  </a:lnTo>
                  <a:lnTo>
                    <a:pt x="236134" y="784679"/>
                  </a:lnTo>
                  <a:lnTo>
                    <a:pt x="230853" y="832364"/>
                  </a:lnTo>
                  <a:lnTo>
                    <a:pt x="229065" y="881021"/>
                  </a:lnTo>
                  <a:close/>
                </a:path>
                <a:path w="1762125" h="881379">
                  <a:moveTo>
                    <a:pt x="1762041" y="881021"/>
                  </a:moveTo>
                  <a:lnTo>
                    <a:pt x="1532976" y="881015"/>
                  </a:lnTo>
                  <a:lnTo>
                    <a:pt x="1531188" y="832364"/>
                  </a:lnTo>
                  <a:lnTo>
                    <a:pt x="1525907" y="784679"/>
                  </a:lnTo>
                  <a:lnTo>
                    <a:pt x="1517258" y="738092"/>
                  </a:lnTo>
                  <a:lnTo>
                    <a:pt x="1505373" y="692727"/>
                  </a:lnTo>
                  <a:lnTo>
                    <a:pt x="1490371" y="648712"/>
                  </a:lnTo>
                  <a:lnTo>
                    <a:pt x="1472382" y="606173"/>
                  </a:lnTo>
                  <a:lnTo>
                    <a:pt x="1451530" y="565235"/>
                  </a:lnTo>
                  <a:lnTo>
                    <a:pt x="1427942" y="526024"/>
                  </a:lnTo>
                  <a:lnTo>
                    <a:pt x="1401744" y="488667"/>
                  </a:lnTo>
                  <a:lnTo>
                    <a:pt x="1373062" y="453290"/>
                  </a:lnTo>
                  <a:lnTo>
                    <a:pt x="1342023" y="420018"/>
                  </a:lnTo>
                  <a:lnTo>
                    <a:pt x="1308751" y="388979"/>
                  </a:lnTo>
                  <a:lnTo>
                    <a:pt x="1273374" y="360297"/>
                  </a:lnTo>
                  <a:lnTo>
                    <a:pt x="1236017" y="334099"/>
                  </a:lnTo>
                  <a:lnTo>
                    <a:pt x="1196806" y="310511"/>
                  </a:lnTo>
                  <a:lnTo>
                    <a:pt x="1155868" y="289659"/>
                  </a:lnTo>
                  <a:lnTo>
                    <a:pt x="1113329" y="271670"/>
                  </a:lnTo>
                  <a:lnTo>
                    <a:pt x="1069314" y="256668"/>
                  </a:lnTo>
                  <a:lnTo>
                    <a:pt x="1023949" y="244781"/>
                  </a:lnTo>
                  <a:lnTo>
                    <a:pt x="977362" y="236134"/>
                  </a:lnTo>
                  <a:lnTo>
                    <a:pt x="929677" y="230853"/>
                  </a:lnTo>
                  <a:lnTo>
                    <a:pt x="881020" y="229065"/>
                  </a:lnTo>
                  <a:lnTo>
                    <a:pt x="1473504" y="229065"/>
                  </a:lnTo>
                  <a:lnTo>
                    <a:pt x="1503996" y="258045"/>
                  </a:lnTo>
                  <a:lnTo>
                    <a:pt x="1535061" y="290731"/>
                  </a:lnTo>
                  <a:lnTo>
                    <a:pt x="1564436" y="324972"/>
                  </a:lnTo>
                  <a:lnTo>
                    <a:pt x="1592056" y="360701"/>
                  </a:lnTo>
                  <a:lnTo>
                    <a:pt x="1617851" y="397850"/>
                  </a:lnTo>
                  <a:lnTo>
                    <a:pt x="1641756" y="436352"/>
                  </a:lnTo>
                  <a:lnTo>
                    <a:pt x="1663704" y="476141"/>
                  </a:lnTo>
                  <a:lnTo>
                    <a:pt x="1683626" y="517148"/>
                  </a:lnTo>
                  <a:lnTo>
                    <a:pt x="1701456" y="559307"/>
                  </a:lnTo>
                  <a:lnTo>
                    <a:pt x="1717126" y="602550"/>
                  </a:lnTo>
                  <a:lnTo>
                    <a:pt x="1730571" y="646810"/>
                  </a:lnTo>
                  <a:lnTo>
                    <a:pt x="1741721" y="692021"/>
                  </a:lnTo>
                  <a:lnTo>
                    <a:pt x="1750509" y="738114"/>
                  </a:lnTo>
                  <a:lnTo>
                    <a:pt x="1756872" y="785024"/>
                  </a:lnTo>
                  <a:lnTo>
                    <a:pt x="1760738" y="832682"/>
                  </a:lnTo>
                  <a:lnTo>
                    <a:pt x="1762041" y="881021"/>
                  </a:lnTo>
                  <a:close/>
                </a:path>
              </a:pathLst>
            </a:custGeom>
            <a:solidFill>
              <a:srgbClr val="5367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60813" y="5143500"/>
              <a:ext cx="1577340" cy="881380"/>
            </a:xfrm>
            <a:custGeom>
              <a:avLst/>
              <a:gdLst/>
              <a:ahLst/>
              <a:cxnLst/>
              <a:rect l="l" t="t" r="r" b="b"/>
              <a:pathLst>
                <a:path w="1577339" h="881379">
                  <a:moveTo>
                    <a:pt x="229065" y="881020"/>
                  </a:moveTo>
                  <a:lnTo>
                    <a:pt x="0" y="881020"/>
                  </a:lnTo>
                  <a:lnTo>
                    <a:pt x="1349" y="832151"/>
                  </a:lnTo>
                  <a:lnTo>
                    <a:pt x="5349" y="783838"/>
                  </a:lnTo>
                  <a:lnTo>
                    <a:pt x="11944" y="736166"/>
                  </a:lnTo>
                  <a:lnTo>
                    <a:pt x="21074" y="689219"/>
                  </a:lnTo>
                  <a:lnTo>
                    <a:pt x="32677" y="643083"/>
                  </a:lnTo>
                  <a:lnTo>
                    <a:pt x="46693" y="597842"/>
                  </a:lnTo>
                  <a:lnTo>
                    <a:pt x="63061" y="553580"/>
                  </a:lnTo>
                  <a:lnTo>
                    <a:pt x="81722" y="510381"/>
                  </a:lnTo>
                  <a:lnTo>
                    <a:pt x="102615" y="468331"/>
                  </a:lnTo>
                  <a:lnTo>
                    <a:pt x="125679" y="427514"/>
                  </a:lnTo>
                  <a:lnTo>
                    <a:pt x="150854" y="388013"/>
                  </a:lnTo>
                  <a:lnTo>
                    <a:pt x="178080" y="349914"/>
                  </a:lnTo>
                  <a:lnTo>
                    <a:pt x="207296" y="313302"/>
                  </a:lnTo>
                  <a:lnTo>
                    <a:pt x="238442" y="278260"/>
                  </a:lnTo>
                  <a:lnTo>
                    <a:pt x="271458" y="244873"/>
                  </a:lnTo>
                  <a:lnTo>
                    <a:pt x="306282" y="213225"/>
                  </a:lnTo>
                  <a:lnTo>
                    <a:pt x="342856" y="183402"/>
                  </a:lnTo>
                  <a:lnTo>
                    <a:pt x="381118" y="155487"/>
                  </a:lnTo>
                  <a:lnTo>
                    <a:pt x="421008" y="129566"/>
                  </a:lnTo>
                  <a:lnTo>
                    <a:pt x="462466" y="105722"/>
                  </a:lnTo>
                  <a:lnTo>
                    <a:pt x="505432" y="84039"/>
                  </a:lnTo>
                  <a:lnTo>
                    <a:pt x="549844" y="64604"/>
                  </a:lnTo>
                  <a:lnTo>
                    <a:pt x="595642" y="47499"/>
                  </a:lnTo>
                  <a:lnTo>
                    <a:pt x="642314" y="32944"/>
                  </a:lnTo>
                  <a:lnTo>
                    <a:pt x="689319" y="21081"/>
                  </a:lnTo>
                  <a:lnTo>
                    <a:pt x="736557" y="11879"/>
                  </a:lnTo>
                  <a:lnTo>
                    <a:pt x="783929" y="5310"/>
                  </a:lnTo>
                  <a:lnTo>
                    <a:pt x="831336" y="1343"/>
                  </a:lnTo>
                  <a:lnTo>
                    <a:pt x="876968" y="0"/>
                  </a:lnTo>
                  <a:lnTo>
                    <a:pt x="880748" y="0"/>
                  </a:lnTo>
                  <a:lnTo>
                    <a:pt x="925856" y="1098"/>
                  </a:lnTo>
                  <a:lnTo>
                    <a:pt x="972770" y="4760"/>
                  </a:lnTo>
                  <a:lnTo>
                    <a:pt x="1019321" y="10905"/>
                  </a:lnTo>
                  <a:lnTo>
                    <a:pt x="1065408" y="19504"/>
                  </a:lnTo>
                  <a:lnTo>
                    <a:pt x="1110934" y="30527"/>
                  </a:lnTo>
                  <a:lnTo>
                    <a:pt x="1155797" y="43944"/>
                  </a:lnTo>
                  <a:lnTo>
                    <a:pt x="1199900" y="59726"/>
                  </a:lnTo>
                  <a:lnTo>
                    <a:pt x="1243141" y="77842"/>
                  </a:lnTo>
                  <a:lnTo>
                    <a:pt x="1285423" y="98263"/>
                  </a:lnTo>
                  <a:lnTo>
                    <a:pt x="1326644" y="120959"/>
                  </a:lnTo>
                  <a:lnTo>
                    <a:pt x="1366706" y="145900"/>
                  </a:lnTo>
                  <a:lnTo>
                    <a:pt x="1405510" y="173057"/>
                  </a:lnTo>
                  <a:lnTo>
                    <a:pt x="1442955" y="202401"/>
                  </a:lnTo>
                  <a:lnTo>
                    <a:pt x="1473808" y="229405"/>
                  </a:lnTo>
                  <a:lnTo>
                    <a:pt x="858690" y="229405"/>
                  </a:lnTo>
                  <a:lnTo>
                    <a:pt x="811237" y="232769"/>
                  </a:lnTo>
                  <a:lnTo>
                    <a:pt x="763823" y="239655"/>
                  </a:lnTo>
                  <a:lnTo>
                    <a:pt x="716630" y="250119"/>
                  </a:lnTo>
                  <a:lnTo>
                    <a:pt x="669841" y="264215"/>
                  </a:lnTo>
                  <a:lnTo>
                    <a:pt x="624231" y="281754"/>
                  </a:lnTo>
                  <a:lnTo>
                    <a:pt x="580528" y="302411"/>
                  </a:lnTo>
                  <a:lnTo>
                    <a:pt x="538843" y="326030"/>
                  </a:lnTo>
                  <a:lnTo>
                    <a:pt x="499286" y="352457"/>
                  </a:lnTo>
                  <a:lnTo>
                    <a:pt x="461968" y="381536"/>
                  </a:lnTo>
                  <a:lnTo>
                    <a:pt x="426999" y="413112"/>
                  </a:lnTo>
                  <a:lnTo>
                    <a:pt x="394491" y="447032"/>
                  </a:lnTo>
                  <a:lnTo>
                    <a:pt x="364554" y="483139"/>
                  </a:lnTo>
                  <a:lnTo>
                    <a:pt x="337298" y="521280"/>
                  </a:lnTo>
                  <a:lnTo>
                    <a:pt x="312834" y="561299"/>
                  </a:lnTo>
                  <a:lnTo>
                    <a:pt x="291274" y="603041"/>
                  </a:lnTo>
                  <a:lnTo>
                    <a:pt x="272726" y="646353"/>
                  </a:lnTo>
                  <a:lnTo>
                    <a:pt x="257303" y="691078"/>
                  </a:lnTo>
                  <a:lnTo>
                    <a:pt x="245115" y="737062"/>
                  </a:lnTo>
                  <a:lnTo>
                    <a:pt x="236272" y="784151"/>
                  </a:lnTo>
                  <a:lnTo>
                    <a:pt x="230888" y="832188"/>
                  </a:lnTo>
                  <a:lnTo>
                    <a:pt x="229065" y="881020"/>
                  </a:lnTo>
                  <a:close/>
                </a:path>
                <a:path w="1577339" h="881379">
                  <a:moveTo>
                    <a:pt x="1396167" y="481432"/>
                  </a:moveTo>
                  <a:lnTo>
                    <a:pt x="1364799" y="443963"/>
                  </a:lnTo>
                  <a:lnTo>
                    <a:pt x="1331099" y="409307"/>
                  </a:lnTo>
                  <a:lnTo>
                    <a:pt x="1295251" y="377520"/>
                  </a:lnTo>
                  <a:lnTo>
                    <a:pt x="1257437" y="348656"/>
                  </a:lnTo>
                  <a:lnTo>
                    <a:pt x="1217838" y="322769"/>
                  </a:lnTo>
                  <a:lnTo>
                    <a:pt x="1176636" y="299914"/>
                  </a:lnTo>
                  <a:lnTo>
                    <a:pt x="1134016" y="280146"/>
                  </a:lnTo>
                  <a:lnTo>
                    <a:pt x="1090158" y="263518"/>
                  </a:lnTo>
                  <a:lnTo>
                    <a:pt x="1045354" y="250119"/>
                  </a:lnTo>
                  <a:lnTo>
                    <a:pt x="999459" y="239905"/>
                  </a:lnTo>
                  <a:lnTo>
                    <a:pt x="952983" y="233028"/>
                  </a:lnTo>
                  <a:lnTo>
                    <a:pt x="905999" y="229509"/>
                  </a:lnTo>
                  <a:lnTo>
                    <a:pt x="858690" y="229405"/>
                  </a:lnTo>
                  <a:lnTo>
                    <a:pt x="1473808" y="229405"/>
                  </a:lnTo>
                  <a:lnTo>
                    <a:pt x="1478943" y="233900"/>
                  </a:lnTo>
                  <a:lnTo>
                    <a:pt x="1513373" y="267525"/>
                  </a:lnTo>
                  <a:lnTo>
                    <a:pt x="1546146" y="303247"/>
                  </a:lnTo>
                  <a:lnTo>
                    <a:pt x="1577164" y="341036"/>
                  </a:lnTo>
                  <a:lnTo>
                    <a:pt x="1396167" y="481432"/>
                  </a:lnTo>
                  <a:close/>
                </a:path>
              </a:pathLst>
            </a:custGeom>
            <a:solidFill>
              <a:srgbClr val="F5A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88171" y="5143500"/>
              <a:ext cx="1762125" cy="881380"/>
            </a:xfrm>
            <a:custGeom>
              <a:avLst/>
              <a:gdLst/>
              <a:ahLst/>
              <a:cxnLst/>
              <a:rect l="l" t="t" r="r" b="b"/>
              <a:pathLst>
                <a:path w="1762125" h="881379">
                  <a:moveTo>
                    <a:pt x="229065" y="881021"/>
                  </a:moveTo>
                  <a:lnTo>
                    <a:pt x="0" y="881021"/>
                  </a:lnTo>
                  <a:lnTo>
                    <a:pt x="1303" y="832682"/>
                  </a:lnTo>
                  <a:lnTo>
                    <a:pt x="5169" y="785024"/>
                  </a:lnTo>
                  <a:lnTo>
                    <a:pt x="11535" y="738092"/>
                  </a:lnTo>
                  <a:lnTo>
                    <a:pt x="20320" y="692021"/>
                  </a:lnTo>
                  <a:lnTo>
                    <a:pt x="31470" y="646810"/>
                  </a:lnTo>
                  <a:lnTo>
                    <a:pt x="44914" y="602550"/>
                  </a:lnTo>
                  <a:lnTo>
                    <a:pt x="60585" y="559307"/>
                  </a:lnTo>
                  <a:lnTo>
                    <a:pt x="78415" y="517148"/>
                  </a:lnTo>
                  <a:lnTo>
                    <a:pt x="98337" y="476141"/>
                  </a:lnTo>
                  <a:lnTo>
                    <a:pt x="120285" y="436352"/>
                  </a:lnTo>
                  <a:lnTo>
                    <a:pt x="144190" y="397850"/>
                  </a:lnTo>
                  <a:lnTo>
                    <a:pt x="169985" y="360701"/>
                  </a:lnTo>
                  <a:lnTo>
                    <a:pt x="197604" y="324972"/>
                  </a:lnTo>
                  <a:lnTo>
                    <a:pt x="226980" y="290731"/>
                  </a:lnTo>
                  <a:lnTo>
                    <a:pt x="258044" y="258045"/>
                  </a:lnTo>
                  <a:lnTo>
                    <a:pt x="290731" y="226980"/>
                  </a:lnTo>
                  <a:lnTo>
                    <a:pt x="324972" y="197605"/>
                  </a:lnTo>
                  <a:lnTo>
                    <a:pt x="360701" y="169985"/>
                  </a:lnTo>
                  <a:lnTo>
                    <a:pt x="397850" y="144190"/>
                  </a:lnTo>
                  <a:lnTo>
                    <a:pt x="436352" y="120285"/>
                  </a:lnTo>
                  <a:lnTo>
                    <a:pt x="476140" y="98337"/>
                  </a:lnTo>
                  <a:lnTo>
                    <a:pt x="517147" y="78415"/>
                  </a:lnTo>
                  <a:lnTo>
                    <a:pt x="559306" y="60585"/>
                  </a:lnTo>
                  <a:lnTo>
                    <a:pt x="602549" y="44914"/>
                  </a:lnTo>
                  <a:lnTo>
                    <a:pt x="646810" y="31470"/>
                  </a:lnTo>
                  <a:lnTo>
                    <a:pt x="692020" y="20320"/>
                  </a:lnTo>
                  <a:lnTo>
                    <a:pt x="738114" y="11530"/>
                  </a:lnTo>
                  <a:lnTo>
                    <a:pt x="785023" y="5169"/>
                  </a:lnTo>
                  <a:lnTo>
                    <a:pt x="832681" y="1303"/>
                  </a:lnTo>
                  <a:lnTo>
                    <a:pt x="881016" y="0"/>
                  </a:lnTo>
                  <a:lnTo>
                    <a:pt x="929359" y="1303"/>
                  </a:lnTo>
                  <a:lnTo>
                    <a:pt x="977017" y="5169"/>
                  </a:lnTo>
                  <a:lnTo>
                    <a:pt x="1023926" y="11530"/>
                  </a:lnTo>
                  <a:lnTo>
                    <a:pt x="1070020" y="20320"/>
                  </a:lnTo>
                  <a:lnTo>
                    <a:pt x="1115231" y="31470"/>
                  </a:lnTo>
                  <a:lnTo>
                    <a:pt x="1159491" y="44914"/>
                  </a:lnTo>
                  <a:lnTo>
                    <a:pt x="1202734" y="60585"/>
                  </a:lnTo>
                  <a:lnTo>
                    <a:pt x="1244893" y="78415"/>
                  </a:lnTo>
                  <a:lnTo>
                    <a:pt x="1285900" y="98337"/>
                  </a:lnTo>
                  <a:lnTo>
                    <a:pt x="1325689" y="120285"/>
                  </a:lnTo>
                  <a:lnTo>
                    <a:pt x="1364191" y="144190"/>
                  </a:lnTo>
                  <a:lnTo>
                    <a:pt x="1401340" y="169985"/>
                  </a:lnTo>
                  <a:lnTo>
                    <a:pt x="1437069" y="197605"/>
                  </a:lnTo>
                  <a:lnTo>
                    <a:pt x="1471310" y="226980"/>
                  </a:lnTo>
                  <a:lnTo>
                    <a:pt x="1473504" y="229065"/>
                  </a:lnTo>
                  <a:lnTo>
                    <a:pt x="881020" y="229065"/>
                  </a:lnTo>
                  <a:lnTo>
                    <a:pt x="832364" y="230853"/>
                  </a:lnTo>
                  <a:lnTo>
                    <a:pt x="784679" y="236134"/>
                  </a:lnTo>
                  <a:lnTo>
                    <a:pt x="738091" y="244781"/>
                  </a:lnTo>
                  <a:lnTo>
                    <a:pt x="692727" y="256668"/>
                  </a:lnTo>
                  <a:lnTo>
                    <a:pt x="648712" y="271670"/>
                  </a:lnTo>
                  <a:lnTo>
                    <a:pt x="606172" y="289659"/>
                  </a:lnTo>
                  <a:lnTo>
                    <a:pt x="565234" y="310511"/>
                  </a:lnTo>
                  <a:lnTo>
                    <a:pt x="526024" y="334099"/>
                  </a:lnTo>
                  <a:lnTo>
                    <a:pt x="488667" y="360297"/>
                  </a:lnTo>
                  <a:lnTo>
                    <a:pt x="453290" y="388979"/>
                  </a:lnTo>
                  <a:lnTo>
                    <a:pt x="420018" y="420018"/>
                  </a:lnTo>
                  <a:lnTo>
                    <a:pt x="388979" y="453290"/>
                  </a:lnTo>
                  <a:lnTo>
                    <a:pt x="360297" y="488667"/>
                  </a:lnTo>
                  <a:lnTo>
                    <a:pt x="334099" y="526024"/>
                  </a:lnTo>
                  <a:lnTo>
                    <a:pt x="310511" y="565235"/>
                  </a:lnTo>
                  <a:lnTo>
                    <a:pt x="289659" y="606173"/>
                  </a:lnTo>
                  <a:lnTo>
                    <a:pt x="271670" y="648712"/>
                  </a:lnTo>
                  <a:lnTo>
                    <a:pt x="256668" y="692727"/>
                  </a:lnTo>
                  <a:lnTo>
                    <a:pt x="244777" y="738114"/>
                  </a:lnTo>
                  <a:lnTo>
                    <a:pt x="236134" y="784679"/>
                  </a:lnTo>
                  <a:lnTo>
                    <a:pt x="230853" y="832364"/>
                  </a:lnTo>
                  <a:lnTo>
                    <a:pt x="229065" y="881021"/>
                  </a:lnTo>
                  <a:close/>
                </a:path>
                <a:path w="1762125" h="881379">
                  <a:moveTo>
                    <a:pt x="1762042" y="881021"/>
                  </a:moveTo>
                  <a:lnTo>
                    <a:pt x="1532976" y="881015"/>
                  </a:lnTo>
                  <a:lnTo>
                    <a:pt x="1531188" y="832364"/>
                  </a:lnTo>
                  <a:lnTo>
                    <a:pt x="1525907" y="784679"/>
                  </a:lnTo>
                  <a:lnTo>
                    <a:pt x="1517258" y="738092"/>
                  </a:lnTo>
                  <a:lnTo>
                    <a:pt x="1505373" y="692727"/>
                  </a:lnTo>
                  <a:lnTo>
                    <a:pt x="1490371" y="648712"/>
                  </a:lnTo>
                  <a:lnTo>
                    <a:pt x="1472382" y="606173"/>
                  </a:lnTo>
                  <a:lnTo>
                    <a:pt x="1451530" y="565235"/>
                  </a:lnTo>
                  <a:lnTo>
                    <a:pt x="1427942" y="526024"/>
                  </a:lnTo>
                  <a:lnTo>
                    <a:pt x="1401744" y="488667"/>
                  </a:lnTo>
                  <a:lnTo>
                    <a:pt x="1373062" y="453290"/>
                  </a:lnTo>
                  <a:lnTo>
                    <a:pt x="1342022" y="420018"/>
                  </a:lnTo>
                  <a:lnTo>
                    <a:pt x="1308751" y="388979"/>
                  </a:lnTo>
                  <a:lnTo>
                    <a:pt x="1273374" y="360297"/>
                  </a:lnTo>
                  <a:lnTo>
                    <a:pt x="1236017" y="334099"/>
                  </a:lnTo>
                  <a:lnTo>
                    <a:pt x="1196806" y="310511"/>
                  </a:lnTo>
                  <a:lnTo>
                    <a:pt x="1155868" y="289659"/>
                  </a:lnTo>
                  <a:lnTo>
                    <a:pt x="1113329" y="271670"/>
                  </a:lnTo>
                  <a:lnTo>
                    <a:pt x="1069313" y="256668"/>
                  </a:lnTo>
                  <a:lnTo>
                    <a:pt x="1023949" y="244781"/>
                  </a:lnTo>
                  <a:lnTo>
                    <a:pt x="977361" y="236134"/>
                  </a:lnTo>
                  <a:lnTo>
                    <a:pt x="929676" y="230853"/>
                  </a:lnTo>
                  <a:lnTo>
                    <a:pt x="881020" y="229065"/>
                  </a:lnTo>
                  <a:lnTo>
                    <a:pt x="1473504" y="229065"/>
                  </a:lnTo>
                  <a:lnTo>
                    <a:pt x="1503997" y="258045"/>
                  </a:lnTo>
                  <a:lnTo>
                    <a:pt x="1535061" y="290731"/>
                  </a:lnTo>
                  <a:lnTo>
                    <a:pt x="1564437" y="324972"/>
                  </a:lnTo>
                  <a:lnTo>
                    <a:pt x="1592056" y="360701"/>
                  </a:lnTo>
                  <a:lnTo>
                    <a:pt x="1617851" y="397850"/>
                  </a:lnTo>
                  <a:lnTo>
                    <a:pt x="1641756" y="436352"/>
                  </a:lnTo>
                  <a:lnTo>
                    <a:pt x="1663704" y="476141"/>
                  </a:lnTo>
                  <a:lnTo>
                    <a:pt x="1683626" y="517148"/>
                  </a:lnTo>
                  <a:lnTo>
                    <a:pt x="1701456" y="559307"/>
                  </a:lnTo>
                  <a:lnTo>
                    <a:pt x="1717127" y="602550"/>
                  </a:lnTo>
                  <a:lnTo>
                    <a:pt x="1730571" y="646810"/>
                  </a:lnTo>
                  <a:lnTo>
                    <a:pt x="1741721" y="692021"/>
                  </a:lnTo>
                  <a:lnTo>
                    <a:pt x="1750509" y="738114"/>
                  </a:lnTo>
                  <a:lnTo>
                    <a:pt x="1756872" y="785024"/>
                  </a:lnTo>
                  <a:lnTo>
                    <a:pt x="1760738" y="832682"/>
                  </a:lnTo>
                  <a:lnTo>
                    <a:pt x="1762042" y="881015"/>
                  </a:lnTo>
                  <a:close/>
                </a:path>
              </a:pathLst>
            </a:custGeom>
            <a:solidFill>
              <a:srgbClr val="5367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88171" y="5143620"/>
              <a:ext cx="1019175" cy="881380"/>
            </a:xfrm>
            <a:custGeom>
              <a:avLst/>
              <a:gdLst/>
              <a:ahLst/>
              <a:cxnLst/>
              <a:rect l="l" t="t" r="r" b="b"/>
              <a:pathLst>
                <a:path w="1019175" h="881379">
                  <a:moveTo>
                    <a:pt x="229065" y="880900"/>
                  </a:moveTo>
                  <a:lnTo>
                    <a:pt x="0" y="880900"/>
                  </a:lnTo>
                  <a:lnTo>
                    <a:pt x="1495" y="829545"/>
                  </a:lnTo>
                  <a:lnTo>
                    <a:pt x="5948" y="778648"/>
                  </a:lnTo>
                  <a:lnTo>
                    <a:pt x="13305" y="728326"/>
                  </a:lnTo>
                  <a:lnTo>
                    <a:pt x="23512" y="678692"/>
                  </a:lnTo>
                  <a:lnTo>
                    <a:pt x="36518" y="629861"/>
                  </a:lnTo>
                  <a:lnTo>
                    <a:pt x="52269" y="581949"/>
                  </a:lnTo>
                  <a:lnTo>
                    <a:pt x="70712" y="535069"/>
                  </a:lnTo>
                  <a:lnTo>
                    <a:pt x="91795" y="489337"/>
                  </a:lnTo>
                  <a:lnTo>
                    <a:pt x="115465" y="444866"/>
                  </a:lnTo>
                  <a:lnTo>
                    <a:pt x="141668" y="401772"/>
                  </a:lnTo>
                  <a:lnTo>
                    <a:pt x="170353" y="360170"/>
                  </a:lnTo>
                  <a:lnTo>
                    <a:pt x="201465" y="320173"/>
                  </a:lnTo>
                  <a:lnTo>
                    <a:pt x="234953" y="281897"/>
                  </a:lnTo>
                  <a:lnTo>
                    <a:pt x="270763" y="245457"/>
                  </a:lnTo>
                  <a:lnTo>
                    <a:pt x="308843" y="210967"/>
                  </a:lnTo>
                  <a:lnTo>
                    <a:pt x="348866" y="178751"/>
                  </a:lnTo>
                  <a:lnTo>
                    <a:pt x="390460" y="149082"/>
                  </a:lnTo>
                  <a:lnTo>
                    <a:pt x="433503" y="121995"/>
                  </a:lnTo>
                  <a:lnTo>
                    <a:pt x="477874" y="97522"/>
                  </a:lnTo>
                  <a:lnTo>
                    <a:pt x="523452" y="75699"/>
                  </a:lnTo>
                  <a:lnTo>
                    <a:pt x="570114" y="56559"/>
                  </a:lnTo>
                  <a:lnTo>
                    <a:pt x="617740" y="40138"/>
                  </a:lnTo>
                  <a:lnTo>
                    <a:pt x="666207" y="26468"/>
                  </a:lnTo>
                  <a:lnTo>
                    <a:pt x="715395" y="15586"/>
                  </a:lnTo>
                  <a:lnTo>
                    <a:pt x="765182" y="7524"/>
                  </a:lnTo>
                  <a:lnTo>
                    <a:pt x="815445" y="2317"/>
                  </a:lnTo>
                  <a:lnTo>
                    <a:pt x="866065" y="0"/>
                  </a:lnTo>
                  <a:lnTo>
                    <a:pt x="916919" y="606"/>
                  </a:lnTo>
                  <a:lnTo>
                    <a:pt x="967885" y="4170"/>
                  </a:lnTo>
                  <a:lnTo>
                    <a:pt x="1018842" y="10726"/>
                  </a:lnTo>
                  <a:lnTo>
                    <a:pt x="984281" y="228940"/>
                  </a:lnTo>
                  <a:lnTo>
                    <a:pt x="880203" y="228940"/>
                  </a:lnTo>
                  <a:lnTo>
                    <a:pt x="829101" y="231011"/>
                  </a:lnTo>
                  <a:lnTo>
                    <a:pt x="778504" y="237053"/>
                  </a:lnTo>
                  <a:lnTo>
                    <a:pt x="728640" y="247002"/>
                  </a:lnTo>
                  <a:lnTo>
                    <a:pt x="679736" y="260795"/>
                  </a:lnTo>
                  <a:lnTo>
                    <a:pt x="632021" y="278366"/>
                  </a:lnTo>
                  <a:lnTo>
                    <a:pt x="585723" y="299651"/>
                  </a:lnTo>
                  <a:lnTo>
                    <a:pt x="541069" y="324586"/>
                  </a:lnTo>
                  <a:lnTo>
                    <a:pt x="498289" y="353107"/>
                  </a:lnTo>
                  <a:lnTo>
                    <a:pt x="457609" y="385149"/>
                  </a:lnTo>
                  <a:lnTo>
                    <a:pt x="419598" y="420316"/>
                  </a:lnTo>
                  <a:lnTo>
                    <a:pt x="384736" y="458108"/>
                  </a:lnTo>
                  <a:lnTo>
                    <a:pt x="353122" y="498311"/>
                  </a:lnTo>
                  <a:lnTo>
                    <a:pt x="324856" y="540709"/>
                  </a:lnTo>
                  <a:lnTo>
                    <a:pt x="300037" y="585088"/>
                  </a:lnTo>
                  <a:lnTo>
                    <a:pt x="278765" y="631232"/>
                  </a:lnTo>
                  <a:lnTo>
                    <a:pt x="261137" y="678926"/>
                  </a:lnTo>
                  <a:lnTo>
                    <a:pt x="247254" y="727955"/>
                  </a:lnTo>
                  <a:lnTo>
                    <a:pt x="237215" y="778104"/>
                  </a:lnTo>
                  <a:lnTo>
                    <a:pt x="231119" y="829158"/>
                  </a:lnTo>
                  <a:lnTo>
                    <a:pt x="229065" y="880900"/>
                  </a:lnTo>
                  <a:close/>
                </a:path>
                <a:path w="1019175" h="881379">
                  <a:moveTo>
                    <a:pt x="983009" y="236971"/>
                  </a:moveTo>
                  <a:lnTo>
                    <a:pt x="931582" y="230906"/>
                  </a:lnTo>
                  <a:lnTo>
                    <a:pt x="880203" y="228940"/>
                  </a:lnTo>
                  <a:lnTo>
                    <a:pt x="984281" y="228940"/>
                  </a:lnTo>
                  <a:lnTo>
                    <a:pt x="983009" y="236971"/>
                  </a:lnTo>
                  <a:close/>
                </a:path>
              </a:pathLst>
            </a:custGeom>
            <a:solidFill>
              <a:srgbClr val="F5A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881701" y="5143500"/>
              <a:ext cx="1762125" cy="881380"/>
            </a:xfrm>
            <a:custGeom>
              <a:avLst/>
              <a:gdLst/>
              <a:ahLst/>
              <a:cxnLst/>
              <a:rect l="l" t="t" r="r" b="b"/>
              <a:pathLst>
                <a:path w="1762125" h="881379">
                  <a:moveTo>
                    <a:pt x="229065" y="881021"/>
                  </a:moveTo>
                  <a:lnTo>
                    <a:pt x="0" y="881021"/>
                  </a:lnTo>
                  <a:lnTo>
                    <a:pt x="1303" y="832682"/>
                  </a:lnTo>
                  <a:lnTo>
                    <a:pt x="5169" y="785024"/>
                  </a:lnTo>
                  <a:lnTo>
                    <a:pt x="11535" y="738092"/>
                  </a:lnTo>
                  <a:lnTo>
                    <a:pt x="20320" y="692021"/>
                  </a:lnTo>
                  <a:lnTo>
                    <a:pt x="31470" y="646810"/>
                  </a:lnTo>
                  <a:lnTo>
                    <a:pt x="44914" y="602550"/>
                  </a:lnTo>
                  <a:lnTo>
                    <a:pt x="60585" y="559307"/>
                  </a:lnTo>
                  <a:lnTo>
                    <a:pt x="78415" y="517148"/>
                  </a:lnTo>
                  <a:lnTo>
                    <a:pt x="98337" y="476141"/>
                  </a:lnTo>
                  <a:lnTo>
                    <a:pt x="120285" y="436352"/>
                  </a:lnTo>
                  <a:lnTo>
                    <a:pt x="144190" y="397850"/>
                  </a:lnTo>
                  <a:lnTo>
                    <a:pt x="169985" y="360701"/>
                  </a:lnTo>
                  <a:lnTo>
                    <a:pt x="197604" y="324972"/>
                  </a:lnTo>
                  <a:lnTo>
                    <a:pt x="226980" y="290731"/>
                  </a:lnTo>
                  <a:lnTo>
                    <a:pt x="258044" y="258045"/>
                  </a:lnTo>
                  <a:lnTo>
                    <a:pt x="290731" y="226980"/>
                  </a:lnTo>
                  <a:lnTo>
                    <a:pt x="324972" y="197605"/>
                  </a:lnTo>
                  <a:lnTo>
                    <a:pt x="360701" y="169985"/>
                  </a:lnTo>
                  <a:lnTo>
                    <a:pt x="397850" y="144190"/>
                  </a:lnTo>
                  <a:lnTo>
                    <a:pt x="436352" y="120285"/>
                  </a:lnTo>
                  <a:lnTo>
                    <a:pt x="476140" y="98337"/>
                  </a:lnTo>
                  <a:lnTo>
                    <a:pt x="517147" y="78415"/>
                  </a:lnTo>
                  <a:lnTo>
                    <a:pt x="559306" y="60585"/>
                  </a:lnTo>
                  <a:lnTo>
                    <a:pt x="602549" y="44914"/>
                  </a:lnTo>
                  <a:lnTo>
                    <a:pt x="646810" y="31470"/>
                  </a:lnTo>
                  <a:lnTo>
                    <a:pt x="692020" y="20320"/>
                  </a:lnTo>
                  <a:lnTo>
                    <a:pt x="738114" y="11530"/>
                  </a:lnTo>
                  <a:lnTo>
                    <a:pt x="785023" y="5169"/>
                  </a:lnTo>
                  <a:lnTo>
                    <a:pt x="832681" y="1303"/>
                  </a:lnTo>
                  <a:lnTo>
                    <a:pt x="881016" y="0"/>
                  </a:lnTo>
                  <a:lnTo>
                    <a:pt x="929359" y="1303"/>
                  </a:lnTo>
                  <a:lnTo>
                    <a:pt x="977017" y="5169"/>
                  </a:lnTo>
                  <a:lnTo>
                    <a:pt x="1023926" y="11530"/>
                  </a:lnTo>
                  <a:lnTo>
                    <a:pt x="1070020" y="20320"/>
                  </a:lnTo>
                  <a:lnTo>
                    <a:pt x="1115230" y="31470"/>
                  </a:lnTo>
                  <a:lnTo>
                    <a:pt x="1159491" y="44914"/>
                  </a:lnTo>
                  <a:lnTo>
                    <a:pt x="1202734" y="60585"/>
                  </a:lnTo>
                  <a:lnTo>
                    <a:pt x="1244893" y="78415"/>
                  </a:lnTo>
                  <a:lnTo>
                    <a:pt x="1285900" y="98337"/>
                  </a:lnTo>
                  <a:lnTo>
                    <a:pt x="1325688" y="120285"/>
                  </a:lnTo>
                  <a:lnTo>
                    <a:pt x="1364190" y="144190"/>
                  </a:lnTo>
                  <a:lnTo>
                    <a:pt x="1401339" y="169985"/>
                  </a:lnTo>
                  <a:lnTo>
                    <a:pt x="1437068" y="197605"/>
                  </a:lnTo>
                  <a:lnTo>
                    <a:pt x="1471309" y="226980"/>
                  </a:lnTo>
                  <a:lnTo>
                    <a:pt x="1473503" y="229065"/>
                  </a:lnTo>
                  <a:lnTo>
                    <a:pt x="881020" y="229065"/>
                  </a:lnTo>
                  <a:lnTo>
                    <a:pt x="832364" y="230853"/>
                  </a:lnTo>
                  <a:lnTo>
                    <a:pt x="784679" y="236134"/>
                  </a:lnTo>
                  <a:lnTo>
                    <a:pt x="738091" y="244781"/>
                  </a:lnTo>
                  <a:lnTo>
                    <a:pt x="692727" y="256668"/>
                  </a:lnTo>
                  <a:lnTo>
                    <a:pt x="648712" y="271670"/>
                  </a:lnTo>
                  <a:lnTo>
                    <a:pt x="606172" y="289659"/>
                  </a:lnTo>
                  <a:lnTo>
                    <a:pt x="565234" y="310511"/>
                  </a:lnTo>
                  <a:lnTo>
                    <a:pt x="526024" y="334099"/>
                  </a:lnTo>
                  <a:lnTo>
                    <a:pt x="488667" y="360297"/>
                  </a:lnTo>
                  <a:lnTo>
                    <a:pt x="453290" y="388979"/>
                  </a:lnTo>
                  <a:lnTo>
                    <a:pt x="420018" y="420018"/>
                  </a:lnTo>
                  <a:lnTo>
                    <a:pt x="388979" y="453290"/>
                  </a:lnTo>
                  <a:lnTo>
                    <a:pt x="360297" y="488667"/>
                  </a:lnTo>
                  <a:lnTo>
                    <a:pt x="334099" y="526024"/>
                  </a:lnTo>
                  <a:lnTo>
                    <a:pt x="310511" y="565235"/>
                  </a:lnTo>
                  <a:lnTo>
                    <a:pt x="289659" y="606173"/>
                  </a:lnTo>
                  <a:lnTo>
                    <a:pt x="271670" y="648712"/>
                  </a:lnTo>
                  <a:lnTo>
                    <a:pt x="256668" y="692727"/>
                  </a:lnTo>
                  <a:lnTo>
                    <a:pt x="244777" y="738114"/>
                  </a:lnTo>
                  <a:lnTo>
                    <a:pt x="236134" y="784679"/>
                  </a:lnTo>
                  <a:lnTo>
                    <a:pt x="230853" y="832364"/>
                  </a:lnTo>
                  <a:lnTo>
                    <a:pt x="229065" y="881021"/>
                  </a:lnTo>
                  <a:close/>
                </a:path>
                <a:path w="1762125" h="881379">
                  <a:moveTo>
                    <a:pt x="1762041" y="881021"/>
                  </a:moveTo>
                  <a:lnTo>
                    <a:pt x="1532976" y="881015"/>
                  </a:lnTo>
                  <a:lnTo>
                    <a:pt x="1531188" y="832364"/>
                  </a:lnTo>
                  <a:lnTo>
                    <a:pt x="1525908" y="784679"/>
                  </a:lnTo>
                  <a:lnTo>
                    <a:pt x="1517259" y="738092"/>
                  </a:lnTo>
                  <a:lnTo>
                    <a:pt x="1505373" y="692727"/>
                  </a:lnTo>
                  <a:lnTo>
                    <a:pt x="1490372" y="648712"/>
                  </a:lnTo>
                  <a:lnTo>
                    <a:pt x="1472382" y="606173"/>
                  </a:lnTo>
                  <a:lnTo>
                    <a:pt x="1451530" y="565235"/>
                  </a:lnTo>
                  <a:lnTo>
                    <a:pt x="1427942" y="526024"/>
                  </a:lnTo>
                  <a:lnTo>
                    <a:pt x="1401744" y="488667"/>
                  </a:lnTo>
                  <a:lnTo>
                    <a:pt x="1373063" y="453290"/>
                  </a:lnTo>
                  <a:lnTo>
                    <a:pt x="1342023" y="420018"/>
                  </a:lnTo>
                  <a:lnTo>
                    <a:pt x="1308751" y="388979"/>
                  </a:lnTo>
                  <a:lnTo>
                    <a:pt x="1273374" y="360297"/>
                  </a:lnTo>
                  <a:lnTo>
                    <a:pt x="1236017" y="334099"/>
                  </a:lnTo>
                  <a:lnTo>
                    <a:pt x="1196807" y="310511"/>
                  </a:lnTo>
                  <a:lnTo>
                    <a:pt x="1155868" y="289659"/>
                  </a:lnTo>
                  <a:lnTo>
                    <a:pt x="1113329" y="271670"/>
                  </a:lnTo>
                  <a:lnTo>
                    <a:pt x="1069314" y="256668"/>
                  </a:lnTo>
                  <a:lnTo>
                    <a:pt x="1023949" y="244781"/>
                  </a:lnTo>
                  <a:lnTo>
                    <a:pt x="977361" y="236134"/>
                  </a:lnTo>
                  <a:lnTo>
                    <a:pt x="929676" y="230853"/>
                  </a:lnTo>
                  <a:lnTo>
                    <a:pt x="881020" y="229065"/>
                  </a:lnTo>
                  <a:lnTo>
                    <a:pt x="1473503" y="229065"/>
                  </a:lnTo>
                  <a:lnTo>
                    <a:pt x="1503996" y="258045"/>
                  </a:lnTo>
                  <a:lnTo>
                    <a:pt x="1535060" y="290731"/>
                  </a:lnTo>
                  <a:lnTo>
                    <a:pt x="1564436" y="324972"/>
                  </a:lnTo>
                  <a:lnTo>
                    <a:pt x="1592055" y="360701"/>
                  </a:lnTo>
                  <a:lnTo>
                    <a:pt x="1617851" y="397850"/>
                  </a:lnTo>
                  <a:lnTo>
                    <a:pt x="1641756" y="436352"/>
                  </a:lnTo>
                  <a:lnTo>
                    <a:pt x="1663703" y="476141"/>
                  </a:lnTo>
                  <a:lnTo>
                    <a:pt x="1683625" y="517148"/>
                  </a:lnTo>
                  <a:lnTo>
                    <a:pt x="1701455" y="559307"/>
                  </a:lnTo>
                  <a:lnTo>
                    <a:pt x="1717126" y="602550"/>
                  </a:lnTo>
                  <a:lnTo>
                    <a:pt x="1730570" y="646810"/>
                  </a:lnTo>
                  <a:lnTo>
                    <a:pt x="1741720" y="692021"/>
                  </a:lnTo>
                  <a:lnTo>
                    <a:pt x="1750508" y="738114"/>
                  </a:lnTo>
                  <a:lnTo>
                    <a:pt x="1756871" y="785024"/>
                  </a:lnTo>
                  <a:lnTo>
                    <a:pt x="1760737" y="832682"/>
                  </a:lnTo>
                  <a:lnTo>
                    <a:pt x="1762041" y="881021"/>
                  </a:lnTo>
                  <a:close/>
                </a:path>
              </a:pathLst>
            </a:custGeom>
            <a:solidFill>
              <a:srgbClr val="5367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81701" y="5143694"/>
              <a:ext cx="1700530" cy="881380"/>
            </a:xfrm>
            <a:custGeom>
              <a:avLst/>
              <a:gdLst/>
              <a:ahLst/>
              <a:cxnLst/>
              <a:rect l="l" t="t" r="r" b="b"/>
              <a:pathLst>
                <a:path w="1700530" h="881379">
                  <a:moveTo>
                    <a:pt x="229065" y="880826"/>
                  </a:moveTo>
                  <a:lnTo>
                    <a:pt x="0" y="880826"/>
                  </a:lnTo>
                  <a:lnTo>
                    <a:pt x="1322" y="832305"/>
                  </a:lnTo>
                  <a:lnTo>
                    <a:pt x="5249" y="784391"/>
                  </a:lnTo>
                  <a:lnTo>
                    <a:pt x="11717" y="737159"/>
                  </a:lnTo>
                  <a:lnTo>
                    <a:pt x="20686" y="690588"/>
                  </a:lnTo>
                  <a:lnTo>
                    <a:pt x="32020" y="645051"/>
                  </a:lnTo>
                  <a:lnTo>
                    <a:pt x="45729" y="600327"/>
                  </a:lnTo>
                  <a:lnTo>
                    <a:pt x="61764" y="556500"/>
                  </a:lnTo>
                  <a:lnTo>
                    <a:pt x="79945" y="513923"/>
                  </a:lnTo>
                  <a:lnTo>
                    <a:pt x="100325" y="472396"/>
                  </a:lnTo>
                  <a:lnTo>
                    <a:pt x="122802" y="432087"/>
                  </a:lnTo>
                  <a:lnTo>
                    <a:pt x="147313" y="393075"/>
                  </a:lnTo>
                  <a:lnTo>
                    <a:pt x="173794" y="355434"/>
                  </a:lnTo>
                  <a:lnTo>
                    <a:pt x="202182" y="319242"/>
                  </a:lnTo>
                  <a:lnTo>
                    <a:pt x="232414" y="284575"/>
                  </a:lnTo>
                  <a:lnTo>
                    <a:pt x="264544" y="251400"/>
                  </a:lnTo>
                  <a:lnTo>
                    <a:pt x="298155" y="220122"/>
                  </a:lnTo>
                  <a:lnTo>
                    <a:pt x="333537" y="190490"/>
                  </a:lnTo>
                  <a:lnTo>
                    <a:pt x="370510" y="162690"/>
                  </a:lnTo>
                  <a:lnTo>
                    <a:pt x="409009" y="136797"/>
                  </a:lnTo>
                  <a:lnTo>
                    <a:pt x="448972" y="112890"/>
                  </a:lnTo>
                  <a:lnTo>
                    <a:pt x="490335" y="91043"/>
                  </a:lnTo>
                  <a:lnTo>
                    <a:pt x="533035" y="71335"/>
                  </a:lnTo>
                  <a:lnTo>
                    <a:pt x="577008" y="53840"/>
                  </a:lnTo>
                  <a:lnTo>
                    <a:pt x="622191" y="38637"/>
                  </a:lnTo>
                  <a:lnTo>
                    <a:pt x="668521" y="25801"/>
                  </a:lnTo>
                  <a:lnTo>
                    <a:pt x="715934" y="15410"/>
                  </a:lnTo>
                  <a:lnTo>
                    <a:pt x="763843" y="7618"/>
                  </a:lnTo>
                  <a:lnTo>
                    <a:pt x="811644" y="2497"/>
                  </a:lnTo>
                  <a:lnTo>
                    <a:pt x="859251" y="0"/>
                  </a:lnTo>
                  <a:lnTo>
                    <a:pt x="906576" y="78"/>
                  </a:lnTo>
                  <a:lnTo>
                    <a:pt x="953532" y="2684"/>
                  </a:lnTo>
                  <a:lnTo>
                    <a:pt x="1000033" y="7769"/>
                  </a:lnTo>
                  <a:lnTo>
                    <a:pt x="1045990" y="15287"/>
                  </a:lnTo>
                  <a:lnTo>
                    <a:pt x="1091318" y="25188"/>
                  </a:lnTo>
                  <a:lnTo>
                    <a:pt x="1135928" y="37426"/>
                  </a:lnTo>
                  <a:lnTo>
                    <a:pt x="1179734" y="51952"/>
                  </a:lnTo>
                  <a:lnTo>
                    <a:pt x="1222648" y="68719"/>
                  </a:lnTo>
                  <a:lnTo>
                    <a:pt x="1264585" y="87677"/>
                  </a:lnTo>
                  <a:lnTo>
                    <a:pt x="1305455" y="108781"/>
                  </a:lnTo>
                  <a:lnTo>
                    <a:pt x="1345173" y="131981"/>
                  </a:lnTo>
                  <a:lnTo>
                    <a:pt x="1383651" y="157230"/>
                  </a:lnTo>
                  <a:lnTo>
                    <a:pt x="1420802" y="184480"/>
                  </a:lnTo>
                  <a:lnTo>
                    <a:pt x="1456539" y="213684"/>
                  </a:lnTo>
                  <a:lnTo>
                    <a:pt x="1473602" y="229188"/>
                  </a:lnTo>
                  <a:lnTo>
                    <a:pt x="903603" y="229188"/>
                  </a:lnTo>
                  <a:lnTo>
                    <a:pt x="905244" y="229304"/>
                  </a:lnTo>
                  <a:lnTo>
                    <a:pt x="855658" y="229314"/>
                  </a:lnTo>
                  <a:lnTo>
                    <a:pt x="807353" y="233027"/>
                  </a:lnTo>
                  <a:lnTo>
                    <a:pt x="758856" y="240418"/>
                  </a:lnTo>
                  <a:lnTo>
                    <a:pt x="711043" y="251400"/>
                  </a:lnTo>
                  <a:lnTo>
                    <a:pt x="664764" y="265729"/>
                  </a:lnTo>
                  <a:lnTo>
                    <a:pt x="620139" y="283261"/>
                  </a:lnTo>
                  <a:lnTo>
                    <a:pt x="577288" y="303850"/>
                  </a:lnTo>
                  <a:lnTo>
                    <a:pt x="536330" y="327352"/>
                  </a:lnTo>
                  <a:lnTo>
                    <a:pt x="497387" y="353621"/>
                  </a:lnTo>
                  <a:lnTo>
                    <a:pt x="460577" y="382511"/>
                  </a:lnTo>
                  <a:lnTo>
                    <a:pt x="426023" y="413878"/>
                  </a:lnTo>
                  <a:lnTo>
                    <a:pt x="393842" y="447576"/>
                  </a:lnTo>
                  <a:lnTo>
                    <a:pt x="364156" y="483460"/>
                  </a:lnTo>
                  <a:lnTo>
                    <a:pt x="337085" y="521384"/>
                  </a:lnTo>
                  <a:lnTo>
                    <a:pt x="312749" y="561205"/>
                  </a:lnTo>
                  <a:lnTo>
                    <a:pt x="291268" y="602776"/>
                  </a:lnTo>
                  <a:lnTo>
                    <a:pt x="272762" y="645952"/>
                  </a:lnTo>
                  <a:lnTo>
                    <a:pt x="257325" y="690687"/>
                  </a:lnTo>
                  <a:lnTo>
                    <a:pt x="245156" y="736538"/>
                  </a:lnTo>
                  <a:lnTo>
                    <a:pt x="236297" y="783658"/>
                  </a:lnTo>
                  <a:lnTo>
                    <a:pt x="230893" y="831802"/>
                  </a:lnTo>
                  <a:lnTo>
                    <a:pt x="229065" y="880826"/>
                  </a:lnTo>
                  <a:close/>
                </a:path>
                <a:path w="1700530" h="881379">
                  <a:moveTo>
                    <a:pt x="1487194" y="640825"/>
                  </a:moveTo>
                  <a:lnTo>
                    <a:pt x="1467448" y="595917"/>
                  </a:lnTo>
                  <a:lnTo>
                    <a:pt x="1444700" y="553143"/>
                  </a:lnTo>
                  <a:lnTo>
                    <a:pt x="1419117" y="512593"/>
                  </a:lnTo>
                  <a:lnTo>
                    <a:pt x="1390862" y="474359"/>
                  </a:lnTo>
                  <a:lnTo>
                    <a:pt x="1360102" y="438531"/>
                  </a:lnTo>
                  <a:lnTo>
                    <a:pt x="1327002" y="405199"/>
                  </a:lnTo>
                  <a:lnTo>
                    <a:pt x="1291726" y="374455"/>
                  </a:lnTo>
                  <a:lnTo>
                    <a:pt x="1254440" y="346390"/>
                  </a:lnTo>
                  <a:lnTo>
                    <a:pt x="1215308" y="321094"/>
                  </a:lnTo>
                  <a:lnTo>
                    <a:pt x="1174497" y="298658"/>
                  </a:lnTo>
                  <a:lnTo>
                    <a:pt x="1132172" y="279173"/>
                  </a:lnTo>
                  <a:lnTo>
                    <a:pt x="1088496" y="262729"/>
                  </a:lnTo>
                  <a:lnTo>
                    <a:pt x="1043637" y="249418"/>
                  </a:lnTo>
                  <a:lnTo>
                    <a:pt x="997758" y="239330"/>
                  </a:lnTo>
                  <a:lnTo>
                    <a:pt x="951025" y="232556"/>
                  </a:lnTo>
                  <a:lnTo>
                    <a:pt x="905244" y="229304"/>
                  </a:lnTo>
                  <a:lnTo>
                    <a:pt x="1473602" y="229188"/>
                  </a:lnTo>
                  <a:lnTo>
                    <a:pt x="1523423" y="277758"/>
                  </a:lnTo>
                  <a:lnTo>
                    <a:pt x="1554396" y="312533"/>
                  </a:lnTo>
                  <a:lnTo>
                    <a:pt x="1583606" y="349069"/>
                  </a:lnTo>
                  <a:lnTo>
                    <a:pt x="1610967" y="387320"/>
                  </a:lnTo>
                  <a:lnTo>
                    <a:pt x="1636391" y="427236"/>
                  </a:lnTo>
                  <a:lnTo>
                    <a:pt x="1659792" y="468770"/>
                  </a:lnTo>
                  <a:lnTo>
                    <a:pt x="1681081" y="511874"/>
                  </a:lnTo>
                  <a:lnTo>
                    <a:pt x="1700173" y="556500"/>
                  </a:lnTo>
                  <a:lnTo>
                    <a:pt x="1487194" y="640825"/>
                  </a:lnTo>
                  <a:close/>
                </a:path>
              </a:pathLst>
            </a:custGeom>
            <a:solidFill>
              <a:srgbClr val="F5A3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16000" y="975391"/>
            <a:ext cx="899033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300" dirty="0">
                <a:solidFill>
                  <a:srgbClr val="000000"/>
                </a:solidFill>
              </a:rPr>
              <a:t>GROWTH</a:t>
            </a:r>
            <a:r>
              <a:rPr sz="5500" spc="-45" dirty="0">
                <a:solidFill>
                  <a:srgbClr val="000000"/>
                </a:solidFill>
              </a:rPr>
              <a:t> </a:t>
            </a:r>
            <a:r>
              <a:rPr sz="5500" spc="170" dirty="0">
                <a:solidFill>
                  <a:srgbClr val="000000"/>
                </a:solidFill>
              </a:rPr>
              <a:t>PROJECTIONS</a:t>
            </a:r>
            <a:endParaRPr sz="5500"/>
          </a:p>
        </p:txBody>
      </p:sp>
      <p:sp>
        <p:nvSpPr>
          <p:cNvPr id="12" name="object 12"/>
          <p:cNvSpPr txBox="1"/>
          <p:nvPr/>
        </p:nvSpPr>
        <p:spPr>
          <a:xfrm>
            <a:off x="1200267" y="5698058"/>
            <a:ext cx="3642995" cy="1063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51765" algn="ctr">
              <a:lnSpc>
                <a:spcPct val="100000"/>
              </a:lnSpc>
              <a:spcBef>
                <a:spcPts val="9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79%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2900" b="1" spc="75" dirty="0">
                <a:solidFill>
                  <a:srgbClr val="FFFFFF"/>
                </a:solidFill>
                <a:latin typeface="Tahoma"/>
                <a:cs typeface="Tahoma"/>
              </a:rPr>
              <a:t>Subscriber</a:t>
            </a:r>
            <a:r>
              <a:rPr sz="29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b="1" spc="80" dirty="0">
                <a:solidFill>
                  <a:srgbClr val="FFFFFF"/>
                </a:solidFill>
                <a:latin typeface="Tahoma"/>
                <a:cs typeface="Tahoma"/>
              </a:rPr>
              <a:t>Growth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70179" y="7203527"/>
            <a:ext cx="11767820" cy="714375"/>
            <a:chOff x="1770179" y="7203527"/>
            <a:chExt cx="11767820" cy="7143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179" y="7203528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179" y="7832178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1692" y="7203528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1692" y="7832178"/>
              <a:ext cx="85725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52021" y="7203527"/>
              <a:ext cx="85725" cy="857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977447" y="7041267"/>
            <a:ext cx="354965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60" dirty="0">
                <a:solidFill>
                  <a:srgbClr val="FFFFFF"/>
                </a:solidFill>
                <a:latin typeface="Tahoma"/>
                <a:cs typeface="Tahoma"/>
              </a:rPr>
              <a:t>Driven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by </a:t>
            </a:r>
            <a:r>
              <a:rPr sz="1800" spc="75" dirty="0">
                <a:solidFill>
                  <a:srgbClr val="FFFFFF"/>
                </a:solidFill>
                <a:latin typeface="Tahoma"/>
                <a:cs typeface="Tahoma"/>
              </a:rPr>
              <a:t>Freemium </a:t>
            </a:r>
            <a:r>
              <a:rPr sz="1800" spc="90" dirty="0">
                <a:solidFill>
                  <a:srgbClr val="FFFFFF"/>
                </a:solidFill>
                <a:latin typeface="Tahoma"/>
                <a:cs typeface="Tahoma"/>
              </a:rPr>
              <a:t>model </a:t>
            </a:r>
            <a:r>
              <a:rPr sz="18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converting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users to </a:t>
            </a:r>
            <a:r>
              <a:rPr sz="1800" spc="75" dirty="0">
                <a:solidFill>
                  <a:srgbClr val="FFFFFF"/>
                </a:solidFill>
                <a:latin typeface="Tahoma"/>
                <a:cs typeface="Tahoma"/>
              </a:rPr>
              <a:t>paid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plans. 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Marketing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/>
                <a:cs typeface="Tahoma"/>
              </a:rPr>
              <a:t>campaigns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focused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800" spc="-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ahoma"/>
                <a:cs typeface="Tahoma"/>
              </a:rPr>
              <a:t>Tier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ahoma"/>
                <a:cs typeface="Tahoma"/>
              </a:rPr>
              <a:t>Tier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cities.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11780" y="5698058"/>
            <a:ext cx="3932554" cy="1063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209550" algn="ctr">
              <a:lnSpc>
                <a:spcPct val="100000"/>
              </a:lnSpc>
              <a:spcBef>
                <a:spcPts val="9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55%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2900" b="1" spc="20" dirty="0">
                <a:solidFill>
                  <a:srgbClr val="FFFFFF"/>
                </a:solidFill>
                <a:latin typeface="Tahoma"/>
                <a:cs typeface="Tahoma"/>
              </a:rPr>
              <a:t>Institutional</a:t>
            </a:r>
            <a:r>
              <a:rPr sz="29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b="1" spc="80" dirty="0">
                <a:solidFill>
                  <a:srgbClr val="FFFFFF"/>
                </a:solidFill>
                <a:latin typeface="Tahoma"/>
                <a:cs typeface="Tahoma"/>
              </a:rPr>
              <a:t>Growth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5626" y="0"/>
            <a:ext cx="2332373" cy="16859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588960" y="7041267"/>
            <a:ext cx="436245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30" dirty="0">
                <a:solidFill>
                  <a:srgbClr val="FFFFFF"/>
                </a:solidFill>
                <a:latin typeface="Tahoma"/>
                <a:cs typeface="Tahoma"/>
              </a:rPr>
              <a:t>Scaling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partnerships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private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schools </a:t>
            </a:r>
            <a:r>
              <a:rPr sz="1800" spc="-5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NGOs.</a:t>
            </a:r>
            <a:endParaRPr sz="1800">
              <a:latin typeface="Tahoma"/>
              <a:cs typeface="Tahoma"/>
            </a:endParaRPr>
          </a:p>
          <a:p>
            <a:pPr marL="12700" marR="766445">
              <a:lnSpc>
                <a:spcPct val="114599"/>
              </a:lnSpc>
            </a:pPr>
            <a:r>
              <a:rPr sz="1800" spc="60" dirty="0">
                <a:solidFill>
                  <a:srgbClr val="FFFFFF"/>
                </a:solidFill>
                <a:latin typeface="Tahoma"/>
                <a:cs typeface="Tahoma"/>
              </a:rPr>
              <a:t>Expansion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government-backed </a:t>
            </a:r>
            <a:r>
              <a:rPr sz="1800" spc="-5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institutions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rural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outreach.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882109" y="5698058"/>
            <a:ext cx="3536950" cy="1073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4154" algn="ctr">
              <a:lnSpc>
                <a:spcPct val="100000"/>
              </a:lnSpc>
              <a:spcBef>
                <a:spcPts val="9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88%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15"/>
              </a:spcBef>
            </a:pPr>
            <a:r>
              <a:rPr sz="2900" b="1" spc="145" dirty="0">
                <a:solidFill>
                  <a:srgbClr val="FFFFFF"/>
                </a:solidFill>
                <a:latin typeface="Trebuchet MS"/>
                <a:cs typeface="Trebuchet MS"/>
              </a:rPr>
              <a:t>Hardware</a:t>
            </a:r>
            <a:r>
              <a:rPr sz="2900" b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spc="105" dirty="0">
                <a:solidFill>
                  <a:srgbClr val="FFFFFF"/>
                </a:solidFill>
                <a:latin typeface="Trebuchet MS"/>
                <a:cs typeface="Trebuchet MS"/>
              </a:rPr>
              <a:t>Revenue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59290" y="7041285"/>
            <a:ext cx="378079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60" dirty="0">
                <a:solidFill>
                  <a:srgbClr val="FFFFFF"/>
                </a:solidFill>
                <a:latin typeface="Tahoma"/>
                <a:cs typeface="Tahoma"/>
              </a:rPr>
              <a:t>Launching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Year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800" spc="-5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selling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10,000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units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year </a:t>
            </a:r>
            <a:r>
              <a:rPr sz="1800" spc="-5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post-launch,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growing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30,000 </a:t>
            </a:r>
            <a:r>
              <a:rPr sz="1800" spc="70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sz="18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Year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3.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7940" y="0"/>
            <a:ext cx="9800590" cy="10287000"/>
          </a:xfrm>
          <a:custGeom>
            <a:avLst/>
            <a:gdLst/>
            <a:ahLst/>
            <a:cxnLst/>
            <a:rect l="l" t="t" r="r" b="b"/>
            <a:pathLst>
              <a:path w="9800590" h="10287000">
                <a:moveTo>
                  <a:pt x="0" y="0"/>
                </a:moveTo>
                <a:lnTo>
                  <a:pt x="9800059" y="0"/>
                </a:lnTo>
                <a:lnTo>
                  <a:pt x="980005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2523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21555" y="6743701"/>
            <a:ext cx="5123180" cy="0"/>
          </a:xfrm>
          <a:custGeom>
            <a:avLst/>
            <a:gdLst/>
            <a:ahLst/>
            <a:cxnLst/>
            <a:rect l="l" t="t" r="r" b="b"/>
            <a:pathLst>
              <a:path w="5123180">
                <a:moveTo>
                  <a:pt x="0" y="0"/>
                </a:moveTo>
                <a:lnTo>
                  <a:pt x="5122943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052561" y="0"/>
            <a:ext cx="8667750" cy="9865995"/>
            <a:chOff x="9052561" y="0"/>
            <a:chExt cx="8667750" cy="9865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2561" y="0"/>
              <a:ext cx="8667749" cy="59577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6212" y="5360494"/>
              <a:ext cx="3381374" cy="45053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155705" y="4973046"/>
              <a:ext cx="464184" cy="765175"/>
            </a:xfrm>
            <a:custGeom>
              <a:avLst/>
              <a:gdLst/>
              <a:ahLst/>
              <a:cxnLst/>
              <a:rect l="l" t="t" r="r" b="b"/>
              <a:pathLst>
                <a:path w="464184" h="765175">
                  <a:moveTo>
                    <a:pt x="239431" y="764913"/>
                  </a:moveTo>
                  <a:lnTo>
                    <a:pt x="224245" y="764913"/>
                  </a:lnTo>
                  <a:lnTo>
                    <a:pt x="216670" y="764299"/>
                  </a:lnTo>
                  <a:lnTo>
                    <a:pt x="179161" y="755121"/>
                  </a:lnTo>
                  <a:lnTo>
                    <a:pt x="137886" y="732101"/>
                  </a:lnTo>
                  <a:lnTo>
                    <a:pt x="103035" y="700458"/>
                  </a:lnTo>
                  <a:lnTo>
                    <a:pt x="76145" y="665838"/>
                  </a:lnTo>
                  <a:lnTo>
                    <a:pt x="52624" y="625084"/>
                  </a:lnTo>
                  <a:lnTo>
                    <a:pt x="32983" y="579079"/>
                  </a:lnTo>
                  <a:lnTo>
                    <a:pt x="17647" y="528816"/>
                  </a:lnTo>
                  <a:lnTo>
                    <a:pt x="6947" y="475386"/>
                  </a:lnTo>
                  <a:lnTo>
                    <a:pt x="1116" y="419944"/>
                  </a:lnTo>
                  <a:lnTo>
                    <a:pt x="0" y="382456"/>
                  </a:lnTo>
                  <a:lnTo>
                    <a:pt x="279" y="363690"/>
                  </a:lnTo>
                  <a:lnTo>
                    <a:pt x="4454" y="307843"/>
                  </a:lnTo>
                  <a:lnTo>
                    <a:pt x="13552" y="253610"/>
                  </a:lnTo>
                  <a:lnTo>
                    <a:pt x="27375" y="202167"/>
                  </a:lnTo>
                  <a:lnTo>
                    <a:pt x="45623" y="154627"/>
                  </a:lnTo>
                  <a:lnTo>
                    <a:pt x="67903" y="112019"/>
                  </a:lnTo>
                  <a:lnTo>
                    <a:pt x="93732" y="75264"/>
                  </a:lnTo>
                  <a:lnTo>
                    <a:pt x="122550" y="45160"/>
                  </a:lnTo>
                  <a:lnTo>
                    <a:pt x="157273" y="20104"/>
                  </a:lnTo>
                  <a:lnTo>
                    <a:pt x="194056" y="4905"/>
                  </a:lnTo>
                  <a:lnTo>
                    <a:pt x="224245" y="0"/>
                  </a:lnTo>
                  <a:lnTo>
                    <a:pt x="239431" y="0"/>
                  </a:lnTo>
                  <a:lnTo>
                    <a:pt x="284515" y="9792"/>
                  </a:lnTo>
                  <a:lnTo>
                    <a:pt x="325790" y="32812"/>
                  </a:lnTo>
                  <a:lnTo>
                    <a:pt x="360641" y="64455"/>
                  </a:lnTo>
                  <a:lnTo>
                    <a:pt x="387531" y="99074"/>
                  </a:lnTo>
                  <a:lnTo>
                    <a:pt x="411052" y="139828"/>
                  </a:lnTo>
                  <a:lnTo>
                    <a:pt x="430693" y="185834"/>
                  </a:lnTo>
                  <a:lnTo>
                    <a:pt x="446029" y="236096"/>
                  </a:lnTo>
                  <a:lnTo>
                    <a:pt x="456729" y="289527"/>
                  </a:lnTo>
                  <a:lnTo>
                    <a:pt x="462560" y="344969"/>
                  </a:lnTo>
                  <a:lnTo>
                    <a:pt x="463677" y="382456"/>
                  </a:lnTo>
                  <a:lnTo>
                    <a:pt x="463398" y="401223"/>
                  </a:lnTo>
                  <a:lnTo>
                    <a:pt x="459222" y="457070"/>
                  </a:lnTo>
                  <a:lnTo>
                    <a:pt x="450124" y="511302"/>
                  </a:lnTo>
                  <a:lnTo>
                    <a:pt x="436301" y="562745"/>
                  </a:lnTo>
                  <a:lnTo>
                    <a:pt x="418053" y="610286"/>
                  </a:lnTo>
                  <a:lnTo>
                    <a:pt x="395773" y="652894"/>
                  </a:lnTo>
                  <a:lnTo>
                    <a:pt x="369944" y="689649"/>
                  </a:lnTo>
                  <a:lnTo>
                    <a:pt x="341126" y="719753"/>
                  </a:lnTo>
                  <a:lnTo>
                    <a:pt x="306403" y="744809"/>
                  </a:lnTo>
                  <a:lnTo>
                    <a:pt x="269620" y="760008"/>
                  </a:lnTo>
                  <a:lnTo>
                    <a:pt x="239431" y="764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087967" y="4954018"/>
              <a:ext cx="599440" cy="809625"/>
            </a:xfrm>
            <a:custGeom>
              <a:avLst/>
              <a:gdLst/>
              <a:ahLst/>
              <a:cxnLst/>
              <a:rect l="l" t="t" r="r" b="b"/>
              <a:pathLst>
                <a:path w="599440" h="809625">
                  <a:moveTo>
                    <a:pt x="299577" y="809628"/>
                  </a:moveTo>
                  <a:lnTo>
                    <a:pt x="259635" y="808072"/>
                  </a:lnTo>
                  <a:lnTo>
                    <a:pt x="221832" y="803122"/>
                  </a:lnTo>
                  <a:lnTo>
                    <a:pt x="153385" y="781360"/>
                  </a:lnTo>
                  <a:lnTo>
                    <a:pt x="95796" y="741066"/>
                  </a:lnTo>
                  <a:lnTo>
                    <a:pt x="50395" y="678816"/>
                  </a:lnTo>
                  <a:lnTo>
                    <a:pt x="32739" y="638422"/>
                  </a:lnTo>
                  <a:lnTo>
                    <a:pt x="18689" y="591290"/>
                  </a:lnTo>
                  <a:lnTo>
                    <a:pt x="8428" y="537003"/>
                  </a:lnTo>
                  <a:lnTo>
                    <a:pt x="2137" y="475143"/>
                  </a:lnTo>
                  <a:lnTo>
                    <a:pt x="0" y="405290"/>
                  </a:lnTo>
                  <a:lnTo>
                    <a:pt x="2137" y="335234"/>
                  </a:lnTo>
                  <a:lnTo>
                    <a:pt x="8428" y="273201"/>
                  </a:lnTo>
                  <a:lnTo>
                    <a:pt x="18689" y="218770"/>
                  </a:lnTo>
                  <a:lnTo>
                    <a:pt x="32739" y="171522"/>
                  </a:lnTo>
                  <a:lnTo>
                    <a:pt x="50395" y="131033"/>
                  </a:lnTo>
                  <a:lnTo>
                    <a:pt x="71475" y="96885"/>
                  </a:lnTo>
                  <a:lnTo>
                    <a:pt x="123176" y="45923"/>
                  </a:lnTo>
                  <a:lnTo>
                    <a:pt x="186431" y="15258"/>
                  </a:lnTo>
                  <a:lnTo>
                    <a:pt x="259649" y="1555"/>
                  </a:lnTo>
                  <a:lnTo>
                    <a:pt x="299577" y="0"/>
                  </a:lnTo>
                  <a:lnTo>
                    <a:pt x="339519" y="1556"/>
                  </a:lnTo>
                  <a:lnTo>
                    <a:pt x="377322" y="6505"/>
                  </a:lnTo>
                  <a:lnTo>
                    <a:pt x="445768" y="28268"/>
                  </a:lnTo>
                  <a:lnTo>
                    <a:pt x="489507" y="57083"/>
                  </a:lnTo>
                  <a:lnTo>
                    <a:pt x="272863" y="57083"/>
                  </a:lnTo>
                  <a:lnTo>
                    <a:pt x="272863" y="217867"/>
                  </a:lnTo>
                  <a:lnTo>
                    <a:pt x="157421" y="217867"/>
                  </a:lnTo>
                  <a:lnTo>
                    <a:pt x="115442" y="259728"/>
                  </a:lnTo>
                  <a:lnTo>
                    <a:pt x="260460" y="405290"/>
                  </a:lnTo>
                  <a:lnTo>
                    <a:pt x="115442" y="549900"/>
                  </a:lnTo>
                  <a:lnTo>
                    <a:pt x="157421" y="591761"/>
                  </a:lnTo>
                  <a:lnTo>
                    <a:pt x="273817" y="591761"/>
                  </a:lnTo>
                  <a:lnTo>
                    <a:pt x="273817" y="753497"/>
                  </a:lnTo>
                  <a:lnTo>
                    <a:pt x="488273" y="753497"/>
                  </a:lnTo>
                  <a:lnTo>
                    <a:pt x="475977" y="763705"/>
                  </a:lnTo>
                  <a:lnTo>
                    <a:pt x="445651" y="781387"/>
                  </a:lnTo>
                  <a:lnTo>
                    <a:pt x="412723" y="794370"/>
                  </a:lnTo>
                  <a:lnTo>
                    <a:pt x="377281" y="803126"/>
                  </a:lnTo>
                  <a:lnTo>
                    <a:pt x="339505" y="808072"/>
                  </a:lnTo>
                  <a:lnTo>
                    <a:pt x="299577" y="809628"/>
                  </a:lnTo>
                  <a:close/>
                </a:path>
                <a:path w="599440" h="809625">
                  <a:moveTo>
                    <a:pt x="488273" y="753497"/>
                  </a:moveTo>
                  <a:lnTo>
                    <a:pt x="273817" y="753497"/>
                  </a:lnTo>
                  <a:lnTo>
                    <a:pt x="483712" y="544192"/>
                  </a:lnTo>
                  <a:lnTo>
                    <a:pt x="344418" y="405290"/>
                  </a:lnTo>
                  <a:lnTo>
                    <a:pt x="482758" y="266387"/>
                  </a:lnTo>
                  <a:lnTo>
                    <a:pt x="272863" y="57083"/>
                  </a:lnTo>
                  <a:lnTo>
                    <a:pt x="489507" y="57083"/>
                  </a:lnTo>
                  <a:lnTo>
                    <a:pt x="527679" y="96736"/>
                  </a:lnTo>
                  <a:lnTo>
                    <a:pt x="548758" y="130812"/>
                  </a:lnTo>
                  <a:lnTo>
                    <a:pt x="566415" y="171206"/>
                  </a:lnTo>
                  <a:lnTo>
                    <a:pt x="580465" y="218337"/>
                  </a:lnTo>
                  <a:lnTo>
                    <a:pt x="590726" y="272624"/>
                  </a:lnTo>
                  <a:lnTo>
                    <a:pt x="597017" y="334485"/>
                  </a:lnTo>
                  <a:lnTo>
                    <a:pt x="599154" y="404338"/>
                  </a:lnTo>
                  <a:lnTo>
                    <a:pt x="597017" y="474394"/>
                  </a:lnTo>
                  <a:lnTo>
                    <a:pt x="590726" y="536427"/>
                  </a:lnTo>
                  <a:lnTo>
                    <a:pt x="580465" y="590857"/>
                  </a:lnTo>
                  <a:lnTo>
                    <a:pt x="566415" y="638106"/>
                  </a:lnTo>
                  <a:lnTo>
                    <a:pt x="548758" y="678594"/>
                  </a:lnTo>
                  <a:lnTo>
                    <a:pt x="527679" y="712743"/>
                  </a:lnTo>
                  <a:lnTo>
                    <a:pt x="503358" y="740973"/>
                  </a:lnTo>
                  <a:lnTo>
                    <a:pt x="488273" y="753497"/>
                  </a:lnTo>
                  <a:close/>
                </a:path>
                <a:path w="599440" h="809625">
                  <a:moveTo>
                    <a:pt x="332015" y="332984"/>
                  </a:moveTo>
                  <a:lnTo>
                    <a:pt x="332015" y="199790"/>
                  </a:lnTo>
                  <a:lnTo>
                    <a:pt x="398800" y="266387"/>
                  </a:lnTo>
                  <a:lnTo>
                    <a:pt x="332015" y="332984"/>
                  </a:lnTo>
                  <a:close/>
                </a:path>
                <a:path w="599440" h="809625">
                  <a:moveTo>
                    <a:pt x="272863" y="332984"/>
                  </a:moveTo>
                  <a:lnTo>
                    <a:pt x="157421" y="217867"/>
                  </a:lnTo>
                  <a:lnTo>
                    <a:pt x="272863" y="217867"/>
                  </a:lnTo>
                  <a:lnTo>
                    <a:pt x="272863" y="332984"/>
                  </a:lnTo>
                  <a:close/>
                </a:path>
                <a:path w="599440" h="809625">
                  <a:moveTo>
                    <a:pt x="273817" y="591761"/>
                  </a:moveTo>
                  <a:lnTo>
                    <a:pt x="157421" y="591761"/>
                  </a:lnTo>
                  <a:lnTo>
                    <a:pt x="273817" y="476644"/>
                  </a:lnTo>
                  <a:lnTo>
                    <a:pt x="273817" y="591761"/>
                  </a:lnTo>
                  <a:close/>
                </a:path>
                <a:path w="599440" h="809625">
                  <a:moveTo>
                    <a:pt x="332015" y="609837"/>
                  </a:moveTo>
                  <a:lnTo>
                    <a:pt x="332015" y="476644"/>
                  </a:lnTo>
                  <a:lnTo>
                    <a:pt x="398800" y="543240"/>
                  </a:lnTo>
                  <a:lnTo>
                    <a:pt x="332015" y="609837"/>
                  </a:lnTo>
                  <a:close/>
                </a:path>
              </a:pathLst>
            </a:custGeom>
            <a:solidFill>
              <a:srgbClr val="008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08855" y="2345006"/>
            <a:ext cx="5130800" cy="358076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1150"/>
              </a:spcBef>
            </a:pPr>
            <a:r>
              <a:rPr sz="6450" b="1" spc="245" dirty="0">
                <a:latin typeface="Tahoma"/>
                <a:cs typeface="Tahoma"/>
              </a:rPr>
              <a:t>Beta </a:t>
            </a:r>
            <a:r>
              <a:rPr sz="6450" b="1" spc="250" dirty="0">
                <a:latin typeface="Tahoma"/>
                <a:cs typeface="Tahoma"/>
              </a:rPr>
              <a:t> </a:t>
            </a:r>
            <a:r>
              <a:rPr sz="6450" b="1" spc="180" dirty="0">
                <a:latin typeface="Tahoma"/>
                <a:cs typeface="Tahoma"/>
              </a:rPr>
              <a:t>Testing to </a:t>
            </a:r>
            <a:r>
              <a:rPr sz="6450" b="1" spc="185" dirty="0">
                <a:latin typeface="Tahoma"/>
                <a:cs typeface="Tahoma"/>
              </a:rPr>
              <a:t> </a:t>
            </a:r>
            <a:r>
              <a:rPr sz="6450" b="1" spc="275" dirty="0">
                <a:latin typeface="Tahoma"/>
                <a:cs typeface="Tahoma"/>
              </a:rPr>
              <a:t>Launch </a:t>
            </a:r>
            <a:r>
              <a:rPr sz="6450" b="1" spc="280" dirty="0">
                <a:latin typeface="Tahoma"/>
                <a:cs typeface="Tahoma"/>
              </a:rPr>
              <a:t> </a:t>
            </a:r>
            <a:r>
              <a:rPr sz="6450" b="1" spc="475" dirty="0">
                <a:latin typeface="Tahoma"/>
                <a:cs typeface="Tahoma"/>
              </a:rPr>
              <a:t>P</a:t>
            </a:r>
            <a:r>
              <a:rPr sz="6450" b="1" spc="-25" dirty="0">
                <a:latin typeface="Tahoma"/>
                <a:cs typeface="Tahoma"/>
              </a:rPr>
              <a:t>r</a:t>
            </a:r>
            <a:r>
              <a:rPr sz="6450" b="1" spc="235" dirty="0">
                <a:latin typeface="Tahoma"/>
                <a:cs typeface="Tahoma"/>
              </a:rPr>
              <a:t>e</a:t>
            </a:r>
            <a:r>
              <a:rPr sz="6450" b="1" spc="385" dirty="0">
                <a:latin typeface="Tahoma"/>
                <a:cs typeface="Tahoma"/>
              </a:rPr>
              <a:t>p</a:t>
            </a:r>
            <a:r>
              <a:rPr sz="6450" b="1" spc="110" dirty="0">
                <a:latin typeface="Tahoma"/>
                <a:cs typeface="Tahoma"/>
              </a:rPr>
              <a:t>a</a:t>
            </a:r>
            <a:r>
              <a:rPr sz="6450" b="1" spc="-25" dirty="0">
                <a:latin typeface="Tahoma"/>
                <a:cs typeface="Tahoma"/>
              </a:rPr>
              <a:t>r</a:t>
            </a:r>
            <a:r>
              <a:rPr sz="6450" b="1" spc="110" dirty="0">
                <a:latin typeface="Tahoma"/>
                <a:cs typeface="Tahoma"/>
              </a:rPr>
              <a:t>a</a:t>
            </a:r>
            <a:r>
              <a:rPr sz="6450" b="1" spc="120" dirty="0">
                <a:latin typeface="Tahoma"/>
                <a:cs typeface="Tahoma"/>
              </a:rPr>
              <a:t>t</a:t>
            </a:r>
            <a:r>
              <a:rPr sz="6450" b="1" spc="-10" dirty="0">
                <a:latin typeface="Tahoma"/>
                <a:cs typeface="Tahoma"/>
              </a:rPr>
              <a:t>i</a:t>
            </a:r>
            <a:r>
              <a:rPr sz="6450" b="1" spc="235" dirty="0">
                <a:latin typeface="Tahoma"/>
                <a:cs typeface="Tahoma"/>
              </a:rPr>
              <a:t>o</a:t>
            </a:r>
            <a:r>
              <a:rPr sz="6450" b="1" spc="325" dirty="0">
                <a:latin typeface="Tahoma"/>
                <a:cs typeface="Tahoma"/>
              </a:rPr>
              <a:t>n</a:t>
            </a:r>
            <a:endParaRPr sz="64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333624" cy="16859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5212" y="7063675"/>
            <a:ext cx="453390" cy="2195195"/>
          </a:xfrm>
          <a:custGeom>
            <a:avLst/>
            <a:gdLst/>
            <a:ahLst/>
            <a:cxnLst/>
            <a:rect l="l" t="t" r="r" b="b"/>
            <a:pathLst>
              <a:path w="453390" h="2195195">
                <a:moveTo>
                  <a:pt x="452786" y="2194955"/>
                </a:moveTo>
                <a:lnTo>
                  <a:pt x="0" y="2194955"/>
                </a:lnTo>
                <a:lnTo>
                  <a:pt x="0" y="0"/>
                </a:lnTo>
                <a:lnTo>
                  <a:pt x="452786" y="0"/>
                </a:lnTo>
                <a:lnTo>
                  <a:pt x="452786" y="2194955"/>
                </a:lnTo>
                <a:close/>
              </a:path>
            </a:pathLst>
          </a:custGeom>
          <a:solidFill>
            <a:srgbClr val="F5A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579401"/>
            <a:ext cx="2752724" cy="27011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4132" y="3792942"/>
            <a:ext cx="2752725" cy="2705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1027" y="3792942"/>
            <a:ext cx="2752724" cy="27050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88749" y="3872564"/>
            <a:ext cx="2647949" cy="25418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9084" y="7805694"/>
            <a:ext cx="172117" cy="163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4878" y="7805694"/>
            <a:ext cx="172117" cy="1637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20671" y="7805694"/>
            <a:ext cx="172117" cy="1637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6464" y="7805694"/>
            <a:ext cx="172117" cy="1637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12256" y="7805694"/>
            <a:ext cx="172117" cy="1637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64518" y="7805694"/>
            <a:ext cx="172117" cy="1637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0311" y="7805694"/>
            <a:ext cx="172116" cy="1637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1896" y="7805694"/>
            <a:ext cx="172117" cy="1637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56103" y="7805694"/>
            <a:ext cx="172117" cy="1637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47689" y="7805694"/>
            <a:ext cx="172117" cy="1637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99950" y="7805694"/>
            <a:ext cx="172117" cy="1637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5744" y="7805694"/>
            <a:ext cx="172117" cy="1637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91537" y="7805694"/>
            <a:ext cx="172117" cy="1637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87330" y="7805694"/>
            <a:ext cx="172117" cy="1637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83123" y="7805694"/>
            <a:ext cx="172117" cy="1637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35384" y="7805694"/>
            <a:ext cx="172117" cy="1637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31176" y="7805694"/>
            <a:ext cx="172117" cy="1637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26970" y="7805694"/>
            <a:ext cx="172117" cy="1637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22763" y="7805694"/>
            <a:ext cx="172117" cy="1637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18555" y="7805694"/>
            <a:ext cx="172117" cy="1637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65768" y="3792942"/>
            <a:ext cx="2752724" cy="27050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72279" y="7805694"/>
            <a:ext cx="172117" cy="1637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68071" y="7805694"/>
            <a:ext cx="172117" cy="1637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663865" y="7805694"/>
            <a:ext cx="172117" cy="1637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455449" y="7805694"/>
            <a:ext cx="172117" cy="1637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59656" y="7805694"/>
            <a:ext cx="172117" cy="16379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476205" y="6638778"/>
            <a:ext cx="1861185" cy="93281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205"/>
              </a:spcBef>
            </a:pPr>
            <a:r>
              <a:rPr sz="2050" b="1" spc="105" dirty="0">
                <a:solidFill>
                  <a:srgbClr val="202A3C"/>
                </a:solidFill>
                <a:latin typeface="Trebuchet MS"/>
                <a:cs typeface="Trebuchet MS"/>
              </a:rPr>
              <a:t>Ishita</a:t>
            </a:r>
            <a:r>
              <a:rPr sz="2050" b="1" spc="-114" dirty="0">
                <a:solidFill>
                  <a:srgbClr val="202A3C"/>
                </a:solidFill>
                <a:latin typeface="Trebuchet MS"/>
                <a:cs typeface="Trebuchet MS"/>
              </a:rPr>
              <a:t> </a:t>
            </a:r>
            <a:r>
              <a:rPr sz="2050" b="1" spc="110" dirty="0">
                <a:solidFill>
                  <a:srgbClr val="202A3C"/>
                </a:solidFill>
                <a:latin typeface="Trebuchet MS"/>
                <a:cs typeface="Trebuchet MS"/>
              </a:rPr>
              <a:t>Kapoor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050" spc="60" dirty="0">
                <a:solidFill>
                  <a:srgbClr val="202A3C"/>
                </a:solidFill>
                <a:latin typeface="Tahoma"/>
                <a:cs typeface="Tahoma"/>
              </a:rPr>
              <a:t>Founder</a:t>
            </a:r>
            <a:r>
              <a:rPr sz="2050" spc="-140" dirty="0">
                <a:solidFill>
                  <a:srgbClr val="202A3C"/>
                </a:solidFill>
                <a:latin typeface="Tahoma"/>
                <a:cs typeface="Tahoma"/>
              </a:rPr>
              <a:t> </a:t>
            </a:r>
            <a:r>
              <a:rPr sz="2050" spc="95" dirty="0">
                <a:solidFill>
                  <a:srgbClr val="202A3C"/>
                </a:solidFill>
                <a:latin typeface="Tahoma"/>
                <a:cs typeface="Tahoma"/>
              </a:rPr>
              <a:t>&amp;</a:t>
            </a:r>
            <a:r>
              <a:rPr sz="2050" spc="-140" dirty="0">
                <a:solidFill>
                  <a:srgbClr val="202A3C"/>
                </a:solidFill>
                <a:latin typeface="Tahoma"/>
                <a:cs typeface="Tahoma"/>
              </a:rPr>
              <a:t> </a:t>
            </a:r>
            <a:r>
              <a:rPr sz="2050" spc="55" dirty="0">
                <a:solidFill>
                  <a:srgbClr val="202A3C"/>
                </a:solidFill>
                <a:latin typeface="Tahoma"/>
                <a:cs typeface="Tahoma"/>
              </a:rPr>
              <a:t>CEO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58327" y="6638778"/>
            <a:ext cx="1767839" cy="93281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050" b="1" spc="125" dirty="0">
                <a:solidFill>
                  <a:srgbClr val="202A3C"/>
                </a:solidFill>
                <a:latin typeface="Trebuchet MS"/>
                <a:cs typeface="Trebuchet MS"/>
              </a:rPr>
              <a:t>Adarsh</a:t>
            </a:r>
            <a:r>
              <a:rPr sz="2050" b="1" spc="-150" dirty="0">
                <a:solidFill>
                  <a:srgbClr val="202A3C"/>
                </a:solidFill>
                <a:latin typeface="Trebuchet MS"/>
                <a:cs typeface="Trebuchet MS"/>
              </a:rPr>
              <a:t> </a:t>
            </a:r>
            <a:r>
              <a:rPr sz="2050" b="1" spc="100" dirty="0">
                <a:solidFill>
                  <a:srgbClr val="202A3C"/>
                </a:solidFill>
                <a:latin typeface="Trebuchet MS"/>
                <a:cs typeface="Trebuchet MS"/>
              </a:rPr>
              <a:t>Goyal</a:t>
            </a:r>
            <a:endParaRPr sz="20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050" spc="20" dirty="0">
                <a:solidFill>
                  <a:srgbClr val="202A3C"/>
                </a:solidFill>
                <a:latin typeface="Tahoma"/>
                <a:cs typeface="Tahoma"/>
              </a:rPr>
              <a:t>CTO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10413" y="6638778"/>
            <a:ext cx="1934210" cy="93281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050" b="1" spc="140" dirty="0">
                <a:solidFill>
                  <a:srgbClr val="202A3C"/>
                </a:solidFill>
                <a:latin typeface="Trebuchet MS"/>
                <a:cs typeface="Trebuchet MS"/>
              </a:rPr>
              <a:t>Aabhaas</a:t>
            </a:r>
            <a:r>
              <a:rPr sz="2050" b="1" spc="-135" dirty="0">
                <a:solidFill>
                  <a:srgbClr val="202A3C"/>
                </a:solidFill>
                <a:latin typeface="Trebuchet MS"/>
                <a:cs typeface="Trebuchet MS"/>
              </a:rPr>
              <a:t> </a:t>
            </a:r>
            <a:r>
              <a:rPr sz="2050" b="1" spc="114" dirty="0">
                <a:solidFill>
                  <a:srgbClr val="202A3C"/>
                </a:solidFill>
                <a:latin typeface="Trebuchet MS"/>
                <a:cs typeface="Trebuchet MS"/>
              </a:rPr>
              <a:t>Sikka</a:t>
            </a:r>
            <a:endParaRPr sz="20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050" spc="100" dirty="0">
                <a:solidFill>
                  <a:srgbClr val="202A3C"/>
                </a:solidFill>
                <a:latin typeface="Tahoma"/>
                <a:cs typeface="Tahoma"/>
              </a:rPr>
              <a:t>COO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337934" y="6638778"/>
            <a:ext cx="2150110" cy="93281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050" b="1" spc="140" dirty="0">
                <a:solidFill>
                  <a:srgbClr val="202A3C"/>
                </a:solidFill>
                <a:latin typeface="Trebuchet MS"/>
                <a:cs typeface="Trebuchet MS"/>
              </a:rPr>
              <a:t>Ansh</a:t>
            </a:r>
            <a:r>
              <a:rPr sz="2050" b="1" spc="-114" dirty="0">
                <a:solidFill>
                  <a:srgbClr val="202A3C"/>
                </a:solidFill>
                <a:latin typeface="Trebuchet MS"/>
                <a:cs typeface="Trebuchet MS"/>
              </a:rPr>
              <a:t> </a:t>
            </a:r>
            <a:r>
              <a:rPr sz="2050" b="1" spc="110" dirty="0">
                <a:solidFill>
                  <a:srgbClr val="202A3C"/>
                </a:solidFill>
                <a:latin typeface="Trebuchet MS"/>
                <a:cs typeface="Trebuchet MS"/>
              </a:rPr>
              <a:t>Kapoor</a:t>
            </a:r>
            <a:endParaRPr sz="20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050" spc="35" dirty="0">
                <a:solidFill>
                  <a:srgbClr val="202A3C"/>
                </a:solidFill>
                <a:latin typeface="Tahoma"/>
                <a:cs typeface="Tahoma"/>
              </a:rPr>
              <a:t>Marketing</a:t>
            </a:r>
            <a:r>
              <a:rPr sz="2050" spc="-135" dirty="0">
                <a:solidFill>
                  <a:srgbClr val="202A3C"/>
                </a:solidFill>
                <a:latin typeface="Tahoma"/>
                <a:cs typeface="Tahoma"/>
              </a:rPr>
              <a:t> </a:t>
            </a:r>
            <a:r>
              <a:rPr sz="2050" spc="30" dirty="0">
                <a:solidFill>
                  <a:srgbClr val="202A3C"/>
                </a:solidFill>
                <a:latin typeface="Tahoma"/>
                <a:cs typeface="Tahoma"/>
              </a:rPr>
              <a:t>Advisor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6011148" y="1839837"/>
            <a:ext cx="626554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265" dirty="0">
                <a:solidFill>
                  <a:srgbClr val="000000"/>
                </a:solidFill>
              </a:rPr>
              <a:t>MEET</a:t>
            </a:r>
            <a:r>
              <a:rPr sz="5500" spc="-50" dirty="0">
                <a:solidFill>
                  <a:srgbClr val="000000"/>
                </a:solidFill>
              </a:rPr>
              <a:t> </a:t>
            </a:r>
            <a:r>
              <a:rPr sz="5500" spc="245" dirty="0">
                <a:solidFill>
                  <a:srgbClr val="000000"/>
                </a:solidFill>
              </a:rPr>
              <a:t>OUR</a:t>
            </a:r>
            <a:r>
              <a:rPr sz="5500" spc="-45" dirty="0">
                <a:solidFill>
                  <a:srgbClr val="000000"/>
                </a:solidFill>
              </a:rPr>
              <a:t> </a:t>
            </a:r>
            <a:r>
              <a:rPr sz="5500" spc="325" dirty="0">
                <a:solidFill>
                  <a:srgbClr val="000000"/>
                </a:solidFill>
              </a:rPr>
              <a:t>TEAM</a:t>
            </a:r>
            <a:endParaRPr sz="5500"/>
          </a:p>
        </p:txBody>
      </p:sp>
      <p:sp>
        <p:nvSpPr>
          <p:cNvPr id="38" name="object 38"/>
          <p:cNvSpPr txBox="1"/>
          <p:nvPr/>
        </p:nvSpPr>
        <p:spPr>
          <a:xfrm>
            <a:off x="14423245" y="6638778"/>
            <a:ext cx="2954020" cy="93281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50" b="1" spc="140" dirty="0">
                <a:solidFill>
                  <a:srgbClr val="202A3C"/>
                </a:solidFill>
                <a:latin typeface="Trebuchet MS"/>
                <a:cs typeface="Trebuchet MS"/>
              </a:rPr>
              <a:t>Bhaskaran</a:t>
            </a:r>
            <a:r>
              <a:rPr sz="2050" b="1" spc="-114" dirty="0">
                <a:solidFill>
                  <a:srgbClr val="202A3C"/>
                </a:solidFill>
                <a:latin typeface="Trebuchet MS"/>
                <a:cs typeface="Trebuchet MS"/>
              </a:rPr>
              <a:t> </a:t>
            </a:r>
            <a:r>
              <a:rPr sz="2050" b="1" spc="114" dirty="0">
                <a:solidFill>
                  <a:srgbClr val="202A3C"/>
                </a:solidFill>
                <a:latin typeface="Trebuchet MS"/>
                <a:cs typeface="Trebuchet MS"/>
              </a:rPr>
              <a:t>Balamurali</a:t>
            </a:r>
            <a:endParaRPr sz="2050">
              <a:latin typeface="Trebuchet MS"/>
              <a:cs typeface="Trebuchet MS"/>
            </a:endParaRPr>
          </a:p>
          <a:p>
            <a:pPr marL="419100">
              <a:lnSpc>
                <a:spcPct val="100000"/>
              </a:lnSpc>
              <a:spcBef>
                <a:spcPts val="1110"/>
              </a:spcBef>
            </a:pPr>
            <a:r>
              <a:rPr sz="2050" spc="35" dirty="0">
                <a:solidFill>
                  <a:srgbClr val="202A3C"/>
                </a:solidFill>
                <a:latin typeface="Tahoma"/>
                <a:cs typeface="Tahoma"/>
              </a:rPr>
              <a:t>Startup</a:t>
            </a:r>
            <a:r>
              <a:rPr sz="2050" spc="-140" dirty="0">
                <a:solidFill>
                  <a:srgbClr val="202A3C"/>
                </a:solidFill>
                <a:latin typeface="Tahoma"/>
                <a:cs typeface="Tahoma"/>
              </a:rPr>
              <a:t> </a:t>
            </a:r>
            <a:r>
              <a:rPr sz="2050" spc="80" dirty="0">
                <a:solidFill>
                  <a:srgbClr val="202A3C"/>
                </a:solidFill>
                <a:latin typeface="Tahoma"/>
                <a:cs typeface="Tahoma"/>
              </a:rPr>
              <a:t>Mentor</a:t>
            </a:r>
            <a:endParaRPr sz="205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2333624" cy="16859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MEET....... RAJESH  KUMAR</vt:lpstr>
      <vt:lpstr>PROBLEM  STATEMENT</vt:lpstr>
      <vt:lpstr>OUR INNOVATIVE SOLUTIONS</vt:lpstr>
      <vt:lpstr>OUR  PRODUCT</vt:lpstr>
      <vt:lpstr>SOFTWARE  SERVICES</vt:lpstr>
      <vt:lpstr>Round-the-clock voice-enabled  community group chats for  students with visual  impairments.</vt:lpstr>
      <vt:lpstr>PowerPoint Presentation</vt:lpstr>
      <vt:lpstr>1000+ existing  solutions</vt:lpstr>
      <vt:lpstr>TARGET  AUDIENCE:</vt:lpstr>
      <vt:lpstr>200+  CURRENT  USERBASE  DEMAND</vt:lpstr>
      <vt:lpstr>SIZE OF  MARKET</vt:lpstr>
      <vt:lpstr>COMPETITORS</vt:lpstr>
      <vt:lpstr>REVENUE MODEL</vt:lpstr>
      <vt:lpstr>GROWTH PROJECTIONS</vt:lpstr>
      <vt:lpstr>PowerPoint Presentation</vt:lpstr>
      <vt:lpstr>MEET OUR TEAM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Modern The Building Presentation</dc:title>
  <dc:creator>Ishita Kapoor</dc:creator>
  <cp:keywords>DAGYUruBlfc,BAF77_IOl0g</cp:keywords>
  <cp:revision>1</cp:revision>
  <dcterms:created xsi:type="dcterms:W3CDTF">2024-12-10T19:33:44Z</dcterms:created>
  <dcterms:modified xsi:type="dcterms:W3CDTF">2026-07-31T06:36:07Z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Canva</vt:lpwstr>
  </property>
  <property fmtid="{D5CDD505-2E9C-101B-9397-08002B2CF9AE}" pid="4" name="LastSaved">
    <vt:filetime>2024-12-10T00:00:00Z</vt:filetime>
  </property>
</Properties>
</file>